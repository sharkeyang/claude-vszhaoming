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ink/ink1.xml" ContentType="application/inkml+xml"/>
  <Override PartName="/ppt/ink/ink2.xml" ContentType="application/inkml+xml"/>
  <Override PartName="/ppt/ink/ink3.xml" ContentType="application/inkml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ink/ink4.xml" ContentType="application/inkml+xml"/>
  <Override PartName="/ppt/ink/ink5.xml" ContentType="application/inkml+xml"/>
  <Override PartName="/ppt/ink/ink6.xml" ContentType="application/inkml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notesMasterIdLst>
    <p:notesMasterId r:id="rId130"/>
  </p:notesMasterIdLst>
  <p:sldIdLst>
    <p:sldId id="301" r:id="rId2"/>
    <p:sldId id="280" r:id="rId3"/>
    <p:sldId id="388" r:id="rId4"/>
    <p:sldId id="291" r:id="rId5"/>
    <p:sldId id="289" r:id="rId6"/>
    <p:sldId id="284" r:id="rId7"/>
    <p:sldId id="358" r:id="rId8"/>
    <p:sldId id="371" r:id="rId9"/>
    <p:sldId id="446" r:id="rId10"/>
    <p:sldId id="379" r:id="rId11"/>
    <p:sldId id="480" r:id="rId12"/>
    <p:sldId id="431" r:id="rId13"/>
    <p:sldId id="475" r:id="rId14"/>
    <p:sldId id="454" r:id="rId15"/>
    <p:sldId id="447" r:id="rId16"/>
    <p:sldId id="344" r:id="rId17"/>
    <p:sldId id="407" r:id="rId18"/>
    <p:sldId id="440" r:id="rId19"/>
    <p:sldId id="461" r:id="rId20"/>
    <p:sldId id="418" r:id="rId21"/>
    <p:sldId id="425" r:id="rId22"/>
    <p:sldId id="436" r:id="rId23"/>
    <p:sldId id="450" r:id="rId24"/>
    <p:sldId id="496" r:id="rId25"/>
    <p:sldId id="317" r:id="rId26"/>
    <p:sldId id="463" r:id="rId27"/>
    <p:sldId id="457" r:id="rId28"/>
    <p:sldId id="476" r:id="rId29"/>
    <p:sldId id="445" r:id="rId30"/>
    <p:sldId id="322" r:id="rId31"/>
    <p:sldId id="364" r:id="rId32"/>
    <p:sldId id="395" r:id="rId33"/>
    <p:sldId id="456" r:id="rId34"/>
    <p:sldId id="415" r:id="rId35"/>
    <p:sldId id="462" r:id="rId36"/>
    <p:sldId id="471" r:id="rId37"/>
    <p:sldId id="441" r:id="rId38"/>
    <p:sldId id="391" r:id="rId39"/>
    <p:sldId id="494" r:id="rId40"/>
    <p:sldId id="481" r:id="rId41"/>
    <p:sldId id="500" r:id="rId42"/>
    <p:sldId id="488" r:id="rId43"/>
    <p:sldId id="484" r:id="rId44"/>
    <p:sldId id="356" r:id="rId45"/>
    <p:sldId id="487" r:id="rId46"/>
    <p:sldId id="499" r:id="rId47"/>
    <p:sldId id="486" r:id="rId48"/>
    <p:sldId id="492" r:id="rId49"/>
    <p:sldId id="482" r:id="rId50"/>
    <p:sldId id="491" r:id="rId51"/>
    <p:sldId id="467" r:id="rId52"/>
    <p:sldId id="490" r:id="rId53"/>
    <p:sldId id="438" r:id="rId54"/>
    <p:sldId id="346" r:id="rId55"/>
    <p:sldId id="479" r:id="rId56"/>
    <p:sldId id="459" r:id="rId57"/>
    <p:sldId id="468" r:id="rId58"/>
    <p:sldId id="316" r:id="rId59"/>
    <p:sldId id="497" r:id="rId60"/>
    <p:sldId id="498" r:id="rId61"/>
    <p:sldId id="334" r:id="rId62"/>
    <p:sldId id="360" r:id="rId63"/>
    <p:sldId id="294" r:id="rId64"/>
    <p:sldId id="417" r:id="rId65"/>
    <p:sldId id="416" r:id="rId66"/>
    <p:sldId id="424" r:id="rId67"/>
    <p:sldId id="478" r:id="rId68"/>
    <p:sldId id="410" r:id="rId69"/>
    <p:sldId id="393" r:id="rId70"/>
    <p:sldId id="469" r:id="rId71"/>
    <p:sldId id="341" r:id="rId72"/>
    <p:sldId id="413" r:id="rId73"/>
    <p:sldId id="421" r:id="rId74"/>
    <p:sldId id="472" r:id="rId75"/>
    <p:sldId id="394" r:id="rId76"/>
    <p:sldId id="336" r:id="rId77"/>
    <p:sldId id="406" r:id="rId78"/>
    <p:sldId id="460" r:id="rId79"/>
    <p:sldId id="419" r:id="rId80"/>
    <p:sldId id="426" r:id="rId81"/>
    <p:sldId id="386" r:id="rId82"/>
    <p:sldId id="383" r:id="rId83"/>
    <p:sldId id="350" r:id="rId84"/>
    <p:sldId id="345" r:id="rId85"/>
    <p:sldId id="398" r:id="rId86"/>
    <p:sldId id="351" r:id="rId87"/>
    <p:sldId id="330" r:id="rId88"/>
    <p:sldId id="367" r:id="rId89"/>
    <p:sldId id="370" r:id="rId90"/>
    <p:sldId id="369" r:id="rId91"/>
    <p:sldId id="363" r:id="rId92"/>
    <p:sldId id="348" r:id="rId93"/>
    <p:sldId id="374" r:id="rId94"/>
    <p:sldId id="333" r:id="rId95"/>
    <p:sldId id="335" r:id="rId96"/>
    <p:sldId id="380" r:id="rId97"/>
    <p:sldId id="353" r:id="rId98"/>
    <p:sldId id="392" r:id="rId99"/>
    <p:sldId id="342" r:id="rId100"/>
    <p:sldId id="368" r:id="rId101"/>
    <p:sldId id="293" r:id="rId102"/>
    <p:sldId id="359" r:id="rId103"/>
    <p:sldId id="320" r:id="rId104"/>
    <p:sldId id="309" r:id="rId105"/>
    <p:sldId id="307" r:id="rId106"/>
    <p:sldId id="329" r:id="rId107"/>
    <p:sldId id="327" r:id="rId108"/>
    <p:sldId id="338" r:id="rId109"/>
    <p:sldId id="287" r:id="rId110"/>
    <p:sldId id="290" r:id="rId111"/>
    <p:sldId id="376" r:id="rId112"/>
    <p:sldId id="372" r:id="rId113"/>
    <p:sldId id="378" r:id="rId114"/>
    <p:sldId id="375" r:id="rId115"/>
    <p:sldId id="339" r:id="rId116"/>
    <p:sldId id="420" r:id="rId117"/>
    <p:sldId id="373" r:id="rId118"/>
    <p:sldId id="385" r:id="rId119"/>
    <p:sldId id="362" r:id="rId120"/>
    <p:sldId id="400" r:id="rId121"/>
    <p:sldId id="473" r:id="rId122"/>
    <p:sldId id="305" r:id="rId123"/>
    <p:sldId id="283" r:id="rId124"/>
    <p:sldId id="404" r:id="rId125"/>
    <p:sldId id="354" r:id="rId126"/>
    <p:sldId id="414" r:id="rId127"/>
    <p:sldId id="296" r:id="rId128"/>
    <p:sldId id="493" r:id="rId129"/>
  </p:sldIdLst>
  <p:sldSz cx="12192000" cy="6858000"/>
  <p:notesSz cx="6888163" cy="10018713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hark Yang" initials="SY" lastIdx="4" clrIdx="0">
    <p:extLst>
      <p:ext uri="{19B8F6BF-5375-455C-9EA6-DF929625EA0E}">
        <p15:presenceInfo xmlns:p15="http://schemas.microsoft.com/office/powerpoint/2012/main" userId="85f9ffec7489e6c5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D700"/>
    <a:srgbClr val="FF5050"/>
    <a:srgbClr val="FF99CC"/>
    <a:srgbClr val="FF6699"/>
    <a:srgbClr val="5B9BD5"/>
    <a:srgbClr val="181717"/>
    <a:srgbClr val="222A35"/>
    <a:srgbClr val="172C51"/>
    <a:srgbClr val="548235"/>
    <a:srgbClr val="FFE6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C083E6E3-FA7D-4D7B-A595-EF9225AFEA82}" styleName="浅色样式 1 - 强调 3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3B4B98B0-60AC-42C2-AFA5-B58CD77FA1E5}" styleName="浅色样式 1 - 强调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72833802-FEF1-4C79-8D5D-14CF1EAF98D9}" styleName="浅色样式 2 - 强调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</a:tcStyle>
    </a:band1H>
    <a:band1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1V>
    <a:band2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2"/>
        </a:fillRef>
      </a:tcStyle>
    </a:firstRow>
  </a:tblStyle>
  <a:tblStyle styleId="{BDBED569-4797-4DF1-A0F4-6AAB3CD982D8}" styleName="浅色样式 3 - 强调 5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E8B1032C-EA38-4F05-BA0D-38AFFFC7BED3}" styleName="浅色样式 3 - 强调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616DA210-FB5B-4158-B5E0-FEB733F419BA}" styleName="浅色样式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2D5ABB26-0587-4C30-8999-92F81FD0307C}" styleName="无样式，无网格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F5AB1C69-6EDB-4FF4-983F-18BD219EF322}" styleName="中度样式 2 - 强调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93296810-A885-4BE3-A3E7-6D5BEEA58F35}" styleName="中度样式 2 - 强调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912C8C85-51F0-491E-9774-3900AFEF0FD7}" styleName="浅色样式 2 - 强调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  <a:tblStyle styleId="{10A1B5D5-9B99-4C35-A422-299274C87663}" styleName="中度样式 1 - 强调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6">
              <a:tint val="20000"/>
            </a:schemeClr>
          </a:solidFill>
        </a:fill>
      </a:tcStyle>
    </a:band1H>
    <a:band1V>
      <a:tcStyle>
        <a:tcBdr/>
        <a:fill>
          <a:solidFill>
            <a:schemeClr val="accent6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08FB837D-C827-4EFA-A057-4D05807E0F7C}" styleName="主题样式 1 - 强调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5A111915-BE36-4E01-A7E5-04B1672EAD32}" styleName="浅色样式 2 - 强调 5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</a:tcStyle>
    </a:band1H>
    <a:band1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1V>
    <a:band2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5"/>
        </a:fillRef>
      </a:tcStyle>
    </a:firstRow>
  </a:tblStyle>
  <a:tblStyle styleId="{B301B821-A1FF-4177-AEE7-76D212191A09}" styleName="中度样式 1 - 强调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1">
              <a:tint val="20000"/>
            </a:schemeClr>
          </a:solidFill>
        </a:fill>
      </a:tcStyle>
    </a:band1H>
    <a:band1V>
      <a:tcStyle>
        <a:tcBdr/>
        <a:fill>
          <a:solidFill>
            <a:schemeClr val="accent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  <a:tblStyle styleId="{7DF18680-E054-41AD-8BC1-D1AEF772440D}" styleName="中度样式 2 - 强调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073A0DAA-6AF3-43AB-8588-CEC1D06C72B9}" styleName="中度样式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00A15C55-8517-42AA-B614-E9B94910E393}" styleName="中度样式 2 - 强调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21E4AEA4-8DFA-4A89-87EB-49C32662AFE0}" styleName="中度样式 2 - 强调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7E9639D4-E3E2-4D34-9284-5A2195B3D0D7}" styleName="浅色样式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5FD0F851-EC5A-4D38-B0AD-8093EC10F338}" styleName="浅色样式 1 - 强调 5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68D230F3-CF80-4859-8CE7-A43EE81993B5}" styleName="浅色样式 1 - 强调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FABFCF23-3B69-468F-B69F-88F6DE6A72F2}" styleName="中度样式 1 - 强调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5">
              <a:tint val="20000"/>
            </a:schemeClr>
          </a:solidFill>
        </a:fill>
      </a:tcStyle>
    </a:band1H>
    <a:band1V>
      <a:tcStyle>
        <a:tcBdr/>
        <a:fill>
          <a:solidFill>
            <a:schemeClr val="accent5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firstRow>
  </a:tblStyle>
  <a:tblStyle styleId="{18603FDC-E32A-4AB5-989C-0864C3EAD2B8}" styleName="主题样式 2 - 强调 2">
    <a:tblBg>
      <a:fillRef idx="3">
        <a:schemeClr val="accent2"/>
      </a:fillRef>
      <a:effectRef idx="3">
        <a:schemeClr val="accent2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2">
                <a:tint val="50000"/>
              </a:schemeClr>
            </a:lnRef>
          </a:left>
          <a:right>
            <a:lnRef idx="1">
              <a:schemeClr val="accent2">
                <a:tint val="50000"/>
              </a:schemeClr>
            </a:lnRef>
          </a:right>
          <a:top>
            <a:lnRef idx="1">
              <a:schemeClr val="accent2">
                <a:tint val="50000"/>
              </a:schemeClr>
            </a:lnRef>
          </a:top>
          <a:bottom>
            <a:lnRef idx="1">
              <a:schemeClr val="accent2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284E427A-3D55-4303-BF80-6455036E1DE7}" styleName="主题样式 1 - 强调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35758FB7-9AC5-4552-8A53-C91805E547FA}" styleName="主题样式 1 - 强调 5">
    <a:tblBg>
      <a:fillRef idx="2">
        <a:schemeClr val="accent5"/>
      </a:fillRef>
      <a:effectRef idx="1">
        <a:schemeClr val="accent5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Ref idx="1">
              <a:schemeClr val="accent5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  <a:fill>
          <a:solidFill>
            <a:schemeClr val="accent5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5"/>
            </a:lnRef>
          </a:left>
          <a:right>
            <a:lnRef idx="2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2">
              <a:schemeClr val="accent5"/>
            </a:lnRef>
          </a:top>
          <a:bottom>
            <a:lnRef idx="2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firstRow>
  </a:tblStyle>
  <a:tblStyle styleId="{EB9631B5-78F2-41C9-869B-9F39066F8104}" styleName="中度样式 3 - 强调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775DCB02-9BB8-47FD-8907-85C794F793BA}" styleName="主题样式 1 - 强调 4">
    <a:tblBg>
      <a:fillRef idx="2">
        <a:schemeClr val="accent4"/>
      </a:fillRef>
      <a:effectRef idx="1">
        <a:schemeClr val="accent4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Ref idx="1">
              <a:schemeClr val="accent4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  <a:fill>
          <a:solidFill>
            <a:schemeClr val="accent4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4"/>
            </a:lnRef>
          </a:left>
          <a:right>
            <a:lnRef idx="2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2">
              <a:schemeClr val="accent4"/>
            </a:lnRef>
          </a:top>
          <a:bottom>
            <a:lnRef idx="2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4"/>
          </a:solidFill>
        </a:fill>
      </a:tcStyle>
    </a:firstRow>
  </a:tblStyle>
  <a:tblStyle styleId="{22838BEF-8BB2-4498-84A7-C5851F593DF1}" styleName="中度样式 4 - 强调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5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5">
              <a:tint val="20000"/>
            </a:schemeClr>
          </a:solidFill>
        </a:fill>
      </a:tcStyle>
    </a:firstRow>
  </a:tblStyle>
  <a:tblStyle styleId="{74C1A8A3-306A-4EB7-A6B1-4F7E0EB9C5D6}" styleName="中度样式 3 - 强调 5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85BE263C-DBD7-4A20-BB59-AAB30ACAA65A}" styleName="中度样式 3 - 强调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C4B1156A-380E-4F78-BDF5-A606A8083BF9}" styleName="中度样式 4 - 强调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4"/>
              </a:solidFill>
            </a:ln>
          </a:top>
        </a:tcBdr>
        <a:fill>
          <a:solidFill>
            <a:schemeClr val="accent4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4">
              <a:tint val="20000"/>
            </a:schemeClr>
          </a:solidFill>
        </a:fill>
      </a:tcStyle>
    </a:firstRow>
  </a:tblStyle>
  <a:tblStyle styleId="{1E171933-4619-4E11-9A3F-F7608DF75F80}" styleName="中度样式 1 - 强调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4">
              <a:tint val="20000"/>
            </a:schemeClr>
          </a:solidFill>
        </a:fill>
      </a:tcStyle>
    </a:band1H>
    <a:band1V>
      <a:tcStyle>
        <a:tcBdr/>
        <a:fill>
          <a:solidFill>
            <a:schemeClr val="accent4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69012ECD-51FC-41F1-AA8D-1B2483CD663E}" styleName="浅色样式 2 - 强调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BC89EF96-8CEA-46FF-86C4-4CE0E7609802}" styleName="浅色样式 3 - 强调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9DCAF9ED-07DC-4A11-8D7F-57B35C25682E}" styleName="中度样式 1 - 强调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2">
              <a:tint val="20000"/>
            </a:schemeClr>
          </a:solidFill>
        </a:fill>
      </a:tcStyle>
    </a:band1H>
    <a:band1V>
      <a:tcStyle>
        <a:tcBdr/>
        <a:fill>
          <a:solidFill>
            <a:schemeClr val="accent2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D7AC3CCA-C797-4891-BE02-D94E43425B78}" styleName="中度样式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  <a:tblStyle styleId="{8A107856-5554-42FB-B03E-39F5DBC370BA}" styleName="中度样式 4 - 强调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 w="12700" cmpd="sng">
              <a:solidFill>
                <a:schemeClr val="accent2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2"/>
              </a:solidFill>
            </a:ln>
          </a:top>
        </a:tcBdr>
        <a:fill>
          <a:solidFill>
            <a:schemeClr val="accent2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2">
              <a:tint val="20000"/>
            </a:schemeClr>
          </a:solidFill>
        </a:fill>
      </a:tcStyle>
    </a:firstRow>
  </a:tblStyle>
  <a:tblStyle styleId="{17292A2E-F333-43FB-9621-5CBBE7FDCDCB}" styleName="浅色样式 2 - 强调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793D81CF-94F2-401A-BA57-92F5A7B2D0C5}" styleName="中度样式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8324" autoAdjust="0"/>
    <p:restoredTop sz="96525" autoAdjust="0"/>
  </p:normalViewPr>
  <p:slideViewPr>
    <p:cSldViewPr snapToGrid="0">
      <p:cViewPr varScale="1">
        <p:scale>
          <a:sx n="101" d="100"/>
          <a:sy n="101" d="100"/>
        </p:scale>
        <p:origin x="234" y="102"/>
      </p:cViewPr>
      <p:guideLst/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200" d="100"/>
        <a:sy n="200" d="100"/>
      </p:scale>
      <p:origin x="0" y="-2469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theme" Target="theme/theme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notesMaster" Target="notesMasters/notesMaster1.xml"/><Relationship Id="rId135" Type="http://schemas.openxmlformats.org/officeDocument/2006/relationships/tableStyles" Target="tableStyles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commentAuthors" Target="commentAuthor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presProps" Target="pres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viewProps" Target="viewProps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CFEA0D9F-0CE2-4905-800C-C2C43BA70066}" type="doc">
      <dgm:prSet loTypeId="urn:microsoft.com/office/officeart/2005/8/layout/chevron2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zh-CN" altLang="en-US"/>
        </a:p>
      </dgm:t>
    </dgm:pt>
    <dgm:pt modelId="{EA49B69D-FDFE-42A6-BF3E-03EC78AC1B1A}">
      <dgm:prSet phldrT="[文本]" custT="1"/>
      <dgm:spPr>
        <a:solidFill>
          <a:schemeClr val="accent5"/>
        </a:solidFill>
      </dgm:spPr>
      <dgm:t>
        <a:bodyPr/>
        <a:lstStyle/>
        <a:p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可看：</a:t>
          </a:r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WJC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之上？</a:t>
          </a:r>
        </a:p>
      </dgm:t>
    </dgm:pt>
    <dgm:pt modelId="{14773414-95C2-4657-AC8F-676624F95F47}" type="parTrans" cxnId="{082475D0-71D1-4F4C-8094-D9C6FBA64797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153A7DC-5D51-494C-ACCF-2AFB4CB8B71C}" type="sibTrans" cxnId="{082475D0-71D1-4F4C-8094-D9C6FBA64797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3ED64A4-98E2-4899-81C0-17679CD04C7D}">
      <dgm:prSet phldrT="[文本]" custT="1"/>
      <dgm:spPr>
        <a:solidFill>
          <a:schemeClr val="tx2">
            <a:lumMod val="20000"/>
            <a:lumOff val="80000"/>
            <a:alpha val="90000"/>
          </a:schemeClr>
        </a:solidFill>
        <a:ln>
          <a:solidFill>
            <a:schemeClr val="accent1">
              <a:hueOff val="0"/>
              <a:satOff val="0"/>
              <a:lumOff val="0"/>
            </a:schemeClr>
          </a:solidFill>
        </a:ln>
      </dgm:spPr>
      <dgm:t>
        <a:bodyPr/>
        <a:lstStyle/>
        <a:p>
          <a:r>
            <a:rPr lang="en-US" altLang="zh-CN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【</a:t>
          </a:r>
          <a:r>
            <a:rPr lang="zh-CN" altLang="en-US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以</a:t>
          </a:r>
          <a:r>
            <a:rPr lang="en-US" altLang="zh-CN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WJC</a:t>
          </a:r>
          <a:r>
            <a:rPr lang="zh-CN" altLang="en-US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为准入</a:t>
          </a:r>
          <a:r>
            <a:rPr lang="en-US" altLang="zh-CN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】</a:t>
          </a:r>
          <a:r>
            <a:rPr lang="zh-CN" altLang="en-US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以</a:t>
          </a:r>
          <a:r>
            <a:rPr lang="en-US" altLang="zh-CN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WJC</a:t>
          </a:r>
          <a:r>
            <a:rPr lang="zh-CN" altLang="en-US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为唯一权重。</a:t>
          </a:r>
          <a:endParaRPr lang="zh-CN" altLang="en-US" sz="900" b="1" dirty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1DA850A-C976-4342-ACDF-0446E8516969}" type="parTrans" cxnId="{4D2E5B59-1361-4585-8617-3DE6E9CE20D0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FF93B5AD-8F73-4A85-A8D7-1A66EE2E2384}" type="sibTrans" cxnId="{4D2E5B59-1361-4585-8617-3DE6E9CE20D0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9D60E03-E49D-41DA-BAA3-7D7E3011A67B}">
      <dgm:prSet phldrT="[文本]" custT="1"/>
      <dgm:spPr>
        <a:solidFill>
          <a:schemeClr val="accent5"/>
        </a:solidFill>
      </dgm:spPr>
      <dgm:t>
        <a:bodyPr/>
        <a:lstStyle/>
        <a:p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可持：</a:t>
          </a:r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WJB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之上？</a:t>
          </a:r>
        </a:p>
      </dgm:t>
    </dgm:pt>
    <dgm:pt modelId="{8097B173-1FD4-48A7-99C1-004485F5B22B}" type="parTrans" cxnId="{8B6A64A5-1F38-4437-B64E-586A3A3B06F1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7E8AC70-9E2E-4900-A5A4-6E57F1FB5023}" type="sibTrans" cxnId="{8B6A64A5-1F38-4437-B64E-586A3A3B06F1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FB16727-DD91-493A-871A-6D809E3257EC}">
      <dgm:prSet phldrT="[文本]" custT="1"/>
      <dgm:spPr>
        <a:solidFill>
          <a:schemeClr val="tx2">
            <a:lumMod val="20000"/>
            <a:lumOff val="80000"/>
            <a:alpha val="90000"/>
          </a:schemeClr>
        </a:solidFill>
      </dgm:spPr>
      <dgm:t>
        <a:bodyPr/>
        <a:lstStyle/>
        <a:p>
          <a:r>
            <a:rPr lang="en-US" altLang="zh-CN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【</a:t>
          </a:r>
          <a:r>
            <a:rPr lang="zh-CN" altLang="en-US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不要失去仓位</a:t>
          </a:r>
          <a:r>
            <a:rPr lang="en-US" altLang="zh-CN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】</a:t>
          </a:r>
          <a:r>
            <a:rPr lang="zh-CN" altLang="en-US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要保证经过最高点，保证持有</a:t>
          </a:r>
          <a:r>
            <a:rPr lang="en-US" altLang="zh-CN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WJC&amp;WJB</a:t>
          </a:r>
          <a:r>
            <a:rPr lang="zh-CN" altLang="en-US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之上的主升区域。</a:t>
          </a:r>
        </a:p>
      </dgm:t>
    </dgm:pt>
    <dgm:pt modelId="{D18C47A8-FB46-49F5-8A4D-12D3F0C90C99}" type="parTrans" cxnId="{7B84334D-A9B7-495D-9FED-863A326C7BA8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30E2152-0432-4882-B4D3-C9A56414B27A}" type="sibTrans" cxnId="{7B84334D-A9B7-495D-9FED-863A326C7BA8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CE5A049-E5AA-4982-82AB-618FC0C3EF77}">
      <dgm:prSet phldrT="[文本]" custT="1"/>
      <dgm:spPr>
        <a:solidFill>
          <a:schemeClr val="tx2">
            <a:lumMod val="20000"/>
            <a:lumOff val="80000"/>
            <a:alpha val="90000"/>
          </a:schemeClr>
        </a:solidFill>
      </dgm:spPr>
      <dgm:t>
        <a:bodyPr/>
        <a:lstStyle/>
        <a:p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【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以</a:t>
          </a:r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WJB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止损</a:t>
          </a:r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】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原则性止损条件；少数情况可提前退出。</a:t>
          </a:r>
        </a:p>
      </dgm:t>
    </dgm:pt>
    <dgm:pt modelId="{14DAF2F8-1E71-4EC4-809F-576D1ED07914}" type="parTrans" cxnId="{F1CC70B1-38FF-446C-A4F6-AB67DEE881F2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0A2BC28-5CFD-4D88-91DA-4D51A59D520C}" type="sibTrans" cxnId="{F1CC70B1-38FF-446C-A4F6-AB67DEE881F2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903E931-130E-46C4-BB44-F8F852FED40B}">
      <dgm:prSet phldrT="[文本]" custT="1"/>
      <dgm:spPr>
        <a:solidFill>
          <a:srgbClr val="FFC000"/>
        </a:solidFill>
      </dgm:spPr>
      <dgm:t>
        <a:bodyPr/>
        <a:lstStyle/>
        <a:p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可龙：主升？</a:t>
          </a:r>
        </a:p>
      </dgm:t>
    </dgm:pt>
    <dgm:pt modelId="{386A344C-CC9F-4A57-AA76-D15FCC02F05E}" type="parTrans" cxnId="{F2374DB6-7B70-4328-98A6-E4B6CE58E3E0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5DA8A23-3F31-4CDD-A47B-35797FFE6CE6}" type="sibTrans" cxnId="{F2374DB6-7B70-4328-98A6-E4B6CE58E3E0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6C3E558-67A6-4A15-ABD5-7FDA38BDD1C8}">
      <dgm:prSet phldrT="[文本]" custT="1"/>
      <dgm:spPr>
        <a:solidFill>
          <a:schemeClr val="tx2">
            <a:lumMod val="20000"/>
            <a:lumOff val="80000"/>
            <a:alpha val="90000"/>
          </a:schemeClr>
        </a:solidFill>
      </dgm:spPr>
      <dgm:t>
        <a:bodyPr/>
        <a:lstStyle/>
        <a:p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【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判定主升</a:t>
          </a:r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】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是否属于主升？（</a:t>
          </a:r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/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触顶</a:t>
          </a:r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/WXAB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）</a:t>
          </a:r>
        </a:p>
      </dgm:t>
    </dgm:pt>
    <dgm:pt modelId="{A1B809F3-3FD4-4F98-9341-CECA769D8183}" type="parTrans" cxnId="{98AC033F-2C2A-41F9-9699-89558D946542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BFBB557-B06E-4503-BDCB-7014A0ADF2FE}" type="sibTrans" cxnId="{98AC033F-2C2A-41F9-9699-89558D946542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CFB7536-A6E3-4D15-B010-92EB2F6B37D0}">
      <dgm:prSet phldrT="[文本]" custT="1"/>
      <dgm:spPr>
        <a:solidFill>
          <a:schemeClr val="tx2">
            <a:lumMod val="20000"/>
            <a:lumOff val="80000"/>
            <a:alpha val="90000"/>
          </a:schemeClr>
        </a:solidFill>
      </dgm:spPr>
      <dgm:t>
        <a:bodyPr/>
        <a:lstStyle/>
        <a:p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【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判定垒升</a:t>
          </a:r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】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入轨？在轨？离轨？</a:t>
          </a:r>
        </a:p>
      </dgm:t>
    </dgm:pt>
    <dgm:pt modelId="{F7667D7A-4CD8-4043-A349-3B66A95C03B0}" type="parTrans" cxnId="{FB84D216-4338-48E3-B76E-5511070A7D27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EDB6CBC-460E-4EB5-B54C-1173C7AAB828}" type="sibTrans" cxnId="{FB84D216-4338-48E3-B76E-5511070A7D27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F1A9BFB-2268-4818-AD94-A26491A65DF8}">
      <dgm:prSet phldrT="[文本]" custT="1"/>
      <dgm:spPr>
        <a:solidFill>
          <a:srgbClr val="FFC000"/>
        </a:solidFill>
      </dgm:spPr>
      <dgm:t>
        <a:bodyPr/>
        <a:lstStyle/>
        <a:p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适用龙战法？</a:t>
          </a:r>
        </a:p>
      </dgm:t>
    </dgm:pt>
    <dgm:pt modelId="{B450EA4E-17EB-4D50-A19D-DC93B26CA98E}" type="parTrans" cxnId="{88FF123D-6E8B-4F72-941B-24C8DCABFF04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9A6F3A4-FD8B-45A8-8E85-779CAA0E42A1}" type="sibTrans" cxnId="{88FF123D-6E8B-4F72-941B-24C8DCABFF04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0DC1C81-C95E-4A62-B33A-400681DC1BB8}">
      <dgm:prSet phldrT="[文本]" custT="1"/>
      <dgm:spPr>
        <a:solidFill>
          <a:schemeClr val="tx2">
            <a:lumMod val="20000"/>
            <a:lumOff val="80000"/>
            <a:alpha val="90000"/>
          </a:schemeClr>
        </a:solidFill>
      </dgm:spPr>
      <dgm:t>
        <a:bodyPr/>
        <a:lstStyle/>
        <a:p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龙丘周战法：</a:t>
          </a:r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WJB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持仓法</a:t>
          </a:r>
        </a:p>
      </dgm:t>
    </dgm:pt>
    <dgm:pt modelId="{54F11ADF-5471-4DB3-8EB0-AF3DDDFD6FC8}" type="parTrans" cxnId="{A1B20718-C28D-4C6D-8B59-C1F4B399A0F6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A9A1C17-0FE9-438B-B818-3F11AD5B465F}" type="sibTrans" cxnId="{A1B20718-C28D-4C6D-8B59-C1F4B399A0F6}">
      <dgm:prSet/>
      <dgm:spPr/>
      <dgm:t>
        <a:bodyPr/>
        <a:lstStyle/>
        <a:p>
          <a:endParaRPr lang="zh-CN" altLang="en-US" sz="1000" b="1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D447BA1-68CE-4100-8333-8A3D18A514A7}">
      <dgm:prSet phldrT="[文本]" custT="1"/>
      <dgm:spPr>
        <a:solidFill>
          <a:schemeClr val="tx2">
            <a:lumMod val="20000"/>
            <a:lumOff val="80000"/>
            <a:alpha val="90000"/>
          </a:schemeClr>
        </a:solidFill>
      </dgm:spPr>
      <dgm:t>
        <a:bodyPr/>
        <a:lstStyle/>
        <a:p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龙冲周战法：是否下周冲高？</a:t>
          </a:r>
        </a:p>
      </dgm:t>
    </dgm:pt>
    <dgm:pt modelId="{8BBCAE63-BD2E-4545-A4D5-D8A6F372A1BE}" type="parTrans" cxnId="{1365F8E1-D870-4EDD-918A-64ABC066FCE0}">
      <dgm:prSet/>
      <dgm:spPr/>
      <dgm:t>
        <a:bodyPr/>
        <a:lstStyle/>
        <a:p>
          <a:endParaRPr lang="zh-CN" altLang="en-US"/>
        </a:p>
      </dgm:t>
    </dgm:pt>
    <dgm:pt modelId="{5F6FCEA3-1762-4D22-AF78-0CEF6627CA5B}" type="sibTrans" cxnId="{1365F8E1-D870-4EDD-918A-64ABC066FCE0}">
      <dgm:prSet/>
      <dgm:spPr/>
      <dgm:t>
        <a:bodyPr/>
        <a:lstStyle/>
        <a:p>
          <a:endParaRPr lang="zh-CN" altLang="en-US"/>
        </a:p>
      </dgm:t>
    </dgm:pt>
    <dgm:pt modelId="{98C16C4A-C4A0-4F5B-8798-2E290F65D23E}">
      <dgm:prSet phldrT="[文本]" custT="1"/>
      <dgm:spPr>
        <a:solidFill>
          <a:schemeClr val="tx2">
            <a:lumMod val="20000"/>
            <a:lumOff val="80000"/>
            <a:alpha val="90000"/>
          </a:schemeClr>
        </a:solidFill>
        <a:ln>
          <a:solidFill>
            <a:schemeClr val="accent1">
              <a:hueOff val="0"/>
              <a:satOff val="0"/>
              <a:lumOff val="0"/>
            </a:schemeClr>
          </a:solidFill>
        </a:ln>
      </dgm:spPr>
      <dgm:t>
        <a:bodyPr/>
        <a:lstStyle/>
        <a:p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【WJCDE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决定大势</a:t>
          </a:r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】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利用</a:t>
          </a:r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WJCDE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确定月级别大升位置。过滤</a:t>
          </a:r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/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底震</a:t>
          </a:r>
          <a:r>
            <a: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/</a:t>
          </a:r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顶震。</a:t>
          </a:r>
        </a:p>
      </dgm:t>
    </dgm:pt>
    <dgm:pt modelId="{A6A4F6A8-EADC-4868-ACE4-269D85600BDB}" type="parTrans" cxnId="{457476FC-1A8F-43F7-95B9-F0B29FDB6B74}">
      <dgm:prSet/>
      <dgm:spPr/>
      <dgm:t>
        <a:bodyPr/>
        <a:lstStyle/>
        <a:p>
          <a:endParaRPr lang="zh-CN" altLang="en-US"/>
        </a:p>
      </dgm:t>
    </dgm:pt>
    <dgm:pt modelId="{518F3D19-CEFA-452F-BCDA-B96E7A5D6D86}" type="sibTrans" cxnId="{457476FC-1A8F-43F7-95B9-F0B29FDB6B74}">
      <dgm:prSet/>
      <dgm:spPr/>
      <dgm:t>
        <a:bodyPr/>
        <a:lstStyle/>
        <a:p>
          <a:endParaRPr lang="zh-CN" altLang="en-US"/>
        </a:p>
      </dgm:t>
    </dgm:pt>
    <dgm:pt modelId="{4DC9C77F-52CA-40E3-A3AD-47C3AE0E88B7}">
      <dgm:prSet phldrT="[文本]" custT="1"/>
      <dgm:spPr>
        <a:solidFill>
          <a:schemeClr val="tx2">
            <a:lumMod val="20000"/>
            <a:lumOff val="80000"/>
            <a:alpha val="90000"/>
          </a:schemeClr>
        </a:solidFill>
      </dgm:spPr>
      <dgm:t>
        <a:bodyPr/>
        <a:lstStyle/>
        <a:p>
          <a:r>
            <a: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龙展日战法：是否日类捡漏？</a:t>
          </a:r>
        </a:p>
      </dgm:t>
    </dgm:pt>
    <dgm:pt modelId="{236BF46F-942E-4A61-AA2B-BC48803D3813}" type="parTrans" cxnId="{E714A2CC-3B5B-4C85-9ADD-905B542F39DF}">
      <dgm:prSet/>
      <dgm:spPr/>
      <dgm:t>
        <a:bodyPr/>
        <a:lstStyle/>
        <a:p>
          <a:endParaRPr lang="zh-CN" altLang="en-US"/>
        </a:p>
      </dgm:t>
    </dgm:pt>
    <dgm:pt modelId="{06D130DF-C913-448C-B98E-F3EC9E24BD41}" type="sibTrans" cxnId="{E714A2CC-3B5B-4C85-9ADD-905B542F39DF}">
      <dgm:prSet/>
      <dgm:spPr/>
      <dgm:t>
        <a:bodyPr/>
        <a:lstStyle/>
        <a:p>
          <a:endParaRPr lang="zh-CN" altLang="en-US"/>
        </a:p>
      </dgm:t>
    </dgm:pt>
    <dgm:pt modelId="{F7C54676-ECA3-4191-869A-D0E1D6D4182C}" type="pres">
      <dgm:prSet presAssocID="{CFEA0D9F-0CE2-4905-800C-C2C43BA70066}" presName="linearFlow" presStyleCnt="0">
        <dgm:presLayoutVars>
          <dgm:dir/>
          <dgm:animLvl val="lvl"/>
          <dgm:resizeHandles val="exact"/>
        </dgm:presLayoutVars>
      </dgm:prSet>
      <dgm:spPr/>
    </dgm:pt>
    <dgm:pt modelId="{1ABF5EFC-C62B-44B1-B608-22854EC32D4E}" type="pres">
      <dgm:prSet presAssocID="{EA49B69D-FDFE-42A6-BF3E-03EC78AC1B1A}" presName="composite" presStyleCnt="0"/>
      <dgm:spPr/>
    </dgm:pt>
    <dgm:pt modelId="{8ECB5A40-3EDE-4457-A4CA-2D253D0257F3}" type="pres">
      <dgm:prSet presAssocID="{EA49B69D-FDFE-42A6-BF3E-03EC78AC1B1A}" presName="parentText" presStyleLbl="alignNode1" presStyleIdx="0" presStyleCnt="4">
        <dgm:presLayoutVars>
          <dgm:chMax val="1"/>
          <dgm:bulletEnabled val="1"/>
        </dgm:presLayoutVars>
      </dgm:prSet>
      <dgm:spPr/>
    </dgm:pt>
    <dgm:pt modelId="{D6E602D9-572C-4E20-ADDC-D7A5B9872C97}" type="pres">
      <dgm:prSet presAssocID="{EA49B69D-FDFE-42A6-BF3E-03EC78AC1B1A}" presName="descendantText" presStyleLbl="alignAcc1" presStyleIdx="0" presStyleCnt="4" custScaleY="100000">
        <dgm:presLayoutVars>
          <dgm:bulletEnabled val="1"/>
        </dgm:presLayoutVars>
      </dgm:prSet>
      <dgm:spPr/>
    </dgm:pt>
    <dgm:pt modelId="{F711166F-C318-424B-A211-CCC10D6A9BAD}" type="pres">
      <dgm:prSet presAssocID="{5153A7DC-5D51-494C-ACCF-2AFB4CB8B71C}" presName="sp" presStyleCnt="0"/>
      <dgm:spPr/>
    </dgm:pt>
    <dgm:pt modelId="{B0CDD980-D546-4C06-AB02-B97A81BE7F00}" type="pres">
      <dgm:prSet presAssocID="{29D60E03-E49D-41DA-BAA3-7D7E3011A67B}" presName="composite" presStyleCnt="0"/>
      <dgm:spPr/>
    </dgm:pt>
    <dgm:pt modelId="{95A32B1C-74BA-40DC-8C7E-A2CE4D72898B}" type="pres">
      <dgm:prSet presAssocID="{29D60E03-E49D-41DA-BAA3-7D7E3011A67B}" presName="parentText" presStyleLbl="alignNode1" presStyleIdx="1" presStyleCnt="4">
        <dgm:presLayoutVars>
          <dgm:chMax val="1"/>
          <dgm:bulletEnabled val="1"/>
        </dgm:presLayoutVars>
      </dgm:prSet>
      <dgm:spPr/>
    </dgm:pt>
    <dgm:pt modelId="{BFD4F15B-424E-407C-8737-463EE73D19D1}" type="pres">
      <dgm:prSet presAssocID="{29D60E03-E49D-41DA-BAA3-7D7E3011A67B}" presName="descendantText" presStyleLbl="alignAcc1" presStyleIdx="1" presStyleCnt="4">
        <dgm:presLayoutVars>
          <dgm:bulletEnabled val="1"/>
        </dgm:presLayoutVars>
      </dgm:prSet>
      <dgm:spPr/>
    </dgm:pt>
    <dgm:pt modelId="{FAFD5116-B0E2-42E0-B19B-9F8ABEA137F4}" type="pres">
      <dgm:prSet presAssocID="{77E8AC70-9E2E-4900-A5A4-6E57F1FB5023}" presName="sp" presStyleCnt="0"/>
      <dgm:spPr/>
    </dgm:pt>
    <dgm:pt modelId="{F33AF5E2-7027-43AA-BED6-813DC184413A}" type="pres">
      <dgm:prSet presAssocID="{0903E931-130E-46C4-BB44-F8F852FED40B}" presName="composite" presStyleCnt="0"/>
      <dgm:spPr/>
    </dgm:pt>
    <dgm:pt modelId="{B775155D-257E-4F92-94CA-B2E9039D6F75}" type="pres">
      <dgm:prSet presAssocID="{0903E931-130E-46C4-BB44-F8F852FED40B}" presName="parentText" presStyleLbl="alignNode1" presStyleIdx="2" presStyleCnt="4">
        <dgm:presLayoutVars>
          <dgm:chMax val="1"/>
          <dgm:bulletEnabled val="1"/>
        </dgm:presLayoutVars>
      </dgm:prSet>
      <dgm:spPr/>
    </dgm:pt>
    <dgm:pt modelId="{183CD579-65F5-4F89-A4BE-8654CC97A0BA}" type="pres">
      <dgm:prSet presAssocID="{0903E931-130E-46C4-BB44-F8F852FED40B}" presName="descendantText" presStyleLbl="alignAcc1" presStyleIdx="2" presStyleCnt="4">
        <dgm:presLayoutVars>
          <dgm:bulletEnabled val="1"/>
        </dgm:presLayoutVars>
      </dgm:prSet>
      <dgm:spPr/>
    </dgm:pt>
    <dgm:pt modelId="{F2EFB07D-DE85-4D7D-9FE8-4CDB1B9A608E}" type="pres">
      <dgm:prSet presAssocID="{E5DA8A23-3F31-4CDD-A47B-35797FFE6CE6}" presName="sp" presStyleCnt="0"/>
      <dgm:spPr/>
    </dgm:pt>
    <dgm:pt modelId="{C175FF5F-B8A1-4636-8049-58E0926C17E8}" type="pres">
      <dgm:prSet presAssocID="{EF1A9BFB-2268-4818-AD94-A26491A65DF8}" presName="composite" presStyleCnt="0"/>
      <dgm:spPr/>
    </dgm:pt>
    <dgm:pt modelId="{47C9FCC1-8327-4129-B796-DD65D61F5558}" type="pres">
      <dgm:prSet presAssocID="{EF1A9BFB-2268-4818-AD94-A26491A65DF8}" presName="parentText" presStyleLbl="alignNode1" presStyleIdx="3" presStyleCnt="4">
        <dgm:presLayoutVars>
          <dgm:chMax val="1"/>
          <dgm:bulletEnabled val="1"/>
        </dgm:presLayoutVars>
      </dgm:prSet>
      <dgm:spPr/>
    </dgm:pt>
    <dgm:pt modelId="{54EF3C5F-2C09-4039-A83A-F71D93D7C131}" type="pres">
      <dgm:prSet presAssocID="{EF1A9BFB-2268-4818-AD94-A26491A65DF8}" presName="descendantText" presStyleLbl="alignAcc1" presStyleIdx="3" presStyleCnt="4" custScaleY="103330">
        <dgm:presLayoutVars>
          <dgm:bulletEnabled val="1"/>
        </dgm:presLayoutVars>
      </dgm:prSet>
      <dgm:spPr/>
    </dgm:pt>
  </dgm:ptLst>
  <dgm:cxnLst>
    <dgm:cxn modelId="{32C6B002-4147-4DDA-9F5B-7AA1BDF915C5}" type="presOf" srcId="{98C16C4A-C4A0-4F5B-8798-2E290F65D23E}" destId="{D6E602D9-572C-4E20-ADDC-D7A5B9872C97}" srcOrd="0" destOrd="1" presId="urn:microsoft.com/office/officeart/2005/8/layout/chevron2"/>
    <dgm:cxn modelId="{99F9FD12-AC3E-47F4-8D57-6DD578D27141}" type="presOf" srcId="{00DC1C81-C95E-4A62-B33A-400681DC1BB8}" destId="{54EF3C5F-2C09-4039-A83A-F71D93D7C131}" srcOrd="0" destOrd="0" presId="urn:microsoft.com/office/officeart/2005/8/layout/chevron2"/>
    <dgm:cxn modelId="{FB84D216-4338-48E3-B76E-5511070A7D27}" srcId="{0903E931-130E-46C4-BB44-F8F852FED40B}" destId="{2CFB7536-A6E3-4D15-B010-92EB2F6B37D0}" srcOrd="1" destOrd="0" parTransId="{F7667D7A-4CD8-4043-A349-3B66A95C03B0}" sibTransId="{7EDB6CBC-460E-4EB5-B54C-1173C7AAB828}"/>
    <dgm:cxn modelId="{A1B20718-C28D-4C6D-8B59-C1F4B399A0F6}" srcId="{EF1A9BFB-2268-4818-AD94-A26491A65DF8}" destId="{00DC1C81-C95E-4A62-B33A-400681DC1BB8}" srcOrd="0" destOrd="0" parTransId="{54F11ADF-5471-4DB3-8EB0-AF3DDDFD6FC8}" sibTransId="{DA9A1C17-0FE9-438B-B818-3F11AD5B465F}"/>
    <dgm:cxn modelId="{CE5D2426-CCA7-4A2F-AF26-57EEC92D8D5B}" type="presOf" srcId="{CD447BA1-68CE-4100-8333-8A3D18A514A7}" destId="{54EF3C5F-2C09-4039-A83A-F71D93D7C131}" srcOrd="0" destOrd="1" presId="urn:microsoft.com/office/officeart/2005/8/layout/chevron2"/>
    <dgm:cxn modelId="{1422E92A-5077-466F-9E34-7F0698DB616D}" type="presOf" srcId="{76C3E558-67A6-4A15-ABD5-7FDA38BDD1C8}" destId="{183CD579-65F5-4F89-A4BE-8654CC97A0BA}" srcOrd="0" destOrd="0" presId="urn:microsoft.com/office/officeart/2005/8/layout/chevron2"/>
    <dgm:cxn modelId="{F1C48133-81C5-4418-9A58-9D065C2129ED}" type="presOf" srcId="{6CE5A049-E5AA-4982-82AB-618FC0C3EF77}" destId="{BFD4F15B-424E-407C-8737-463EE73D19D1}" srcOrd="0" destOrd="1" presId="urn:microsoft.com/office/officeart/2005/8/layout/chevron2"/>
    <dgm:cxn modelId="{88FF123D-6E8B-4F72-941B-24C8DCABFF04}" srcId="{CFEA0D9F-0CE2-4905-800C-C2C43BA70066}" destId="{EF1A9BFB-2268-4818-AD94-A26491A65DF8}" srcOrd="3" destOrd="0" parTransId="{B450EA4E-17EB-4D50-A19D-DC93B26CA98E}" sibTransId="{29A6F3A4-FD8B-45A8-8E85-779CAA0E42A1}"/>
    <dgm:cxn modelId="{98AC033F-2C2A-41F9-9699-89558D946542}" srcId="{0903E931-130E-46C4-BB44-F8F852FED40B}" destId="{76C3E558-67A6-4A15-ABD5-7FDA38BDD1C8}" srcOrd="0" destOrd="0" parTransId="{A1B809F3-3FD4-4F98-9341-CECA769D8183}" sibTransId="{4BFBB557-B06E-4503-BDCB-7014A0ADF2FE}"/>
    <dgm:cxn modelId="{8D9FC964-BAC6-49BC-8F1A-38015F6E5E4D}" type="presOf" srcId="{CFEA0D9F-0CE2-4905-800C-C2C43BA70066}" destId="{F7C54676-ECA3-4191-869A-D0E1D6D4182C}" srcOrd="0" destOrd="0" presId="urn:microsoft.com/office/officeart/2005/8/layout/chevron2"/>
    <dgm:cxn modelId="{7B84334D-A9B7-495D-9FED-863A326C7BA8}" srcId="{29D60E03-E49D-41DA-BAA3-7D7E3011A67B}" destId="{AFB16727-DD91-493A-871A-6D809E3257EC}" srcOrd="0" destOrd="0" parTransId="{D18C47A8-FB46-49F5-8A4D-12D3F0C90C99}" sibTransId="{730E2152-0432-4882-B4D3-C9A56414B27A}"/>
    <dgm:cxn modelId="{15AC5A6F-7FF7-4E05-A8AD-A852DE2B908B}" type="presOf" srcId="{4DC9C77F-52CA-40E3-A3AD-47C3AE0E88B7}" destId="{54EF3C5F-2C09-4039-A83A-F71D93D7C131}" srcOrd="0" destOrd="2" presId="urn:microsoft.com/office/officeart/2005/8/layout/chevron2"/>
    <dgm:cxn modelId="{4A7A7B58-2F02-4315-945A-9A1A652CECCB}" type="presOf" srcId="{EA49B69D-FDFE-42A6-BF3E-03EC78AC1B1A}" destId="{8ECB5A40-3EDE-4457-A4CA-2D253D0257F3}" srcOrd="0" destOrd="0" presId="urn:microsoft.com/office/officeart/2005/8/layout/chevron2"/>
    <dgm:cxn modelId="{4D2E5B59-1361-4585-8617-3DE6E9CE20D0}" srcId="{EA49B69D-FDFE-42A6-BF3E-03EC78AC1B1A}" destId="{B3ED64A4-98E2-4899-81C0-17679CD04C7D}" srcOrd="0" destOrd="0" parTransId="{C1DA850A-C976-4342-ACDF-0446E8516969}" sibTransId="{FF93B5AD-8F73-4A85-A8D7-1A66EE2E2384}"/>
    <dgm:cxn modelId="{6B540B90-C652-41D4-812A-3B50ABFDDA60}" type="presOf" srcId="{0903E931-130E-46C4-BB44-F8F852FED40B}" destId="{B775155D-257E-4F92-94CA-B2E9039D6F75}" srcOrd="0" destOrd="0" presId="urn:microsoft.com/office/officeart/2005/8/layout/chevron2"/>
    <dgm:cxn modelId="{BB71649C-B7F6-4FB9-9AE0-632EE9F2F126}" type="presOf" srcId="{AFB16727-DD91-493A-871A-6D809E3257EC}" destId="{BFD4F15B-424E-407C-8737-463EE73D19D1}" srcOrd="0" destOrd="0" presId="urn:microsoft.com/office/officeart/2005/8/layout/chevron2"/>
    <dgm:cxn modelId="{06265BA5-0A06-4D48-A2A5-EB086A6F4883}" type="presOf" srcId="{EF1A9BFB-2268-4818-AD94-A26491A65DF8}" destId="{47C9FCC1-8327-4129-B796-DD65D61F5558}" srcOrd="0" destOrd="0" presId="urn:microsoft.com/office/officeart/2005/8/layout/chevron2"/>
    <dgm:cxn modelId="{8B6A64A5-1F38-4437-B64E-586A3A3B06F1}" srcId="{CFEA0D9F-0CE2-4905-800C-C2C43BA70066}" destId="{29D60E03-E49D-41DA-BAA3-7D7E3011A67B}" srcOrd="1" destOrd="0" parTransId="{8097B173-1FD4-48A7-99C1-004485F5B22B}" sibTransId="{77E8AC70-9E2E-4900-A5A4-6E57F1FB5023}"/>
    <dgm:cxn modelId="{A1137EAE-34F9-4450-BB32-7475B3EF8C95}" type="presOf" srcId="{B3ED64A4-98E2-4899-81C0-17679CD04C7D}" destId="{D6E602D9-572C-4E20-ADDC-D7A5B9872C97}" srcOrd="0" destOrd="0" presId="urn:microsoft.com/office/officeart/2005/8/layout/chevron2"/>
    <dgm:cxn modelId="{F1CC70B1-38FF-446C-A4F6-AB67DEE881F2}" srcId="{29D60E03-E49D-41DA-BAA3-7D7E3011A67B}" destId="{6CE5A049-E5AA-4982-82AB-618FC0C3EF77}" srcOrd="1" destOrd="0" parTransId="{14DAF2F8-1E71-4EC4-809F-576D1ED07914}" sibTransId="{A0A2BC28-5CFD-4D88-91DA-4D51A59D520C}"/>
    <dgm:cxn modelId="{F2374DB6-7B70-4328-98A6-E4B6CE58E3E0}" srcId="{CFEA0D9F-0CE2-4905-800C-C2C43BA70066}" destId="{0903E931-130E-46C4-BB44-F8F852FED40B}" srcOrd="2" destOrd="0" parTransId="{386A344C-CC9F-4A57-AA76-D15FCC02F05E}" sibTransId="{E5DA8A23-3F31-4CDD-A47B-35797FFE6CE6}"/>
    <dgm:cxn modelId="{E714A2CC-3B5B-4C85-9ADD-905B542F39DF}" srcId="{EF1A9BFB-2268-4818-AD94-A26491A65DF8}" destId="{4DC9C77F-52CA-40E3-A3AD-47C3AE0E88B7}" srcOrd="2" destOrd="0" parTransId="{236BF46F-942E-4A61-AA2B-BC48803D3813}" sibTransId="{06D130DF-C913-448C-B98E-F3EC9E24BD41}"/>
    <dgm:cxn modelId="{082475D0-71D1-4F4C-8094-D9C6FBA64797}" srcId="{CFEA0D9F-0CE2-4905-800C-C2C43BA70066}" destId="{EA49B69D-FDFE-42A6-BF3E-03EC78AC1B1A}" srcOrd="0" destOrd="0" parTransId="{14773414-95C2-4657-AC8F-676624F95F47}" sibTransId="{5153A7DC-5D51-494C-ACCF-2AFB4CB8B71C}"/>
    <dgm:cxn modelId="{9A9939D7-24B3-47F3-A146-9B714CE51128}" type="presOf" srcId="{2CFB7536-A6E3-4D15-B010-92EB2F6B37D0}" destId="{183CD579-65F5-4F89-A4BE-8654CC97A0BA}" srcOrd="0" destOrd="1" presId="urn:microsoft.com/office/officeart/2005/8/layout/chevron2"/>
    <dgm:cxn modelId="{1365F8E1-D870-4EDD-918A-64ABC066FCE0}" srcId="{EF1A9BFB-2268-4818-AD94-A26491A65DF8}" destId="{CD447BA1-68CE-4100-8333-8A3D18A514A7}" srcOrd="1" destOrd="0" parTransId="{8BBCAE63-BD2E-4545-A4D5-D8A6F372A1BE}" sibTransId="{5F6FCEA3-1762-4D22-AF78-0CEF6627CA5B}"/>
    <dgm:cxn modelId="{AFD8F5F5-E353-4769-B0D4-196D010A722A}" type="presOf" srcId="{29D60E03-E49D-41DA-BAA3-7D7E3011A67B}" destId="{95A32B1C-74BA-40DC-8C7E-A2CE4D72898B}" srcOrd="0" destOrd="0" presId="urn:microsoft.com/office/officeart/2005/8/layout/chevron2"/>
    <dgm:cxn modelId="{457476FC-1A8F-43F7-95B9-F0B29FDB6B74}" srcId="{EA49B69D-FDFE-42A6-BF3E-03EC78AC1B1A}" destId="{98C16C4A-C4A0-4F5B-8798-2E290F65D23E}" srcOrd="1" destOrd="0" parTransId="{A6A4F6A8-EADC-4868-ACE4-269D85600BDB}" sibTransId="{518F3D19-CEFA-452F-BCDA-B96E7A5D6D86}"/>
    <dgm:cxn modelId="{08709702-7E8B-40C7-8739-E9CC575331C1}" type="presParOf" srcId="{F7C54676-ECA3-4191-869A-D0E1D6D4182C}" destId="{1ABF5EFC-C62B-44B1-B608-22854EC32D4E}" srcOrd="0" destOrd="0" presId="urn:microsoft.com/office/officeart/2005/8/layout/chevron2"/>
    <dgm:cxn modelId="{AFE3E210-8EEC-4CDF-B37B-9A0212370025}" type="presParOf" srcId="{1ABF5EFC-C62B-44B1-B608-22854EC32D4E}" destId="{8ECB5A40-3EDE-4457-A4CA-2D253D0257F3}" srcOrd="0" destOrd="0" presId="urn:microsoft.com/office/officeart/2005/8/layout/chevron2"/>
    <dgm:cxn modelId="{78FFC9F5-AA6A-499E-B939-F3DE24A8AF1C}" type="presParOf" srcId="{1ABF5EFC-C62B-44B1-B608-22854EC32D4E}" destId="{D6E602D9-572C-4E20-ADDC-D7A5B9872C97}" srcOrd="1" destOrd="0" presId="urn:microsoft.com/office/officeart/2005/8/layout/chevron2"/>
    <dgm:cxn modelId="{3301A091-6F6F-4417-9C11-8BF97C8A2CF4}" type="presParOf" srcId="{F7C54676-ECA3-4191-869A-D0E1D6D4182C}" destId="{F711166F-C318-424B-A211-CCC10D6A9BAD}" srcOrd="1" destOrd="0" presId="urn:microsoft.com/office/officeart/2005/8/layout/chevron2"/>
    <dgm:cxn modelId="{630C01BA-B2B6-47F4-9B4C-359E943B6F7B}" type="presParOf" srcId="{F7C54676-ECA3-4191-869A-D0E1D6D4182C}" destId="{B0CDD980-D546-4C06-AB02-B97A81BE7F00}" srcOrd="2" destOrd="0" presId="urn:microsoft.com/office/officeart/2005/8/layout/chevron2"/>
    <dgm:cxn modelId="{B04B0F13-0C5F-4740-8540-F2263698B328}" type="presParOf" srcId="{B0CDD980-D546-4C06-AB02-B97A81BE7F00}" destId="{95A32B1C-74BA-40DC-8C7E-A2CE4D72898B}" srcOrd="0" destOrd="0" presId="urn:microsoft.com/office/officeart/2005/8/layout/chevron2"/>
    <dgm:cxn modelId="{8045B70C-8BBD-4A4A-BFC4-9FD224BDA2FA}" type="presParOf" srcId="{B0CDD980-D546-4C06-AB02-B97A81BE7F00}" destId="{BFD4F15B-424E-407C-8737-463EE73D19D1}" srcOrd="1" destOrd="0" presId="urn:microsoft.com/office/officeart/2005/8/layout/chevron2"/>
    <dgm:cxn modelId="{41222B7A-C260-4287-ADB6-45856EB9AD3D}" type="presParOf" srcId="{F7C54676-ECA3-4191-869A-D0E1D6D4182C}" destId="{FAFD5116-B0E2-42E0-B19B-9F8ABEA137F4}" srcOrd="3" destOrd="0" presId="urn:microsoft.com/office/officeart/2005/8/layout/chevron2"/>
    <dgm:cxn modelId="{20BF61FE-7BF9-45BC-8C3B-49B8E88BFE2A}" type="presParOf" srcId="{F7C54676-ECA3-4191-869A-D0E1D6D4182C}" destId="{F33AF5E2-7027-43AA-BED6-813DC184413A}" srcOrd="4" destOrd="0" presId="urn:microsoft.com/office/officeart/2005/8/layout/chevron2"/>
    <dgm:cxn modelId="{E4598105-92CA-4B95-8C4C-9EDCB40E8379}" type="presParOf" srcId="{F33AF5E2-7027-43AA-BED6-813DC184413A}" destId="{B775155D-257E-4F92-94CA-B2E9039D6F75}" srcOrd="0" destOrd="0" presId="urn:microsoft.com/office/officeart/2005/8/layout/chevron2"/>
    <dgm:cxn modelId="{E1BB3A06-DED7-4321-8225-B3164F514950}" type="presParOf" srcId="{F33AF5E2-7027-43AA-BED6-813DC184413A}" destId="{183CD579-65F5-4F89-A4BE-8654CC97A0BA}" srcOrd="1" destOrd="0" presId="urn:microsoft.com/office/officeart/2005/8/layout/chevron2"/>
    <dgm:cxn modelId="{56465744-AE15-4A67-85A6-D8CD30FDE8CD}" type="presParOf" srcId="{F7C54676-ECA3-4191-869A-D0E1D6D4182C}" destId="{F2EFB07D-DE85-4D7D-9FE8-4CDB1B9A608E}" srcOrd="5" destOrd="0" presId="urn:microsoft.com/office/officeart/2005/8/layout/chevron2"/>
    <dgm:cxn modelId="{5BC886C6-EBF8-4A54-892F-701CD3901BA4}" type="presParOf" srcId="{F7C54676-ECA3-4191-869A-D0E1D6D4182C}" destId="{C175FF5F-B8A1-4636-8049-58E0926C17E8}" srcOrd="6" destOrd="0" presId="urn:microsoft.com/office/officeart/2005/8/layout/chevron2"/>
    <dgm:cxn modelId="{E3021959-CBD4-441C-BD2A-B30550B07B74}" type="presParOf" srcId="{C175FF5F-B8A1-4636-8049-58E0926C17E8}" destId="{47C9FCC1-8327-4129-B796-DD65D61F5558}" srcOrd="0" destOrd="0" presId="urn:microsoft.com/office/officeart/2005/8/layout/chevron2"/>
    <dgm:cxn modelId="{8303DEE9-90E1-42F0-99FA-04224E6945CC}" type="presParOf" srcId="{C175FF5F-B8A1-4636-8049-58E0926C17E8}" destId="{54EF3C5F-2C09-4039-A83A-F71D93D7C131}" srcOrd="1" destOrd="0" presId="urn:microsoft.com/office/officeart/2005/8/layout/chevron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2C5621FD-FBFF-4721-B1EC-60C67F0DED7F}" type="doc">
      <dgm:prSet loTypeId="urn:microsoft.com/office/officeart/2005/8/layout/chevron2" loCatId="process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zh-CN" altLang="en-US"/>
        </a:p>
      </dgm:t>
    </dgm:pt>
    <dgm:pt modelId="{DD0A7FA9-F498-444C-BD52-DFD54C7B47E8}">
      <dgm:prSet phldrT="[文本]" custT="1"/>
      <dgm:spPr/>
      <dgm:t>
        <a:bodyPr/>
        <a:lstStyle/>
        <a:p>
          <a:r>
            <a:rPr lang="zh-CN" altLang="en-US" sz="1000" dirty="0"/>
            <a:t>日层类</a:t>
          </a:r>
          <a:endParaRPr lang="en-US" altLang="zh-CN" sz="1000" dirty="0"/>
        </a:p>
        <a:p>
          <a:r>
            <a:rPr lang="zh-CN" altLang="en-US" sz="500" dirty="0"/>
            <a:t>是否支持？</a:t>
          </a:r>
        </a:p>
      </dgm:t>
    </dgm:pt>
    <dgm:pt modelId="{90009FD3-1D32-4676-82F0-B33FA4989758}" type="parTrans" cxnId="{87C04CBF-AFF8-4342-A9D9-F7DB1B90C2AF}">
      <dgm:prSet/>
      <dgm:spPr/>
      <dgm:t>
        <a:bodyPr/>
        <a:lstStyle/>
        <a:p>
          <a:endParaRPr lang="zh-CN" altLang="en-US"/>
        </a:p>
      </dgm:t>
    </dgm:pt>
    <dgm:pt modelId="{C8244151-1A5B-4578-A0BB-8C2D7519291A}" type="sibTrans" cxnId="{87C04CBF-AFF8-4342-A9D9-F7DB1B90C2AF}">
      <dgm:prSet/>
      <dgm:spPr/>
      <dgm:t>
        <a:bodyPr/>
        <a:lstStyle/>
        <a:p>
          <a:endParaRPr lang="zh-CN" altLang="en-US"/>
        </a:p>
      </dgm:t>
    </dgm:pt>
    <dgm:pt modelId="{AB29A5DD-4C98-4A4C-AF2B-49332A9AF9AA}">
      <dgm:prSet phldrT="[文本]"/>
      <dgm:spPr/>
      <dgm:t>
        <a:bodyPr/>
        <a:lstStyle/>
        <a:p>
          <a:r>
            <a:rPr lang="zh-CN" altLang="en-US" dirty="0"/>
            <a:t>优选：层初</a:t>
          </a:r>
          <a:r>
            <a:rPr lang="en-US" altLang="zh-CN" dirty="0"/>
            <a:t>/</a:t>
          </a:r>
          <a:r>
            <a:rPr lang="zh-CN" altLang="en-US" dirty="0"/>
            <a:t>层主（呈放射状）</a:t>
          </a:r>
        </a:p>
      </dgm:t>
    </dgm:pt>
    <dgm:pt modelId="{3F0083AD-DF79-4828-9D21-A45B66A3438D}" type="parTrans" cxnId="{E1FA1870-9A1A-4949-B8A7-E36D0363BE5C}">
      <dgm:prSet/>
      <dgm:spPr/>
      <dgm:t>
        <a:bodyPr/>
        <a:lstStyle/>
        <a:p>
          <a:endParaRPr lang="zh-CN" altLang="en-US"/>
        </a:p>
      </dgm:t>
    </dgm:pt>
    <dgm:pt modelId="{77EEC0EF-B573-4CE1-9342-BD50429F77B4}" type="sibTrans" cxnId="{E1FA1870-9A1A-4949-B8A7-E36D0363BE5C}">
      <dgm:prSet/>
      <dgm:spPr/>
      <dgm:t>
        <a:bodyPr/>
        <a:lstStyle/>
        <a:p>
          <a:endParaRPr lang="zh-CN" altLang="en-US"/>
        </a:p>
      </dgm:t>
    </dgm:pt>
    <dgm:pt modelId="{B4FF57BD-276D-4D54-85A4-C6D3D4F85F3A}">
      <dgm:prSet phldrT="[文本]"/>
      <dgm:spPr/>
      <dgm:t>
        <a:bodyPr/>
        <a:lstStyle/>
        <a:p>
          <a:r>
            <a:rPr lang="zh-CN" altLang="en-US" dirty="0"/>
            <a:t>备选：层再</a:t>
          </a:r>
          <a:r>
            <a:rPr lang="en-US" altLang="zh-CN" dirty="0"/>
            <a:t>/</a:t>
          </a:r>
          <a:r>
            <a:rPr lang="zh-CN" altLang="en-US" dirty="0"/>
            <a:t>层主</a:t>
          </a:r>
          <a:r>
            <a:rPr lang="en-US" altLang="zh-CN" dirty="0"/>
            <a:t>DXZA</a:t>
          </a:r>
          <a:endParaRPr lang="zh-CN" altLang="en-US" dirty="0"/>
        </a:p>
      </dgm:t>
    </dgm:pt>
    <dgm:pt modelId="{06F435FC-6061-463E-91B5-F49C1409213B}" type="parTrans" cxnId="{D61C93E6-E174-422D-B109-B999333B853E}">
      <dgm:prSet/>
      <dgm:spPr/>
      <dgm:t>
        <a:bodyPr/>
        <a:lstStyle/>
        <a:p>
          <a:endParaRPr lang="zh-CN" altLang="en-US"/>
        </a:p>
      </dgm:t>
    </dgm:pt>
    <dgm:pt modelId="{23320D4D-E27E-4B22-948E-1DC86D500277}" type="sibTrans" cxnId="{D61C93E6-E174-422D-B109-B999333B853E}">
      <dgm:prSet/>
      <dgm:spPr/>
      <dgm:t>
        <a:bodyPr/>
        <a:lstStyle/>
        <a:p>
          <a:endParaRPr lang="zh-CN" altLang="en-US"/>
        </a:p>
      </dgm:t>
    </dgm:pt>
    <dgm:pt modelId="{42E5DD72-2684-4CFC-9D2B-594CEB218043}">
      <dgm:prSet phldrT="[文本]" custT="1"/>
      <dgm:spPr/>
      <dgm:t>
        <a:bodyPr/>
        <a:lstStyle/>
        <a:p>
          <a:r>
            <a:rPr lang="zh-CN" altLang="en-US" sz="1000" dirty="0"/>
            <a:t>日护型</a:t>
          </a:r>
          <a:endParaRPr lang="en-US" altLang="zh-CN" sz="1000" dirty="0"/>
        </a:p>
        <a:p>
          <a:r>
            <a:rPr lang="zh-CN" altLang="en-US" sz="500" dirty="0"/>
            <a:t>是否支持？</a:t>
          </a:r>
        </a:p>
      </dgm:t>
    </dgm:pt>
    <dgm:pt modelId="{C38C1C9E-CBCD-4887-A14A-A6ED958B971C}" type="parTrans" cxnId="{AEAE51E5-28C9-4378-A0FB-C962634073BA}">
      <dgm:prSet/>
      <dgm:spPr/>
      <dgm:t>
        <a:bodyPr/>
        <a:lstStyle/>
        <a:p>
          <a:endParaRPr lang="zh-CN" altLang="en-US"/>
        </a:p>
      </dgm:t>
    </dgm:pt>
    <dgm:pt modelId="{864EAF23-541A-4E9C-92D0-F48AB3A90AFD}" type="sibTrans" cxnId="{AEAE51E5-28C9-4378-A0FB-C962634073BA}">
      <dgm:prSet/>
      <dgm:spPr/>
      <dgm:t>
        <a:bodyPr/>
        <a:lstStyle/>
        <a:p>
          <a:endParaRPr lang="zh-CN" altLang="en-US"/>
        </a:p>
      </dgm:t>
    </dgm:pt>
    <dgm:pt modelId="{48410EE6-E84F-4106-A5D5-133879C6D06E}">
      <dgm:prSet phldrT="[文本]"/>
      <dgm:spPr/>
      <dgm:t>
        <a:bodyPr/>
        <a:lstStyle/>
        <a:p>
          <a:r>
            <a:rPr lang="zh-CN" altLang="en-US" dirty="0"/>
            <a:t>基础：在</a:t>
          </a:r>
          <a:r>
            <a:rPr lang="en-US" altLang="zh-CN" dirty="0"/>
            <a:t>DJB</a:t>
          </a:r>
          <a:r>
            <a:rPr lang="zh-CN" altLang="en-US" dirty="0"/>
            <a:t>之上</a:t>
          </a:r>
        </a:p>
      </dgm:t>
    </dgm:pt>
    <dgm:pt modelId="{C69E734F-AD61-4F55-86DE-7B212AC6A914}" type="parTrans" cxnId="{84FD3E92-87CC-4DF1-9795-3771C120F3F2}">
      <dgm:prSet/>
      <dgm:spPr/>
      <dgm:t>
        <a:bodyPr/>
        <a:lstStyle/>
        <a:p>
          <a:endParaRPr lang="zh-CN" altLang="en-US"/>
        </a:p>
      </dgm:t>
    </dgm:pt>
    <dgm:pt modelId="{A0D5258C-793D-4C01-8F8E-518B11B878CC}" type="sibTrans" cxnId="{84FD3E92-87CC-4DF1-9795-3771C120F3F2}">
      <dgm:prSet/>
      <dgm:spPr/>
      <dgm:t>
        <a:bodyPr/>
        <a:lstStyle/>
        <a:p>
          <a:endParaRPr lang="zh-CN" altLang="en-US"/>
        </a:p>
      </dgm:t>
    </dgm:pt>
    <dgm:pt modelId="{73451387-DE1A-4256-8C9F-139BC26CA597}">
      <dgm:prSet phldrT="[文本]"/>
      <dgm:spPr/>
      <dgm:t>
        <a:bodyPr/>
        <a:lstStyle/>
        <a:p>
          <a:r>
            <a:rPr lang="zh-CN" altLang="en-US" dirty="0"/>
            <a:t>优选：</a:t>
          </a:r>
          <a:r>
            <a:rPr lang="en-US" altLang="zh-CN" dirty="0"/>
            <a:t>DXAB</a:t>
          </a:r>
          <a:r>
            <a:rPr lang="zh-CN" altLang="en-US" dirty="0"/>
            <a:t>正交</a:t>
          </a:r>
        </a:p>
      </dgm:t>
    </dgm:pt>
    <dgm:pt modelId="{AD871275-4776-43AB-83B2-F7510B1DD4A7}" type="parTrans" cxnId="{E67C083D-CD14-4905-B4B8-9D19DB063212}">
      <dgm:prSet/>
      <dgm:spPr/>
      <dgm:t>
        <a:bodyPr/>
        <a:lstStyle/>
        <a:p>
          <a:endParaRPr lang="zh-CN" altLang="en-US"/>
        </a:p>
      </dgm:t>
    </dgm:pt>
    <dgm:pt modelId="{31F76609-9C77-4578-AC89-A697673C66A9}" type="sibTrans" cxnId="{E67C083D-CD14-4905-B4B8-9D19DB063212}">
      <dgm:prSet/>
      <dgm:spPr/>
      <dgm:t>
        <a:bodyPr/>
        <a:lstStyle/>
        <a:p>
          <a:endParaRPr lang="zh-CN" altLang="en-US"/>
        </a:p>
      </dgm:t>
    </dgm:pt>
    <dgm:pt modelId="{9EB78A6F-1BE5-409B-8D73-790AF448AFB2}">
      <dgm:prSet phldrT="[文本]" custT="1"/>
      <dgm:spPr/>
      <dgm:t>
        <a:bodyPr/>
        <a:lstStyle/>
        <a:p>
          <a:r>
            <a:rPr lang="zh-CN" altLang="en-US" sz="1000" dirty="0"/>
            <a:t>日柱排</a:t>
          </a:r>
          <a:endParaRPr lang="en-US" altLang="zh-CN" sz="1000" dirty="0"/>
        </a:p>
        <a:p>
          <a:r>
            <a:rPr lang="zh-CN" altLang="en-US" sz="500" dirty="0"/>
            <a:t>是否支持？</a:t>
          </a:r>
        </a:p>
      </dgm:t>
    </dgm:pt>
    <dgm:pt modelId="{57B33A81-BE07-4D0E-AA3B-37DFEC739E62}" type="parTrans" cxnId="{1541E4B4-724D-4D19-80F5-15D0DA5E6BD3}">
      <dgm:prSet/>
      <dgm:spPr/>
      <dgm:t>
        <a:bodyPr/>
        <a:lstStyle/>
        <a:p>
          <a:endParaRPr lang="zh-CN" altLang="en-US"/>
        </a:p>
      </dgm:t>
    </dgm:pt>
    <dgm:pt modelId="{FDA6DFC2-85F8-4FDF-8D01-6CCAE07EC8D4}" type="sibTrans" cxnId="{1541E4B4-724D-4D19-80F5-15D0DA5E6BD3}">
      <dgm:prSet/>
      <dgm:spPr/>
      <dgm:t>
        <a:bodyPr/>
        <a:lstStyle/>
        <a:p>
          <a:endParaRPr lang="zh-CN" altLang="en-US"/>
        </a:p>
      </dgm:t>
    </dgm:pt>
    <dgm:pt modelId="{C02C7EBA-EA0C-4BC2-B535-FDCCCAE69AEC}">
      <dgm:prSet phldrT="[文本]"/>
      <dgm:spPr/>
      <dgm:t>
        <a:bodyPr/>
        <a:lstStyle/>
        <a:p>
          <a:pPr>
            <a:buFont typeface="Arial" panose="020B0604020202020204" pitchFamily="34" charset="0"/>
            <a:buChar char="•"/>
          </a:pPr>
          <a:r>
            <a:rPr lang="en-US" altLang="zh-CN">
              <a:latin typeface="Microsoft YaHei Light" panose="020B0502040204020203" pitchFamily="34" charset="-122"/>
              <a:ea typeface="Microsoft YaHei Light" panose="020B0502040204020203" pitchFamily="34" charset="-122"/>
            </a:rPr>
            <a:t>/</a:t>
          </a:r>
          <a:r>
            <a:rPr lang="zh-CN" altLang="en-US">
              <a:latin typeface="Microsoft YaHei Light" panose="020B0502040204020203" pitchFamily="34" charset="-122"/>
              <a:ea typeface="Microsoft YaHei Light" panose="020B0502040204020203" pitchFamily="34" charset="-122"/>
            </a:rPr>
            <a:t>升连</a:t>
          </a:r>
          <a:r>
            <a:rPr lang="en-US" altLang="zh-CN">
              <a:latin typeface="Microsoft YaHei Light" panose="020B0502040204020203" pitchFamily="34" charset="-122"/>
              <a:ea typeface="Microsoft YaHei Light" panose="020B0502040204020203" pitchFamily="34" charset="-122"/>
            </a:rPr>
            <a:t>/</a:t>
          </a:r>
          <a:r>
            <a:rPr lang="zh-CN" altLang="en-US">
              <a:latin typeface="Microsoft YaHei Light" panose="020B0502040204020203" pitchFamily="34" charset="-122"/>
              <a:ea typeface="Microsoft YaHei Light" panose="020B0502040204020203" pitchFamily="34" charset="-122"/>
            </a:rPr>
            <a:t>升吞：要看下柱是否会连阳；</a:t>
          </a:r>
          <a:r>
            <a:rPr lang="en-US" altLang="zh-CN">
              <a:latin typeface="Microsoft YaHei Light" panose="020B0502040204020203" pitchFamily="34" charset="-122"/>
              <a:ea typeface="Microsoft YaHei Light" panose="020B0502040204020203" pitchFamily="34" charset="-122"/>
            </a:rPr>
            <a:t>/</a:t>
          </a:r>
          <a:r>
            <a:rPr lang="zh-CN" altLang="en-US">
              <a:latin typeface="Microsoft YaHei Light" panose="020B0502040204020203" pitchFamily="34" charset="-122"/>
              <a:ea typeface="Microsoft YaHei Light" panose="020B0502040204020203" pitchFamily="34" charset="-122"/>
            </a:rPr>
            <a:t>跌孕：可直接买入；</a:t>
          </a:r>
          <a:endParaRPr lang="zh-CN" altLang="en-US" dirty="0"/>
        </a:p>
      </dgm:t>
    </dgm:pt>
    <dgm:pt modelId="{8D68DBF5-5A54-46F1-9B3F-DE9CC3A3FD84}" type="parTrans" cxnId="{73323635-61A1-46DE-BFFA-82F6C1648F06}">
      <dgm:prSet/>
      <dgm:spPr/>
      <dgm:t>
        <a:bodyPr/>
        <a:lstStyle/>
        <a:p>
          <a:endParaRPr lang="zh-CN" altLang="en-US"/>
        </a:p>
      </dgm:t>
    </dgm:pt>
    <dgm:pt modelId="{07D58F3B-E631-4CD5-9AF3-1B4A638FD22E}" type="sibTrans" cxnId="{73323635-61A1-46DE-BFFA-82F6C1648F06}">
      <dgm:prSet/>
      <dgm:spPr/>
      <dgm:t>
        <a:bodyPr/>
        <a:lstStyle/>
        <a:p>
          <a:endParaRPr lang="zh-CN" altLang="en-US"/>
        </a:p>
      </dgm:t>
    </dgm:pt>
    <dgm:pt modelId="{1C36C6EF-A58A-40C9-9413-679B55C6374C}">
      <dgm:prSet phldrT="[文本]" custT="1"/>
      <dgm:spPr/>
      <dgm:t>
        <a:bodyPr/>
        <a:lstStyle/>
        <a:p>
          <a:r>
            <a:rPr lang="zh-CN" altLang="en-US" sz="1000" dirty="0"/>
            <a:t>日顶型</a:t>
          </a:r>
          <a:endParaRPr lang="en-US" altLang="zh-CN" sz="1000" dirty="0"/>
        </a:p>
        <a:p>
          <a:r>
            <a:rPr lang="zh-CN" altLang="en-US" sz="500" dirty="0"/>
            <a:t>是否支持？</a:t>
          </a:r>
        </a:p>
      </dgm:t>
    </dgm:pt>
    <dgm:pt modelId="{C88E4E05-9ED8-485D-90D5-29A3E8ECD39C}" type="parTrans" cxnId="{64F4E600-7168-4EB9-A36B-8E679378D131}">
      <dgm:prSet/>
      <dgm:spPr/>
      <dgm:t>
        <a:bodyPr/>
        <a:lstStyle/>
        <a:p>
          <a:endParaRPr lang="zh-CN" altLang="en-US"/>
        </a:p>
      </dgm:t>
    </dgm:pt>
    <dgm:pt modelId="{7855ED02-2B08-447F-A7FD-8A4B181D71F6}" type="sibTrans" cxnId="{64F4E600-7168-4EB9-A36B-8E679378D131}">
      <dgm:prSet/>
      <dgm:spPr/>
      <dgm:t>
        <a:bodyPr/>
        <a:lstStyle/>
        <a:p>
          <a:endParaRPr lang="zh-CN" altLang="en-US"/>
        </a:p>
      </dgm:t>
    </dgm:pt>
    <dgm:pt modelId="{579F82EC-CD1E-46AE-AE70-950DEB47A147}">
      <dgm:prSet phldrT="[文本]"/>
      <dgm:spPr/>
      <dgm:t>
        <a:bodyPr/>
        <a:lstStyle/>
        <a:p>
          <a:pPr>
            <a:buFont typeface="Arial" panose="020B0604020202020204" pitchFamily="34" charset="0"/>
            <a:buChar char="•"/>
          </a:pPr>
          <a:r>
            <a:rPr lang="en-US" altLang="zh-CN">
              <a:latin typeface="Microsoft YaHei Light" panose="020B0502040204020203" pitchFamily="34" charset="-122"/>
              <a:ea typeface="Microsoft YaHei Light" panose="020B0502040204020203" pitchFamily="34" charset="-122"/>
            </a:rPr>
            <a:t>/</a:t>
          </a:r>
          <a:r>
            <a:rPr lang="zh-CN" altLang="en-US">
              <a:latin typeface="Microsoft YaHei Light" panose="020B0502040204020203" pitchFamily="34" charset="-122"/>
              <a:ea typeface="Microsoft YaHei Light" panose="020B0502040204020203" pitchFamily="34" charset="-122"/>
            </a:rPr>
            <a:t>跌连</a:t>
          </a:r>
          <a:r>
            <a:rPr lang="en-US" altLang="zh-CN">
              <a:latin typeface="Microsoft YaHei Light" panose="020B0502040204020203" pitchFamily="34" charset="-122"/>
              <a:ea typeface="Microsoft YaHei Light" panose="020B0502040204020203" pitchFamily="34" charset="-122"/>
            </a:rPr>
            <a:t>/</a:t>
          </a:r>
          <a:r>
            <a:rPr lang="zh-CN" altLang="en-US">
              <a:latin typeface="Microsoft YaHei Light" panose="020B0502040204020203" pitchFamily="34" charset="-122"/>
              <a:ea typeface="Microsoft YaHei Light" panose="020B0502040204020203" pitchFamily="34" charset="-122"/>
            </a:rPr>
            <a:t>跌吞：要出现单阳或遇支撑线。在</a:t>
          </a:r>
          <a:r>
            <a:rPr lang="en-US" altLang="zh-CN">
              <a:latin typeface="Microsoft YaHei Light" panose="020B0502040204020203" pitchFamily="34" charset="-122"/>
              <a:ea typeface="Microsoft YaHei Light" panose="020B0502040204020203" pitchFamily="34" charset="-122"/>
            </a:rPr>
            <a:t>DJB</a:t>
          </a:r>
          <a:r>
            <a:rPr lang="zh-CN" altLang="en-US">
              <a:latin typeface="Microsoft YaHei Light" panose="020B0502040204020203" pitchFamily="34" charset="-122"/>
              <a:ea typeface="Microsoft YaHei Light" panose="020B0502040204020203" pitchFamily="34" charset="-122"/>
            </a:rPr>
            <a:t>之上止跌。</a:t>
          </a:r>
          <a:endParaRPr lang="zh-CN" altLang="en-US" dirty="0"/>
        </a:p>
      </dgm:t>
    </dgm:pt>
    <dgm:pt modelId="{6757A2AC-849E-4E2E-94F5-BA541E369F38}" type="parTrans" cxnId="{15C414FE-327A-4A1D-B6AB-39FA44F56758}">
      <dgm:prSet/>
      <dgm:spPr/>
      <dgm:t>
        <a:bodyPr/>
        <a:lstStyle/>
        <a:p>
          <a:endParaRPr lang="zh-CN" altLang="en-US"/>
        </a:p>
      </dgm:t>
    </dgm:pt>
    <dgm:pt modelId="{96C86ABC-DC2D-41C1-91B0-19DCE6C11E67}" type="sibTrans" cxnId="{15C414FE-327A-4A1D-B6AB-39FA44F56758}">
      <dgm:prSet/>
      <dgm:spPr/>
      <dgm:t>
        <a:bodyPr/>
        <a:lstStyle/>
        <a:p>
          <a:endParaRPr lang="zh-CN" altLang="en-US"/>
        </a:p>
      </dgm:t>
    </dgm:pt>
    <dgm:pt modelId="{5EE49081-8061-4A34-9DD3-D27EDBF18ADD}">
      <dgm:prSet phldrT="[文本]"/>
      <dgm:spPr/>
      <dgm:t>
        <a:bodyPr/>
        <a:lstStyle/>
        <a:p>
          <a:r>
            <a:rPr lang="zh-CN" altLang="en-US" dirty="0"/>
            <a:t>优选：吸附于顶；悬于管中；</a:t>
          </a:r>
          <a:r>
            <a:rPr lang="en-US" altLang="zh-CN" dirty="0"/>
            <a:t>DJA</a:t>
          </a:r>
          <a:r>
            <a:rPr lang="zh-CN" altLang="en-US" dirty="0"/>
            <a:t>之上升排触哼；</a:t>
          </a:r>
        </a:p>
      </dgm:t>
    </dgm:pt>
    <dgm:pt modelId="{0EEF0F64-04F7-4A67-80D4-F236AC9E82C8}" type="parTrans" cxnId="{B17811C3-CD00-458A-A16C-B1B5156BEF0D}">
      <dgm:prSet/>
      <dgm:spPr/>
      <dgm:t>
        <a:bodyPr/>
        <a:lstStyle/>
        <a:p>
          <a:endParaRPr lang="zh-CN" altLang="en-US"/>
        </a:p>
      </dgm:t>
    </dgm:pt>
    <dgm:pt modelId="{75584387-548E-4E47-86FE-BA0EEAAF2BBF}" type="sibTrans" cxnId="{B17811C3-CD00-458A-A16C-B1B5156BEF0D}">
      <dgm:prSet/>
      <dgm:spPr/>
      <dgm:t>
        <a:bodyPr/>
        <a:lstStyle/>
        <a:p>
          <a:endParaRPr lang="zh-CN" altLang="en-US"/>
        </a:p>
      </dgm:t>
    </dgm:pt>
    <dgm:pt modelId="{48CECAF5-7EF8-4C11-AEB7-10312AAAEBF6}">
      <dgm:prSet phldrT="[文本]"/>
      <dgm:spPr/>
      <dgm:t>
        <a:bodyPr/>
        <a:lstStyle/>
        <a:p>
          <a:r>
            <a:rPr lang="zh-CN" altLang="en-US" dirty="0"/>
            <a:t>排除：顶离。</a:t>
          </a:r>
        </a:p>
      </dgm:t>
    </dgm:pt>
    <dgm:pt modelId="{304253ED-7BB1-4FD8-848C-1C1D8A38BFFB}" type="parTrans" cxnId="{794ABD84-9CD1-4A05-B6ED-E2EC6D9DECBF}">
      <dgm:prSet/>
      <dgm:spPr/>
      <dgm:t>
        <a:bodyPr/>
        <a:lstStyle/>
        <a:p>
          <a:endParaRPr lang="zh-CN" altLang="en-US"/>
        </a:p>
      </dgm:t>
    </dgm:pt>
    <dgm:pt modelId="{0D4F1A39-A77C-45EA-94AC-AFF94CEB704D}" type="sibTrans" cxnId="{794ABD84-9CD1-4A05-B6ED-E2EC6D9DECBF}">
      <dgm:prSet/>
      <dgm:spPr/>
      <dgm:t>
        <a:bodyPr/>
        <a:lstStyle/>
        <a:p>
          <a:endParaRPr lang="zh-CN" altLang="en-US"/>
        </a:p>
      </dgm:t>
    </dgm:pt>
    <dgm:pt modelId="{4439E6F2-E956-4B1B-BCFF-A6B3AE574746}" type="pres">
      <dgm:prSet presAssocID="{2C5621FD-FBFF-4721-B1EC-60C67F0DED7F}" presName="linearFlow" presStyleCnt="0">
        <dgm:presLayoutVars>
          <dgm:dir/>
          <dgm:animLvl val="lvl"/>
          <dgm:resizeHandles val="exact"/>
        </dgm:presLayoutVars>
      </dgm:prSet>
      <dgm:spPr/>
    </dgm:pt>
    <dgm:pt modelId="{69B0719F-8A15-40D8-939A-3675834A9304}" type="pres">
      <dgm:prSet presAssocID="{DD0A7FA9-F498-444C-BD52-DFD54C7B47E8}" presName="composite" presStyleCnt="0"/>
      <dgm:spPr/>
    </dgm:pt>
    <dgm:pt modelId="{A4DB0BA9-AD46-482B-891F-39BFD56B5FB7}" type="pres">
      <dgm:prSet presAssocID="{DD0A7FA9-F498-444C-BD52-DFD54C7B47E8}" presName="parentText" presStyleLbl="alignNode1" presStyleIdx="0" presStyleCnt="4">
        <dgm:presLayoutVars>
          <dgm:chMax val="1"/>
          <dgm:bulletEnabled val="1"/>
        </dgm:presLayoutVars>
      </dgm:prSet>
      <dgm:spPr/>
    </dgm:pt>
    <dgm:pt modelId="{64DF10B4-4016-4F24-B69C-D41E40E63567}" type="pres">
      <dgm:prSet presAssocID="{DD0A7FA9-F498-444C-BD52-DFD54C7B47E8}" presName="descendantText" presStyleLbl="alignAcc1" presStyleIdx="0" presStyleCnt="4" custLinFactNeighborY="-2277">
        <dgm:presLayoutVars>
          <dgm:bulletEnabled val="1"/>
        </dgm:presLayoutVars>
      </dgm:prSet>
      <dgm:spPr/>
    </dgm:pt>
    <dgm:pt modelId="{2EF544A5-F629-4B39-B07E-3C0A68B93135}" type="pres">
      <dgm:prSet presAssocID="{C8244151-1A5B-4578-A0BB-8C2D7519291A}" presName="sp" presStyleCnt="0"/>
      <dgm:spPr/>
    </dgm:pt>
    <dgm:pt modelId="{18CD23D7-D71D-481B-8BA6-666D8B998DF4}" type="pres">
      <dgm:prSet presAssocID="{42E5DD72-2684-4CFC-9D2B-594CEB218043}" presName="composite" presStyleCnt="0"/>
      <dgm:spPr/>
    </dgm:pt>
    <dgm:pt modelId="{27376898-300C-4274-BE4E-93FEBF7BD325}" type="pres">
      <dgm:prSet presAssocID="{42E5DD72-2684-4CFC-9D2B-594CEB218043}" presName="parentText" presStyleLbl="alignNode1" presStyleIdx="1" presStyleCnt="4">
        <dgm:presLayoutVars>
          <dgm:chMax val="1"/>
          <dgm:bulletEnabled val="1"/>
        </dgm:presLayoutVars>
      </dgm:prSet>
      <dgm:spPr/>
    </dgm:pt>
    <dgm:pt modelId="{FB930C32-7A71-4C61-915C-6150C3A102F4}" type="pres">
      <dgm:prSet presAssocID="{42E5DD72-2684-4CFC-9D2B-594CEB218043}" presName="descendantText" presStyleLbl="alignAcc1" presStyleIdx="1" presStyleCnt="4">
        <dgm:presLayoutVars>
          <dgm:bulletEnabled val="1"/>
        </dgm:presLayoutVars>
      </dgm:prSet>
      <dgm:spPr/>
    </dgm:pt>
    <dgm:pt modelId="{99362C22-62B8-47BF-A490-A4F25310920F}" type="pres">
      <dgm:prSet presAssocID="{864EAF23-541A-4E9C-92D0-F48AB3A90AFD}" presName="sp" presStyleCnt="0"/>
      <dgm:spPr/>
    </dgm:pt>
    <dgm:pt modelId="{0576F6B2-401F-444E-B0F8-BB6FE1FE4915}" type="pres">
      <dgm:prSet presAssocID="{9EB78A6F-1BE5-409B-8D73-790AF448AFB2}" presName="composite" presStyleCnt="0"/>
      <dgm:spPr/>
    </dgm:pt>
    <dgm:pt modelId="{F8670300-6815-4802-AFB5-523098C5A120}" type="pres">
      <dgm:prSet presAssocID="{9EB78A6F-1BE5-409B-8D73-790AF448AFB2}" presName="parentText" presStyleLbl="alignNode1" presStyleIdx="2" presStyleCnt="4">
        <dgm:presLayoutVars>
          <dgm:chMax val="1"/>
          <dgm:bulletEnabled val="1"/>
        </dgm:presLayoutVars>
      </dgm:prSet>
      <dgm:spPr/>
    </dgm:pt>
    <dgm:pt modelId="{8BBBDCE0-C012-426E-AD1E-075B350868F9}" type="pres">
      <dgm:prSet presAssocID="{9EB78A6F-1BE5-409B-8D73-790AF448AFB2}" presName="descendantText" presStyleLbl="alignAcc1" presStyleIdx="2" presStyleCnt="4">
        <dgm:presLayoutVars>
          <dgm:bulletEnabled val="1"/>
        </dgm:presLayoutVars>
      </dgm:prSet>
      <dgm:spPr/>
    </dgm:pt>
    <dgm:pt modelId="{E4EA37A4-A7C7-4351-81CC-1A627CD566CA}" type="pres">
      <dgm:prSet presAssocID="{FDA6DFC2-85F8-4FDF-8D01-6CCAE07EC8D4}" presName="sp" presStyleCnt="0"/>
      <dgm:spPr/>
    </dgm:pt>
    <dgm:pt modelId="{EEF3F09C-FE16-4B91-BE72-4AFDFD79371E}" type="pres">
      <dgm:prSet presAssocID="{1C36C6EF-A58A-40C9-9413-679B55C6374C}" presName="composite" presStyleCnt="0"/>
      <dgm:spPr/>
    </dgm:pt>
    <dgm:pt modelId="{19C96EA1-C0C0-4C9B-8C67-D8CA540CC4F4}" type="pres">
      <dgm:prSet presAssocID="{1C36C6EF-A58A-40C9-9413-679B55C6374C}" presName="parentText" presStyleLbl="alignNode1" presStyleIdx="3" presStyleCnt="4">
        <dgm:presLayoutVars>
          <dgm:chMax val="1"/>
          <dgm:bulletEnabled val="1"/>
        </dgm:presLayoutVars>
      </dgm:prSet>
      <dgm:spPr/>
    </dgm:pt>
    <dgm:pt modelId="{166B6D9A-8A5F-421B-A2E2-6A99190AE8AD}" type="pres">
      <dgm:prSet presAssocID="{1C36C6EF-A58A-40C9-9413-679B55C6374C}" presName="descendantText" presStyleLbl="alignAcc1" presStyleIdx="3" presStyleCnt="4">
        <dgm:presLayoutVars>
          <dgm:bulletEnabled val="1"/>
        </dgm:presLayoutVars>
      </dgm:prSet>
      <dgm:spPr/>
    </dgm:pt>
  </dgm:ptLst>
  <dgm:cxnLst>
    <dgm:cxn modelId="{64F4E600-7168-4EB9-A36B-8E679378D131}" srcId="{2C5621FD-FBFF-4721-B1EC-60C67F0DED7F}" destId="{1C36C6EF-A58A-40C9-9413-679B55C6374C}" srcOrd="3" destOrd="0" parTransId="{C88E4E05-9ED8-485D-90D5-29A3E8ECD39C}" sibTransId="{7855ED02-2B08-447F-A7FD-8A4B181D71F6}"/>
    <dgm:cxn modelId="{13E8E111-DAE7-4FD6-9502-F92753C19827}" type="presOf" srcId="{9EB78A6F-1BE5-409B-8D73-790AF448AFB2}" destId="{F8670300-6815-4802-AFB5-523098C5A120}" srcOrd="0" destOrd="0" presId="urn:microsoft.com/office/officeart/2005/8/layout/chevron2"/>
    <dgm:cxn modelId="{2301FE2E-5209-4792-9A46-82EB0F690854}" type="presOf" srcId="{DD0A7FA9-F498-444C-BD52-DFD54C7B47E8}" destId="{A4DB0BA9-AD46-482B-891F-39BFD56B5FB7}" srcOrd="0" destOrd="0" presId="urn:microsoft.com/office/officeart/2005/8/layout/chevron2"/>
    <dgm:cxn modelId="{73323635-61A1-46DE-BFFA-82F6C1648F06}" srcId="{9EB78A6F-1BE5-409B-8D73-790AF448AFB2}" destId="{C02C7EBA-EA0C-4BC2-B535-FDCCCAE69AEC}" srcOrd="0" destOrd="0" parTransId="{8D68DBF5-5A54-46F1-9B3F-DE9CC3A3FD84}" sibTransId="{07D58F3B-E631-4CD5-9AF3-1B4A638FD22E}"/>
    <dgm:cxn modelId="{E67C083D-CD14-4905-B4B8-9D19DB063212}" srcId="{42E5DD72-2684-4CFC-9D2B-594CEB218043}" destId="{73451387-DE1A-4256-8C9F-139BC26CA597}" srcOrd="1" destOrd="0" parTransId="{AD871275-4776-43AB-83B2-F7510B1DD4A7}" sibTransId="{31F76609-9C77-4578-AC89-A697673C66A9}"/>
    <dgm:cxn modelId="{3FC73160-7C6E-4E36-885D-91C1A3312F7B}" type="presOf" srcId="{48CECAF5-7EF8-4C11-AEB7-10312AAAEBF6}" destId="{166B6D9A-8A5F-421B-A2E2-6A99190AE8AD}" srcOrd="0" destOrd="1" presId="urn:microsoft.com/office/officeart/2005/8/layout/chevron2"/>
    <dgm:cxn modelId="{6B97BC61-C03F-40AF-86B9-E4C3EC9A96CD}" type="presOf" srcId="{AB29A5DD-4C98-4A4C-AF2B-49332A9AF9AA}" destId="{64DF10B4-4016-4F24-B69C-D41E40E63567}" srcOrd="0" destOrd="0" presId="urn:microsoft.com/office/officeart/2005/8/layout/chevron2"/>
    <dgm:cxn modelId="{E1FA1870-9A1A-4949-B8A7-E36D0363BE5C}" srcId="{DD0A7FA9-F498-444C-BD52-DFD54C7B47E8}" destId="{AB29A5DD-4C98-4A4C-AF2B-49332A9AF9AA}" srcOrd="0" destOrd="0" parTransId="{3F0083AD-DF79-4828-9D21-A45B66A3438D}" sibTransId="{77EEC0EF-B573-4CE1-9342-BD50429F77B4}"/>
    <dgm:cxn modelId="{20DDD373-6771-4635-918A-FF9C47AF464B}" type="presOf" srcId="{48410EE6-E84F-4106-A5D5-133879C6D06E}" destId="{FB930C32-7A71-4C61-915C-6150C3A102F4}" srcOrd="0" destOrd="0" presId="urn:microsoft.com/office/officeart/2005/8/layout/chevron2"/>
    <dgm:cxn modelId="{A28FD882-9697-4565-A892-DF123156A9BF}" type="presOf" srcId="{1C36C6EF-A58A-40C9-9413-679B55C6374C}" destId="{19C96EA1-C0C0-4C9B-8C67-D8CA540CC4F4}" srcOrd="0" destOrd="0" presId="urn:microsoft.com/office/officeart/2005/8/layout/chevron2"/>
    <dgm:cxn modelId="{794ABD84-9CD1-4A05-B6ED-E2EC6D9DECBF}" srcId="{1C36C6EF-A58A-40C9-9413-679B55C6374C}" destId="{48CECAF5-7EF8-4C11-AEB7-10312AAAEBF6}" srcOrd="1" destOrd="0" parTransId="{304253ED-7BB1-4FD8-848C-1C1D8A38BFFB}" sibTransId="{0D4F1A39-A77C-45EA-94AC-AFF94CEB704D}"/>
    <dgm:cxn modelId="{C408C986-1838-4031-B7E1-5D928577AC25}" type="presOf" srcId="{C02C7EBA-EA0C-4BC2-B535-FDCCCAE69AEC}" destId="{8BBBDCE0-C012-426E-AD1E-075B350868F9}" srcOrd="0" destOrd="0" presId="urn:microsoft.com/office/officeart/2005/8/layout/chevron2"/>
    <dgm:cxn modelId="{DD61608A-6E60-48CC-B215-107512A61C0D}" type="presOf" srcId="{73451387-DE1A-4256-8C9F-139BC26CA597}" destId="{FB930C32-7A71-4C61-915C-6150C3A102F4}" srcOrd="0" destOrd="1" presId="urn:microsoft.com/office/officeart/2005/8/layout/chevron2"/>
    <dgm:cxn modelId="{84FD3E92-87CC-4DF1-9795-3771C120F3F2}" srcId="{42E5DD72-2684-4CFC-9D2B-594CEB218043}" destId="{48410EE6-E84F-4106-A5D5-133879C6D06E}" srcOrd="0" destOrd="0" parTransId="{C69E734F-AD61-4F55-86DE-7B212AC6A914}" sibTransId="{A0D5258C-793D-4C01-8F8E-518B11B878CC}"/>
    <dgm:cxn modelId="{1541E4B4-724D-4D19-80F5-15D0DA5E6BD3}" srcId="{2C5621FD-FBFF-4721-B1EC-60C67F0DED7F}" destId="{9EB78A6F-1BE5-409B-8D73-790AF448AFB2}" srcOrd="2" destOrd="0" parTransId="{57B33A81-BE07-4D0E-AA3B-37DFEC739E62}" sibTransId="{FDA6DFC2-85F8-4FDF-8D01-6CCAE07EC8D4}"/>
    <dgm:cxn modelId="{87C04CBF-AFF8-4342-A9D9-F7DB1B90C2AF}" srcId="{2C5621FD-FBFF-4721-B1EC-60C67F0DED7F}" destId="{DD0A7FA9-F498-444C-BD52-DFD54C7B47E8}" srcOrd="0" destOrd="0" parTransId="{90009FD3-1D32-4676-82F0-B33FA4989758}" sibTransId="{C8244151-1A5B-4578-A0BB-8C2D7519291A}"/>
    <dgm:cxn modelId="{B17811C3-CD00-458A-A16C-B1B5156BEF0D}" srcId="{1C36C6EF-A58A-40C9-9413-679B55C6374C}" destId="{5EE49081-8061-4A34-9DD3-D27EDBF18ADD}" srcOrd="0" destOrd="0" parTransId="{0EEF0F64-04F7-4A67-80D4-F236AC9E82C8}" sibTransId="{75584387-548E-4E47-86FE-BA0EEAAF2BBF}"/>
    <dgm:cxn modelId="{C959E4CA-5A88-4646-B6E2-9D6791F1FB64}" type="presOf" srcId="{B4FF57BD-276D-4D54-85A4-C6D3D4F85F3A}" destId="{64DF10B4-4016-4F24-B69C-D41E40E63567}" srcOrd="0" destOrd="1" presId="urn:microsoft.com/office/officeart/2005/8/layout/chevron2"/>
    <dgm:cxn modelId="{D5506ADA-73E6-4F70-A710-805470C0CD5D}" type="presOf" srcId="{579F82EC-CD1E-46AE-AE70-950DEB47A147}" destId="{8BBBDCE0-C012-426E-AD1E-075B350868F9}" srcOrd="0" destOrd="1" presId="urn:microsoft.com/office/officeart/2005/8/layout/chevron2"/>
    <dgm:cxn modelId="{3080D4DA-9E7D-407B-B7C2-AF0FFD979F20}" type="presOf" srcId="{42E5DD72-2684-4CFC-9D2B-594CEB218043}" destId="{27376898-300C-4274-BE4E-93FEBF7BD325}" srcOrd="0" destOrd="0" presId="urn:microsoft.com/office/officeart/2005/8/layout/chevron2"/>
    <dgm:cxn modelId="{AEAE51E5-28C9-4378-A0FB-C962634073BA}" srcId="{2C5621FD-FBFF-4721-B1EC-60C67F0DED7F}" destId="{42E5DD72-2684-4CFC-9D2B-594CEB218043}" srcOrd="1" destOrd="0" parTransId="{C38C1C9E-CBCD-4887-A14A-A6ED958B971C}" sibTransId="{864EAF23-541A-4E9C-92D0-F48AB3A90AFD}"/>
    <dgm:cxn modelId="{D61C93E6-E174-422D-B109-B999333B853E}" srcId="{DD0A7FA9-F498-444C-BD52-DFD54C7B47E8}" destId="{B4FF57BD-276D-4D54-85A4-C6D3D4F85F3A}" srcOrd="1" destOrd="0" parTransId="{06F435FC-6061-463E-91B5-F49C1409213B}" sibTransId="{23320D4D-E27E-4B22-948E-1DC86D500277}"/>
    <dgm:cxn modelId="{C6D4ABF0-697A-4537-93AB-B301F093E20E}" type="presOf" srcId="{5EE49081-8061-4A34-9DD3-D27EDBF18ADD}" destId="{166B6D9A-8A5F-421B-A2E2-6A99190AE8AD}" srcOrd="0" destOrd="0" presId="urn:microsoft.com/office/officeart/2005/8/layout/chevron2"/>
    <dgm:cxn modelId="{5E734AF1-1289-4F15-A173-69AB0E9C0544}" type="presOf" srcId="{2C5621FD-FBFF-4721-B1EC-60C67F0DED7F}" destId="{4439E6F2-E956-4B1B-BCFF-A6B3AE574746}" srcOrd="0" destOrd="0" presId="urn:microsoft.com/office/officeart/2005/8/layout/chevron2"/>
    <dgm:cxn modelId="{15C414FE-327A-4A1D-B6AB-39FA44F56758}" srcId="{9EB78A6F-1BE5-409B-8D73-790AF448AFB2}" destId="{579F82EC-CD1E-46AE-AE70-950DEB47A147}" srcOrd="1" destOrd="0" parTransId="{6757A2AC-849E-4E2E-94F5-BA541E369F38}" sibTransId="{96C86ABC-DC2D-41C1-91B0-19DCE6C11E67}"/>
    <dgm:cxn modelId="{FAA33C6C-CF9B-4EA1-A527-EB09CB4044C3}" type="presParOf" srcId="{4439E6F2-E956-4B1B-BCFF-A6B3AE574746}" destId="{69B0719F-8A15-40D8-939A-3675834A9304}" srcOrd="0" destOrd="0" presId="urn:microsoft.com/office/officeart/2005/8/layout/chevron2"/>
    <dgm:cxn modelId="{B58EA77B-16E0-4B52-B50F-4A5FF3A62295}" type="presParOf" srcId="{69B0719F-8A15-40D8-939A-3675834A9304}" destId="{A4DB0BA9-AD46-482B-891F-39BFD56B5FB7}" srcOrd="0" destOrd="0" presId="urn:microsoft.com/office/officeart/2005/8/layout/chevron2"/>
    <dgm:cxn modelId="{A4453E6D-0687-43C8-98A8-9FE664A0BFDB}" type="presParOf" srcId="{69B0719F-8A15-40D8-939A-3675834A9304}" destId="{64DF10B4-4016-4F24-B69C-D41E40E63567}" srcOrd="1" destOrd="0" presId="urn:microsoft.com/office/officeart/2005/8/layout/chevron2"/>
    <dgm:cxn modelId="{FC38E51D-6CB7-4EA6-A444-3E3681AF6F9D}" type="presParOf" srcId="{4439E6F2-E956-4B1B-BCFF-A6B3AE574746}" destId="{2EF544A5-F629-4B39-B07E-3C0A68B93135}" srcOrd="1" destOrd="0" presId="urn:microsoft.com/office/officeart/2005/8/layout/chevron2"/>
    <dgm:cxn modelId="{CE4E49C4-A0C9-4DF5-9904-0457E087F9EC}" type="presParOf" srcId="{4439E6F2-E956-4B1B-BCFF-A6B3AE574746}" destId="{18CD23D7-D71D-481B-8BA6-666D8B998DF4}" srcOrd="2" destOrd="0" presId="urn:microsoft.com/office/officeart/2005/8/layout/chevron2"/>
    <dgm:cxn modelId="{E4934D44-5EB1-4EF8-808F-47C804D7E06F}" type="presParOf" srcId="{18CD23D7-D71D-481B-8BA6-666D8B998DF4}" destId="{27376898-300C-4274-BE4E-93FEBF7BD325}" srcOrd="0" destOrd="0" presId="urn:microsoft.com/office/officeart/2005/8/layout/chevron2"/>
    <dgm:cxn modelId="{D12B1362-0048-45F3-9B9D-289CD7E6168F}" type="presParOf" srcId="{18CD23D7-D71D-481B-8BA6-666D8B998DF4}" destId="{FB930C32-7A71-4C61-915C-6150C3A102F4}" srcOrd="1" destOrd="0" presId="urn:microsoft.com/office/officeart/2005/8/layout/chevron2"/>
    <dgm:cxn modelId="{7EC1AA2C-0003-4FB8-B1DC-F17124EB7E3F}" type="presParOf" srcId="{4439E6F2-E956-4B1B-BCFF-A6B3AE574746}" destId="{99362C22-62B8-47BF-A490-A4F25310920F}" srcOrd="3" destOrd="0" presId="urn:microsoft.com/office/officeart/2005/8/layout/chevron2"/>
    <dgm:cxn modelId="{1E930C26-07D0-4A34-BE5F-9502CAE7F378}" type="presParOf" srcId="{4439E6F2-E956-4B1B-BCFF-A6B3AE574746}" destId="{0576F6B2-401F-444E-B0F8-BB6FE1FE4915}" srcOrd="4" destOrd="0" presId="urn:microsoft.com/office/officeart/2005/8/layout/chevron2"/>
    <dgm:cxn modelId="{835E71B6-98A5-4A72-A4DC-F228F9740CB0}" type="presParOf" srcId="{0576F6B2-401F-444E-B0F8-BB6FE1FE4915}" destId="{F8670300-6815-4802-AFB5-523098C5A120}" srcOrd="0" destOrd="0" presId="urn:microsoft.com/office/officeart/2005/8/layout/chevron2"/>
    <dgm:cxn modelId="{FF6E5429-7A4C-47BA-81C6-D44D82EFBE01}" type="presParOf" srcId="{0576F6B2-401F-444E-B0F8-BB6FE1FE4915}" destId="{8BBBDCE0-C012-426E-AD1E-075B350868F9}" srcOrd="1" destOrd="0" presId="urn:microsoft.com/office/officeart/2005/8/layout/chevron2"/>
    <dgm:cxn modelId="{97733A08-60EF-4E49-8CD8-0AD81668B99E}" type="presParOf" srcId="{4439E6F2-E956-4B1B-BCFF-A6B3AE574746}" destId="{E4EA37A4-A7C7-4351-81CC-1A627CD566CA}" srcOrd="5" destOrd="0" presId="urn:microsoft.com/office/officeart/2005/8/layout/chevron2"/>
    <dgm:cxn modelId="{5508468D-3FA4-4C48-9701-52E8D4C32A14}" type="presParOf" srcId="{4439E6F2-E956-4B1B-BCFF-A6B3AE574746}" destId="{EEF3F09C-FE16-4B91-BE72-4AFDFD79371E}" srcOrd="6" destOrd="0" presId="urn:microsoft.com/office/officeart/2005/8/layout/chevron2"/>
    <dgm:cxn modelId="{9146D2A1-D481-43F1-A3A8-EC8E701551FA}" type="presParOf" srcId="{EEF3F09C-FE16-4B91-BE72-4AFDFD79371E}" destId="{19C96EA1-C0C0-4C9B-8C67-D8CA540CC4F4}" srcOrd="0" destOrd="0" presId="urn:microsoft.com/office/officeart/2005/8/layout/chevron2"/>
    <dgm:cxn modelId="{A6F87EF0-9030-4190-A808-2A39225E8AF3}" type="presParOf" srcId="{EEF3F09C-FE16-4B91-BE72-4AFDFD79371E}" destId="{166B6D9A-8A5F-421B-A2E2-6A99190AE8AD}" srcOrd="1" destOrd="0" presId="urn:microsoft.com/office/officeart/2005/8/layout/chevron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ECB5A40-3EDE-4457-A4CA-2D253D0257F3}">
      <dsp:nvSpPr>
        <dsp:cNvPr id="0" name=""/>
        <dsp:cNvSpPr/>
      </dsp:nvSpPr>
      <dsp:spPr>
        <a:xfrm rot="5400000">
          <a:off x="-135041" y="138631"/>
          <a:ext cx="900278" cy="630194"/>
        </a:xfrm>
        <a:prstGeom prst="chevron">
          <a:avLst/>
        </a:prstGeom>
        <a:solidFill>
          <a:schemeClr val="accent5"/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" tIns="5715" rIns="5715" bIns="5715" numCol="1" spcCol="1270" anchor="ctr" anchorCtr="0">
          <a:noAutofit/>
        </a:bodyPr>
        <a:lstStyle/>
        <a:p>
          <a:pPr marL="0" lvl="0" indent="0" algn="ctr" defTabSz="400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可看：</a:t>
          </a: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WJC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之上？</a:t>
          </a:r>
        </a:p>
      </dsp:txBody>
      <dsp:txXfrm rot="-5400000">
        <a:off x="1" y="318686"/>
        <a:ext cx="630194" cy="270084"/>
      </dsp:txXfrm>
    </dsp:sp>
    <dsp:sp modelId="{D6E602D9-572C-4E20-ADDC-D7A5B9872C97}">
      <dsp:nvSpPr>
        <dsp:cNvPr id="0" name=""/>
        <dsp:cNvSpPr/>
      </dsp:nvSpPr>
      <dsp:spPr>
        <a:xfrm rot="5400000">
          <a:off x="2362446" y="-1728661"/>
          <a:ext cx="585488" cy="4049992"/>
        </a:xfrm>
        <a:prstGeom prst="round2SameRect">
          <a:avLst/>
        </a:prstGeom>
        <a:solidFill>
          <a:schemeClr val="tx2">
            <a:lumMod val="20000"/>
            <a:lumOff val="80000"/>
            <a:alpha val="9000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4008" tIns="5715" rIns="5715" bIns="5715" numCol="1" spcCol="1270" anchor="ctr" anchorCtr="0">
          <a:noAutofit/>
        </a:bodyPr>
        <a:lstStyle/>
        <a:p>
          <a:pPr marL="57150" lvl="1" indent="-57150" algn="l" defTabSz="4000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900" b="1" kern="12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【</a:t>
          </a:r>
          <a:r>
            <a:rPr lang="zh-CN" altLang="en-US" sz="900" b="1" kern="12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以</a:t>
          </a:r>
          <a:r>
            <a:rPr lang="en-US" altLang="zh-CN" sz="900" b="1" kern="12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WJC</a:t>
          </a:r>
          <a:r>
            <a:rPr lang="zh-CN" altLang="en-US" sz="900" b="1" kern="12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为准入</a:t>
          </a:r>
          <a:r>
            <a:rPr lang="en-US" altLang="zh-CN" sz="900" b="1" kern="12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】</a:t>
          </a:r>
          <a:r>
            <a:rPr lang="zh-CN" altLang="en-US" sz="900" b="1" kern="12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以</a:t>
          </a:r>
          <a:r>
            <a:rPr lang="en-US" altLang="zh-CN" sz="900" b="1" kern="12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WJC</a:t>
          </a:r>
          <a:r>
            <a:rPr lang="zh-CN" altLang="en-US" sz="900" b="1" kern="12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为唯一权重。</a:t>
          </a:r>
          <a:endParaRPr lang="zh-CN" altLang="en-US" sz="900" b="1" kern="1200" dirty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57150" lvl="1" indent="-57150" algn="l" defTabSz="4000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【WJCDE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决定大势</a:t>
          </a: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】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利用</a:t>
          </a: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WJCDE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确定月级别大升位置。过滤</a:t>
          </a: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/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底震</a:t>
          </a: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/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顶震。</a:t>
          </a:r>
        </a:p>
      </dsp:txBody>
      <dsp:txXfrm rot="-5400000">
        <a:off x="630195" y="32171"/>
        <a:ext cx="4021411" cy="528326"/>
      </dsp:txXfrm>
    </dsp:sp>
    <dsp:sp modelId="{95A32B1C-74BA-40DC-8C7E-A2CE4D72898B}">
      <dsp:nvSpPr>
        <dsp:cNvPr id="0" name=""/>
        <dsp:cNvSpPr/>
      </dsp:nvSpPr>
      <dsp:spPr>
        <a:xfrm rot="5400000">
          <a:off x="-135041" y="886306"/>
          <a:ext cx="900278" cy="630194"/>
        </a:xfrm>
        <a:prstGeom prst="chevron">
          <a:avLst/>
        </a:prstGeom>
        <a:solidFill>
          <a:schemeClr val="accent5"/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" tIns="5715" rIns="5715" bIns="5715" numCol="1" spcCol="1270" anchor="ctr" anchorCtr="0">
          <a:noAutofit/>
        </a:bodyPr>
        <a:lstStyle/>
        <a:p>
          <a:pPr marL="0" lvl="0" indent="0" algn="ctr" defTabSz="400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可持：</a:t>
          </a: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WJB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之上？</a:t>
          </a:r>
        </a:p>
      </dsp:txBody>
      <dsp:txXfrm rot="-5400000">
        <a:off x="1" y="1066361"/>
        <a:ext cx="630194" cy="270084"/>
      </dsp:txXfrm>
    </dsp:sp>
    <dsp:sp modelId="{BFD4F15B-424E-407C-8737-463EE73D19D1}">
      <dsp:nvSpPr>
        <dsp:cNvPr id="0" name=""/>
        <dsp:cNvSpPr/>
      </dsp:nvSpPr>
      <dsp:spPr>
        <a:xfrm rot="5400000">
          <a:off x="2362600" y="-981140"/>
          <a:ext cx="585180" cy="4049992"/>
        </a:xfrm>
        <a:prstGeom prst="round2SameRect">
          <a:avLst/>
        </a:prstGeom>
        <a:solidFill>
          <a:schemeClr val="tx2">
            <a:lumMod val="20000"/>
            <a:lumOff val="80000"/>
            <a:alpha val="9000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4008" tIns="5715" rIns="5715" bIns="5715" numCol="1" spcCol="1270" anchor="ctr" anchorCtr="0">
          <a:noAutofit/>
        </a:bodyPr>
        <a:lstStyle/>
        <a:p>
          <a:pPr marL="57150" lvl="1" indent="-57150" algn="l" defTabSz="4000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900" b="1" kern="12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【</a:t>
          </a:r>
          <a:r>
            <a:rPr lang="zh-CN" altLang="en-US" sz="900" b="1" kern="12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不要失去仓位</a:t>
          </a:r>
          <a:r>
            <a:rPr lang="en-US" altLang="zh-CN" sz="900" b="1" kern="12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】</a:t>
          </a:r>
          <a:r>
            <a:rPr lang="zh-CN" altLang="en-US" sz="900" b="1" kern="12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要保证经过最高点，保证持有</a:t>
          </a:r>
          <a:r>
            <a:rPr lang="en-US" altLang="zh-CN" sz="900" b="1" kern="12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WJC&amp;WJB</a:t>
          </a:r>
          <a:r>
            <a:rPr lang="zh-CN" altLang="en-US" sz="900" b="1" kern="12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之上的主升区域。</a:t>
          </a:r>
        </a:p>
        <a:p>
          <a:pPr marL="57150" lvl="1" indent="-57150" algn="l" defTabSz="4000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【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以</a:t>
          </a: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WJB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止损</a:t>
          </a: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】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原则性止损条件；少数情况可提前退出。</a:t>
          </a:r>
        </a:p>
      </dsp:txBody>
      <dsp:txXfrm rot="-5400000">
        <a:off x="630194" y="779832"/>
        <a:ext cx="4021426" cy="528048"/>
      </dsp:txXfrm>
    </dsp:sp>
    <dsp:sp modelId="{B775155D-257E-4F92-94CA-B2E9039D6F75}">
      <dsp:nvSpPr>
        <dsp:cNvPr id="0" name=""/>
        <dsp:cNvSpPr/>
      </dsp:nvSpPr>
      <dsp:spPr>
        <a:xfrm rot="5400000">
          <a:off x="-135041" y="1633981"/>
          <a:ext cx="900278" cy="630194"/>
        </a:xfrm>
        <a:prstGeom prst="chevron">
          <a:avLst/>
        </a:prstGeom>
        <a:solidFill>
          <a:srgbClr val="FFC000"/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" tIns="5715" rIns="5715" bIns="5715" numCol="1" spcCol="1270" anchor="ctr" anchorCtr="0">
          <a:noAutofit/>
        </a:bodyPr>
        <a:lstStyle/>
        <a:p>
          <a:pPr marL="0" lvl="0" indent="0" algn="ctr" defTabSz="400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可龙：主升？</a:t>
          </a:r>
        </a:p>
      </dsp:txBody>
      <dsp:txXfrm rot="-5400000">
        <a:off x="1" y="1814036"/>
        <a:ext cx="630194" cy="270084"/>
      </dsp:txXfrm>
    </dsp:sp>
    <dsp:sp modelId="{183CD579-65F5-4F89-A4BE-8654CC97A0BA}">
      <dsp:nvSpPr>
        <dsp:cNvPr id="0" name=""/>
        <dsp:cNvSpPr/>
      </dsp:nvSpPr>
      <dsp:spPr>
        <a:xfrm rot="5400000">
          <a:off x="2362600" y="-233465"/>
          <a:ext cx="585180" cy="4049992"/>
        </a:xfrm>
        <a:prstGeom prst="round2SameRect">
          <a:avLst/>
        </a:prstGeom>
        <a:solidFill>
          <a:schemeClr val="tx2">
            <a:lumMod val="20000"/>
            <a:lumOff val="80000"/>
            <a:alpha val="9000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4008" tIns="5715" rIns="5715" bIns="5715" numCol="1" spcCol="1270" anchor="ctr" anchorCtr="0">
          <a:noAutofit/>
        </a:bodyPr>
        <a:lstStyle/>
        <a:p>
          <a:pPr marL="57150" lvl="1" indent="-57150" algn="l" defTabSz="4000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【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判定主升</a:t>
          </a: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】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是否属于主升？（</a:t>
          </a: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/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触顶</a:t>
          </a: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/WXAB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）</a:t>
          </a:r>
        </a:p>
        <a:p>
          <a:pPr marL="57150" lvl="1" indent="-57150" algn="l" defTabSz="4000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【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判定垒升</a:t>
          </a: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】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入轨？在轨？离轨？</a:t>
          </a:r>
        </a:p>
      </dsp:txBody>
      <dsp:txXfrm rot="-5400000">
        <a:off x="630194" y="1527507"/>
        <a:ext cx="4021426" cy="528048"/>
      </dsp:txXfrm>
    </dsp:sp>
    <dsp:sp modelId="{47C9FCC1-8327-4129-B796-DD65D61F5558}">
      <dsp:nvSpPr>
        <dsp:cNvPr id="0" name=""/>
        <dsp:cNvSpPr/>
      </dsp:nvSpPr>
      <dsp:spPr>
        <a:xfrm rot="5400000">
          <a:off x="-135041" y="2391400"/>
          <a:ext cx="900278" cy="630194"/>
        </a:xfrm>
        <a:prstGeom prst="chevron">
          <a:avLst/>
        </a:prstGeom>
        <a:solidFill>
          <a:srgbClr val="FFC000"/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" tIns="5715" rIns="5715" bIns="5715" numCol="1" spcCol="1270" anchor="ctr" anchorCtr="0">
          <a:noAutofit/>
        </a:bodyPr>
        <a:lstStyle/>
        <a:p>
          <a:pPr marL="0" lvl="0" indent="0" algn="ctr" defTabSz="400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适用龙战法？</a:t>
          </a:r>
        </a:p>
      </dsp:txBody>
      <dsp:txXfrm rot="-5400000">
        <a:off x="1" y="2571455"/>
        <a:ext cx="630194" cy="270084"/>
      </dsp:txXfrm>
    </dsp:sp>
    <dsp:sp modelId="{54EF3C5F-2C09-4039-A83A-F71D93D7C131}">
      <dsp:nvSpPr>
        <dsp:cNvPr id="0" name=""/>
        <dsp:cNvSpPr/>
      </dsp:nvSpPr>
      <dsp:spPr>
        <a:xfrm rot="5400000">
          <a:off x="2352857" y="523953"/>
          <a:ext cx="604667" cy="4049992"/>
        </a:xfrm>
        <a:prstGeom prst="round2SameRect">
          <a:avLst/>
        </a:prstGeom>
        <a:solidFill>
          <a:schemeClr val="tx2">
            <a:lumMod val="20000"/>
            <a:lumOff val="80000"/>
            <a:alpha val="9000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4008" tIns="5715" rIns="5715" bIns="5715" numCol="1" spcCol="1270" anchor="ctr" anchorCtr="0">
          <a:noAutofit/>
        </a:bodyPr>
        <a:lstStyle/>
        <a:p>
          <a:pPr marL="57150" lvl="1" indent="-57150" algn="l" defTabSz="4000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龙丘周战法：</a:t>
          </a:r>
          <a:r>
            <a:rPr lang="en-US" altLang="zh-CN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WJB</a:t>
          </a: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持仓法</a:t>
          </a:r>
        </a:p>
        <a:p>
          <a:pPr marL="57150" lvl="1" indent="-57150" algn="l" defTabSz="4000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龙冲周战法：是否下周冲高？</a:t>
          </a:r>
        </a:p>
        <a:p>
          <a:pPr marL="57150" lvl="1" indent="-57150" algn="l" defTabSz="4000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9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龙展日战法：是否日类捡漏？</a:t>
          </a:r>
        </a:p>
      </dsp:txBody>
      <dsp:txXfrm rot="-5400000">
        <a:off x="630195" y="2276133"/>
        <a:ext cx="4020475" cy="545633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4DB0BA9-AD46-482B-891F-39BFD56B5FB7}">
      <dsp:nvSpPr>
        <dsp:cNvPr id="0" name=""/>
        <dsp:cNvSpPr/>
      </dsp:nvSpPr>
      <dsp:spPr>
        <a:xfrm rot="5400000">
          <a:off x="-107021" y="108714"/>
          <a:ext cx="713475" cy="499432"/>
        </a:xfrm>
        <a:prstGeom prst="chevron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dk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000" kern="1200" dirty="0"/>
            <a:t>日层类</a:t>
          </a:r>
          <a:endParaRPr lang="en-US" altLang="zh-CN" sz="1000" kern="1200" dirty="0"/>
        </a:p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500" kern="1200" dirty="0"/>
            <a:t>是否支持？</a:t>
          </a:r>
        </a:p>
      </dsp:txBody>
      <dsp:txXfrm rot="-5400000">
        <a:off x="1" y="251408"/>
        <a:ext cx="499432" cy="214043"/>
      </dsp:txXfrm>
    </dsp:sp>
    <dsp:sp modelId="{64DF10B4-4016-4F24-B69C-D41E40E63567}">
      <dsp:nvSpPr>
        <dsp:cNvPr id="0" name=""/>
        <dsp:cNvSpPr/>
      </dsp:nvSpPr>
      <dsp:spPr>
        <a:xfrm rot="5400000">
          <a:off x="1699239" y="-1199806"/>
          <a:ext cx="464002" cy="2863616"/>
        </a:xfrm>
        <a:prstGeom prst="round2SameRect">
          <a:avLst/>
        </a:prstGeom>
        <a:solidFill>
          <a:schemeClr val="lt2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dk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6896" tIns="5080" rIns="5080" bIns="5080" numCol="1" spcCol="1270" anchor="ctr" anchorCtr="0">
          <a:noAutofit/>
        </a:bodyPr>
        <a:lstStyle/>
        <a:p>
          <a:pPr marL="57150" lvl="1" indent="-57150" algn="l" defTabSz="3556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800" kern="1200" dirty="0"/>
            <a:t>优选：层初</a:t>
          </a:r>
          <a:r>
            <a:rPr lang="en-US" altLang="zh-CN" sz="800" kern="1200" dirty="0"/>
            <a:t>/</a:t>
          </a:r>
          <a:r>
            <a:rPr lang="zh-CN" altLang="en-US" sz="800" kern="1200" dirty="0"/>
            <a:t>层主（呈放射状）</a:t>
          </a:r>
        </a:p>
        <a:p>
          <a:pPr marL="57150" lvl="1" indent="-57150" algn="l" defTabSz="3556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800" kern="1200" dirty="0"/>
            <a:t>备选：层再</a:t>
          </a:r>
          <a:r>
            <a:rPr lang="en-US" altLang="zh-CN" sz="800" kern="1200" dirty="0"/>
            <a:t>/</a:t>
          </a:r>
          <a:r>
            <a:rPr lang="zh-CN" altLang="en-US" sz="800" kern="1200" dirty="0"/>
            <a:t>层主</a:t>
          </a:r>
          <a:r>
            <a:rPr lang="en-US" altLang="zh-CN" sz="800" kern="1200" dirty="0"/>
            <a:t>DXZA</a:t>
          </a:r>
          <a:endParaRPr lang="zh-CN" altLang="en-US" sz="800" kern="1200" dirty="0"/>
        </a:p>
      </dsp:txBody>
      <dsp:txXfrm rot="-5400000">
        <a:off x="499433" y="22651"/>
        <a:ext cx="2840965" cy="418700"/>
      </dsp:txXfrm>
    </dsp:sp>
    <dsp:sp modelId="{27376898-300C-4274-BE4E-93FEBF7BD325}">
      <dsp:nvSpPr>
        <dsp:cNvPr id="0" name=""/>
        <dsp:cNvSpPr/>
      </dsp:nvSpPr>
      <dsp:spPr>
        <a:xfrm rot="5400000">
          <a:off x="-107021" y="661224"/>
          <a:ext cx="713475" cy="499432"/>
        </a:xfrm>
        <a:prstGeom prst="chevron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dk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000" kern="1200" dirty="0"/>
            <a:t>日护型</a:t>
          </a:r>
          <a:endParaRPr lang="en-US" altLang="zh-CN" sz="1000" kern="1200" dirty="0"/>
        </a:p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500" kern="1200" dirty="0"/>
            <a:t>是否支持？</a:t>
          </a:r>
        </a:p>
      </dsp:txBody>
      <dsp:txXfrm rot="-5400000">
        <a:off x="1" y="803918"/>
        <a:ext cx="499432" cy="214043"/>
      </dsp:txXfrm>
    </dsp:sp>
    <dsp:sp modelId="{FB930C32-7A71-4C61-915C-6150C3A102F4}">
      <dsp:nvSpPr>
        <dsp:cNvPr id="0" name=""/>
        <dsp:cNvSpPr/>
      </dsp:nvSpPr>
      <dsp:spPr>
        <a:xfrm rot="5400000">
          <a:off x="1699361" y="-645724"/>
          <a:ext cx="463759" cy="2863616"/>
        </a:xfrm>
        <a:prstGeom prst="round2SameRect">
          <a:avLst/>
        </a:prstGeom>
        <a:solidFill>
          <a:schemeClr val="lt2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dk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6896" tIns="5080" rIns="5080" bIns="5080" numCol="1" spcCol="1270" anchor="ctr" anchorCtr="0">
          <a:noAutofit/>
        </a:bodyPr>
        <a:lstStyle/>
        <a:p>
          <a:pPr marL="57150" lvl="1" indent="-57150" algn="l" defTabSz="3556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800" kern="1200" dirty="0"/>
            <a:t>基础：在</a:t>
          </a:r>
          <a:r>
            <a:rPr lang="en-US" altLang="zh-CN" sz="800" kern="1200" dirty="0"/>
            <a:t>DJB</a:t>
          </a:r>
          <a:r>
            <a:rPr lang="zh-CN" altLang="en-US" sz="800" kern="1200" dirty="0"/>
            <a:t>之上</a:t>
          </a:r>
        </a:p>
        <a:p>
          <a:pPr marL="57150" lvl="1" indent="-57150" algn="l" defTabSz="3556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800" kern="1200" dirty="0"/>
            <a:t>优选：</a:t>
          </a:r>
          <a:r>
            <a:rPr lang="en-US" altLang="zh-CN" sz="800" kern="1200" dirty="0"/>
            <a:t>DXAB</a:t>
          </a:r>
          <a:r>
            <a:rPr lang="zh-CN" altLang="en-US" sz="800" kern="1200" dirty="0"/>
            <a:t>正交</a:t>
          </a:r>
        </a:p>
      </dsp:txBody>
      <dsp:txXfrm rot="-5400000">
        <a:off x="499433" y="576843"/>
        <a:ext cx="2840977" cy="418481"/>
      </dsp:txXfrm>
    </dsp:sp>
    <dsp:sp modelId="{F8670300-6815-4802-AFB5-523098C5A120}">
      <dsp:nvSpPr>
        <dsp:cNvPr id="0" name=""/>
        <dsp:cNvSpPr/>
      </dsp:nvSpPr>
      <dsp:spPr>
        <a:xfrm rot="5400000">
          <a:off x="-107021" y="1213735"/>
          <a:ext cx="713475" cy="499432"/>
        </a:xfrm>
        <a:prstGeom prst="chevron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dk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000" kern="1200" dirty="0"/>
            <a:t>日柱排</a:t>
          </a:r>
          <a:endParaRPr lang="en-US" altLang="zh-CN" sz="1000" kern="1200" dirty="0"/>
        </a:p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500" kern="1200" dirty="0"/>
            <a:t>是否支持？</a:t>
          </a:r>
        </a:p>
      </dsp:txBody>
      <dsp:txXfrm rot="-5400000">
        <a:off x="1" y="1356429"/>
        <a:ext cx="499432" cy="214043"/>
      </dsp:txXfrm>
    </dsp:sp>
    <dsp:sp modelId="{8BBBDCE0-C012-426E-AD1E-075B350868F9}">
      <dsp:nvSpPr>
        <dsp:cNvPr id="0" name=""/>
        <dsp:cNvSpPr/>
      </dsp:nvSpPr>
      <dsp:spPr>
        <a:xfrm rot="5400000">
          <a:off x="1699361" y="-93214"/>
          <a:ext cx="463759" cy="2863616"/>
        </a:xfrm>
        <a:prstGeom prst="round2SameRect">
          <a:avLst/>
        </a:prstGeom>
        <a:solidFill>
          <a:schemeClr val="lt2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dk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6896" tIns="5080" rIns="5080" bIns="5080" numCol="1" spcCol="1270" anchor="ctr" anchorCtr="0">
          <a:noAutofit/>
        </a:bodyPr>
        <a:lstStyle/>
        <a:p>
          <a:pPr marL="57150" lvl="1" indent="-57150" algn="l" defTabSz="355600">
            <a:lnSpc>
              <a:spcPct val="90000"/>
            </a:lnSpc>
            <a:spcBef>
              <a:spcPct val="0"/>
            </a:spcBef>
            <a:spcAft>
              <a:spcPct val="15000"/>
            </a:spcAft>
            <a:buFont typeface="Arial" panose="020B0604020202020204" pitchFamily="34" charset="0"/>
            <a:buChar char="•"/>
          </a:pPr>
          <a:r>
            <a:rPr lang="en-US" altLang="zh-CN" sz="800" kern="1200">
              <a:latin typeface="Microsoft YaHei Light" panose="020B0502040204020203" pitchFamily="34" charset="-122"/>
              <a:ea typeface="Microsoft YaHei Light" panose="020B0502040204020203" pitchFamily="34" charset="-122"/>
            </a:rPr>
            <a:t>/</a:t>
          </a:r>
          <a:r>
            <a:rPr lang="zh-CN" altLang="en-US" sz="800" kern="1200">
              <a:latin typeface="Microsoft YaHei Light" panose="020B0502040204020203" pitchFamily="34" charset="-122"/>
              <a:ea typeface="Microsoft YaHei Light" panose="020B0502040204020203" pitchFamily="34" charset="-122"/>
            </a:rPr>
            <a:t>升连</a:t>
          </a:r>
          <a:r>
            <a:rPr lang="en-US" altLang="zh-CN" sz="800" kern="1200">
              <a:latin typeface="Microsoft YaHei Light" panose="020B0502040204020203" pitchFamily="34" charset="-122"/>
              <a:ea typeface="Microsoft YaHei Light" panose="020B0502040204020203" pitchFamily="34" charset="-122"/>
            </a:rPr>
            <a:t>/</a:t>
          </a:r>
          <a:r>
            <a:rPr lang="zh-CN" altLang="en-US" sz="800" kern="1200">
              <a:latin typeface="Microsoft YaHei Light" panose="020B0502040204020203" pitchFamily="34" charset="-122"/>
              <a:ea typeface="Microsoft YaHei Light" panose="020B0502040204020203" pitchFamily="34" charset="-122"/>
            </a:rPr>
            <a:t>升吞：要看下柱是否会连阳；</a:t>
          </a:r>
          <a:r>
            <a:rPr lang="en-US" altLang="zh-CN" sz="800" kern="1200">
              <a:latin typeface="Microsoft YaHei Light" panose="020B0502040204020203" pitchFamily="34" charset="-122"/>
              <a:ea typeface="Microsoft YaHei Light" panose="020B0502040204020203" pitchFamily="34" charset="-122"/>
            </a:rPr>
            <a:t>/</a:t>
          </a:r>
          <a:r>
            <a:rPr lang="zh-CN" altLang="en-US" sz="800" kern="1200">
              <a:latin typeface="Microsoft YaHei Light" panose="020B0502040204020203" pitchFamily="34" charset="-122"/>
              <a:ea typeface="Microsoft YaHei Light" panose="020B0502040204020203" pitchFamily="34" charset="-122"/>
            </a:rPr>
            <a:t>跌孕：可直接买入；</a:t>
          </a:r>
          <a:endParaRPr lang="zh-CN" altLang="en-US" sz="800" kern="1200" dirty="0"/>
        </a:p>
        <a:p>
          <a:pPr marL="57150" lvl="1" indent="-57150" algn="l" defTabSz="355600">
            <a:lnSpc>
              <a:spcPct val="90000"/>
            </a:lnSpc>
            <a:spcBef>
              <a:spcPct val="0"/>
            </a:spcBef>
            <a:spcAft>
              <a:spcPct val="15000"/>
            </a:spcAft>
            <a:buFont typeface="Arial" panose="020B0604020202020204" pitchFamily="34" charset="0"/>
            <a:buChar char="•"/>
          </a:pPr>
          <a:r>
            <a:rPr lang="en-US" altLang="zh-CN" sz="800" kern="1200">
              <a:latin typeface="Microsoft YaHei Light" panose="020B0502040204020203" pitchFamily="34" charset="-122"/>
              <a:ea typeface="Microsoft YaHei Light" panose="020B0502040204020203" pitchFamily="34" charset="-122"/>
            </a:rPr>
            <a:t>/</a:t>
          </a:r>
          <a:r>
            <a:rPr lang="zh-CN" altLang="en-US" sz="800" kern="1200">
              <a:latin typeface="Microsoft YaHei Light" panose="020B0502040204020203" pitchFamily="34" charset="-122"/>
              <a:ea typeface="Microsoft YaHei Light" panose="020B0502040204020203" pitchFamily="34" charset="-122"/>
            </a:rPr>
            <a:t>跌连</a:t>
          </a:r>
          <a:r>
            <a:rPr lang="en-US" altLang="zh-CN" sz="800" kern="1200">
              <a:latin typeface="Microsoft YaHei Light" panose="020B0502040204020203" pitchFamily="34" charset="-122"/>
              <a:ea typeface="Microsoft YaHei Light" panose="020B0502040204020203" pitchFamily="34" charset="-122"/>
            </a:rPr>
            <a:t>/</a:t>
          </a:r>
          <a:r>
            <a:rPr lang="zh-CN" altLang="en-US" sz="800" kern="1200">
              <a:latin typeface="Microsoft YaHei Light" panose="020B0502040204020203" pitchFamily="34" charset="-122"/>
              <a:ea typeface="Microsoft YaHei Light" panose="020B0502040204020203" pitchFamily="34" charset="-122"/>
            </a:rPr>
            <a:t>跌吞：要出现单阳或遇支撑线。在</a:t>
          </a:r>
          <a:r>
            <a:rPr lang="en-US" altLang="zh-CN" sz="800" kern="1200">
              <a:latin typeface="Microsoft YaHei Light" panose="020B0502040204020203" pitchFamily="34" charset="-122"/>
              <a:ea typeface="Microsoft YaHei Light" panose="020B0502040204020203" pitchFamily="34" charset="-122"/>
            </a:rPr>
            <a:t>DJB</a:t>
          </a:r>
          <a:r>
            <a:rPr lang="zh-CN" altLang="en-US" sz="800" kern="1200">
              <a:latin typeface="Microsoft YaHei Light" panose="020B0502040204020203" pitchFamily="34" charset="-122"/>
              <a:ea typeface="Microsoft YaHei Light" panose="020B0502040204020203" pitchFamily="34" charset="-122"/>
            </a:rPr>
            <a:t>之上止跌。</a:t>
          </a:r>
          <a:endParaRPr lang="zh-CN" altLang="en-US" sz="800" kern="1200" dirty="0"/>
        </a:p>
      </dsp:txBody>
      <dsp:txXfrm rot="-5400000">
        <a:off x="499433" y="1129353"/>
        <a:ext cx="2840977" cy="418481"/>
      </dsp:txXfrm>
    </dsp:sp>
    <dsp:sp modelId="{19C96EA1-C0C0-4C9B-8C67-D8CA540CC4F4}">
      <dsp:nvSpPr>
        <dsp:cNvPr id="0" name=""/>
        <dsp:cNvSpPr/>
      </dsp:nvSpPr>
      <dsp:spPr>
        <a:xfrm rot="5400000">
          <a:off x="-107021" y="1766245"/>
          <a:ext cx="713475" cy="499432"/>
        </a:xfrm>
        <a:prstGeom prst="chevron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dk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000" kern="1200" dirty="0"/>
            <a:t>日顶型</a:t>
          </a:r>
          <a:endParaRPr lang="en-US" altLang="zh-CN" sz="1000" kern="1200" dirty="0"/>
        </a:p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500" kern="1200" dirty="0"/>
            <a:t>是否支持？</a:t>
          </a:r>
        </a:p>
      </dsp:txBody>
      <dsp:txXfrm rot="-5400000">
        <a:off x="1" y="1908939"/>
        <a:ext cx="499432" cy="214043"/>
      </dsp:txXfrm>
    </dsp:sp>
    <dsp:sp modelId="{166B6D9A-8A5F-421B-A2E2-6A99190AE8AD}">
      <dsp:nvSpPr>
        <dsp:cNvPr id="0" name=""/>
        <dsp:cNvSpPr/>
      </dsp:nvSpPr>
      <dsp:spPr>
        <a:xfrm rot="5400000">
          <a:off x="1699361" y="459295"/>
          <a:ext cx="463759" cy="2863616"/>
        </a:xfrm>
        <a:prstGeom prst="round2SameRect">
          <a:avLst/>
        </a:prstGeom>
        <a:solidFill>
          <a:schemeClr val="lt2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dk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6896" tIns="5080" rIns="5080" bIns="5080" numCol="1" spcCol="1270" anchor="ctr" anchorCtr="0">
          <a:noAutofit/>
        </a:bodyPr>
        <a:lstStyle/>
        <a:p>
          <a:pPr marL="57150" lvl="1" indent="-57150" algn="l" defTabSz="3556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800" kern="1200" dirty="0"/>
            <a:t>优选：吸附于顶；悬于管中；</a:t>
          </a:r>
          <a:r>
            <a:rPr lang="en-US" altLang="zh-CN" sz="800" kern="1200" dirty="0"/>
            <a:t>DJA</a:t>
          </a:r>
          <a:r>
            <a:rPr lang="zh-CN" altLang="en-US" sz="800" kern="1200" dirty="0"/>
            <a:t>之上升排触哼；</a:t>
          </a:r>
        </a:p>
        <a:p>
          <a:pPr marL="57150" lvl="1" indent="-57150" algn="l" defTabSz="3556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800" kern="1200" dirty="0"/>
            <a:t>排除：顶离。</a:t>
          </a:r>
        </a:p>
      </dsp:txBody>
      <dsp:txXfrm rot="-5400000">
        <a:off x="499433" y="1681863"/>
        <a:ext cx="2840977" cy="418481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hevron2">
  <dgm:title val=""/>
  <dgm:desc val=""/>
  <dgm:catLst>
    <dgm:cat type="process" pri="12000"/>
    <dgm:cat type="list" pri="16000"/>
    <dgm:cat type="convert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</dgm:ptLst>
      <dgm:cxnLst>
        <dgm:cxn modelId="4" srcId="0" destId="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linearFlow">
    <dgm:varLst>
      <dgm:dir/>
      <dgm:animLvl val="lvl"/>
      <dgm:resizeHandles val="exact"/>
    </dgm:varLst>
    <dgm:alg type="lin">
      <dgm:param type="linDir" val="fromT"/>
      <dgm:param type="nodeHorzAlign" val="l"/>
    </dgm:alg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h" for="des" forName="parentText" op="equ"/>
      <dgm:constr type="h" for="ch" forName="sp" val="-14.88"/>
      <dgm:constr type="h" for="ch" forName="sp" refType="w" refFor="des" refForName="parentText" op="gte" fact="-0.3"/>
      <dgm:constr type="primFontSz" for="des" forName="parentText" op="equ" val="65"/>
      <dgm:constr type="primFontSz" for="des" forName="descendantText" op="equ" val="65"/>
    </dgm:constrLst>
    <dgm:ruleLst/>
    <dgm:forEach name="Name0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t" for="ch" forName="parentText"/>
              <dgm:constr type="l" for="ch" forName="parentText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 refType="w" refFor="ch" refForName="pare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if>
          <dgm:else name="Name3">
            <dgm:constrLst>
              <dgm:constr type="t" for="ch" forName="parentText"/>
              <dgm:constr type="r" for="ch" forName="parentText" refType="w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else>
        </dgm:choose>
        <dgm:ruleLst/>
        <dgm:layoutNode name="parentText" styleLbl="alignNode1">
          <dgm:varLst>
            <dgm:chMax val="1"/>
            <dgm:bulletEnabled val="1"/>
          </dgm:varLst>
          <dgm:alg type="tx"/>
          <dgm:shape xmlns:r="http://schemas.openxmlformats.org/officeDocument/2006/relationships" rot="90" type="chevron" r:blip="">
            <dgm:adjLst/>
          </dgm:shape>
          <dgm:presOf axis="self" ptType="node"/>
          <dgm:constrLst>
            <dgm:constr type="lMarg" refType="primFontSz" fact="0.05"/>
            <dgm:constr type="rMarg" refType="primFontSz" fact="0.05"/>
            <dgm:constr type="tMarg" refType="primFontSz" fact="0.05"/>
            <dgm:constr type="bMarg" refType="primFontSz" fact="0.05"/>
          </dgm:constrLst>
          <dgm:ruleLst>
            <dgm:rule type="h" val="100" fact="NaN" max="NaN"/>
            <dgm:rule type="primFontSz" val="24" fact="NaN" max="NaN"/>
            <dgm:rule type="h" val="110" fact="NaN" max="NaN"/>
            <dgm:rule type="primFontSz" val="18" fact="NaN" max="NaN"/>
            <dgm:rule type="h" val="INF" fact="NaN" max="NaN"/>
            <dgm:rule type="primFontSz" val="5" fact="NaN" max="NaN"/>
          </dgm:ruleLst>
        </dgm:layoutNode>
        <dgm:layoutNode name="descendantText" styleLbl="alignAcc1">
          <dgm:varLst>
            <dgm:bulletEnabled val="1"/>
          </dgm:varLst>
          <dgm:choose name="Name4">
            <dgm:if name="Name5" func="var" arg="dir" op="equ" val="norm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rot="90" type="round2SameRect" r:blip="">
                <dgm:adjLst/>
              </dgm:shape>
            </dgm:if>
            <dgm:else name="Name6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rot="-90" type="round2SameRect" r:blip="">
                <dgm:adjLst/>
              </dgm:shape>
            </dgm:else>
          </dgm:choose>
          <dgm:presOf axis="des" ptType="node"/>
          <dgm:choose name="Name7">
            <dgm:if name="Name8" func="var" arg="dir" op="equ" val="norm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rMarg" refType="primFontSz" fact="0.05"/>
              </dgm:constrLst>
            </dgm:if>
            <dgm:else name="Name9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lMarg" refType="primFontSz" fact="0.05"/>
              </dgm:constrLst>
            </dgm:else>
          </dgm:choose>
          <dgm:ruleLst>
            <dgm:rule type="primFontSz" val="5" fact="NaN" max="NaN"/>
          </dgm:ruleLst>
        </dgm:layoutNode>
      </dgm:layoutNode>
      <dgm:forEach name="Name10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>
            <dgm:constr type="w" val="1"/>
            <dgm:constr type="h" val="37.5"/>
          </dgm:constrLst>
          <dgm:ruleLst/>
        </dgm:layoutNode>
      </dgm:forEach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chevron2">
  <dgm:title val=""/>
  <dgm:desc val=""/>
  <dgm:catLst>
    <dgm:cat type="process" pri="12000"/>
    <dgm:cat type="list" pri="16000"/>
    <dgm:cat type="convert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</dgm:ptLst>
      <dgm:cxnLst>
        <dgm:cxn modelId="4" srcId="0" destId="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linearFlow">
    <dgm:varLst>
      <dgm:dir/>
      <dgm:animLvl val="lvl"/>
      <dgm:resizeHandles val="exact"/>
    </dgm:varLst>
    <dgm:alg type="lin">
      <dgm:param type="linDir" val="fromT"/>
      <dgm:param type="nodeHorzAlign" val="l"/>
    </dgm:alg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h" for="des" forName="parentText" op="equ"/>
      <dgm:constr type="h" for="ch" forName="sp" val="-14.88"/>
      <dgm:constr type="h" for="ch" forName="sp" refType="w" refFor="des" refForName="parentText" op="gte" fact="-0.3"/>
      <dgm:constr type="primFontSz" for="des" forName="parentText" op="equ" val="65"/>
      <dgm:constr type="primFontSz" for="des" forName="descendantText" op="equ" val="65"/>
    </dgm:constrLst>
    <dgm:ruleLst/>
    <dgm:forEach name="Name0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t" for="ch" forName="parentText"/>
              <dgm:constr type="l" for="ch" forName="parentText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 refType="w" refFor="ch" refForName="pare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if>
          <dgm:else name="Name3">
            <dgm:constrLst>
              <dgm:constr type="t" for="ch" forName="parentText"/>
              <dgm:constr type="r" for="ch" forName="parentText" refType="w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else>
        </dgm:choose>
        <dgm:ruleLst/>
        <dgm:layoutNode name="parentText" styleLbl="alignNode1">
          <dgm:varLst>
            <dgm:chMax val="1"/>
            <dgm:bulletEnabled val="1"/>
          </dgm:varLst>
          <dgm:alg type="tx"/>
          <dgm:shape xmlns:r="http://schemas.openxmlformats.org/officeDocument/2006/relationships" rot="90" type="chevron" r:blip="">
            <dgm:adjLst/>
          </dgm:shape>
          <dgm:presOf axis="self" ptType="node"/>
          <dgm:constrLst>
            <dgm:constr type="lMarg" refType="primFontSz" fact="0.05"/>
            <dgm:constr type="rMarg" refType="primFontSz" fact="0.05"/>
            <dgm:constr type="tMarg" refType="primFontSz" fact="0.05"/>
            <dgm:constr type="bMarg" refType="primFontSz" fact="0.05"/>
          </dgm:constrLst>
          <dgm:ruleLst>
            <dgm:rule type="h" val="100" fact="NaN" max="NaN"/>
            <dgm:rule type="primFontSz" val="24" fact="NaN" max="NaN"/>
            <dgm:rule type="h" val="110" fact="NaN" max="NaN"/>
            <dgm:rule type="primFontSz" val="18" fact="NaN" max="NaN"/>
            <dgm:rule type="h" val="INF" fact="NaN" max="NaN"/>
            <dgm:rule type="primFontSz" val="5" fact="NaN" max="NaN"/>
          </dgm:ruleLst>
        </dgm:layoutNode>
        <dgm:layoutNode name="descendantText" styleLbl="alignAcc1">
          <dgm:varLst>
            <dgm:bulletEnabled val="1"/>
          </dgm:varLst>
          <dgm:choose name="Name4">
            <dgm:if name="Name5" func="var" arg="dir" op="equ" val="norm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rot="90" type="round2SameRect" r:blip="">
                <dgm:adjLst/>
              </dgm:shape>
            </dgm:if>
            <dgm:else name="Name6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rot="-90" type="round2SameRect" r:blip="">
                <dgm:adjLst/>
              </dgm:shape>
            </dgm:else>
          </dgm:choose>
          <dgm:presOf axis="des" ptType="node"/>
          <dgm:choose name="Name7">
            <dgm:if name="Name8" func="var" arg="dir" op="equ" val="norm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rMarg" refType="primFontSz" fact="0.05"/>
              </dgm:constrLst>
            </dgm:if>
            <dgm:else name="Name9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lMarg" refType="primFontSz" fact="0.05"/>
              </dgm:constrLst>
            </dgm:else>
          </dgm:choose>
          <dgm:ruleLst>
            <dgm:rule type="primFontSz" val="5" fact="NaN" max="NaN"/>
          </dgm:ruleLst>
        </dgm:layoutNode>
      </dgm:layoutNode>
      <dgm:forEach name="Name10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>
            <dgm:constr type="w" val="1"/>
            <dgm:constr type="h" val="37.5"/>
          </dgm:constrLst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07T09:11:41.972"/>
    </inkml:context>
    <inkml:brush xml:id="br0">
      <inkml:brushProperty name="width" value="0.035" units="cm"/>
      <inkml:brushProperty name="height" value="0.035" units="cm"/>
    </inkml:brush>
  </inkml:definitions>
  <inkml:trace contextRef="#ctx0" brushRef="#br0">0 70 24575,'86'-1'0,"144"-19"0,5 3 0,-49 7 0,592-12 0,-516 25 0,3880-3-1365,-4114 0-5461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07T09:11:48.656"/>
    </inkml:context>
    <inkml:brush xml:id="br0">
      <inkml:brushProperty name="width" value="0.035" units="cm"/>
      <inkml:brushProperty name="height" value="0.035" units="cm"/>
      <inkml:brushProperty name="color" value="#004F8B"/>
    </inkml:brush>
  </inkml:definitions>
  <inkml:trace contextRef="#ctx0" brushRef="#br0">0 1556 24575,'68'1'0,"-16"1"0,52-7 0,-88 4 0,0-2 0,0 0 0,0-1 0,-1 0 0,1-1 0,-1-1 0,21-11 0,-2 1 0,0 1 0,1 2 0,0 2 0,1 1 0,48-7 0,-35 8 0,0-3 0,49-19 0,-79 24 0,13-5 0,57-32 0,-43 18 0,-20 12 0,-2 0 0,0-1 0,39-34 0,-40 30 0,0 0 0,48-26 0,-54 36 0,0-1 0,0-1 0,-1-1 0,0 0 0,-1-1 0,-1-1 0,0 0 0,23-30 0,-27 29 0,2 1 0,0 0 0,1 1 0,0 0 0,26-19 0,-24 21 0,-1 0 0,0-2 0,-1 1 0,0-2 0,18-25 0,34-73 0,41-61 0,-98 161 0,-2 0 0,0-1 0,0 0 0,5-19 0,-9 23 0,1-1 0,0 1 0,1 0 0,0 0 0,1 0 0,0 1 0,0-1 0,0 1 0,1 0 0,9-9 0,2 2 0,-1 0 0,0-1 0,-1-1 0,-1 0 0,-1-1 0,0-1 0,-1 0 0,14-33 0,-20 39-227,1 0-1,0 0 1,1 1-1,0 0 1,18-20-1,-9 14-6598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07T09:12:03.109"/>
    </inkml:context>
    <inkml:brush xml:id="br0">
      <inkml:brushProperty name="width" value="0.035" units="cm"/>
      <inkml:brushProperty name="height" value="0.035" units="cm"/>
      <inkml:brushProperty name="color" value="#004F8B"/>
    </inkml:brush>
  </inkml:definitions>
  <inkml:trace contextRef="#ctx0" brushRef="#br0">1 1 24575,'7'0'0,"0"1"0,0 0 0,0 0 0,0 1 0,0-1 0,0 2 0,0-1 0,0 1 0,-1 0 0,1 0 0,-1 1 0,0 0 0,0 0 0,0 0 0,-1 1 0,0 0 0,0 0 0,0 0 0,0 1 0,-1 0 0,0-1 0,6 12 0,36 87 0,-33-80 0,-1 0 0,-1 1 0,-1 0 0,-1 0 0,-1 1 0,-1 0 0,4 40 0,-4-32 0,1-1 0,24 61 0,-21-65 0,-1 0 0,-1 0 0,10 60 0,-15-57 0,3 0 0,0-1 0,13 34 0,-3-13 0,-13-35 0,-1 0 0,-1 0 0,1 28 0,-3-34 0,0 1 0,1-1 0,0 1 0,1-1 0,0 1 0,1-1 0,0 0 0,1 0 0,9 19 0,-7-20 0,-1 0 0,0 1 0,-1-1 0,0 1 0,0 0 0,-1 1 0,2 20 0,-2 2 0,-2 45 0,-2-54 0,1-1 0,1 0 0,1 0 0,9 40 0,-4-31 0,-6-23 0,1 0 0,0 1 0,1-1 0,1 0 0,8 18 0,-11-26 0,0 0 0,0-1 0,0 1 0,1-1 0,-1 0 0,0 1 0,1-1 0,-1 0 0,1 0 0,-1 0 0,1 0 0,0 0 0,-1 0 0,1 0 0,0-1 0,0 1 0,0-1 0,-1 1 0,1-1 0,0 0 0,0 1 0,0-1 0,0 0 0,0 0 0,0 0 0,0-1 0,-1 1 0,1 0 0,0-1 0,0 1 0,0-1 0,0 0 0,-1 0 0,1 1 0,0-1 0,-1 0 0,1 0 0,2-2 0,16-11 0,-1 0 0,0-2 0,-1 0 0,21-24 0,3-2 0,-41 41 0,12-13 0,1 2 0,-1 0 0,2 0 0,0 1 0,0 1 0,1 0 0,21-9 0,-27 14 0,0 0 0,0-1 0,-1 0 0,0 0 0,0-1 0,15-16 0,31-23 0,-4 9 0,-37 25 0,0 1 0,1 1 0,21-11 0,9-2 0,59-42 0,-42 13 0,-49 39 0,1 0 0,23-16 0,-22 18 0,-1-1 0,0 0 0,17-20 0,18-16 0,-23 22 0,-1-1 0,-1-1 0,-1-1 0,-1-1 0,20-40 0,9-9 0,-44 69 0,0-1 0,0 0 0,0 0 0,-1 0 0,8-21 0,-7 15 0,1 1 0,0-1 0,15-20 0,-14 24 0,-1 1 0,-1-1 0,0-1 0,-1 1 0,0-1 0,5-20 0,60-263 0,-71 294 0,0 1 0,1-1 0,0 0 0,-1 0 0,1 1 0,0-1 0,1 0 0,-1 1 0,0-1 0,1 1 0,-1-1 0,1 1 0,0 0 0,0 0 0,0 0 0,0 0 0,0 0 0,0 0 0,1 0 0,-1 1 0,0-1 0,4-1 0,-2 3 0,-1-1 0,1 0 0,0 1 0,-1 0 0,1 0 0,0 0 0,-1 0 0,1 0 0,0 1 0,-1 0 0,1 0 0,0 0 0,-1 0 0,7 3 0,2 2 0,-1 0 0,0 1 0,0 0 0,-1 1 0,0 0 0,0 0 0,-1 1 0,16 20 0,117 192 0,-139-217 0,1 0 0,-1-1 0,1 0 0,-1 1 0,1-1 0,0-1 0,1 1 0,-1 0 0,0-1 0,1 0 0,-1 0 0,1-1 0,0 1 0,-1-1 0,7 1 0,-7-1 0,0-1 0,0 1 0,0 0 0,0 1 0,0-1 0,0 1 0,-1-1 0,1 1 0,0 0 0,-1 1 0,1-1 0,-1 1 0,0-1 0,0 1 0,0 0 0,0 0 0,0 0 0,-1 1 0,3 3 0,28 79 0,-24-58 0,25 49 0,40 50 0,-68-116 0,-1-1 0,-1 2 0,0-1 0,-1 1 0,0-1 0,0 1 0,0 12 0,8 32 0,34 167 0,-33-177 0,-2 1 0,-2 0 0,-3 0 0,0 60 0,-4 6 0,-4 108 0,-6-183 0,5-21 0,14-37 0,6-14 0,24-36 0,14-28 0,-42 76 0,0 1 0,2 0 0,28-33 0,-22 30 0,29-48 0,-31 45 0,1 0 0,1 1 0,45-44 0,-41 45 0,-1 0 0,-1-1 0,25-39 0,-33 43 0,1 1 0,1 1 0,26-25 0,-25 27 0,-4 2 0,0 0 0,14-25 0,8-12 0,77-117 0,-42 58 0,-59 93 0,-1-1 0,0-1 0,-2 1 0,0-1 0,4-25 0,-4 19 0,0 0 0,20-40 0,-22 54 11,-1-1 0,0-1 0,-1 1-1,0-1 1,2-24 0,5-15-1441,-4 25-5396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07T09:11:41.972"/>
    </inkml:context>
    <inkml:brush xml:id="br0">
      <inkml:brushProperty name="width" value="0.035" units="cm"/>
      <inkml:brushProperty name="height" value="0.035" units="cm"/>
    </inkml:brush>
  </inkml:definitions>
  <inkml:trace contextRef="#ctx0" brushRef="#br0">0 70 24575,'86'-1'0,"144"-19"0,5 3 0,-49 7 0,592-12 0,-516 25 0,3880-3-1365,-4114 0-5461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07T09:11:48.656"/>
    </inkml:context>
    <inkml:brush xml:id="br0">
      <inkml:brushProperty name="width" value="0.035" units="cm"/>
      <inkml:brushProperty name="height" value="0.035" units="cm"/>
      <inkml:brushProperty name="color" value="#004F8B"/>
    </inkml:brush>
  </inkml:definitions>
  <inkml:trace contextRef="#ctx0" brushRef="#br0">0 1556 24575,'68'1'0,"-16"1"0,52-7 0,-88 4 0,0-2 0,0 0 0,0-1 0,-1 0 0,1-1 0,-1-1 0,21-11 0,-2 1 0,0 1 0,1 2 0,0 2 0,1 1 0,48-7 0,-35 8 0,0-3 0,49-19 0,-79 24 0,13-5 0,57-32 0,-43 18 0,-20 12 0,-2 0 0,0-1 0,39-34 0,-40 30 0,0 0 0,48-26 0,-54 36 0,0-1 0,0-1 0,-1-1 0,0 0 0,-1-1 0,-1-1 0,0 0 0,23-30 0,-27 29 0,2 1 0,0 0 0,1 1 0,0 0 0,26-19 0,-24 21 0,-1 0 0,0-2 0,-1 1 0,0-2 0,18-25 0,34-73 0,41-61 0,-98 161 0,-2 0 0,0-1 0,0 0 0,5-19 0,-9 23 0,1-1 0,0 1 0,1 0 0,0 0 0,1 0 0,0 1 0,0-1 0,0 1 0,1 0 0,9-9 0,2 2 0,-1 0 0,0-1 0,-1-1 0,-1 0 0,-1-1 0,0-1 0,-1 0 0,14-33 0,-20 39-227,1 0-1,0 0 1,1 1-1,0 0 1,18-20-1,-9 14-6598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07T09:12:03.109"/>
    </inkml:context>
    <inkml:brush xml:id="br0">
      <inkml:brushProperty name="width" value="0.035" units="cm"/>
      <inkml:brushProperty name="height" value="0.035" units="cm"/>
      <inkml:brushProperty name="color" value="#004F8B"/>
    </inkml:brush>
  </inkml:definitions>
  <inkml:trace contextRef="#ctx0" brushRef="#br0">1 1 24575,'7'0'0,"0"1"0,0 0 0,0 0 0,0 1 0,0-1 0,0 2 0,0-1 0,0 1 0,-1 0 0,1 0 0,-1 1 0,0 0 0,0 0 0,0 0 0,-1 1 0,0 0 0,0 0 0,0 0 0,0 1 0,-1 0 0,0-1 0,6 12 0,36 87 0,-33-80 0,-1 0 0,-1 1 0,-1 0 0,-1 0 0,-1 1 0,-1 0 0,4 40 0,-4-32 0,1-1 0,24 61 0,-21-65 0,-1 0 0,-1 0 0,10 60 0,-15-57 0,3 0 0,0-1 0,13 34 0,-3-13 0,-13-35 0,-1 0 0,-1 0 0,1 28 0,-3-34 0,0 1 0,1-1 0,0 1 0,1-1 0,0 1 0,1-1 0,0 0 0,1 0 0,9 19 0,-7-20 0,-1 0 0,0 1 0,-1-1 0,0 1 0,0 0 0,-1 1 0,2 20 0,-2 2 0,-2 45 0,-2-54 0,1-1 0,1 0 0,1 0 0,9 40 0,-4-31 0,-6-23 0,1 0 0,0 1 0,1-1 0,1 0 0,8 18 0,-11-26 0,0 0 0,0-1 0,0 1 0,1-1 0,-1 0 0,0 1 0,1-1 0,-1 0 0,1 0 0,-1 0 0,1 0 0,0 0 0,-1 0 0,1 0 0,0-1 0,0 1 0,0-1 0,-1 1 0,1-1 0,0 0 0,0 1 0,0-1 0,0 0 0,0 0 0,0 0 0,0-1 0,-1 1 0,1 0 0,0-1 0,0 1 0,0-1 0,0 0 0,-1 0 0,1 1 0,0-1 0,-1 0 0,1 0 0,2-2 0,16-11 0,-1 0 0,0-2 0,-1 0 0,21-24 0,3-2 0,-41 41 0,12-13 0,1 2 0,-1 0 0,2 0 0,0 1 0,0 1 0,1 0 0,21-9 0,-27 14 0,0 0 0,0-1 0,-1 0 0,0 0 0,0-1 0,15-16 0,31-23 0,-4 9 0,-37 25 0,0 1 0,1 1 0,21-11 0,9-2 0,59-42 0,-42 13 0,-49 39 0,1 0 0,23-16 0,-22 18 0,-1-1 0,0 0 0,17-20 0,18-16 0,-23 22 0,-1-1 0,-1-1 0,-1-1 0,-1-1 0,20-40 0,9-9 0,-44 69 0,0-1 0,0 0 0,0 0 0,-1 0 0,8-21 0,-7 15 0,1 1 0,0-1 0,15-20 0,-14 24 0,-1 1 0,-1-1 0,0-1 0,-1 1 0,0-1 0,5-20 0,60-263 0,-71 294 0,0 1 0,1-1 0,0 0 0,-1 0 0,1 1 0,0-1 0,1 0 0,-1 1 0,0-1 0,1 1 0,-1-1 0,1 1 0,0 0 0,0 0 0,0 0 0,0 0 0,0 0 0,0 0 0,1 0 0,-1 1 0,0-1 0,4-1 0,-2 3 0,-1-1 0,1 0 0,0 1 0,-1 0 0,1 0 0,0 0 0,-1 0 0,1 0 0,0 1 0,-1 0 0,1 0 0,0 0 0,-1 0 0,7 3 0,2 2 0,-1 0 0,0 1 0,0 0 0,-1 1 0,0 0 0,0 0 0,-1 1 0,16 20 0,117 192 0,-139-217 0,1 0 0,-1-1 0,1 0 0,-1 1 0,1-1 0,0-1 0,1 1 0,-1 0 0,0-1 0,1 0 0,-1 0 0,1-1 0,0 1 0,-1-1 0,7 1 0,-7-1 0,0-1 0,0 1 0,0 0 0,0 1 0,0-1 0,0 1 0,-1-1 0,1 1 0,0 0 0,-1 1 0,1-1 0,-1 1 0,0-1 0,0 1 0,0 0 0,0 0 0,0 0 0,-1 1 0,3 3 0,28 79 0,-24-58 0,25 49 0,40 50 0,-68-116 0,-1-1 0,-1 2 0,0-1 0,-1 1 0,0-1 0,0 1 0,0 12 0,8 32 0,34 167 0,-33-177 0,-2 1 0,-2 0 0,-3 0 0,0 60 0,-4 6 0,-4 108 0,-6-183 0,5-21 0,14-37 0,6-14 0,24-36 0,14-28 0,-42 76 0,0 1 0,2 0 0,28-33 0,-22 30 0,29-48 0,-31 45 0,1 0 0,1 1 0,45-44 0,-41 45 0,-1 0 0,-1-1 0,25-39 0,-33 43 0,1 1 0,1 1 0,26-25 0,-25 27 0,-4 2 0,0 0 0,14-25 0,8-12 0,77-117 0,-42 58 0,-59 93 0,-1-1 0,0-1 0,-2 1 0,0-1 0,4-25 0,-4 19 0,0 0 0,20-40 0,-22 54 11,-1-1 0,0-1 0,-1 1-1,0-1 1,2-24 0,5-15-1441,-4 25-5396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1" y="0"/>
            <a:ext cx="2984656" cy="502456"/>
          </a:xfrm>
          <a:prstGeom prst="rect">
            <a:avLst/>
          </a:prstGeom>
        </p:spPr>
        <p:txBody>
          <a:bodyPr vert="horz" lIns="92309" tIns="46154" rIns="92309" bIns="46154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901901" y="0"/>
            <a:ext cx="2984656" cy="502456"/>
          </a:xfrm>
          <a:prstGeom prst="rect">
            <a:avLst/>
          </a:prstGeom>
        </p:spPr>
        <p:txBody>
          <a:bodyPr vert="horz" lIns="92309" tIns="46154" rIns="92309" bIns="46154" rtlCol="0"/>
          <a:lstStyle>
            <a:lvl1pPr algn="r">
              <a:defRPr sz="1200"/>
            </a:lvl1pPr>
          </a:lstStyle>
          <a:p>
            <a:fld id="{A0D086A3-B3E4-40EC-957E-B237574B28C9}" type="datetimeFigureOut">
              <a:rPr lang="zh-CN" altLang="en-US" smtClean="0"/>
              <a:t>2026/7/20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439738" y="1252538"/>
            <a:ext cx="6008687" cy="33813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2309" tIns="46154" rIns="92309" bIns="46154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9139" y="4821337"/>
            <a:ext cx="5509888" cy="3944437"/>
          </a:xfrm>
          <a:prstGeom prst="rect">
            <a:avLst/>
          </a:prstGeom>
        </p:spPr>
        <p:txBody>
          <a:bodyPr vert="horz" lIns="92309" tIns="46154" rIns="92309" bIns="46154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1" y="9516258"/>
            <a:ext cx="2984656" cy="502456"/>
          </a:xfrm>
          <a:prstGeom prst="rect">
            <a:avLst/>
          </a:prstGeom>
        </p:spPr>
        <p:txBody>
          <a:bodyPr vert="horz" lIns="92309" tIns="46154" rIns="92309" bIns="46154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901901" y="9516258"/>
            <a:ext cx="2984656" cy="502456"/>
          </a:xfrm>
          <a:prstGeom prst="rect">
            <a:avLst/>
          </a:prstGeom>
        </p:spPr>
        <p:txBody>
          <a:bodyPr vert="horz" lIns="92309" tIns="46154" rIns="92309" bIns="46154" rtlCol="0" anchor="b"/>
          <a:lstStyle>
            <a:lvl1pPr algn="r">
              <a:defRPr sz="1200"/>
            </a:lvl1pPr>
          </a:lstStyle>
          <a:p>
            <a:fld id="{323A6E84-D9E0-4A19-9985-F3FD80E31C31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6757396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/>
            <a:endParaRPr lang="zh-CN" altLang="en-US" b="0" i="0" dirty="0">
              <a:solidFill>
                <a:srgbClr val="1F2026"/>
              </a:solidFill>
              <a:effectLst/>
              <a:highlight>
                <a:srgbClr val="FFFFFF"/>
              </a:highlight>
              <a:latin typeface="-apple-system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0549224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CFCC51-E7A1-9389-F7D4-0CE77A3E3C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1789F778-1FF8-107A-7D9F-7B0614B8B2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8F464E4B-D48E-FE41-6524-55FAD6A247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如何划分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之上周阶段：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之上趋势未变；如何确定主升阶段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：（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1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）按照是否合顶；（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）按照是否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a/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；（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）按照是否站上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；（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）按照是否升排。</a:t>
            </a:r>
            <a:endParaRPr lang="en-US" altLang="zh-CN" sz="14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升排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是底层原子组件，是上升的最终驱动力。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站上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WJA】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是上升的根本指标，可以作为判断上升的全集，但其中偏离较大要剔除。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合顶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】【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b】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站上</a:t>
            </a:r>
            <a:r>
              <a:rPr lang="en-US" altLang="zh-CN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WJA】</a:t>
            </a:r>
            <a:r>
              <a:rPr lang="zh-CN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的子集。</a:t>
            </a:r>
            <a:endParaRPr lang="en-US" altLang="zh-CN" sz="14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顶型分类</a:t>
            </a:r>
            <a:endParaRPr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触哼代表  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将继续触哼上升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将离开哼进入震或降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未触哼。依赖并符与均线要分为两段：</a:t>
            </a:r>
            <a:endParaRPr lang="en-US" altLang="zh-CN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将下降</a:t>
            </a:r>
            <a:endParaRPr lang="en-US" altLang="zh-CN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将回升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站上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WJA)</a:t>
            </a:r>
          </a:p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合顶：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当合顶时须持别注意，属于创新高分段，创新高会持续出现。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(t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合顶≤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3)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单独找出来，存在动力继续创新高。</a:t>
            </a:r>
          </a:p>
          <a:p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1D786DD6-0AAA-0349-7BAD-8F0CD8B30C5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544404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5393259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各级均线重要性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：完全按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精确进出是必赢策略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底仓权重：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由于存在跳空启动情况，所以要保留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底仓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优化的目标就是：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之上择取高点提前退出，但又不错过后续的高点。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主升阶段均有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WTBC&gt;0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通常会断崖式下破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。应在此阶段清仓，或减仓至底仓。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：日级波动的中枢。应以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WTZA≥2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，柱完全在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之上进行过滤。在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之下不考虑仅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震荡。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日级均线：各日级均线作为周级均线的辅助工具，而不应以日线为决策依据。周做决策，日找时机。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470308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17650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480F55-BE32-2C32-A9EC-072DC76490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3FAE0695-8B54-181D-DFB1-2ACE5CD6A3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71C9048C-EF99-5833-5E06-B2AA5763570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9C1133B-8E4C-B5C9-FFF6-0411C178F02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4806116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5B0EFF-C5E4-C027-776B-72A62081AB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CE494F44-ED0B-16F3-07E4-C703342CD3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F0AC2904-9D49-3B99-E4CD-C7BA4A99808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均线思辨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均线周期长度的判断方法：为何要以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作为可获利升势区域的分界线？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均线周期如果缩短为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，即为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柱本身。如果按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上入下出原则，遇到阴柱就应退出，这并非正确操作方式。所以，应将周期扩大，问题是应把周期扩展为多大，从而均线之上的上涨概率更大。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开始扩大均线周期，相当于舍弃很多均线，所以短期均线是可被忽略的，真正起决定作用的是长期均线。但之所以还在乎短期均线，是因为可以获利与止损，真正是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还是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不是太重要。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作为操盘线。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之下，不存在很多上涨机会，且极具不确定性。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不退出不是违背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原则，而是寄希望于更大均线（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/DJB/DJC/DJE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），以忍耐短期跌势保持仓位，防止突然上涨。实际启动点很少在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之下，所以可将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作为退出线。</a:t>
            </a:r>
          </a:p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均线思辨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均线周期长度的判断方法：为何要以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作为可获利升势区域的分界线？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由于均线的包含关系（当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DXAB&gt;0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，是在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之上，也必在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之上），从而“所有可获利的阳柱都在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之上”可扩展为“所有可获利的阳柱都在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之上”。此句包含两层意思：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的间距很小，可以将止盈线由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放宽至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，从而简化操作。（注：刚下破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很可能会反弹，立刻开启下一个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之上也不全是阳柱，也有很多下跌，所以限定为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并不能躲避这些下跌，所以要依赖顶型与柱排。（注：限定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可以提高阳柱出现的概率）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启动点在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之下的阳柱非常少，且不易把握。从而，可将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启动点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集中于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之上，且已经从劫中恢复。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宽进严出原则：当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负交时，以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作为进入点；当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正交后，以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作为退出点。从而保护留存收益。</a:t>
            </a:r>
          </a:p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均线思辨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均线周期长度的判断方法：为何要以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作为可获利升势区域的分界线？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由于均线的包含关系，从而“所有可获利的阳柱都在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之上”可扩展为“所有可获利的阳柱都在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之上”。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之上仍有少数阳柱逆转趋势，可在站上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后再介入。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之下，根据镜像对称原理，可获利升势阳柱已经基本不存在，可以完全放弃，等待站上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再考虑介入。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结论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20250522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针对日柱起涨点（也就是前柱收盘接）是否都是在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之上？答案一定是否定，否则不可能出现从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之上或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之下，逆转而上的情况。但这些情况不具有普遍性，不可预测，不按趋势线运动。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所以，制定操作策略如下，主动介入起涨点在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之上。分两种情况，针对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之上，属于各种走势都有可能演变为阳柱，可以无限参与；对于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之上，一定要从劫中恢复，如阳柱或上破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B2A3022-FB37-555D-FB8D-1FE0A2E13E6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5334881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63068E-B32B-7C55-752D-F673CA1CA4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00EF300C-4D89-D811-658E-5EC5EA38791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A63D9756-CFF2-50BE-8E26-ACF8620121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83F25AE0-A83C-D584-C2A8-C952EB08D4D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1069198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CFE4B9-1B9D-4963-863E-A1F5AFEA0E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C92E1ADB-B59B-DF5D-F8EF-09B52348AF4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15FBF135-9D2D-BBCB-749A-0DF943E1BA9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护线的合并没有意义：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是最基础护线，特别是利用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作为止损线，已经经过实际走势验证（无需再讨论）。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之下，但仍然符合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WXBC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0/WXCD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等情况，只能进行关注，不要实际持仓。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如果将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WXBC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合并为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WXBD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。则当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但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WXBC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时，虽然符合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WXBD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，但不能起到护线作用。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724DABE-DACE-1FAB-7B35-13E75D8308E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1987060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4A42A3-EC20-A691-4AB8-C17D23C2C4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C1742B3E-3843-0684-23D3-23C2409AE14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E20050B2-5053-26E7-AAA3-239C0028AE3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9595604-D02E-9D7B-C41E-2DAEB9AF23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2677841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8BED08-6E65-8390-7F92-EE40A0C8B2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9860248E-D4B9-2086-3092-68C4C895E9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C0AE16A3-BE52-7E96-095B-CB609E37E5A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F0D14140-C27B-A4CE-6153-877401A4046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0110901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88DA8B-538B-0E8E-E35D-A08E5096F0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3A4F4BC5-2349-68EF-A60B-7B0C764B9A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0581CC18-D4D5-037A-05F9-4273842508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603A120-72FE-8C60-A437-134E1C53BA0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8255003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813B5C-B7E3-54F6-85BA-A20EDD6970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5E243DF3-69AE-32EB-AAA8-7554BD169A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F7B0B957-F729-7DB2-C620-F3A52E3D900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35C1F676-D559-A745-0076-41817B302DD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7380443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F50B23-473F-0B84-B892-5251552323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B38A0FC9-F3E2-8F75-C0F2-20BDEEC000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BBDB6A54-4E8A-FD2C-AD2C-9191622C89C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DEF28EB-AB95-2E88-C548-E99C5C7E18A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9317610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3AD3FD-7B17-97CC-9470-5433C31BF8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2E8D2E72-EA4A-8AB3-E7C6-60DF9930556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561A182D-DAB8-5A10-4E4F-D26E5072414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B8412D5-9F8D-6031-B080-80A0E5A47B7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8157854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ADFF7A-786F-4BD0-90EE-24085117E9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2DE35D0-8160-9FFC-27D0-F1865B4E371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5D333605-3511-BAF5-94F3-4AABAA5DB0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周类存在哪些主升机会？在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之上看周柱排。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初始突破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周层储</a:t>
            </a:r>
            <a:r>
              <a:rPr lang="en-US" altLang="zh-CN" sz="1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周层初</a:t>
            </a:r>
            <a:r>
              <a:rPr lang="en-US" altLang="zh-CN" sz="1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周层再。</a:t>
            </a:r>
            <a:endParaRPr lang="en-US" altLang="zh-CN" sz="1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主升途中：连阳。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主升途中：连阳过程中，出现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上影阳柱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下影阴柱。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（未冲高情况下）回归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阴柱得到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支撑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出现十字星或小阳柱等止跌迹象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继鼎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（未冲高情况下）下破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后又站上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首鼎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上破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后回踩</a:t>
            </a:r>
            <a:r>
              <a:rPr lang="en-US" altLang="zh-CN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启动结构</a:t>
            </a:r>
            <a:endParaRPr lang="en-US" altLang="zh-CN" sz="1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下周冲高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错误操作情况，举例：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多头排列，急跌下破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，想抄底。心态是：下周冲高卖出。实际情况：在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之上才有机会，已下破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不应主动介入，但不确定一定会冲高。要选择偏离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较远。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之下抄底。不应在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之下介入，如果在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之上介入，则应以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为丘，如未有效站上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应止损退出。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要避免空头月线震荡。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做底，大幅下跌后首次反弹幅度较大，但不要追高，因为很可能是月级别震荡。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进入点：要选择在阳中阴介入，可以是周级别阴柱，也可以是日级别阴柱。一旦出现上升，需要考虑：是否卖？卖多少？而不是追高。切记要在阴柱买入。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仅仅按照日线而非周线进行决策：先周后日，一切以周线进行止损与入局，日线只作为周线展开。日线可以用来止盈；但不要依赖日线进入，更不要依赖日线止损。</a:t>
            </a:r>
            <a:endParaRPr lang="zh-CN" altLang="en-US" sz="1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5AD5F7F-AD67-2845-D55E-9C8AFDDAFD3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842449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E6B01D-15C7-585A-0C2E-D416B22C4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9D5B0601-4ACF-3801-3874-9A7751B42B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8BBFABD9-AC80-8E94-A899-816B5D9A105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（</a:t>
            </a:r>
            <a:r>
              <a:rPr lang="en-US" altLang="zh-CN" dirty="0"/>
              <a:t>@20260126</a:t>
            </a:r>
            <a:r>
              <a:rPr lang="zh-CN" altLang="en-US" dirty="0"/>
              <a:t>）“下周冲高”机会在周管内，具体情形总结如下：</a:t>
            </a:r>
            <a:endParaRPr lang="en-US" altLang="zh-CN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dirty="0"/>
              <a:t>吃顶增：包含“垒升”“巨升”两种情况。</a:t>
            </a:r>
            <a:endParaRPr lang="en-US" altLang="zh-CN" dirty="0"/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dirty="0"/>
              <a:t>从</a:t>
            </a:r>
            <a:r>
              <a:rPr lang="en-US" altLang="zh-CN" dirty="0"/>
              <a:t>WJC</a:t>
            </a:r>
            <a:r>
              <a:rPr lang="zh-CN" altLang="en-US" dirty="0"/>
              <a:t>之下向上突破：初始突破</a:t>
            </a:r>
            <a:r>
              <a:rPr lang="en-US" altLang="zh-CN" dirty="0"/>
              <a:t>WJC</a:t>
            </a:r>
            <a:r>
              <a:rPr lang="zh-CN" altLang="en-US" dirty="0"/>
              <a:t>，包含</a:t>
            </a:r>
            <a:r>
              <a:rPr lang="en-US" altLang="zh-CN" dirty="0"/>
              <a:t>/W1b/W1w</a:t>
            </a:r>
            <a:r>
              <a:rPr lang="zh-CN" altLang="en-US" dirty="0"/>
              <a:t>。因为前期长期经历下降趋势，一旦扭转会快速拉升。</a:t>
            </a:r>
            <a:endParaRPr lang="en-US" altLang="zh-CN" dirty="0"/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dirty="0"/>
              <a:t>（梯）管内延续性：沿</a:t>
            </a:r>
            <a:r>
              <a:rPr lang="en-US" altLang="zh-CN" dirty="0"/>
              <a:t>WJA</a:t>
            </a:r>
            <a:r>
              <a:rPr lang="zh-CN" altLang="en-US" dirty="0"/>
              <a:t>多小柱排列，从而形成垒升。</a:t>
            </a:r>
            <a:endParaRPr lang="en-US" altLang="zh-CN" dirty="0"/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dirty="0"/>
              <a:t>（栏）跌吞后上冲：跌吞回踩</a:t>
            </a:r>
            <a:r>
              <a:rPr lang="en-US" altLang="zh-CN" dirty="0"/>
              <a:t>WJA+</a:t>
            </a:r>
            <a:r>
              <a:rPr lang="zh-CN" altLang="en-US" dirty="0"/>
              <a:t>升孕（鼎）</a:t>
            </a:r>
            <a:r>
              <a:rPr lang="en-US" altLang="zh-CN" dirty="0"/>
              <a:t>+</a:t>
            </a:r>
            <a:r>
              <a:rPr lang="zh-CN" altLang="en-US" dirty="0"/>
              <a:t>垒升。</a:t>
            </a:r>
            <a:endParaRPr lang="en-US" altLang="zh-CN" dirty="0"/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dirty="0"/>
              <a:t>下破</a:t>
            </a:r>
            <a:r>
              <a:rPr lang="en-US" altLang="zh-CN" dirty="0"/>
              <a:t>WJA</a:t>
            </a:r>
            <a:r>
              <a:rPr lang="zh-CN" altLang="en-US" dirty="0"/>
              <a:t>后上冲：下破</a:t>
            </a:r>
            <a:r>
              <a:rPr lang="en-US" altLang="zh-CN" dirty="0"/>
              <a:t>WJA+</a:t>
            </a:r>
            <a:r>
              <a:rPr lang="zh-CN" altLang="en-US" dirty="0"/>
              <a:t>鼎</a:t>
            </a:r>
            <a:r>
              <a:rPr lang="en-US" altLang="zh-CN" dirty="0"/>
              <a:t>+</a:t>
            </a:r>
            <a:r>
              <a:rPr lang="zh-CN" altLang="en-US" dirty="0"/>
              <a:t>（孕阴回踩）</a:t>
            </a:r>
            <a:r>
              <a:rPr lang="en-US" altLang="zh-CN" dirty="0"/>
              <a:t>+</a:t>
            </a:r>
            <a:r>
              <a:rPr lang="zh-CN" altLang="en-US" dirty="0"/>
              <a:t>垒升。</a:t>
            </a:r>
            <a:endParaRPr lang="en-US" altLang="zh-CN" dirty="0"/>
          </a:p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zh-CN" altLang="en-US" dirty="0"/>
              <a:t>吃管宽：包括（主升管内震荡）与（突破均线后的无序震荡）。</a:t>
            </a:r>
            <a:endParaRPr lang="en-US" altLang="zh-CN" dirty="0"/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dirty="0"/>
              <a:t>主升管内震荡：</a:t>
            </a:r>
            <a:endParaRPr lang="en-US" altLang="zh-CN" dirty="0"/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dirty="0"/>
              <a:t>管内阴阳相间</a:t>
            </a:r>
            <a:endParaRPr lang="en-US" altLang="zh-CN" dirty="0"/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dirty="0"/>
              <a:t>管内连升后出现重大调整（将出管但未出管）后恢复：包括（栏）（栅）</a:t>
            </a:r>
            <a:endParaRPr lang="en-US" altLang="zh-CN" dirty="0"/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dirty="0"/>
              <a:t>突破均线后的无序震荡。</a:t>
            </a:r>
            <a:endParaRPr lang="en-US" altLang="zh-CN" dirty="0"/>
          </a:p>
          <a:p>
            <a:pPr marL="10858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下破</a:t>
            </a:r>
            <a:r>
              <a:rPr lang="en-US" altLang="zh-CN" dirty="0"/>
              <a:t>WJA</a:t>
            </a:r>
            <a:r>
              <a:rPr lang="zh-CN" altLang="en-US" dirty="0"/>
              <a:t>多柱后又站上</a:t>
            </a:r>
            <a:r>
              <a:rPr lang="en-US" altLang="zh-CN" dirty="0"/>
              <a:t>WJA</a:t>
            </a:r>
            <a:r>
              <a:rPr lang="zh-CN" altLang="en-US" dirty="0"/>
              <a:t>：继续维持管内平移。</a:t>
            </a:r>
            <a:endParaRPr lang="en-US" altLang="zh-CN" dirty="0"/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dirty="0"/>
              <a:t>上破</a:t>
            </a:r>
            <a:r>
              <a:rPr lang="en-US" altLang="zh-CN" dirty="0"/>
              <a:t>WJB</a:t>
            </a:r>
            <a:r>
              <a:rPr lang="zh-CN" altLang="en-US" dirty="0"/>
              <a:t>后：震荡并选择方向。</a:t>
            </a:r>
            <a:endParaRPr lang="en-US" altLang="zh-CN" dirty="0"/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dirty="0"/>
              <a:t>上破</a:t>
            </a:r>
            <a:r>
              <a:rPr lang="en-US" altLang="zh-CN" dirty="0"/>
              <a:t>WJC</a:t>
            </a:r>
            <a:r>
              <a:rPr lang="zh-CN" altLang="en-US" dirty="0"/>
              <a:t>后：蓄势并选择方向。</a:t>
            </a:r>
            <a:endParaRPr lang="en-US" altLang="zh-CN" dirty="0"/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FFA6C64-B390-BCE8-D1E4-5279605A48D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2429452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B92F68-F976-2FE8-50DB-2E70503F63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BFEB414F-C61D-0F7D-2A29-50F44F97F3B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C517E2E3-7321-ECC9-66B1-29B849DCE13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FA37017-EF00-2DB7-25DC-3105FFD34A2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3146091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0132F1-8BEB-1E65-5D87-91DE77A25C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53F4AA4D-2AC2-821B-98DE-BC20F6013E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E19D707E-0CC7-A2E7-EBA9-7BF8696D05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4CB9698-6447-52F8-E61E-C81252B7CE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4165167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3AFEDF-F4F8-83BF-0686-684E406082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803DCE82-CFAE-070F-1651-A1944594F4F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1A352424-8A56-8263-0CEC-34F13026294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D81D1B5-504A-CD3F-FC91-B83ED845FCF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1894895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BAE07B-EAF4-1913-481B-C481C4BEA9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F62C1E2E-3EFA-550B-84B1-A9CF8BDA457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5A47D329-E321-A8E1-0370-A1B699900F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B6695DC-0209-2F19-644B-A4E431DA236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4757437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常识思维</a:t>
            </a:r>
            <a:r>
              <a:rPr lang="en-US" altLang="zh-CN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</a:t>
            </a:r>
            <a:endParaRPr lang="zh-CN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多头排列时如何震荡都会尝试继续上升 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  一定要等进入信号：突破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空头排列时如何突破都会尝试复归下跌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  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之下任何做多努力都很可能失败</a:t>
            </a:r>
            <a:endParaRPr lang="en-US" altLang="zh-CN" sz="12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解决以下问题：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为何在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以下捡漏总是失败？不应在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之下尝试做多。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为何盈利的单子最后总是止损退出？要关注短线趋势。</a:t>
            </a:r>
          </a:p>
          <a:p>
            <a:r>
              <a:rPr lang="en-US" altLang="zh-CN" dirty="0"/>
              <a:t>【</a:t>
            </a:r>
            <a:r>
              <a:rPr lang="zh-CN" altLang="en-US" dirty="0"/>
              <a:t>日类</a:t>
            </a:r>
            <a:r>
              <a:rPr lang="en-US" altLang="zh-CN" dirty="0"/>
              <a:t>】</a:t>
            </a:r>
            <a:r>
              <a:rPr lang="zh-CN" altLang="en-US" dirty="0"/>
              <a:t> </a:t>
            </a:r>
            <a:r>
              <a:rPr lang="en-US" altLang="zh-CN" dirty="0"/>
              <a:t>DJEDC</a:t>
            </a:r>
            <a:r>
              <a:rPr lang="zh-CN" altLang="en-US" dirty="0"/>
              <a:t>与</a:t>
            </a:r>
            <a:r>
              <a:rPr lang="en-US" altLang="zh-CN" dirty="0"/>
              <a:t>DJCBA</a:t>
            </a:r>
            <a:r>
              <a:rPr lang="zh-CN" altLang="en-US" dirty="0"/>
              <a:t>在选取进入点时作用：</a:t>
            </a:r>
            <a:endParaRPr lang="en-US" altLang="zh-CN" dirty="0"/>
          </a:p>
          <a:p>
            <a:pPr marL="173079" indent="-173079">
              <a:buFont typeface="Arial" panose="020B0604020202020204" pitchFamily="34" charset="0"/>
              <a:buChar char="•"/>
            </a:pPr>
            <a:r>
              <a:rPr lang="en-US" altLang="zh-CN" dirty="0"/>
              <a:t>DJE</a:t>
            </a:r>
            <a:r>
              <a:rPr lang="zh-CN" altLang="en-US" dirty="0"/>
              <a:t>之下只考虑向下做：只突破</a:t>
            </a:r>
            <a:r>
              <a:rPr lang="en-US" altLang="zh-CN" dirty="0"/>
              <a:t>DJC</a:t>
            </a:r>
            <a:r>
              <a:rPr lang="zh-CN" altLang="en-US" dirty="0"/>
              <a:t>不代表任何机会</a:t>
            </a:r>
          </a:p>
          <a:p>
            <a:pPr marL="173079" indent="-173079">
              <a:buFont typeface="Arial" panose="020B0604020202020204" pitchFamily="34" charset="0"/>
              <a:buChar char="•"/>
            </a:pPr>
            <a:r>
              <a:rPr lang="en-US" altLang="zh-CN" dirty="0"/>
              <a:t>DJE</a:t>
            </a:r>
            <a:r>
              <a:rPr lang="zh-CN" altLang="en-US" dirty="0"/>
              <a:t>之上只考虑向上做</a:t>
            </a:r>
            <a:endParaRPr lang="en-US" altLang="zh-CN" dirty="0"/>
          </a:p>
          <a:p>
            <a:r>
              <a:rPr lang="zh-CN" altLang="en-US" dirty="0"/>
              <a:t>在周操作区域内，日进入点以</a:t>
            </a:r>
            <a:r>
              <a:rPr lang="en-US" altLang="zh-CN" dirty="0"/>
              <a:t>DJE/DJC</a:t>
            </a:r>
            <a:r>
              <a:rPr lang="zh-CN" altLang="en-US" dirty="0"/>
              <a:t>为准：只在</a:t>
            </a:r>
            <a:r>
              <a:rPr lang="en-US" altLang="zh-CN" dirty="0"/>
              <a:t>DJE</a:t>
            </a:r>
            <a:r>
              <a:rPr lang="zh-CN" altLang="en-US" dirty="0"/>
              <a:t>之上做</a:t>
            </a:r>
          </a:p>
          <a:p>
            <a:pPr marL="173079" indent="-173079">
              <a:buFont typeface="Arial" panose="020B0604020202020204" pitchFamily="34" charset="0"/>
              <a:buChar char="•"/>
            </a:pPr>
            <a:r>
              <a:rPr lang="en-US" altLang="zh-CN" dirty="0"/>
              <a:t>DXCE&lt;0  </a:t>
            </a:r>
            <a:r>
              <a:rPr lang="zh-CN" altLang="en-US" dirty="0"/>
              <a:t>以</a:t>
            </a:r>
            <a:r>
              <a:rPr lang="en-US" altLang="zh-CN" dirty="0"/>
              <a:t>DJE</a:t>
            </a:r>
            <a:r>
              <a:rPr lang="zh-CN" altLang="en-US" dirty="0"/>
              <a:t>为丘</a:t>
            </a:r>
          </a:p>
          <a:p>
            <a:pPr marL="173079" indent="-173079">
              <a:buFont typeface="Arial" panose="020B0604020202020204" pitchFamily="34" charset="0"/>
              <a:buChar char="•"/>
            </a:pPr>
            <a:r>
              <a:rPr lang="en-US" altLang="zh-CN" dirty="0"/>
              <a:t>DXCE&gt;0  </a:t>
            </a:r>
            <a:r>
              <a:rPr lang="zh-CN" altLang="en-US" dirty="0"/>
              <a:t>以</a:t>
            </a:r>
            <a:r>
              <a:rPr lang="en-US" altLang="zh-CN" dirty="0"/>
              <a:t>DJC</a:t>
            </a:r>
            <a:r>
              <a:rPr lang="zh-CN" altLang="en-US" dirty="0"/>
              <a:t>为丘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2185977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D4A8BD-C452-B80E-F8B8-DA228AA302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F9ED1355-EE6F-94B6-A1F8-361CC21F8EA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252EE6B6-03AB-D513-D351-D08C010A735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1F780A6-9030-1EED-D102-0A31DEBC54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1741005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F34502-7206-3A57-8C43-A8B3673203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B825A5FF-466D-E9F8-3CF9-23BBF39219B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A4153DE5-F036-E0CC-68C4-3D228DC5EF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1CDA108-A48B-D46E-DBD2-6089BD84038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4085815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7A4D5A-BBA2-88A9-6E9A-70BA59E3FE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3E2D6A31-4935-DB47-F63E-F2CE65CB3DE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343E0ADF-6536-2E50-DC2D-0DF758DD91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8357069F-F069-A199-5D44-CD0FBFEC944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28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3496488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AA4904-EE45-D299-AB46-81B147F9E1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94F823C2-D913-7531-6235-5577778FC9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B16CEAC3-504C-2278-4AEC-94C72A23B50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周线基本策略：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顺势跟随策略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何时会开启连阳不重叠模式？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回踩靠近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后贴伏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会开始连阳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回踩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继鼎后会开始连阳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顺势冲高策略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且升排，是否下柱会冲高？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且升排，是否下柱会冲高？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逆势捡漏策略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后第二柱或第三柱孕阴回踩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四柱栅：中阳跌孕后升孕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51B73D9-9994-6442-EE9A-68D5F672FE2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29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8342211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02FEB5-841F-DA5B-7A80-2E8A060CD7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F61ABED-2916-7E5E-8F46-771BF73D426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B627908E-B9F4-1F30-30F4-F90EDB1F6C8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9FE878CA-5D78-8DA7-AF01-D2D00BEA41B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31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9047161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BBCC36-3394-034F-6D1F-FBA2FB1BE6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8BD48F20-24DC-6E9F-FAAC-CDA569F2222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5835E2D7-2200-5AB8-7E3D-43D2AAD0865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思维游戏：周级别止盈，如何面对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偏离大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？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WS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JC】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极值一般也是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WS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JA】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极值。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WS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JC】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极值存在两种情况：一种是急速暴涨；一种是长线慢牛。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对第一种情况，第一波上冲，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【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WS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JC】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极值也是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WS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JA】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极值。但如果后续形成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头，即使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WS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JA】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较小，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【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WS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JC】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仍然会维持较大值。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对第二种情况，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【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WS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JC】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在较长时间缓慢拉升后会维持较大值，从而失去参考意义。这时需要主要参考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WS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JA】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判断冲高。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3D17227-57B7-8A48-8B15-CCB0911AE18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32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5580582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C9BB56-25B7-7343-0150-E46E9A6392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8190972-F7DF-9D54-6EA2-A20B4D0651F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FDD46520-7B0D-DF7B-AD7F-55D9C71EFE9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b="1" dirty="0"/>
              <a:t>（</a:t>
            </a:r>
            <a:r>
              <a:rPr lang="en-US" altLang="zh-CN" b="1" dirty="0"/>
              <a:t>@20260125</a:t>
            </a:r>
            <a:r>
              <a:rPr lang="zh-CN" altLang="en-US" b="1" dirty="0"/>
              <a:t>）</a:t>
            </a:r>
            <a:r>
              <a:rPr lang="en-US" altLang="zh-CN" b="1" dirty="0"/>
              <a:t>WJB</a:t>
            </a:r>
            <a:r>
              <a:rPr lang="zh-CN" altLang="en-US" b="1" dirty="0"/>
              <a:t>持仓法推导过程：</a:t>
            </a:r>
            <a:endParaRPr lang="en-US" altLang="zh-CN" b="1" dirty="0"/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dirty="0"/>
              <a:t>盈利来源：只有依赖</a:t>
            </a:r>
            <a:r>
              <a:rPr lang="en-US" altLang="zh-CN" dirty="0"/>
              <a:t>EMA</a:t>
            </a:r>
            <a:r>
              <a:rPr lang="zh-CN" altLang="en-US" dirty="0"/>
              <a:t>才必赢 ⇒ 以</a:t>
            </a:r>
            <a:r>
              <a:rPr lang="en-US" altLang="zh-CN" dirty="0"/>
              <a:t>WJC</a:t>
            </a:r>
            <a:r>
              <a:rPr lang="zh-CN" altLang="en-US" dirty="0"/>
              <a:t>为丘必赢；以</a:t>
            </a:r>
            <a:r>
              <a:rPr lang="en-US" altLang="zh-CN" dirty="0"/>
              <a:t>WJB</a:t>
            </a:r>
            <a:r>
              <a:rPr lang="zh-CN" altLang="en-US" dirty="0"/>
              <a:t>为丘保证仓位。</a:t>
            </a:r>
            <a:endParaRPr lang="en-US" altLang="zh-CN" dirty="0"/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dirty="0"/>
              <a:t>干扰因素：</a:t>
            </a:r>
            <a:r>
              <a:rPr lang="en-US" altLang="zh-CN" dirty="0"/>
              <a:t>WJA</a:t>
            </a:r>
            <a:r>
              <a:rPr lang="zh-CN" altLang="en-US" dirty="0"/>
              <a:t>之上的波动 ⇒ 只能减少部分仓位，不应清仓。</a:t>
            </a:r>
            <a:endParaRPr lang="en-US" altLang="zh-CN" dirty="0"/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dirty="0"/>
              <a:t>持仓方案的差异因素：（</a:t>
            </a:r>
            <a:r>
              <a:rPr lang="en-US" altLang="zh-CN" dirty="0"/>
              <a:t>WJB</a:t>
            </a:r>
            <a:r>
              <a:rPr lang="zh-CN" altLang="en-US" dirty="0"/>
              <a:t>丘仓位的比例）</a:t>
            </a:r>
            <a:r>
              <a:rPr lang="en-US" altLang="zh-CN" dirty="0"/>
              <a:t>VS</a:t>
            </a:r>
            <a:r>
              <a:rPr lang="zh-CN" altLang="en-US" dirty="0"/>
              <a:t>（提前可减仓的比例）</a:t>
            </a:r>
            <a:endParaRPr lang="en-US" altLang="zh-CN" dirty="0"/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dirty="0"/>
              <a:t>从而形成最终持仓结果：</a:t>
            </a:r>
            <a:endParaRPr lang="en-US" altLang="zh-CN" dirty="0"/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dirty="0"/>
              <a:t>底仓（</a:t>
            </a:r>
            <a:r>
              <a:rPr lang="en-US" altLang="zh-CN" dirty="0"/>
              <a:t>WJB</a:t>
            </a:r>
            <a:r>
              <a:rPr lang="zh-CN" altLang="en-US" dirty="0"/>
              <a:t>丘仓位）：从头到尾吃到所有</a:t>
            </a:r>
            <a:r>
              <a:rPr lang="en-US" altLang="zh-CN" dirty="0"/>
              <a:t>WJB</a:t>
            </a:r>
            <a:r>
              <a:rPr lang="zh-CN" altLang="en-US" dirty="0"/>
              <a:t>丘。 ⇒ 应尽量扩大</a:t>
            </a:r>
            <a:r>
              <a:rPr lang="en-US" altLang="zh-CN" dirty="0"/>
              <a:t>WJB</a:t>
            </a:r>
            <a:r>
              <a:rPr lang="zh-CN" altLang="en-US" dirty="0"/>
              <a:t>丘仓位的比例</a:t>
            </a:r>
            <a:endParaRPr lang="en-US" altLang="zh-CN" dirty="0"/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dirty="0"/>
              <a:t>活仓（可提前退出仓位）：吃到确定性收益（少部分为低阶丘收益）。但很可能少于整个</a:t>
            </a:r>
            <a:r>
              <a:rPr lang="en-US" altLang="zh-CN" dirty="0"/>
              <a:t>WJB</a:t>
            </a:r>
            <a:r>
              <a:rPr lang="zh-CN" altLang="en-US" dirty="0"/>
              <a:t>丘收益，从而踏空行情。</a:t>
            </a:r>
            <a:endParaRPr lang="en-US" altLang="zh-CN" dirty="0"/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sz="1600" b="1" dirty="0"/>
              <a:t>（</a:t>
            </a:r>
            <a:r>
              <a:rPr lang="en-US" altLang="zh-CN" sz="1600" b="1" dirty="0"/>
              <a:t>@20260125</a:t>
            </a:r>
            <a:r>
              <a:rPr lang="zh-CN" altLang="en-US" sz="1600" b="1" dirty="0"/>
              <a:t>）持仓方案一：</a:t>
            </a:r>
            <a:endParaRPr lang="en-US" altLang="zh-CN" sz="1600" b="1" dirty="0"/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dirty="0"/>
              <a:t>方案详情：从（</a:t>
            </a:r>
            <a:r>
              <a:rPr lang="en-US" altLang="zh-CN" dirty="0"/>
              <a:t>WJC</a:t>
            </a:r>
            <a:r>
              <a:rPr lang="zh-CN" altLang="en-US" dirty="0"/>
              <a:t>丘）⇒（</a:t>
            </a:r>
            <a:r>
              <a:rPr lang="en-US" altLang="zh-CN" dirty="0"/>
              <a:t>WJB</a:t>
            </a:r>
            <a:r>
              <a:rPr lang="zh-CN" altLang="en-US" dirty="0"/>
              <a:t>丘）箭头</a:t>
            </a:r>
            <a:endParaRPr lang="en-US" altLang="zh-CN" dirty="0"/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dirty="0"/>
              <a:t>底仓：一半仓位在</a:t>
            </a:r>
            <a:r>
              <a:rPr lang="en-US" altLang="zh-CN" dirty="0"/>
              <a:t>WJB</a:t>
            </a:r>
            <a:r>
              <a:rPr lang="zh-CN" altLang="en-US" dirty="0"/>
              <a:t>丘结束时卖出：</a:t>
            </a:r>
            <a:endParaRPr lang="en-US" altLang="zh-CN" dirty="0"/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dirty="0"/>
              <a:t>仓位至少为</a:t>
            </a:r>
            <a:r>
              <a:rPr lang="en-US" altLang="zh-CN" dirty="0"/>
              <a:t>5000</a:t>
            </a:r>
            <a:r>
              <a:rPr lang="zh-CN" altLang="en-US" dirty="0"/>
              <a:t>（底限之下不许卖）⇒卖点为下破</a:t>
            </a:r>
            <a:r>
              <a:rPr lang="en-US" altLang="zh-CN" dirty="0"/>
              <a:t>WJB</a:t>
            </a:r>
          </a:p>
          <a:p>
            <a:pPr marL="1543050" marR="0" lvl="3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若已经历（冲高）（整弧）⇒可在</a:t>
            </a:r>
            <a:r>
              <a:rPr lang="en-US" altLang="zh-CN" dirty="0"/>
              <a:t>WJB</a:t>
            </a:r>
            <a:r>
              <a:rPr lang="zh-CN" altLang="en-US" dirty="0"/>
              <a:t>之上提前退出（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必出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后不再冲高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已冲高后下破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上跌连</a:t>
            </a:r>
            <a:r>
              <a:rPr lang="zh-CN" altLang="en-US" dirty="0"/>
              <a:t>）</a:t>
            </a:r>
            <a:endParaRPr lang="en-US" altLang="zh-CN" dirty="0"/>
          </a:p>
          <a:p>
            <a:pPr marL="10858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活仓：一半仓位可提前退出：用于满足扰动的内心。</a:t>
            </a:r>
            <a:endParaRPr lang="en-US" altLang="zh-CN" dirty="0"/>
          </a:p>
          <a:p>
            <a:pPr marL="1543050" marR="0" lvl="3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卖出点：可在</a:t>
            </a:r>
            <a:r>
              <a:rPr lang="en-US" altLang="zh-CN" dirty="0"/>
              <a:t>WJB</a:t>
            </a:r>
            <a:r>
              <a:rPr lang="zh-CN" altLang="en-US" dirty="0"/>
              <a:t>之上任意点卖出。</a:t>
            </a:r>
            <a:endParaRPr lang="en-US" altLang="zh-CN" dirty="0"/>
          </a:p>
          <a:p>
            <a:pPr marL="2000250" marR="0" lvl="4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可在冲高点左侧止盈</a:t>
            </a:r>
            <a:endParaRPr lang="en-US" altLang="zh-CN" dirty="0"/>
          </a:p>
          <a:p>
            <a:pPr marL="2000250" marR="0" lvl="4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可在下破低阶均线（</a:t>
            </a:r>
            <a:r>
              <a:rPr lang="en-US" altLang="zh-CN" dirty="0"/>
              <a:t>/DJC/DJB/DJA</a:t>
            </a:r>
            <a:r>
              <a:rPr lang="zh-CN" altLang="en-US" dirty="0"/>
              <a:t>）时卖出</a:t>
            </a:r>
            <a:endParaRPr lang="en-US" altLang="zh-CN" dirty="0"/>
          </a:p>
          <a:p>
            <a:pPr marL="1543050" marR="0" lvl="3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可否补仓：</a:t>
            </a:r>
            <a:endParaRPr lang="en-US" altLang="zh-CN" dirty="0"/>
          </a:p>
          <a:p>
            <a:pPr marL="2000250" marR="0" lvl="4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基本条件是：应在</a:t>
            </a:r>
            <a:r>
              <a:rPr lang="en-US" altLang="zh-CN" dirty="0"/>
              <a:t>WJB</a:t>
            </a:r>
            <a:r>
              <a:rPr lang="zh-CN" altLang="en-US" dirty="0"/>
              <a:t>之上，还未（冲高）（整弧）。</a:t>
            </a:r>
            <a:endParaRPr lang="en-US" altLang="zh-CN" dirty="0"/>
          </a:p>
          <a:p>
            <a:pPr marL="2000250" marR="0" lvl="4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前期条件分情况：</a:t>
            </a:r>
            <a:endParaRPr lang="en-US" altLang="zh-CN" dirty="0"/>
          </a:p>
          <a:p>
            <a:pPr marL="2457450" marR="0" lvl="5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若前期因为预想的下跌而进行减仓，但实际没有发生预想的情况，可以补全之前的减仓。可在前卖点附近补仓，但不应追高介入。</a:t>
            </a:r>
            <a:endParaRPr lang="en-US" altLang="zh-CN" dirty="0"/>
          </a:p>
          <a:p>
            <a:pPr marL="2457450" marR="0" lvl="5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但如已确切发生应减仓情况，则不应补仓。即使再次站上次级均线，也不应对活仓进行补仓，但可把底仓补齐。</a:t>
            </a:r>
            <a:endParaRPr lang="en-US" altLang="zh-CN" dirty="0"/>
          </a:p>
          <a:p>
            <a:pPr marL="6286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此方案适用情况：</a:t>
            </a:r>
            <a:endParaRPr lang="en-US" altLang="zh-CN" dirty="0"/>
          </a:p>
          <a:p>
            <a:pPr marL="10858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两波段模型：第一波为</a:t>
            </a:r>
            <a:r>
              <a:rPr lang="en-US" altLang="zh-CN" dirty="0"/>
              <a:t>WJA</a:t>
            </a:r>
            <a:r>
              <a:rPr lang="zh-CN" altLang="en-US" dirty="0"/>
              <a:t>丘，可进行减仓；剩余仓位，在下破</a:t>
            </a:r>
            <a:r>
              <a:rPr lang="en-US" altLang="zh-CN" dirty="0"/>
              <a:t>WJB</a:t>
            </a:r>
            <a:r>
              <a:rPr lang="zh-CN" altLang="en-US" dirty="0"/>
              <a:t>时退出。</a:t>
            </a:r>
            <a:endParaRPr lang="en-US" altLang="zh-CN" dirty="0"/>
          </a:p>
          <a:p>
            <a:pPr marL="10858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冲高后缓慢上升模型：趋势初期冲高，进行减仓；剩余仓位，在下破</a:t>
            </a:r>
            <a:r>
              <a:rPr lang="en-US" altLang="zh-CN" dirty="0"/>
              <a:t>WJB</a:t>
            </a:r>
            <a:r>
              <a:rPr lang="zh-CN" altLang="en-US" dirty="0"/>
              <a:t>时退出。</a:t>
            </a:r>
            <a:endParaRPr lang="en-US" altLang="zh-CN" dirty="0"/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b="0" dirty="0"/>
              <a:t>觉悟（</a:t>
            </a:r>
            <a:r>
              <a:rPr lang="en-US" altLang="zh-CN" b="0" dirty="0"/>
              <a:t>@20260201</a:t>
            </a:r>
            <a:r>
              <a:rPr lang="zh-CN" altLang="en-US" b="0" dirty="0"/>
              <a:t>）：</a:t>
            </a:r>
            <a:endParaRPr lang="en-US" altLang="zh-CN" b="0" dirty="0"/>
          </a:p>
          <a:p>
            <a:pPr marL="6286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b="0" dirty="0"/>
              <a:t>（无我）遇到止损信号就应止损。</a:t>
            </a:r>
            <a:endParaRPr lang="en-US" altLang="zh-CN" b="0" dirty="0"/>
          </a:p>
          <a:p>
            <a:pPr marL="6286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b="0" dirty="0"/>
              <a:t>（无我）不应重仓好信号，特别是</a:t>
            </a:r>
            <a:r>
              <a:rPr lang="en-US" altLang="zh-CN" b="0" dirty="0"/>
              <a:t>DJA</a:t>
            </a:r>
            <a:r>
              <a:rPr lang="zh-CN" altLang="en-US" b="0" dirty="0"/>
              <a:t>中途的所谓“好信号”，其实是典型的诱多。永远记住，最有用的规律是“</a:t>
            </a:r>
            <a:r>
              <a:rPr lang="en-US" altLang="zh-CN" b="0" dirty="0"/>
              <a:t>EMA</a:t>
            </a:r>
            <a:r>
              <a:rPr lang="zh-CN" altLang="en-US" b="0" dirty="0"/>
              <a:t>法则”。</a:t>
            </a:r>
            <a:endParaRPr lang="en-US" altLang="zh-CN" b="0" dirty="0"/>
          </a:p>
          <a:p>
            <a:pPr marL="6286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b="0" dirty="0"/>
              <a:t>（有我）可以中途止盈。</a:t>
            </a:r>
            <a:endParaRPr lang="en-US" altLang="zh-CN" b="0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8493A55-BB4A-0087-0165-8BA95760775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33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691654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4195B4-DF5C-8C52-A351-AFB7F5ADA3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8974937A-6F0A-7AD7-5B09-591104D1FE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203A07A5-FB71-3FDF-2008-2817390A9B9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0691358-AF9D-0296-B3E1-AD7C4A73FE4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34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33436210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6DBAEB-310E-0157-D807-822F4B0B6D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DCED72B8-02CD-EB2C-2731-7AD1FA14BB9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C9C8F848-12B9-0B2A-CA44-7F8A2729F44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000250" marR="0" lvl="4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85BF7965-E24B-88E5-B82C-CE330DBCA6E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35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8791943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E9ADFF-E421-546F-F51A-897F078702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C45EE47F-B8A7-7E4E-118F-D460A39EEA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08980BDD-95A4-C795-A8DD-5E6BCA3DAF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描述柱排的运用模式。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原有柱排的运动模式为：上下运动、左右运动。虽然上下运动可以用来描述叠垒式柱排，但并不准确，应当弃用这种描述运动模式的方法。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区分叠垒式升排：叠垒式升排要求柱排重叠区域越小越好，可以包含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升吞，也可包括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跌连后的修复。但需要剔除由十字星、矮阳柱组成的叠垒式升排。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最有价值的机会：首个连阳柱。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待完成：计算持续时间作为指标：连阳、叠垒升排。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待完成：遍历验证，是否在（光头大阳柱，但下柱未冲高就跳空下跌）</a:t>
            </a:r>
            <a:endParaRPr lang="en-US" altLang="zh-CN" sz="900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A712591-38BC-C284-817E-DF03A674A1C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37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42492929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9B0AAB-4412-00D4-0C93-F9C4E45B13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ED30277E-67DE-CACF-3149-F23EBBFF5A2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B87F3D3F-A3CC-0E77-9730-E549D559AC1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AF4AB1E-5785-9D2F-01B7-032F8DA6EC7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38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36300279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B59DD0-7BD1-08C3-AE85-1DB8339632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58379626-907F-AAAD-5B09-5FA97A1B4F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BB20A05D-112D-5B02-96D5-DF0F2BC084E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A5CBDBE-484D-266B-EE0D-EDF693DCAD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39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0831734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D1DD0A-25B5-807E-CF4C-4574BB4188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B1609135-6B6B-8DB3-1091-EA8C62366A0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682632B8-B5CA-5C38-91AD-C8768E80C7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8C0D2EB-4DF0-7277-4C0A-E3D3DA27AE3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40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8047201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DBE00E-2CF5-AF43-C791-3A29E6321B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E6725CE-BD3F-6BE2-35AB-CB14868255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5EB3B6EA-2BB4-F30A-82B7-A0B43A0661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48AF1531-8FBF-6433-37E1-522F0BA095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41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800047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D3362B-82EA-5AD9-FA6E-94D247EAE0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5809339E-58A3-0BDB-AD8E-665EE7B666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03DC6ABE-ED9A-8539-04B9-F8097199B4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42E843F-01AE-F586-47F1-369FB93F258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42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1099866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A5D292-A172-2EFB-5A81-11F8731FDB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BFE59D1E-BC31-03DD-1A6A-BF8451AB40B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BB0C3D8F-0B13-E2A1-E06E-A84A2797EFC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72A2802-59A1-B9C4-A524-D65B82174B6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43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3918432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786EFD-E632-83BD-0F4D-432DC2309E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02C5A9E1-1BCE-CF16-7978-0DB2F03FDB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416C1E69-2EFF-A04A-55DA-992384FD44F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b="1" dirty="0"/>
              <a:t>周级别风险提示点：</a:t>
            </a:r>
            <a:endParaRPr lang="en-US" altLang="zh-CN" b="1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dirty="0"/>
              <a:t>WJA</a:t>
            </a:r>
            <a:r>
              <a:rPr lang="zh-CN" altLang="en-US" dirty="0"/>
              <a:t>之上：</a:t>
            </a:r>
            <a:r>
              <a:rPr lang="en-US" altLang="zh-CN" dirty="0"/>
              <a:t>w2c</a:t>
            </a:r>
            <a:r>
              <a:rPr lang="zh-CN" altLang="en-US" dirty="0"/>
              <a:t>首上破</a:t>
            </a:r>
            <a:endParaRPr lang="en-US" altLang="zh-CN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dirty="0"/>
              <a:t>WJA</a:t>
            </a:r>
            <a:r>
              <a:rPr lang="zh-CN" altLang="en-US" dirty="0"/>
              <a:t>之上：</a:t>
            </a:r>
            <a:r>
              <a:rPr lang="en-US" altLang="zh-CN" dirty="0"/>
              <a:t>w2d</a:t>
            </a:r>
            <a:r>
              <a:rPr lang="zh-CN" altLang="en-US" dirty="0"/>
              <a:t>阴柱价下破</a:t>
            </a:r>
            <a:r>
              <a:rPr lang="en-US" altLang="zh-CN" dirty="0"/>
              <a:t>WJA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dirty="0"/>
              <a:t>WJA</a:t>
            </a:r>
            <a:r>
              <a:rPr lang="zh-CN" altLang="en-US" dirty="0"/>
              <a:t>之下：</a:t>
            </a:r>
            <a:r>
              <a:rPr lang="en-US" altLang="zh-CN" dirty="0"/>
              <a:t>w2e</a:t>
            </a:r>
            <a:r>
              <a:rPr lang="zh-CN" altLang="en-US" dirty="0"/>
              <a:t>首下破</a:t>
            </a:r>
            <a:endParaRPr lang="en-US" altLang="zh-CN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dirty="0"/>
              <a:t>WJA</a:t>
            </a:r>
            <a:r>
              <a:rPr lang="zh-CN" altLang="en-US" dirty="0"/>
              <a:t>之下：</a:t>
            </a:r>
            <a:r>
              <a:rPr lang="en-US" altLang="zh-CN" dirty="0"/>
              <a:t>w2e</a:t>
            </a:r>
            <a:r>
              <a:rPr lang="zh-CN" altLang="en-US" dirty="0"/>
              <a:t>多柱下破（不要关注柱排非跌排，要等待站上</a:t>
            </a:r>
            <a:r>
              <a:rPr lang="en-US" altLang="zh-CN" dirty="0"/>
              <a:t>WJA</a:t>
            </a:r>
            <a:r>
              <a:rPr lang="zh-CN" altLang="en-US" dirty="0"/>
              <a:t>后再介入）</a:t>
            </a:r>
            <a:endParaRPr lang="en-US" altLang="zh-CN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dirty="0"/>
              <a:t>WJB</a:t>
            </a:r>
            <a:r>
              <a:rPr lang="zh-CN" altLang="en-US" dirty="0"/>
              <a:t>之下：下破</a:t>
            </a:r>
            <a:r>
              <a:rPr lang="en-US" altLang="zh-CN" dirty="0"/>
              <a:t>WJB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dirty="0"/>
              <a:t>WJC</a:t>
            </a:r>
            <a:r>
              <a:rPr lang="zh-CN" altLang="en-US" dirty="0"/>
              <a:t>之下：强制清仓</a:t>
            </a:r>
            <a:endParaRPr lang="en-US" altLang="zh-CN" dirty="0"/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7844684-9536-244E-84A6-8D6B351E09D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44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9857397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728EC0-34E2-89C0-A603-50EAACAE7D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282DF974-E62E-2B15-7169-68CD33FFA2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9A5A3190-83C1-F08E-71BE-01B257E94C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主升（叠垒柱排）筛选漏斗：</a:t>
            </a:r>
            <a:endParaRPr lang="en-US" altLang="zh-CN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股性：剔除无法获利情况，如波动较小或失败较多（不规律）。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（天时）周阶：基于高维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，对可能出现底部诱多的情况进行筛选，从而着重分析。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（地利）周层：基于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渡（储初再）：单独列示过渡期（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WXZB/WXAB/WXAC/WXBC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），总结进入主升经典模式。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主（主）：包含了大部分的主升阶段。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（人和）周稳护：在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之上基于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，参考柱排进行筛选，特别是针对周层界（主）。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已叠垒：梯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可能变为叠垒：栏栅枝（应对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之上跌吞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/WXZA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不可能变为叠垒：杂根（应对围绕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波动的震荡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天劫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/WXZA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（势）周顶型：基于顶型判断势头。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辅助判定主升：对于（已主升）（即将主升）的情况，进行判定。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辅助判定震荡：对于（离顶）情况，甄别震荡情况（梯未触顶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杂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根）。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5DB75A0-962C-D8ED-8584-F9AB7C52DB5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45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25256367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83A4E2-02BA-44B9-25AD-704F2CC7E3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1BB02399-B5F1-0199-1514-C3E4D4D2916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35716285-DE82-ED52-83C5-07F2E26203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0ADEFB3-3812-8776-CC42-42986A3461C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46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8570197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5032AC-20BC-1893-5CCE-EF81C363E4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0716A103-5FEE-01D0-EAAF-F3F4925625C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4437B171-6A08-FBBF-15F4-591FF39BAB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主升（叠垒柱排）筛选漏斗：</a:t>
            </a:r>
            <a:endParaRPr lang="en-US" altLang="zh-CN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股性：剔除无法获利情况，如波动较小或失败较多（不规律）。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（天时）周阶：基于高维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，对可能出现底部诱多的情况进行筛选，从而着重分析。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（地利）周层：基于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渡（储初再）：单独列示过渡期（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WXZB/WXAB/WXAC/WXBC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），总结进入主升经典模式。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主（主）：包含了大部分的主升阶段。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（人和）周稳护：在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之上基于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，参考柱排进行筛选，特别是针对周层界（主）。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已叠垒：梯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可能变为叠垒：栏栅枝（应对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之上跌吞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/WXZA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不可能变为叠垒：杂根（应对围绕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波动的震荡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天劫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/WXZA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（势）周顶型：基于顶型判断势头。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辅助判定主升：对于（已主升）（即将主升）的情况，进行判定。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辅助判定震荡：对于（离顶）情况，甄别震荡情况（梯未触顶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杂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根）。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D8257AC-0B6B-C5ED-B2FB-06C68843C54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47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24474699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A8C769-B294-5AA3-6D0D-591C2215F9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6A2D17AC-BF5D-6CD4-DFC6-997DDF6337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575B3F8C-F305-D226-A4FD-F24B6DEBCFE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描述柱排的运用模式。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原有柱排的运动模式为：上下运动、左右运动。虽然上下运动可以用来描述叠垒式柱排，但并不准确，应当弃用这种描述运动模式的方法。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区分叠垒式升排：叠垒式升排要求柱排重叠区域越小越好，可以包含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升吞，也可包括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跌连后的修复。但需要剔除由十字星、矮阳柱组成的叠垒式升排。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最有价值的机会：首个连阳柱。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待完成：计算持续时间作为指标：连阳、叠垒升排。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待完成：遍历验证，是否在（光头大阳柱，但下柱未冲高就跳空下跌）</a:t>
            </a:r>
            <a:endParaRPr lang="en-US" altLang="zh-CN" sz="900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10A32E3D-10D4-B671-32D4-F0AFE459411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48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39905858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76E257-E6A8-42A0-361B-889B70AF3A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9C955D06-77D6-9840-665E-43699B5F4B3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E0600572-504D-7023-6350-419BCB4E050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AF53C7B-79AA-A47E-738E-51D401B0FA5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49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8511362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61F61F-B9E1-0B1F-161A-EA00D94635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E3FBF14-7D56-4432-2F9C-5B216110127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7A9B612F-1590-7F6E-0966-F3A5CB9E16D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描述柱排的运用模式。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原有柱排的运动模式为：上下运动、左右运动。虽然上下运动可以用来描述叠垒式柱排，但并不准确，应当弃用这种描述运动模式的方法。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区分叠垒式升排：叠垒式升排要求柱排重叠区域越小越好，可以包含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升吞，也可包括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跌连后的修复。但需要剔除由十字星、矮阳柱组成的叠垒式升排。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最有价值的机会：首个连阳柱。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待完成：计算持续时间作为指标：连阳、叠垒升排。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待完成：遍历验证，是否在（光头大阳柱，但下柱未冲高就跳空下跌）</a:t>
            </a:r>
            <a:endParaRPr lang="en-US" altLang="zh-CN" sz="900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3B8A2DF5-D199-7225-C06A-FBE218D757F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50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65873486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2F0216-3B44-9A94-97DB-91070A4F86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666D62B4-2245-1FBA-6A88-D7C6B046D5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E76CB56F-F590-24FF-3283-B07E42D47F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910F2EA2-70D9-1E70-9D4A-881061D8E52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51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8975647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907E69-3A81-E83D-5BED-C41E65A7C1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0B163688-3581-EBB6-BA84-DE176D4BCFE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8015DA4E-FAC6-220D-65DB-B1E5184A5FA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1CF6AF3-E66B-AD20-66DB-2A93704E2BF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52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45003224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CD33AF-0CB9-7E38-3643-E73E497FFB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77475AEA-66CF-BC09-745E-1A82E1A286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31D6EACD-479E-ED23-7B9F-C2A965BEE1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7A69EB3-86B3-7EC7-6EB0-912509EF334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53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76174297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8AFFC2-4F6A-4096-3499-581308770E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DCEA552D-98F6-0E7C-1EB6-5A512EFCB74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36DE0595-B042-E35C-BA06-89EB6DA629B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251A6F9-8B2A-D908-9382-3D53B1273BE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54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0120692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3D7A4E-4486-F194-510F-63F5EFAFA9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F8689835-EE55-4CB1-555D-41B4CE8D3F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7D3CEC96-42EC-621A-FFFD-310442E532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5EF9ED6-9D1F-FB2E-90BF-3741CF87318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55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4226790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E94C35-16D3-7C11-279F-6DA7DCBB67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2114224E-81E5-5930-4553-317125B2C92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0E3999BF-9061-2880-35A2-A598A295403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的典型图形。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正交时，进行情况分析。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本周下破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后又在本周内站回。在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上呈现带下影线的十字星。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本周为薡但未形成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负交。如前期贴附于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，则很可能反包；如前期已远离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，则可能继续下跌。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本周为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负交，下周以同幅度阳柱站回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本周为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负交，下周以小幅度阳柱反弹，第三柱站上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本周为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负交，在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之下震荡多柱；然后上破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。需要判断是否为诱多，应等待回踩站稳。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本周为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负交，在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之下震荡多柱；然后下破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。基本确定形成下跌趋势。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已冲高情况。连跌下破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后，要退出。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上破</a:t>
            </a:r>
            <a:r>
              <a:rPr lang="en-US" altLang="zh-CN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的典型图形。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要防顶震；要防纠缠贯穿。’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对更高层级大势的考虑。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要剔除沿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多次做丘且顶比顶低。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要剔除无序震荡；要谨慎对待劫后升排（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/WXZA/WXZB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，即使是升排，也可能是诱多，要千万小心）。</a:t>
            </a:r>
          </a:p>
          <a:p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DFA3362-E6E1-7EC2-2FC6-CA702F67866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56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4258103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6D8ADF-949C-1236-C9F0-D82E3D159E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81A4CC70-E20A-DB3F-91A4-CE3311F1F73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F1B53E30-CCAE-A0BB-C325-F4DD019EE4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059CD82-53FB-92A0-DD31-782E47DF454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57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91381416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柱排列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58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33479607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C9DF5F-17A5-373D-2AF0-D5DFA5B499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0F7043AB-49C5-65D0-81F7-1733EB01F7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1127BCD7-CCC4-05B7-C146-B1F508F24E1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注</a:t>
            </a:r>
            <a:r>
              <a:rPr lang="en-US" altLang="zh-CN" dirty="0"/>
              <a:t>20260611</a:t>
            </a:r>
            <a:r>
              <a:rPr lang="zh-CN" altLang="en-US" dirty="0"/>
              <a:t>：</a:t>
            </a:r>
            <a:r>
              <a:rPr lang="en-US" altLang="zh-CN" dirty="0"/>
              <a:t>WXAB</a:t>
            </a:r>
            <a:r>
              <a:rPr lang="zh-CN" altLang="en-US" dirty="0"/>
              <a:t>与</a:t>
            </a:r>
            <a:r>
              <a:rPr lang="en-US" altLang="zh-CN" dirty="0"/>
              <a:t>DXAB</a:t>
            </a:r>
            <a:r>
              <a:rPr lang="zh-CN" altLang="en-US" dirty="0"/>
              <a:t>未必共振：只有当</a:t>
            </a:r>
            <a:r>
              <a:rPr lang="en-US" altLang="zh-CN" dirty="0"/>
              <a:t>DXAB</a:t>
            </a:r>
            <a:r>
              <a:rPr lang="zh-CN" altLang="en-US" dirty="0"/>
              <a:t>持续时间较长时才能共振，当</a:t>
            </a:r>
            <a:r>
              <a:rPr lang="en-US" altLang="zh-CN" dirty="0"/>
              <a:t>DXAB</a:t>
            </a:r>
            <a:r>
              <a:rPr lang="zh-CN" altLang="en-US" dirty="0"/>
              <a:t>较短时可能只对应于</a:t>
            </a:r>
            <a:r>
              <a:rPr lang="en-US" altLang="zh-CN" dirty="0"/>
              <a:t>1-2</a:t>
            </a:r>
            <a:r>
              <a:rPr lang="zh-CN" altLang="en-US" dirty="0"/>
              <a:t>根周柱。</a:t>
            </a:r>
            <a:endParaRPr lang="en-US" altLang="zh-CN" dirty="0"/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BB51271-5ECE-A175-2610-97FC2DE173A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59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4911506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BECE86-2E34-67DE-6753-599AF5D55E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5458DE16-8B8C-B334-A8C0-459CFD6E4B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EAB1E177-5957-DFE6-A4BF-A694429B789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D7692E2-62DC-4EA4-CC79-AAB21030977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60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13918523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61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7692201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337BBD-B21E-B25E-0E8B-D21ED71788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D89345E-AF61-CCBA-2ABD-7F63050A3C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F285B384-FD01-663B-0B64-2914C6E7814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858F76F-EC99-B9BC-5DE0-F80AF4DED44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62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61530048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63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89408705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388E94-BC7C-E776-410E-5B0D247916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666315D6-6BA6-5CEA-4558-932EADFB813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9E3D058B-827A-1525-0BFC-28AC135CAC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1FABE9F-E780-1EDC-F927-897843DD539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65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37151191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3741C6-A299-243A-B416-78D4C6BA83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1566D939-F56A-B532-8680-6D1FB0B2E7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7EC264F3-8FBC-0241-5E81-56F135ECC0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415AEA96-77EA-34FF-1C92-D1E770A022D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66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71151300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A3560A-83F4-6D86-FA16-BB203AE452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3D097384-AA2A-4991-8103-ED38F32939A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6A68EB8F-2384-8927-0BBB-11015C71359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9DB2F84-E81A-76C3-660C-B3A2A9B3491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67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4670429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A73EFF-BC6E-11B7-B1C3-C5DC2B1790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5486F1E9-E554-84A3-AE35-B65EEC494FE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FB5C430A-619F-9F87-24A6-18FD8835C6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柱排跨周期规律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大周期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跌连，经过展开，必然包含日级别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跌连。所以要尽量选择大周期升阶段，从而可以获取更多日级别升柱。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日类柱排规律：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周管映射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将周管（哼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）映射至日管（顶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），将本周五柱合并作为周柱展开。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柱排适用区域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首先在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之上，优先适用柱排。升排可以继续上升；可以逆向选择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之上，可以参考适用逆向选择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待验证策略：先找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跌连，在其后站上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后进入。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之上其他区域，主要依靠神秘力量进行被动持仓，或者至少等待出现升排（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升连）进行试仓。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FEDEDB7-2D47-73F3-766E-20A468806A2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68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92587259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092B76-BB55-6A59-5BBB-3E328D391D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4CC0302C-0706-3D89-79CF-57951A30D2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EF6F4A2C-90D0-2C13-9176-1A792F57F3D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11A1F1F-D540-2125-D173-A59DEE722E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69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4452608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8CAD29-448A-E500-7CCD-F2C94A71FD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1C530F86-BCBE-99F3-206F-4FEA2885F8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BEA7DF05-4FDB-9990-EBE1-49409202F58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2952504-0F18-0E70-2B30-84DA202AF9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70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11924268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2044BF-6486-0051-5FB1-3CD79ACD2E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13EE4698-147E-1359-A899-9EE61855124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94A2412A-2D25-0CBE-DD60-A2403AED238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为何周级别跌孕（对应日级别：跌排）会停止下跌，并在下周冲高？</a:t>
            </a:r>
            <a:endParaRPr lang="en-US" altLang="zh-CN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dirty="0"/>
              <a:t>正如主升趋势会停止，而非一直冲高。日线的运动受多因素限制：日均线、周柱排。</a:t>
            </a:r>
            <a:endParaRPr lang="en-US" altLang="zh-CN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dirty="0"/>
              <a:t>下周初可能会延续下跌，但出现回升后，会形成周级别带下影线的阳柱。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8EC33829-F12C-20FD-39BE-8A91F464E08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71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21567126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F986EE-0D4A-0642-55A2-88BF7E55B6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D5BD0665-7BFB-8820-443E-A151E36D6B4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D317A503-FE91-C3E1-DEDD-5B8BFBD810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基本要求：满足周范围（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WXZC&gt;0;WXZB&gt;0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）满足日要求（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DXZE&gt;0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；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DXZC&gt;0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）。</a:t>
            </a:r>
            <a:endParaRPr lang="en-US" altLang="zh-CN" sz="1000" dirty="0">
              <a:solidFill>
                <a:sysClr val="windowText" lastClr="000000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主要战场：</a:t>
            </a:r>
            <a:r>
              <a:rPr lang="zh-CN" altLang="en-US" sz="1000" b="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当周柱存在上升可能性时；若日柱在</a:t>
            </a:r>
            <a:r>
              <a:rPr lang="en-US" altLang="zh-CN" sz="1000" b="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b="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之上则具有上升动力，是阳柱聚集区；否则只应被动持有。</a:t>
            </a:r>
            <a:endParaRPr lang="en-US" altLang="zh-CN" sz="1000" b="0" dirty="0">
              <a:solidFill>
                <a:sysClr val="windowText" lastClr="000000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操作方法：</a:t>
            </a:r>
            <a:r>
              <a:rPr lang="zh-CN" altLang="en-US" sz="1000" b="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前周符合</a:t>
            </a:r>
            <a:r>
              <a:rPr lang="en-US" altLang="zh-CN" sz="1000" b="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1000" b="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下柱冲高</a:t>
            </a:r>
            <a:r>
              <a:rPr lang="en-US" altLang="zh-CN" sz="1000" b="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1000" b="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条件，等待下周冲高时卖出（要在下周整周内寻找高点，不应在周一集体清仓），如周末仍符合条件就再买入；否则不再买入。周收盘破</a:t>
            </a:r>
            <a:r>
              <a:rPr lang="en-US" altLang="zh-CN" sz="1000" b="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000" b="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才考虑退出，不要由于日内回撤清仓。</a:t>
            </a:r>
            <a:endParaRPr lang="en-US" altLang="zh-CN" sz="1000" b="0" dirty="0">
              <a:solidFill>
                <a:sysClr val="windowText" lastClr="000000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作用：把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作为远离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的标准，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之上非升排没有趋势效应。应要求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DXBC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＞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；对于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DXZB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＜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必须小心，须依赖周柱排列，且只能在周末介入。</a:t>
            </a:r>
            <a:endParaRPr lang="en-US" altLang="zh-CN" sz="1000" dirty="0">
              <a:solidFill>
                <a:sysClr val="windowText" lastClr="000000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丘对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丘的辅助作用：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DJCBA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多头排列，当介于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与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之间时。从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丘角度看，已下破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；从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丘角度看，仍处于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丘之上，只要柱排为升排则可能上升。</a:t>
            </a:r>
            <a:endParaRPr lang="en-US" altLang="zh-CN" sz="1000" dirty="0">
              <a:solidFill>
                <a:sysClr val="windowText" lastClr="000000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当在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之上时，区分柱排列的运动方向：</a:t>
            </a:r>
            <a:endParaRPr lang="en-US" altLang="zh-CN" sz="1000" dirty="0">
              <a:solidFill>
                <a:sysClr val="windowText" lastClr="000000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左右运动：处于管（顶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,DJA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）内，且中符为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ABCD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1000" dirty="0">
              <a:solidFill>
                <a:sysClr val="windowText" lastClr="000000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上下运动：首上破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；首下破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；频繁贯穿</a:t>
            </a:r>
            <a:r>
              <a:rPr lang="en-US" altLang="zh-CN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ysClr val="windowText" lastClr="00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</a:p>
          <a:p>
            <a:endParaRPr lang="zh-CN" altLang="en-US" sz="1800" b="0" dirty="0">
              <a:solidFill>
                <a:sysClr val="windowText" lastClr="000000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82B37ABE-C6A3-01F7-2C90-190D467876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72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7110637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B567D3-5DF7-6774-5F91-0C7C595778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73383DC8-C883-F7CA-D732-ABEF36723D1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1D366BC1-07DB-BCFC-48C4-584499B2580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44C4BC9A-9A1B-31F3-83CC-1CD2E354B75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73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46950623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794B58-50FC-9ACB-209A-E0CAA4B959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64D2ACA3-93E0-29C4-5726-49A09D9F3C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21B26FE8-79E6-104B-C666-C798802F41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（已废弃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20260101.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转为定义周柱型）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周类分类层次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】【XQQQ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筛程至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C2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章按周稳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的实现逻辑，实际是在周范围内做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正交：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≤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。首上破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有可能是骗线，对于柱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，如果是升孕，是下降趋势。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WTZA=2/3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。初始上破，可以参考柱排。最好是特回踩。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：顶升</a:t>
            </a:r>
            <a:r>
              <a:rPr lang="en-US" altLang="zh-CN" sz="900" dirty="0" err="1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QOv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（升排沿上沿前进，是最好形态。但要有敬畏，随时可能出现下跌回撤）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：跌排。代表原方向停止。但可能转为无方向震荡情况。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：其他（要沿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爬升，不要反复贯穿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若出现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跌连，代表原方向停止。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DEF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-1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。待选择方向，仍属于可参与情况。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DEF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≤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-2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。已确认下行方向。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负交：忐忠忑（须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且即将导致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正交才可介入）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不符合周类范围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B1B8EE6-50D0-1FEA-E437-CC0CA86EFB0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75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4091765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待完成：</a:t>
            </a:r>
            <a:endParaRPr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每种情况列举实例。</a:t>
            </a:r>
            <a:endParaRPr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哪些是机会？哪些需要止盈？那些需要止损？</a:t>
            </a:r>
            <a:endParaRPr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计算处于</a:t>
            </a:r>
            <a:r>
              <a:rPr lang="en-US" altLang="zh-CN" sz="1200" b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主升链</a:t>
            </a:r>
            <a:r>
              <a:rPr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的时长：设置为变量，如果超过</a:t>
            </a:r>
            <a:r>
              <a:rPr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就给与提示。</a:t>
            </a:r>
            <a:endParaRPr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76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95470398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967D89-714A-CFC5-E4ED-3D5E0FAD3E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D613E59C-2B61-1EC2-CCB1-7BE09AFCFF0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B154D17D-CF9B-25C0-E7B0-BE3348C729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柱排基本规律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柱排先于均线变化，但也存在更多假信号，所以核心算法以均线为准，柱排仅供参考。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柱排基本规律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下柱规律：本柱无论是：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吞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孕，下柱只能是：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同向连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反向吞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反向孕。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上升趋势中的并符：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）本柱为升连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若下柱为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防止盈。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若下柱为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若未冲高是最好机会；若已冲高则柱排逐渐重叠为顶部信号。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若下柱为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后续走势要依赖再下柱，最好为升吞，升孕可能是跌势开始或升连第一柱。</a:t>
            </a:r>
            <a:endParaRPr lang="zh-CN" altLang="en-US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）本柱为升吞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若下柱为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防止盈。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若下柱为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可先退出，等待站稳后再判断走势。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若下柱为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非常坏的走势，要尽快找机会退出。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）本柱为跌孕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若下柱为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判断是否已冲高。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若下柱为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存在两种走势，一种是贴服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形成升连，另一种是跌吞彻底形成下降趋势。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若下柱为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存在两种走势，有可能冲高诱多，也可能会再次延续上升趋势。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F1C5DDC3-8C41-3D14-184A-3BF4694C8B0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77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91999103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AABB49-46E3-8093-56FA-D1EA428511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3DF3B1C2-CDDE-8CA7-2073-3D4E4B31AC9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3B7A181E-140A-5A81-8306-DDC3C3BA0A5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C189812-FB60-F973-FB25-4A3B3181A98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78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88233632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28888C-CEB7-7EA2-83A8-863C671671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B6F1117A-B02E-FDDC-3B05-06F97E20B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30FF9268-05CA-0A26-90BA-929C314F23A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82FA219D-226F-51DD-BA89-64D73CB1F9C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79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26225827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2E9678-82D7-D651-FFB6-C88B5B7FA9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D4450864-71CF-1813-480E-60A09C34CCD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A02F3996-0A69-F95F-C349-2E334204C3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49A3CFEE-28E0-D592-139A-2FD54B7A775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80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7473664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0D69AD-6452-73DE-CE30-F023679062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8BF73CFB-70F6-F6B8-4E82-BBB5E04E712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5E8C63A7-129A-B099-CD9D-40595247E36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如何衡量角度</a:t>
            </a:r>
            <a:endParaRPr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利用五柱（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增幅）与（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JC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增幅）比较：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可以去除时间区间人为设定的影响，从而</a:t>
            </a:r>
            <a:r>
              <a:rPr lang="zh-CN" altLang="en-US" sz="1100">
                <a:latin typeface="微软雅黑" panose="020B0503020204020204" pitchFamily="34" charset="-122"/>
                <a:ea typeface="微软雅黑" panose="020B0503020204020204" pitchFamily="34" charset="-122"/>
              </a:rPr>
              <a:t>衡量上升快慢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根据丘宽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DS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JC)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划分阶段：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丘核心是抓住从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到冲高的波幅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对于低波区域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WBS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JC≤10)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：要关注是否在蓄势或是否已准备下跌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其他指标：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丘宽：≥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陡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BSAC: ≥5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陡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BSHA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：≥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陡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日叠：≥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25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陡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/≥10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/≥5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缓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/&lt;5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平</a:t>
            </a:r>
            <a:endParaRPr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凹凸如何识别  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连线：五日最高点与两端比较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中间三柱高点突破连线的个数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日坤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/DSHA/DSLA/DSAC</a:t>
            </a: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225391A-6742-2463-7D8E-0284EF21EFD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81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03442610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6249E4-D36B-32A8-27E4-66E00F1B8F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3D085629-DBAE-2D29-2102-272D7BF898D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69FE6905-EF64-A904-2555-F48067CBC53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判定周阴柱是由日类何种级别的劫构成的？</a:t>
            </a:r>
            <a:r>
              <a:rPr lang="en-US" altLang="zh-CN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如在日类已下破</a:t>
            </a:r>
            <a:r>
              <a:rPr lang="en-US" altLang="zh-CN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r>
              <a:rPr lang="zh-CN" altLang="en-US" sz="1000" b="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要清楚认识到，必然为周级别较大阴柱。因为按周止损（未破</a:t>
            </a:r>
            <a:r>
              <a:rPr lang="en-US" altLang="zh-CN" sz="1000" b="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1000" b="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可不退出），所以日类即使下破</a:t>
            </a:r>
            <a:r>
              <a:rPr lang="en-US" altLang="zh-CN" sz="1000" b="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000" b="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也不需要退出。从而，下破</a:t>
            </a:r>
            <a:r>
              <a:rPr lang="en-US" altLang="zh-CN" sz="1000" b="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b="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不应退出。反而，应该相信神秘力量，有可能继续在</a:t>
            </a:r>
            <a:r>
              <a:rPr lang="en-US" altLang="zh-CN" sz="1000" b="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000" b="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之上长期运行。</a:t>
            </a:r>
            <a:endParaRPr lang="en-US" altLang="zh-CN" sz="1000" b="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基于镜面对称原理。</a:t>
            </a:r>
            <a:r>
              <a:rPr lang="zh-CN" altLang="en-US" sz="1000" b="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在底部空头排列时，上破</a:t>
            </a:r>
            <a:r>
              <a:rPr lang="en-US" altLang="zh-CN" sz="1000" b="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b="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也不能代表可以介入，一定要等待上破</a:t>
            </a:r>
            <a:r>
              <a:rPr lang="en-US" altLang="zh-CN" sz="1000" b="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WJB&amp;WJC</a:t>
            </a:r>
            <a:r>
              <a:rPr lang="zh-CN" altLang="en-US" sz="1000" b="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再择机介入。</a:t>
            </a:r>
            <a:endParaRPr lang="en-US" altLang="zh-CN" sz="10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en-US" altLang="zh-CN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仓位日级优化策略</a:t>
            </a:r>
            <a:r>
              <a:rPr lang="en-US" altLang="zh-CN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恒仓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：仓位授权来自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DJE&amp;DJC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，理论上恒仓应保持不动，但正如不可能持有全市场所有符合走势的标的，对于已持有的恒仓在特殊可止盈的情况下也可减仓或清仓。两个减仓节点为：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左侧见顶信号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之上的减仓条件：属于可获利升势区域，且代表（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丘金身未破）（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丘金身未破）。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宽：以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丘为准， （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WS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哼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JA=DS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哼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JC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）宽≥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20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。根据丘弧的高度与角度进行分类。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偏巨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  <a:sym typeface="Wingdings" panose="05000000000000000000" pitchFamily="2" charset="2"/>
              </a:rPr>
              <a:t>：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  <a:sym typeface="Wingdings" panose="05000000000000000000" pitchFamily="2" charset="2"/>
              </a:rPr>
              <a:t>DSHA≥6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  <a:sym typeface="Wingdings" panose="05000000000000000000" pitchFamily="2" charset="2"/>
              </a:rPr>
              <a:t>（包含巨阳柱以及随后盘整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）可全部退出；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连阳：首次最多可减仓一半，最好分步退出；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久：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BD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哼≥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4/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连阳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/DTZA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久。最多可减仓一半。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右侧见顶信号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可能下破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的减仓条件：已脱离可获利升势区域。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失势：当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较大，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丘已维持较长时间后，可以利用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顶型是否合离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][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由升排转为人排横向震荡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判定是否失势，从而提前退出。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冲高后下破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：可清仓。如果在较长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DXZA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运行之后下破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是明确的见顶信号。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久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DTZA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后下破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两柱：可清仓，特别是在中阴柱下破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后孕阳不站上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破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：可清仓，已下破可获利升势区域，可等待站上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再按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丘精细操作。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破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：必清仓。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浮仓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：按照特殊形态进行单柱操作，仅在下柱冲高退出，不要继续持有。由于属于中途介入，属于不推荐行为。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特殊形态：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之上四柱栅；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继鼎。</a:t>
            </a: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947A28F-4F8F-D880-E4DA-AE8C7E738BE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82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64532502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7BED92-85C7-1C62-9879-8AD408EDE3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CF3F7E2E-77A0-9C2D-A342-8DD64725B9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备注占位符 2">
                <a:extLst>
                  <a:ext uri="{FF2B5EF4-FFF2-40B4-BE49-F238E27FC236}">
                    <a16:creationId xmlns:a16="http://schemas.microsoft.com/office/drawing/2014/main" id="{347334A3-D3BF-6ED8-47FB-9CAF67CEE432}"/>
                  </a:ext>
                </a:extLst>
              </p:cNvPr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endParaRPr lang="en-US" altLang="zh-CN" sz="28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zh-CN" altLang="en-US" sz="2800" b="1" i="1" smtClean="0">
                          <a:latin typeface="Cambria Math" panose="02040503050406030204" pitchFamily="18" charset="0"/>
                          <a:ea typeface="微软雅黑" panose="020B0503020204020204" pitchFamily="34" charset="-122"/>
                        </a:rPr>
                        <m:t>止盈与止损</m:t>
                      </m:r>
                      <m:d>
                        <m:dPr>
                          <m:begChr m:val="{"/>
                          <m:endChr m:val="}"/>
                          <m:ctrlPr>
                            <a:rPr lang="en-US" altLang="zh-CN" sz="2800" b="1" i="1">
                              <a:latin typeface="Cambria Math" panose="02040503050406030204" pitchFamily="18" charset="0"/>
                              <a:ea typeface="微软雅黑" panose="020B0503020204020204" pitchFamily="34" charset="-122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altLang="zh-CN" sz="2800" b="1" i="1" smtClean="0">
                                  <a:latin typeface="Cambria Math" panose="02040503050406030204" pitchFamily="18" charset="0"/>
                                  <a:ea typeface="微软雅黑" panose="020B0503020204020204" pitchFamily="34" charset="-122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zh-CN" altLang="en-US" sz="2800" b="1" i="1">
                                    <a:latin typeface="Cambria Math" panose="02040503050406030204" pitchFamily="18" charset="0"/>
                                    <a:ea typeface="微软雅黑" panose="020B0503020204020204" pitchFamily="34" charset="-122"/>
                                  </a:rPr>
                                  <m:t>止</m:t>
                                </m:r>
                                <m:r>
                                  <a:rPr lang="zh-CN" altLang="en-US" sz="2800" b="1" i="1">
                                    <a:latin typeface="Cambria Math" panose="02040503050406030204" pitchFamily="18" charset="0"/>
                                    <a:ea typeface="微软雅黑" panose="020B0503020204020204" pitchFamily="34" charset="-122"/>
                                  </a:rPr>
                                  <m:t>盈：</m:t>
                                </m:r>
                                <m:r>
                                  <m:rPr>
                                    <m:brk m:alnAt="7"/>
                                  </m:rPr>
                                  <a:rPr lang="zh-CN" altLang="en-US" sz="2800" b="1" i="1">
                                    <a:latin typeface="Cambria Math" panose="02040503050406030204" pitchFamily="18" charset="0"/>
                                    <a:ea typeface="微软雅黑" panose="020B0503020204020204" pitchFamily="34" charset="-122"/>
                                  </a:rPr>
                                  <m:t>𝑾</m:t>
                                </m:r>
                                <m:r>
                                  <a:rPr lang="zh-CN" altLang="en-US" sz="2800" b="1" i="1">
                                    <a:latin typeface="Cambria Math" panose="02040503050406030204" pitchFamily="18" charset="0"/>
                                    <a:ea typeface="微软雅黑" panose="020B0503020204020204" pitchFamily="34" charset="-122"/>
                                  </a:rPr>
                                  <m:t>𝑱𝑪𝑩𝑨</m:t>
                                </m:r>
                                <m:r>
                                  <m:rPr>
                                    <m:brk m:alnAt="7"/>
                                  </m:rPr>
                                  <a:rPr lang="zh-CN" altLang="en-US" sz="2800" b="1" i="1">
                                    <a:latin typeface="Cambria Math" panose="02040503050406030204" pitchFamily="18" charset="0"/>
                                    <a:ea typeface="微软雅黑" panose="020B0503020204020204" pitchFamily="34" charset="-122"/>
                                  </a:rPr>
                                  <m:t>多</m:t>
                                </m:r>
                                <m:r>
                                  <a:rPr lang="zh-CN" altLang="en-US" sz="2800" b="1" i="1">
                                    <a:latin typeface="Cambria Math" panose="02040503050406030204" pitchFamily="18" charset="0"/>
                                    <a:ea typeface="微软雅黑" panose="020B0503020204020204" pitchFamily="34" charset="-122"/>
                                  </a:rPr>
                                  <m:t>头且触哼</m:t>
                                </m:r>
                              </m:e>
                            </m:mr>
                            <m:mr>
                              <m:e>
                                <m:r>
                                  <a:rPr lang="zh-CN" altLang="en-US" sz="2800" b="1" i="1">
                                    <a:latin typeface="Cambria Math" panose="02040503050406030204" pitchFamily="18" charset="0"/>
                                    <a:ea typeface="微软雅黑" panose="020B0503020204020204" pitchFamily="34" charset="-122"/>
                                  </a:rPr>
                                  <m:t>止损：底线是</m:t>
                                </m:r>
                                <m:r>
                                  <a:rPr lang="zh-CN" altLang="en-US" sz="2800" b="1" i="1">
                                    <a:latin typeface="Cambria Math" panose="02040503050406030204" pitchFamily="18" charset="0"/>
                                    <a:ea typeface="微软雅黑" panose="020B0503020204020204" pitchFamily="34" charset="-122"/>
                                  </a:rPr>
                                  <m:t>𝑾𝑿𝒁𝑪</m:t>
                                </m:r>
                                <m:r>
                                  <a:rPr lang="en-US" altLang="zh-CN" sz="2800" b="1" i="1">
                                    <a:latin typeface="Cambria Math" panose="02040503050406030204" pitchFamily="18" charset="0"/>
                                    <a:ea typeface="微软雅黑" panose="020B0503020204020204" pitchFamily="34" charset="-122"/>
                                  </a:rPr>
                                  <m:t>&lt;</m:t>
                                </m:r>
                                <m:r>
                                  <a:rPr lang="zh-CN" altLang="en-US" sz="2800" b="1" i="1">
                                    <a:latin typeface="Cambria Math" panose="02040503050406030204" pitchFamily="18" charset="0"/>
                                    <a:ea typeface="微软雅黑" panose="020B0503020204020204" pitchFamily="34" charset="-122"/>
                                  </a:rPr>
                                  <m:t>𝟎</m:t>
                                </m:r>
                              </m:e>
                            </m:mr>
                          </m:m>
                        </m:e>
                      </m:d>
                      <m:r>
                        <a:rPr lang="zh-CN" altLang="en-US" sz="2800" b="1" i="1" smtClean="0">
                          <a:latin typeface="Cambria Math" panose="02040503050406030204" pitchFamily="18" charset="0"/>
                          <a:ea typeface="微软雅黑" panose="020B0503020204020204" pitchFamily="34" charset="-122"/>
                        </a:rPr>
                        <m:t>介于</m:t>
                      </m:r>
                      <m:r>
                        <a:rPr lang="zh-CN" altLang="en-US" sz="2800" b="1" i="1">
                          <a:latin typeface="Cambria Math" panose="02040503050406030204" pitchFamily="18" charset="0"/>
                          <a:ea typeface="微软雅黑" panose="020B0503020204020204" pitchFamily="34" charset="-122"/>
                        </a:rPr>
                        <m:t>两者之间</m:t>
                      </m:r>
                      <m:r>
                        <a:rPr lang="zh-CN" altLang="en-US" sz="2800" b="1" i="1" smtClean="0">
                          <a:latin typeface="Cambria Math" panose="02040503050406030204" pitchFamily="18" charset="0"/>
                          <a:ea typeface="微软雅黑" panose="020B0503020204020204" pitchFamily="34" charset="-122"/>
                        </a:rPr>
                        <m:t>都属于</m:t>
                      </m:r>
                      <m:r>
                        <a:rPr lang="en-US" altLang="zh-CN" sz="2800" b="1" i="1">
                          <a:latin typeface="Cambria Math" panose="02040503050406030204" pitchFamily="18" charset="0"/>
                          <a:ea typeface="微软雅黑" panose="020B0503020204020204" pitchFamily="34" charset="-122"/>
                        </a:rPr>
                        <m:t>【</m:t>
                      </m:r>
                      <m:r>
                        <a:rPr lang="zh-CN" altLang="en-US" sz="2800" b="1" i="1">
                          <a:latin typeface="Cambria Math" panose="02040503050406030204" pitchFamily="18" charset="0"/>
                          <a:ea typeface="微软雅黑" panose="020B0503020204020204" pitchFamily="34" charset="-122"/>
                        </a:rPr>
                        <m:t>止盈</m:t>
                      </m:r>
                      <m:r>
                        <a:rPr lang="en-US" altLang="zh-CN" sz="2800" b="1" i="1" smtClean="0">
                          <a:latin typeface="Cambria Math" panose="02040503050406030204" pitchFamily="18" charset="0"/>
                          <a:ea typeface="微软雅黑" panose="020B0503020204020204" pitchFamily="34" charset="-122"/>
                        </a:rPr>
                        <m:t>】</m:t>
                      </m:r>
                      <m:r>
                        <a:rPr lang="en-US" altLang="zh-CN" sz="2800" b="1" i="1" smtClean="0">
                          <a:latin typeface="Cambria Math" panose="02040503050406030204" pitchFamily="18" charset="0"/>
                          <a:ea typeface="微软雅黑" panose="020B0503020204020204" pitchFamily="34" charset="-122"/>
                        </a:rPr>
                        <m:t>   </m:t>
                      </m:r>
                    </m:oMath>
                  </m:oMathPara>
                </a14:m>
                <a:endParaRPr lang="en-US" altLang="zh-CN" sz="2800" b="1" i="1" dirty="0">
                  <a:solidFill>
                    <a:srgbClr val="FF0000"/>
                  </a:solidFill>
                  <a:latin typeface="Cambria Math" panose="02040503050406030204" pitchFamily="18" charset="0"/>
                  <a:ea typeface="微软雅黑" panose="020B0503020204020204" pitchFamily="34" charset="-122"/>
                </a:endParaRPr>
              </a:p>
              <a:p>
                <a:r>
                  <a:rPr lang="zh-CN" altLang="en-US" sz="28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止盈方法包括：</a:t>
                </a:r>
                <a:endParaRPr lang="en-US" altLang="zh-CN" sz="28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zh-CN" altLang="en-US" sz="28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两柱下破</a:t>
                </a:r>
                <a:r>
                  <a:rPr lang="en-US" altLang="zh-CN" sz="28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WJA(</a:t>
                </a:r>
                <a:r>
                  <a:rPr lang="zh-CN" altLang="en-US" sz="28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确认逆向柱排列</a:t>
                </a:r>
                <a:r>
                  <a:rPr lang="en-US" altLang="zh-CN" sz="28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)</a:t>
                </a:r>
              </a:p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zh-CN" altLang="en-US" sz="28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单柱下破</a:t>
                </a:r>
                <a:r>
                  <a:rPr lang="en-US" altLang="zh-CN" sz="28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WJA(</a:t>
                </a:r>
                <a:r>
                  <a:rPr lang="zh-CN" altLang="en-US" sz="28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已冲高</a:t>
                </a:r>
                <a:r>
                  <a:rPr lang="en-US" altLang="zh-CN" sz="28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)</a:t>
                </a:r>
              </a:p>
              <a:p>
                <a:endParaRPr lang="en-US" altLang="zh-CN" sz="28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endParaRPr lang="en-US" altLang="zh-CN" sz="28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endParaRPr lang="zh-CN" altLang="en-US" dirty="0"/>
              </a:p>
            </p:txBody>
          </p:sp>
        </mc:Choice>
        <mc:Fallback xmlns="">
          <p:sp>
            <p:nvSpPr>
              <p:cNvPr id="3" name="备注占位符 2">
                <a:extLst>
                  <a:ext uri="{FF2B5EF4-FFF2-40B4-BE49-F238E27FC236}">
                    <a16:creationId xmlns:a16="http://schemas.microsoft.com/office/drawing/2014/main" id="{347334A3-D3BF-6ED8-47FB-9CAF67CEE432}"/>
                  </a:ext>
                </a:extLst>
              </p:cNvPr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endParaRPr lang="en-US" altLang="zh-CN" sz="28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/>
                <a:r>
                  <a:rPr lang="zh-CN" altLang="en-US" sz="2800" b="1" i="0">
                    <a:latin typeface="Cambria Math" panose="02040503050406030204" pitchFamily="18" charset="0"/>
                    <a:ea typeface="微软雅黑" panose="020B0503020204020204" pitchFamily="34" charset="-122"/>
                  </a:rPr>
                  <a:t>止盈与止损</a:t>
                </a:r>
                <a:r>
                  <a:rPr lang="en-US" altLang="zh-CN" sz="2800" b="1" i="0">
                    <a:latin typeface="Cambria Math" panose="02040503050406030204" pitchFamily="18" charset="0"/>
                    <a:ea typeface="微软雅黑" panose="020B0503020204020204" pitchFamily="34" charset="-122"/>
                  </a:rPr>
                  <a:t>{■8(</a:t>
                </a:r>
                <a:r>
                  <a:rPr lang="zh-CN" altLang="en-US" sz="2800" b="1" i="0">
                    <a:latin typeface="Cambria Math" panose="02040503050406030204" pitchFamily="18" charset="0"/>
                    <a:ea typeface="微软雅黑" panose="020B0503020204020204" pitchFamily="34" charset="-122"/>
                  </a:rPr>
                  <a:t>止盈：𝑾𝑱𝑪𝑩𝑨多头且触哼@止损：底线是𝑾𝑿𝒁𝑪</a:t>
                </a:r>
                <a:r>
                  <a:rPr lang="en-US" altLang="zh-CN" sz="2800" b="1" i="0">
                    <a:latin typeface="Cambria Math" panose="02040503050406030204" pitchFamily="18" charset="0"/>
                    <a:ea typeface="微软雅黑" panose="020B0503020204020204" pitchFamily="34" charset="-122"/>
                  </a:rPr>
                  <a:t>&lt;</a:t>
                </a:r>
                <a:r>
                  <a:rPr lang="zh-CN" altLang="en-US" sz="2800" b="1" i="0">
                    <a:latin typeface="Cambria Math" panose="02040503050406030204" pitchFamily="18" charset="0"/>
                    <a:ea typeface="微软雅黑" panose="020B0503020204020204" pitchFamily="34" charset="-122"/>
                  </a:rPr>
                  <a:t>𝟎)}介于两者之间都属于</a:t>
                </a:r>
                <a:r>
                  <a:rPr lang="en-US" altLang="zh-CN" sz="2800" b="1" i="0">
                    <a:latin typeface="Cambria Math" panose="02040503050406030204" pitchFamily="18" charset="0"/>
                    <a:ea typeface="微软雅黑" panose="020B0503020204020204" pitchFamily="34" charset="-122"/>
                  </a:rPr>
                  <a:t>【</a:t>
                </a:r>
                <a:r>
                  <a:rPr lang="zh-CN" altLang="en-US" sz="2800" b="1" i="0">
                    <a:latin typeface="Cambria Math" panose="02040503050406030204" pitchFamily="18" charset="0"/>
                    <a:ea typeface="微软雅黑" panose="020B0503020204020204" pitchFamily="34" charset="-122"/>
                  </a:rPr>
                  <a:t>止盈</a:t>
                </a:r>
                <a:r>
                  <a:rPr lang="en-US" altLang="zh-CN" sz="2800" b="1" i="0">
                    <a:latin typeface="Cambria Math" panose="02040503050406030204" pitchFamily="18" charset="0"/>
                    <a:ea typeface="微软雅黑" panose="020B0503020204020204" pitchFamily="34" charset="-122"/>
                  </a:rPr>
                  <a:t>】   </a:t>
                </a:r>
                <a:endParaRPr lang="en-US" altLang="zh-CN" sz="2800" b="1" i="1" dirty="0">
                  <a:solidFill>
                    <a:srgbClr val="FF0000"/>
                  </a:solidFill>
                  <a:latin typeface="Cambria Math" panose="02040503050406030204" pitchFamily="18" charset="0"/>
                  <a:ea typeface="微软雅黑" panose="020B0503020204020204" pitchFamily="34" charset="-122"/>
                </a:endParaRPr>
              </a:p>
              <a:p>
                <a:r>
                  <a:rPr lang="zh-CN" altLang="en-US" sz="28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止盈方法包括：</a:t>
                </a:r>
                <a:endParaRPr lang="en-US" altLang="zh-CN" sz="28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zh-CN" altLang="en-US" sz="28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两柱下破</a:t>
                </a:r>
                <a:r>
                  <a:rPr lang="en-US" altLang="zh-CN" sz="28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WJA(</a:t>
                </a:r>
                <a:r>
                  <a:rPr lang="zh-CN" altLang="en-US" sz="28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确认逆向柱排列</a:t>
                </a:r>
                <a:r>
                  <a:rPr lang="en-US" altLang="zh-CN" sz="28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)</a:t>
                </a:r>
              </a:p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zh-CN" altLang="en-US" sz="28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单柱下破</a:t>
                </a:r>
                <a:r>
                  <a:rPr lang="en-US" altLang="zh-CN" sz="28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WJA(</a:t>
                </a:r>
                <a:r>
                  <a:rPr lang="zh-CN" altLang="en-US" sz="28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已冲高</a:t>
                </a:r>
                <a:r>
                  <a:rPr lang="en-US" altLang="zh-CN" sz="28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)</a:t>
                </a:r>
              </a:p>
              <a:p>
                <a:endParaRPr lang="en-US" altLang="zh-CN" sz="28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endParaRPr lang="en-US" altLang="zh-CN" sz="28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endParaRPr lang="zh-CN" altLang="en-US" dirty="0"/>
              </a:p>
            </p:txBody>
          </p:sp>
        </mc:Fallback>
      </mc:AlternateContent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57133AE-7C6C-7023-2DCD-745D82C5B56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83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83787341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94CF62-6000-CDB4-79AA-0EC46CB027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F2D6360D-437A-5418-62D1-2F73C511D8E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C931D092-D479-F62F-16B2-F1FDFBCB38B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15B16C4-0588-A912-24FE-77F59672FC5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84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89831807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2CF829-37A4-0625-F04F-D596842C9D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29A07478-847C-D0F1-F646-5BDB9BC272E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CB32F3EA-720E-AE72-FEDE-9E4ADA7A69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【WJC</a:t>
            </a:r>
            <a:r>
              <a:rPr lang="zh-CN" altLang="en-US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生命周期完全划分</a:t>
            </a:r>
            <a:r>
              <a:rPr lang="en-US" altLang="zh-CN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周线确定下周是否可能冲高；日类走势仅用于确定介入点（判断对就减至底仓；错就按周规则操作。）</a:t>
            </a:r>
            <a:endParaRPr lang="en-US" altLang="zh-CN" sz="900" b="1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之上部分：</a:t>
            </a:r>
            <a:r>
              <a:rPr lang="zh-CN" altLang="en-US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按照特征完整划分为生命周期，确定各位置的特征与走势期望。</a:t>
            </a:r>
            <a:endParaRPr lang="en-US" altLang="zh-CN" sz="9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之下部分：</a:t>
            </a:r>
            <a:r>
              <a:rPr lang="zh-CN" altLang="en-US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因为存在较多骗线情况，所以不要遵照镜像原理，完全仿照</a:t>
            </a:r>
            <a:r>
              <a:rPr lang="en-US" altLang="zh-CN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之上部分的生命周期。而应以</a:t>
            </a:r>
            <a:r>
              <a:rPr lang="en-US" altLang="zh-CN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作为准入基本条件，</a:t>
            </a:r>
            <a:r>
              <a:rPr lang="en-US" altLang="zh-CN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之下部分走势仅作参考。</a:t>
            </a:r>
            <a:endParaRPr lang="en-US" altLang="zh-CN" sz="9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46904078-42D4-F39F-FDAD-1F60AE3BED4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85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75786824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2A007F-F33F-297C-2395-37D6F121C0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B3D9C268-7F15-CEB7-0C75-07508E99F4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A1545303-DC68-F2E0-C8A0-ABE9F2B0CAD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日类操盘方法：</a:t>
            </a:r>
            <a:endParaRPr lang="en-US" altLang="zh-CN" sz="11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原策略（</a:t>
            </a:r>
            <a:r>
              <a:rPr lang="en-US" altLang="zh-CN" sz="11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202410</a:t>
            </a:r>
            <a:r>
              <a:rPr lang="zh-CN" altLang="en-US" sz="11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已放弃）：</a:t>
            </a:r>
            <a:endParaRPr lang="en-US" altLang="zh-CN" sz="1100" b="1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原策略内容：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DJEDC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之上进入后，选择触顶（日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a/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）不选触哼。排除冲高（管宽＞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进行预警；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BSHA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进行止盈；其余不退出）。破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止浮仓；破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退出。</a:t>
            </a:r>
            <a:endParaRPr lang="en-US" altLang="zh-CN" sz="1100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原策略缺点：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周触顶必然同时日触顶，但日触顶未必周触顶</a:t>
            </a:r>
            <a:r>
              <a:rPr lang="zh-CN" altLang="en-US" sz="110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。主升过程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主要集中于周触顶链区域，仅按日触顶筛选会错过周触顶链中的捡漏，同时引入大量日触顶假信号。</a:t>
            </a:r>
            <a:endParaRPr lang="en-US" altLang="zh-CN" sz="1100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新策略（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202411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已上线）：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核心思想是在周类操盘方法基础上提供精细化日类操盘方法（不要针对日类另起炉灶）。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dirty="0"/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837398AC-DF05-829F-A60F-B34C720C56E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86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28671477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94B5A0-32A8-5022-8A66-22F0D064CC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4A4D4F9B-7703-C606-C751-739061DA0D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39977E6B-DE0D-3ABC-7DB4-5408AFA4AB9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EF4CD3A-214B-0777-88F2-2D9A6AFD804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88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08156441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9B6797-FAB8-43D3-C7F6-B540551168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43DD6BE9-4CD7-D30B-917B-C85EA9DB4C5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F8DE1FFB-9A00-A3BE-A6EC-010289C3114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4986E05-A83D-D21C-4873-73FE37B68FA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89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47848448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3EC8B1-5D47-E89A-565F-47EC53B118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14EA329A-ABE8-5226-6C3B-88EF406B5A9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9062758D-C9AF-8636-D65A-243CD9365D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97296E41-FB66-088D-F230-BD98BF6AFC7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91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81318074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E00EED-5627-9E8B-B20D-62717C6E34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B29721A4-A475-E458-045D-9F2127529F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74C94ABE-27ED-E353-C36A-6D672C20B18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8FDBB5B4-4E52-0643-7C2E-8D72AF972CB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92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32385269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891950-96C2-D360-FCD8-A7DEBC44F6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FD39A82-4DDC-F877-E338-51717EF0465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DE8DB11C-EF40-59FB-B0DB-903BA8BAEB9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A89C73C-B145-580F-E2B2-C0FB41745BF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93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1131203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94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97205634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95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0202367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ABBFA9-86B3-8E7E-5517-AADF61E5ED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E7817C6-B178-2254-8014-3ED05F039B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09836F56-B77D-9521-DC42-06F34B9FF7B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30A6E34-9DE3-143A-5AAF-63E4BD5215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97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2742368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0386F3-0A1B-E457-6E4C-639185F11C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2C5FD2B6-3E30-4C4B-1616-439B8236CA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D9EE3D4E-88E9-EBCA-113F-114C0DB3A1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AB0AE9C-A9BC-154E-0B8E-19365FA86FB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98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75369521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0ADCF2-0F05-F5AE-19EF-034E65B1DF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D8170BDB-F829-90FA-86F1-0811B2F634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90A83B65-B60E-BB8D-7833-1714A77128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33539A9-0332-B554-EEEC-070E7B023FE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99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44647976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ED9EB8-3C4F-54B0-103C-02E3C7CC45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D8480422-F31D-FCC4-4BAC-6896AEB879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55F60C6C-A1FC-5416-2D94-DA21B41048F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6FFFEC2-0047-02EB-9C5C-7DDBC1F3C2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100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58450047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zh-CN" altLang="en-US" dirty="0"/>
          </a:p>
          <a:p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101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75360772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26DB83-0B0B-5D9C-4672-6D42878279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06C32956-66CD-BB61-028B-033596AF56C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B502A80F-734E-695B-7442-3ECF78F1E35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全局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操盘方法梳理与统一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各种操盘方法单独运行良好，但相互之间会有冲突⇒须仿照右手法则走出迷宫，先罗列各种方法，以及可能的冲突，确定单一操盘方法或最有效的操盘方法。</a:t>
            </a:r>
            <a:endParaRPr lang="en-US" altLang="zh-CN" sz="12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12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7B109C4-97DB-2C5A-20E6-94955DA8EB1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102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53321221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104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52074651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105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38660852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106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31589258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小管可分为：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触管：顶管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哼管。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哼≥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-2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（储）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顶≥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-2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（初主再）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柱管：〇管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芽管</a:t>
            </a:r>
          </a:p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触管脱离方式有四种：</a:t>
            </a:r>
          </a:p>
          <a:p>
            <a:pPr lvl="1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①止盈：高宽连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且触顶哼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  <a:p>
            <a:pPr lvl="1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②柱排非升排：跌排或人排判定。</a:t>
            </a:r>
          </a:p>
          <a:p>
            <a:pPr lvl="1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③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&lt;-2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：转为柱管〇管。</a:t>
            </a:r>
          </a:p>
          <a:p>
            <a:pPr lvl="1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④下破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：转为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之下。首下破为机，但已退出管。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触管正确使用方式：依赖触管只能用于触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止盈卖出，而不能在其他脱管方式卖出。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触管错误使用陷阱：为何会在触管脱管时尝试卖出？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因为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WXBC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具有趋势效应，在上可持，在下则须退出。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当脱离触管时，仍处于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WXBC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之上，仍然处于长期趋势，完全可能再次上升，从而可在下跌时捡漏。所以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触管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只能用于止盈退出，而不能在其他脱离触管方式卖出。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当不符合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触管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柱排为升排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)⇒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即针对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触管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柱排为跌排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人排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)⇒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应使用反向思维捡漏</a:t>
            </a:r>
          </a:p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判定检漏位置：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需要日线已抬头向上，不能仅靠周线出现小失误就尝试介入。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触管内：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柱排非升排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〇管内：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107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11296877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9226DF-A682-CDD4-39E9-F41A44A2DA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17110002-600C-7F7B-7801-9D402E932D3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4C140236-6B46-FDB9-144C-5A2844EB5FC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9F63F9F6-64AE-62F7-EBFD-C9E649A1F7B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108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56681552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109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8257588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43225670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39AF35-B99C-AC4A-49B9-99BF012F66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1A9E3436-4DFB-6C16-DB38-0AC73C8CED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8301159B-F4A9-BF2B-5076-27408809977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09F57E9-0C43-70FA-7FFD-15DC4AB01B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93355101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21B8CE-BEFA-1815-7300-879F6CB8F6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E0C80481-411B-8EEA-3FEC-6D123D3DD91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E695329F-FB66-4F8E-AFCC-650D2C77271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Font typeface="Arial" panose="020B0604020202020204" pitchFamily="34" charset="0"/>
              <a:buNone/>
            </a:pP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【20250523】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日类操作规则：</a:t>
            </a:r>
            <a:r>
              <a:rPr lang="zh-CN" altLang="en-US" sz="14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日类优化仅限于止盈而非止损。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）为操作核心依据，其他护线仅为增强信心，不可用作止损依据。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日类须遵从周类操作要点：</a:t>
            </a:r>
            <a:endParaRPr lang="en-US" altLang="zh-CN" sz="10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止损：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与周类算法保持一致：破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退出（日类可优化为破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DJD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退出）；破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双柱退出。例外，对于冲高情况，可在下破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处提前退出，退出理由是基于以下理念，冲高时应卖出而未卖，此时随经历一定回撤但仍应作为止盈处理。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介入：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WXAB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正交；上破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双柱。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辅助护线的级别与作用：</a:t>
            </a:r>
            <a:endParaRPr lang="en-US" altLang="zh-CN" sz="10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WXAB</a:t>
            </a:r>
            <a:r>
              <a:rPr lang="zh-CN" altLang="en-US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DXCD</a:t>
            </a:r>
            <a:r>
              <a:rPr lang="zh-CN" altLang="en-US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）地位：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操作规则的核心龙骨。其他辅助护线只可增强信心，不可用作止损线。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DXBC/DXAB</a:t>
            </a:r>
            <a:r>
              <a:rPr lang="zh-CN" altLang="en-US" sz="10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护线作用：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坚决不能作为止损依据；满足（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DJD-DJC-DJB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）多头排列时增强信心；不满足多头排列时仅警示不止损，且仅按照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DXCD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进行操作。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）操作规则：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负交：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由于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DJBCD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不是多头排列，所以只按照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操作，而不需要参考其他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护线。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zh-CN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DXZD</a:t>
            </a:r>
            <a:r>
              <a:rPr lang="zh-CN" altLang="en-US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。可在上破</a:t>
            </a:r>
            <a:r>
              <a:rPr lang="en-US" altLang="zh-CN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试仓。一定要有把握即将形成</a:t>
            </a:r>
            <a:r>
              <a:rPr lang="en-US" altLang="zh-CN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正交，而不应只要站上</a:t>
            </a:r>
            <a:r>
              <a:rPr lang="en-US" altLang="zh-CN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就介入。交易依据是赌</a:t>
            </a:r>
            <a:r>
              <a:rPr lang="en-US" altLang="zh-CN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正交，如果失败导致下破</a:t>
            </a:r>
            <a:r>
              <a:rPr lang="en-US" altLang="zh-CN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要退出。</a:t>
            </a:r>
            <a:endParaRPr lang="en-US" altLang="zh-CN" sz="14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DXZD</a:t>
            </a:r>
            <a:r>
              <a:rPr lang="zh-CN" altLang="en-US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DXZC</a:t>
            </a:r>
            <a:r>
              <a:rPr lang="zh-CN" altLang="en-US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。不可持有。</a:t>
            </a:r>
            <a:endParaRPr lang="en-US" altLang="zh-CN" sz="14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</a:t>
            </a:r>
            <a:r>
              <a:rPr lang="zh-CN" altLang="en-US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。不可持有。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正交：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首先需要防止偏离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过大，相当于周级别柱偏离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太大，如果偏离太大则需要止盈。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正交：坚决不应作为止损依据，只能用于增强操作信息。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DXZB&gt;0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：此时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DJBCD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多头排列，可以利用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DXBC&gt;0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且在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之上，增强对于操作区域的信心（因为此时在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之上，也就是在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之上，也就是在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）之上）。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000250" lvl="4" indent="-171450">
              <a:buFont typeface="Arial" panose="020B0604020202020204" pitchFamily="34" charset="0"/>
              <a:buChar char="•"/>
            </a:pP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之上，昨买今卖。任何形态都可能转变为阳柱，存在下柱冲高的机会。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000250" lvl="4" indent="-171450">
              <a:buFont typeface="Arial" panose="020B0604020202020204" pitchFamily="34" charset="0"/>
              <a:buChar char="•"/>
            </a:pP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之上：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457450" lvl="5" indent="-171450">
              <a:buFont typeface="Arial" panose="020B0604020202020204" pitchFamily="34" charset="0"/>
              <a:buChar char="•"/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中符为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柱可以仿照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之上进行操作，昨买今卖。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457450" lvl="5" indent="-171450">
              <a:buFont typeface="Arial" panose="020B0604020202020204" pitchFamily="34" charset="0"/>
              <a:buChar char="•"/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被动持有，等待上破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择机卖出。要准备长期持有，不要在周类止损线之上的其他条件退出。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DXZB&lt;0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：不应将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作为替代周类止损的依据，周类止损只能是（下破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，可替代为下破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）或（下破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双柱）。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000250" lvl="4" indent="-171450">
              <a:buFont typeface="Arial" panose="020B0604020202020204" pitchFamily="34" charset="0"/>
              <a:buChar char="•"/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后，只可被动持有，不可主动介入。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000250" marR="0" lvl="4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后，只可被动持有，不可主动介入。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000250" lvl="4" indent="-171450">
              <a:buFont typeface="Arial" panose="020B0604020202020204" pitchFamily="34" charset="0"/>
              <a:buChar char="•"/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后，可用于替代周类止损条件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，一旦下破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可立刻退出。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负交：此时不满足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DJBCD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多头排列，应只按照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操作，而无需参考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护线。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AD66F5B-7272-2AA5-2DD2-656060B55C3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33489052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4DE6C1-5938-6C81-6C25-6B94A36557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80F50D29-A65C-CC08-7062-A680AD87D43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E4DD1921-7089-FC14-3740-D47A5C63A0B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日类操盘方法：</a:t>
            </a:r>
            <a:endParaRPr lang="en-US" altLang="zh-CN" sz="11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原策略（</a:t>
            </a:r>
            <a:r>
              <a:rPr lang="en-US" altLang="zh-CN" sz="11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202410</a:t>
            </a:r>
            <a:r>
              <a:rPr lang="zh-CN" altLang="en-US" sz="11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已放弃）：</a:t>
            </a:r>
            <a:endParaRPr lang="en-US" altLang="zh-CN" sz="1100" b="1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原策略内容：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DJEDC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之上进入后，选择触顶（日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a/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）不选触哼。排除冲高（管宽＞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进行预警；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BSHA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进行止盈；其余不退出）。破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止浮仓；破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退出。</a:t>
            </a:r>
            <a:endParaRPr lang="en-US" altLang="zh-CN" sz="1100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原策略缺点：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周触顶必然同时日触顶，但日触顶未必周触顶</a:t>
            </a:r>
            <a:r>
              <a:rPr lang="zh-CN" altLang="en-US" sz="110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。主升过程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主要集中于周触顶链区域，仅按日触顶筛选会错过周触顶链中的捡漏，同时引入大量日触顶假信号。</a:t>
            </a:r>
            <a:endParaRPr lang="en-US" altLang="zh-CN" sz="1100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新策略（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202411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已上线）：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核心思想是在周类操盘方法基础上提供精细化日类操盘方法（不要针对日类另起炉灶）。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dirty="0"/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2DC04FF-3A58-FF98-9F71-E776348495C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49862912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7B19E7-5ED8-CB64-9832-86D67BB2BB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83181CBD-2003-1587-AD49-B07DAE5F26D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6DF1D68F-52A3-2D84-3FB7-4774E6CF18D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8DE41B6-5F37-92AF-6ADB-2C95985D058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35689987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62A716-A31B-F7D9-B955-52CF616D3B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D0F1C6AE-1544-611A-2A49-439653C65AB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F248CD94-F092-750A-DF1A-1B7F3A82282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612F6DC-1D51-3B73-41CC-AA6488051AB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46647470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E923A4-95BD-2AF4-3D73-BEC20058E7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D26E04CC-D86D-241E-C6AE-D4CC072D8F4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AE9C46CA-51A0-7467-163E-A641173E111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此页仅用来比较必胜算法（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丘）（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丘）（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DJE&amp;DJC&amp;DJB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丘），如果再进行止盈优化，则情况过多无法比较。不要移动到其他章节。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A1A82EC-33F8-7939-3D57-4538248BEF7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95664131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D7737E-E229-0409-DDDC-F039609206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310021A3-61EB-EC8E-7F84-793ED71D784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C75B335B-DFA9-1C16-3955-8884CA9E972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日类操盘方法：</a:t>
            </a:r>
            <a:endParaRPr lang="en-US" altLang="zh-CN" sz="11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原策略（</a:t>
            </a:r>
            <a:r>
              <a:rPr lang="en-US" altLang="zh-CN" sz="11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202410</a:t>
            </a:r>
            <a:r>
              <a:rPr lang="zh-CN" altLang="en-US" sz="11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已放弃）：</a:t>
            </a:r>
            <a:endParaRPr lang="en-US" altLang="zh-CN" sz="1100" b="1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原策略内容：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DJEDC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之上进入后，选择触顶（日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a/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）不选触哼。排除冲高（管宽＞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进行预警；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BSHA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进行止盈；其余不退出）。破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止浮仓；破</a:t>
            </a:r>
            <a:r>
              <a:rPr lang="en-US" altLang="zh-CN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退出。</a:t>
            </a:r>
            <a:endParaRPr lang="en-US" altLang="zh-CN" sz="1100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原策略缺点：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周触顶必然同时日触顶，但日触顶未必周触顶</a:t>
            </a:r>
            <a:r>
              <a:rPr lang="zh-CN" altLang="en-US" sz="110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。主升过程</a:t>
            </a:r>
            <a:r>
              <a:rPr lang="zh-CN" altLang="en-US" sz="11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主要集中于周触顶链区域，仅按日触顶筛选会错过周触顶链中的捡漏，同时引入大量日触顶假信号。</a:t>
            </a:r>
            <a:endParaRPr lang="en-US" altLang="zh-CN" sz="1100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新策略（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202411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已上线）：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核心思想是在周类操盘方法基础上提供精细化日类操盘方法（不要针对日类另起炉灶）。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dirty="0"/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CA59E2C-507E-126A-A8E6-78A780A57E1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78983792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06BE0E-8669-F170-D001-40714AC22C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39D64054-8ACC-7F85-8A9E-64CB78453D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97B6428B-EA4D-DEB5-413B-6760D029DD0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l" rtl="0" eaLnBrk="1" latinLnBrk="0" hangingPunct="1"/>
            <a:r>
              <a:rPr lang="zh-CN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日类核心是</a:t>
            </a:r>
            <a:r>
              <a:rPr lang="en-US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DJC</a:t>
            </a:r>
            <a:r>
              <a:rPr lang="zh-CN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丘</a:t>
            </a:r>
            <a:endParaRPr lang="zh-CN" altLang="zh-CN" dirty="0">
              <a:effectLst/>
            </a:endParaRPr>
          </a:p>
          <a:p>
            <a:pPr marL="0" algn="l" rtl="0" eaLnBrk="1" latinLnBrk="0" hangingPunct="1"/>
            <a:r>
              <a:rPr lang="zh-CN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在</a:t>
            </a:r>
            <a:r>
              <a:rPr lang="en-US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DJC</a:t>
            </a:r>
            <a:r>
              <a:rPr lang="zh-CN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之上针对日层：进入点为层储</a:t>
            </a:r>
            <a:r>
              <a:rPr lang="en-US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&amp;</a:t>
            </a:r>
            <a:r>
              <a:rPr lang="zh-CN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层初；层再需谨防围绕</a:t>
            </a:r>
            <a:r>
              <a:rPr lang="en-US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DJB</a:t>
            </a:r>
            <a:r>
              <a:rPr lang="zh-CN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震荡；触顶为异常情况，应在回落破</a:t>
            </a:r>
            <a:r>
              <a:rPr lang="en-US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DJA</a:t>
            </a:r>
            <a:r>
              <a:rPr lang="zh-CN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时止盈浮仓。</a:t>
            </a:r>
            <a:endParaRPr lang="zh-CN" altLang="zh-CN" dirty="0">
              <a:effectLst/>
            </a:endParaRPr>
          </a:p>
          <a:p>
            <a:pPr marL="173736" indent="-173736" algn="l" rtl="0" eaLnBrk="1" latinLnBrk="0" hangingPunct="1"/>
            <a:r>
              <a:rPr lang="zh-CN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当处于</a:t>
            </a:r>
            <a:r>
              <a:rPr lang="en-US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(</a:t>
            </a:r>
            <a:r>
              <a:rPr lang="zh-CN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顶</a:t>
            </a:r>
            <a:r>
              <a:rPr lang="en-US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,JA)</a:t>
            </a:r>
            <a:r>
              <a:rPr lang="zh-CN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管中：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当</a:t>
            </a:r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DJCBA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多头排列，在</a:t>
            </a:r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JA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之上无论涨跌都代表远离</a:t>
            </a:r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JC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。</a:t>
            </a:r>
            <a:endParaRPr lang="zh-CN" altLang="zh-CN" dirty="0">
              <a:effectLst/>
            </a:endParaRPr>
          </a:p>
          <a:p>
            <a:pPr marL="630936" indent="-173736" algn="l" rtl="0" eaLnBrk="1" latinLnBrk="0" hangingPunct="1"/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跌排失效，下跌后更加靠近</a:t>
            </a:r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JA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，仍然</a:t>
            </a:r>
            <a:r>
              <a:rPr lang="zh-CN" altLang="zh-CN" sz="1800" kern="120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预示上升，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未下破</a:t>
            </a:r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JA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都是机会。特别当</a:t>
            </a:r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(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哼</a:t>
            </a:r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,JA)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较小时，跌后就是买入机会。</a:t>
            </a:r>
            <a:endParaRPr lang="zh-CN" altLang="zh-CN" dirty="0">
              <a:effectLst/>
            </a:endParaRPr>
          </a:p>
          <a:p>
            <a:pPr marL="630936" indent="-173736" algn="l" rtl="0" eaLnBrk="1" latinLnBrk="0" hangingPunct="1"/>
            <a:r>
              <a:rPr lang="zh-CN" altLang="zh-CN" sz="1800" kern="120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升排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有效。根据是否触顶进行分类。</a:t>
            </a:r>
            <a:endParaRPr lang="zh-CN" altLang="zh-CN" dirty="0">
              <a:effectLst/>
            </a:endParaRPr>
          </a:p>
          <a:p>
            <a:pPr marL="1088136" indent="-173736" algn="l" rtl="0" eaLnBrk="1" latinLnBrk="0" hangingPunct="1"/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触</a:t>
            </a:r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a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：创新高推高顶。策略是高入高出。</a:t>
            </a:r>
            <a:endParaRPr lang="zh-CN" altLang="zh-CN" dirty="0">
              <a:effectLst/>
            </a:endParaRPr>
          </a:p>
          <a:p>
            <a:pPr marL="1088136" indent="-173736" algn="l" rtl="0" eaLnBrk="1" latinLnBrk="0" hangingPunct="1"/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触</a:t>
            </a:r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b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：仍</a:t>
            </a:r>
            <a:r>
              <a:rPr lang="zh-CN" altLang="zh-CN" sz="1800" kern="120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具有上升动能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，排除冲高情况。</a:t>
            </a:r>
            <a:endParaRPr lang="zh-CN" altLang="zh-CN" dirty="0">
              <a:effectLst/>
            </a:endParaRPr>
          </a:p>
          <a:p>
            <a:pPr marL="1088136" indent="-173736" algn="l" rtl="0" eaLnBrk="1" latinLnBrk="0" hangingPunct="1"/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未触：上穿</a:t>
            </a:r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JA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，首鼎，继鼎。盈利区间为从</a:t>
            </a:r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JA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到顶，策略是</a:t>
            </a:r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JA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下入上出。</a:t>
            </a:r>
            <a:endParaRPr lang="zh-CN" altLang="zh-CN" dirty="0">
              <a:effectLst/>
            </a:endParaRPr>
          </a:p>
          <a:p>
            <a:pPr marL="173736" indent="-173736" algn="l" rtl="0" eaLnBrk="1" latinLnBrk="0" hangingPunct="1"/>
            <a:r>
              <a:rPr lang="zh-CN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当处于</a:t>
            </a:r>
            <a:r>
              <a:rPr lang="en-US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(JA,JB)</a:t>
            </a:r>
            <a:r>
              <a:rPr lang="zh-CN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之间时：</a:t>
            </a:r>
            <a:endParaRPr lang="zh-CN" altLang="zh-CN" dirty="0">
              <a:effectLst/>
            </a:endParaRPr>
          </a:p>
          <a:p>
            <a:pPr marL="630936" indent="-173736" algn="l" rtl="0" eaLnBrk="1" latinLnBrk="0" hangingPunct="1"/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D2e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首下破（薡）：看能否快速恢复站上</a:t>
            </a:r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JA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。</a:t>
            </a:r>
            <a:endParaRPr lang="zh-CN" altLang="zh-CN" dirty="0">
              <a:effectLst/>
            </a:endParaRPr>
          </a:p>
          <a:p>
            <a:pPr marL="630936" indent="-173736" algn="l" rtl="0" eaLnBrk="1" latinLnBrk="0" hangingPunct="1"/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在</a:t>
            </a:r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JA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与</a:t>
            </a:r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JB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间盘整：是否破坏下跌柱排（</a:t>
            </a:r>
            <a:r>
              <a:rPr lang="en-US" altLang="zh-CN" sz="1800" kern="1200" err="1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eg</a:t>
            </a:r>
            <a:r>
              <a:rPr lang="en-US" altLang="zh-CN" sz="1800" kern="120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.</a:t>
            </a:r>
            <a:r>
              <a:rPr lang="zh-CN" altLang="zh-CN" sz="1800" kern="120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升吞、升连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）</a:t>
            </a:r>
            <a:endParaRPr lang="zh-CN" altLang="zh-CN" dirty="0">
              <a:effectLst/>
            </a:endParaRPr>
          </a:p>
          <a:p>
            <a:pPr marL="173736" indent="-173736" algn="l" rtl="0" eaLnBrk="1" latinLnBrk="0" hangingPunct="1"/>
            <a:r>
              <a:rPr lang="zh-CN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当处于</a:t>
            </a:r>
            <a:r>
              <a:rPr lang="en-US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(JB,JC)</a:t>
            </a:r>
            <a:r>
              <a:rPr lang="zh-CN" altLang="zh-CN" sz="1800" b="1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之间时：</a:t>
            </a:r>
            <a:endParaRPr lang="zh-CN" altLang="zh-CN" dirty="0">
              <a:effectLst/>
            </a:endParaRPr>
          </a:p>
          <a:p>
            <a:pPr marL="630936" indent="-173736" algn="l" rtl="0" eaLnBrk="1" latinLnBrk="0" hangingPunct="1"/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为出货区，一旦出现反弹可以先退出，等待站上</a:t>
            </a:r>
            <a:r>
              <a:rPr lang="en-US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DJB</a:t>
            </a:r>
            <a:r>
              <a:rPr lang="zh-CN" altLang="zh-CN" sz="1800" kern="1200" dirty="0">
                <a:solidFill>
                  <a:srgbClr val="0D0D0D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后再考虑是否进入。</a:t>
            </a:r>
            <a:endParaRPr lang="zh-CN" altLang="zh-CN" dirty="0">
              <a:effectLst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F1C8941B-9135-0F42-C78D-2927B4BA670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55073923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81E74E-2025-67EF-9143-D5B20C9009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77F78115-4D8F-C930-A947-A1A2C2270F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618DD704-FAC6-071A-2DD0-767F8386E3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日级别稳升状态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】VBA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实现：</a:t>
            </a: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标注状态：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符（√）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漏（〇）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否（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×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）。</a:t>
            </a: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CD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＞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ZC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＞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且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ZD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＞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 √ （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/1w/1b/2cde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）〇（大于二均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/1v/2I/2i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）〇（大于一均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/3h/3u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）〇（小于二均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/3v/3w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</a:t>
            </a: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ZC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＜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且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ZD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＞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：〇（大于二均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/6w/6v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</a:t>
            </a: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ZD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＜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 ×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CD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＜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</a:t>
            </a: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ZD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＞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且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ZC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＞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：〇周√日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〇周〇日</a:t>
            </a: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ZD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＜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且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ZC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＞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×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周√日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 ×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周〇日</a:t>
            </a: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ZC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＜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×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周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×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日</a:t>
            </a: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ZE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＞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且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CE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＞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：正常。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 ZE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＞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且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CE&lt;0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：月诱。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 ZE&lt;0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且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CE&gt;0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：月弃。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 ZE&lt;0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且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CE&lt;0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：月否。</a:t>
            </a: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统计时长：符合稳升状态的时间。以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min(DTCD,DTZC,DTAB)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代表。</a:t>
            </a: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存档：稳升状态的原始版本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周级别稳升状态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总结主升阶段的特征，从基本特征出发，制定周级别持仓策略，特别是针对下周冲高策略。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主升阶段必然正确的特征：只要主升阶段维持足够长时间，必然形成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多头排列。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明确主升趋势中的非普通现象：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趋势由长期均线确定。无法通过以下细节确定趋势是否结束：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柱组合、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柱与均线关系、低级均线的关系。因为周级别都无法确定趋势结束，所以日级别更不能提前确认。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作为硬性条件，最基本要求。 只要柱站上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，就可以介入。当然应避免特殊情况：底部震荡、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未正交、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未正交、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WXZB&lt;0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多头是最终状态。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当在巨阳或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久应卖出：对于未冲高情况，升排等待冲高；人排或跌排需要甄别是否已经逆转。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：如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久可能转为震荡，等待站上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两柱以上或回踩以后再介入。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：不主动介入，等待站上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再次介入。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犹如慈母，不是趋势性均线，与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不是同一性质。突破规律：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突破一般不会反复；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突破遵循“远离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纠缠依附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弹回远离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再纠缠依附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频繁贯穿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反向远离”。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WXAB&lt;0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：等待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再次转为多头排列时再介入。所以，不要在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w3h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进入，而要等待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w2I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或即将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正交时进入。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底仓持有策略：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之上持有，下破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且下破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两柱可暂时退出。执行该策略的注意事项包括：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依据此策略，在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之上，如当周突破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或多柱在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之上时，且日线出现多头排列，可以按此策略壮胆买入底层。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依据此策略，在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之上已上升较多，可以（坚定持有信心）或（坚定介入胆量）。如有巨阳冲高也应止盈。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依据此策略，在下破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后止跌或再次上破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时，介入。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不要依据此策略，在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之上出现冲高巨阳或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久后，不及时止盈减仓。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不要依据此策略，在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之上出现冲高回落时，不退出，以此策略进行心理安慰。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不要依据此策略，在下破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后出现跌排，不退出，以此策略作为侥幸心理。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待解决难题：如何在坚持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丘策略的同时，兼顾日类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/DJB/DJA/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柱排等低阶信息？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=====》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转为依靠日级别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稳升状态操作法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为准。</a:t>
            </a: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BFB143A-0EB9-CEBC-422E-A456F09EF9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97911663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周级别元素影响趋势能力：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：决定长期趋势。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：应用于正式止损。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：可用于提前止盈。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：只用于止盈。不作为仓位决定因素。</a:t>
            </a:r>
            <a:endParaRPr lang="en-US" altLang="zh-CN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柱排列：依赖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并符：针对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柱在均线单侧长期运行。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顶型：针对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柱排列均匀有效。忽大忽小无效。</a:t>
            </a:r>
            <a:endParaRPr lang="en-US" altLang="zh-CN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运动特征：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①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柱围绕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波动。</a:t>
            </a:r>
          </a:p>
          <a:p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②两阶段</a:t>
            </a:r>
            <a:r>
              <a: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rPr>
              <a:t>：主升与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震荡</a:t>
            </a:r>
            <a:r>
              <a: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rPr>
              <a:t>。主升后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会围绕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WJA/WJB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震荡扰动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无趋势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③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要将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作为界线。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之下：仅在突破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之后，看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柱排列是否小碎步三柱以上。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之上：看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柱排列。至少下破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二柱以上。</a:t>
            </a:r>
          </a:p>
          <a:p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④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柱排列。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柱在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单侧运行：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单柱贯穿不构成换侧信号，须等待至少整柱出现在另一侧。</a:t>
            </a:r>
          </a:p>
          <a:p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⑤运动方向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左右运动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上下运动：是否大幅偏离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WJA⇒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是否止盈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17228280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88654136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9DE5F9-7972-4291-CA6D-358352117F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0310F045-52C1-8DF8-5194-48067C7DC5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39883E10-5073-0CEE-C6E3-10ACF4BF2F2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1814657-D32B-9880-3A68-1A1150243D6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70824138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089A47-FE75-1CB5-5299-590AB48AAD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DB3923CE-C0D4-E115-ECE2-6994E5522DA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05CEA4A0-379A-856C-BDC0-4FA95DF4D9E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防势向攻势的转变过程：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根据劫的不同级别确定需要几个柱才能恢复涨势：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劫：单柱站上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就可入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劫：至少两柱站上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劫：很可能诱多，即使已经转为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DJABC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多头排列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后恢复的不同程度：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之下）跌排中的升孕或反复出现升孕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之下）跌排转为人排：可能是下跌中继。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之下）价上均：可能是诱多。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（上破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）单柱：首柱不可靠。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（上破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）两柱以上：最好是跌孕。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之上）触哼：看柱排，最好升排小碎步。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之上）触顶：合顶代表进入主升，但可能会有波动。</a:t>
            </a: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37540E34-2670-36C3-C344-FA62077CD1A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3732876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73FE52-C5F1-A7B1-3364-505177394D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D9766467-486D-E306-EB51-D0481F5E05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DCB5528A-463D-0E7E-6259-CE96BE62063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F929EE4-255E-6F2F-AD15-C141E5C7745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36625309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91573456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355039-B3E6-F5C2-C0ED-EC304F1BC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C0244C9A-EA10-067B-39BE-C2C825139B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39738" y="1252538"/>
            <a:ext cx="6008687" cy="3381375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D913CAF8-561A-56F2-6002-2981A00F3D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C132436-EEC9-C951-019E-73D266D71E4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23A6E84-D9E0-4A19-9985-F3FD80E31C31}" type="slidenum">
              <a:rPr lang="zh-CN" altLang="en-US" smtClean="0"/>
              <a:t>128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7654763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E214F6-445B-4376-B00F-7206156BD6B3}" type="datetimeFigureOut">
              <a:rPr lang="zh-CN" altLang="en-US" smtClean="0"/>
              <a:t>2026/7/20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0EB11BC-968B-4019-86B6-2EC4C9C2507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1228999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E214F6-445B-4376-B00F-7206156BD6B3}" type="datetimeFigureOut">
              <a:rPr lang="zh-CN" altLang="en-US" smtClean="0"/>
              <a:t>2026/7/20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0EB11BC-968B-4019-86B6-2EC4C9C2507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3195169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E214F6-445B-4376-B00F-7206156BD6B3}" type="datetimeFigureOut">
              <a:rPr lang="zh-CN" altLang="en-US" smtClean="0"/>
              <a:t>2026/7/20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0EB11BC-968B-4019-86B6-2EC4C9C2507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8745172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E214F6-445B-4376-B00F-7206156BD6B3}" type="datetimeFigureOut">
              <a:rPr lang="zh-CN" altLang="en-US" smtClean="0"/>
              <a:t>2026/7/20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0EB11BC-968B-4019-86B6-2EC4C9C2507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1068021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E214F6-445B-4376-B00F-7206156BD6B3}" type="datetimeFigureOut">
              <a:rPr lang="zh-CN" altLang="en-US" smtClean="0"/>
              <a:t>2026/7/20</a:t>
            </a:fld>
            <a:endParaRPr lang="zh-CN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0EB11BC-968B-4019-86B6-2EC4C9C2507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4610811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E214F6-445B-4376-B00F-7206156BD6B3}" type="datetimeFigureOut">
              <a:rPr lang="zh-CN" altLang="en-US" smtClean="0"/>
              <a:t>2026/7/20</a:t>
            </a:fld>
            <a:endParaRPr lang="zh-CN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0EB11BC-968B-4019-86B6-2EC4C9C2507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8119401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E214F6-445B-4376-B00F-7206156BD6B3}" type="datetimeFigureOut">
              <a:rPr lang="zh-CN" altLang="en-US" smtClean="0"/>
              <a:t>2026/7/20</a:t>
            </a:fld>
            <a:endParaRPr lang="zh-CN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0EB11BC-968B-4019-86B6-2EC4C9C2507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0663073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E214F6-445B-4376-B00F-7206156BD6B3}" type="datetimeFigureOut">
              <a:rPr lang="zh-CN" altLang="en-US" smtClean="0"/>
              <a:t>2026/7/20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0EB11BC-968B-4019-86B6-2EC4C9C2507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5448505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CN" altLang="en-US"/>
              <a:t>单击图标添加图片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E214F6-445B-4376-B00F-7206156BD6B3}" type="datetimeFigureOut">
              <a:rPr lang="zh-CN" altLang="en-US" smtClean="0"/>
              <a:t>2026/7/20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0EB11BC-968B-4019-86B6-2EC4C9C2507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3470617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E214F6-445B-4376-B00F-7206156BD6B3}" type="datetimeFigureOut">
              <a:rPr lang="zh-CN" altLang="en-US" smtClean="0"/>
              <a:t>2026/7/20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0EB11BC-968B-4019-86B6-2EC4C9C2507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361311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E214F6-445B-4376-B00F-7206156BD6B3}" type="datetimeFigureOut">
              <a:rPr lang="zh-CN" altLang="en-US" smtClean="0"/>
              <a:t>2026/7/20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0EB11BC-968B-4019-86B6-2EC4C9C2507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8288806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8E214F6-445B-4376-B00F-7206156BD6B3}" type="datetimeFigureOut">
              <a:rPr lang="zh-CN" altLang="en-US" smtClean="0"/>
              <a:t>2026/7/20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0EB11BC-968B-4019-86B6-2EC4C9C2507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78616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7.png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.xml"/><Relationship Id="rId7" Type="http://schemas.microsoft.com/office/2007/relationships/diagramDrawing" Target="../diagrams/drawing2.xml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2.xml"/><Relationship Id="rId5" Type="http://schemas.openxmlformats.org/officeDocument/2006/relationships/diagramQuickStyle" Target="../diagrams/quickStyle2.xml"/><Relationship Id="rId4" Type="http://schemas.openxmlformats.org/officeDocument/2006/relationships/diagramLayout" Target="../diagrams/layout2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3" Type="http://schemas.openxmlformats.org/officeDocument/2006/relationships/image" Target="../media/image18.png"/><Relationship Id="rId7" Type="http://schemas.openxmlformats.org/officeDocument/2006/relationships/image" Target="../media/image22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image" Target="../media/image19.png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customXml" Target="../ink/ink3.xml"/><Relationship Id="rId3" Type="http://schemas.openxmlformats.org/officeDocument/2006/relationships/image" Target="../media/image38.png"/><Relationship Id="rId7" Type="http://schemas.openxmlformats.org/officeDocument/2006/relationships/image" Target="../media/image60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.xml"/><Relationship Id="rId5" Type="http://schemas.openxmlformats.org/officeDocument/2006/relationships/image" Target="../media/image50.png"/><Relationship Id="rId4" Type="http://schemas.openxmlformats.org/officeDocument/2006/relationships/customXml" Target="../ink/ink1.xml"/><Relationship Id="rId9" Type="http://schemas.openxmlformats.org/officeDocument/2006/relationships/image" Target="../media/image70.png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customXml" Target="../ink/ink6.xml"/><Relationship Id="rId3" Type="http://schemas.openxmlformats.org/officeDocument/2006/relationships/customXml" Target="../ink/ink4.xml"/><Relationship Id="rId7" Type="http://schemas.openxmlformats.org/officeDocument/2006/relationships/image" Target="../media/image60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.xml"/><Relationship Id="rId5" Type="http://schemas.openxmlformats.org/officeDocument/2006/relationships/image" Target="../media/image50.png"/><Relationship Id="rId9" Type="http://schemas.openxmlformats.org/officeDocument/2006/relationships/image" Target="../media/image70.png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0.pn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13" Type="http://schemas.openxmlformats.org/officeDocument/2006/relationships/image" Target="../media/image35.png"/><Relationship Id="rId3" Type="http://schemas.openxmlformats.org/officeDocument/2006/relationships/image" Target="../media/image25.png"/><Relationship Id="rId7" Type="http://schemas.openxmlformats.org/officeDocument/2006/relationships/image" Target="../media/image29.png"/><Relationship Id="rId12" Type="http://schemas.openxmlformats.org/officeDocument/2006/relationships/image" Target="../media/image34.png"/><Relationship Id="rId2" Type="http://schemas.openxmlformats.org/officeDocument/2006/relationships/notesSlide" Target="../notesSlides/notesSlide114.xml"/><Relationship Id="rId16" Type="http://schemas.openxmlformats.org/officeDocument/2006/relationships/image" Target="../media/image3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.png"/><Relationship Id="rId11" Type="http://schemas.openxmlformats.org/officeDocument/2006/relationships/image" Target="../media/image33.png"/><Relationship Id="rId5" Type="http://schemas.openxmlformats.org/officeDocument/2006/relationships/image" Target="../media/image27.png"/><Relationship Id="rId15" Type="http://schemas.openxmlformats.org/officeDocument/2006/relationships/image" Target="../media/image37.png"/><Relationship Id="rId10" Type="http://schemas.openxmlformats.org/officeDocument/2006/relationships/image" Target="../media/image32.png"/><Relationship Id="rId4" Type="http://schemas.openxmlformats.org/officeDocument/2006/relationships/image" Target="../media/image26.png"/><Relationship Id="rId9" Type="http://schemas.openxmlformats.org/officeDocument/2006/relationships/image" Target="../media/image31.png"/><Relationship Id="rId14" Type="http://schemas.openxmlformats.org/officeDocument/2006/relationships/image" Target="../media/image36.png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00466BD-7C80-7718-E6D8-FD36BB7AC8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53000" y="365125"/>
            <a:ext cx="6400800" cy="1325563"/>
          </a:xfrm>
        </p:spPr>
        <p:txBody>
          <a:bodyPr/>
          <a:lstStyle/>
          <a:p>
            <a:r>
              <a:rPr lang="zh-CN" altLang="en-US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基础理论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A657A548-CD22-C17E-BF3B-58FF0DC2EB5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53000" y="1825625"/>
            <a:ext cx="6400800" cy="4351338"/>
          </a:xfrm>
        </p:spPr>
        <p:txBody>
          <a:bodyPr>
            <a:normAutofit/>
          </a:bodyPr>
          <a:lstStyle/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股场动力学 基础公理与思维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周类上升的必要条件与充分条件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周类优化思路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亏损来源与应对策略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是运行中枢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操盘方法汇总与统一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6320B437-E2E3-A91F-F9D7-6B779334BD65}"/>
              </a:ext>
            </a:extLst>
          </p:cNvPr>
          <p:cNvSpPr txBox="1"/>
          <p:nvPr/>
        </p:nvSpPr>
        <p:spPr>
          <a:xfrm>
            <a:off x="1095375" y="1690688"/>
            <a:ext cx="2867025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0" dirty="0">
                <a:solidFill>
                  <a:schemeClr val="tx2">
                    <a:lumMod val="75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基</a:t>
            </a:r>
          </a:p>
        </p:txBody>
      </p:sp>
    </p:spTree>
    <p:extLst>
      <p:ext uri="{BB962C8B-B14F-4D97-AF65-F5344CB8AC3E}">
        <p14:creationId xmlns:p14="http://schemas.microsoft.com/office/powerpoint/2010/main" val="335452216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40000"/>
            <a:lumOff val="60000"/>
            <a:alpha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矩形 33">
            <a:extLst>
              <a:ext uri="{FF2B5EF4-FFF2-40B4-BE49-F238E27FC236}">
                <a16:creationId xmlns:a16="http://schemas.microsoft.com/office/drawing/2014/main" id="{9EED5F3B-1A10-F7C4-2254-1348E5365F4E}"/>
              </a:ext>
            </a:extLst>
          </p:cNvPr>
          <p:cNvSpPr/>
          <p:nvPr/>
        </p:nvSpPr>
        <p:spPr>
          <a:xfrm>
            <a:off x="0" y="2739753"/>
            <a:ext cx="12192000" cy="1980000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基础理论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股场动力学 基础公理与思维</a:t>
            </a:r>
            <a:b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作用：洞悉客观规律形成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SOP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，摆脱主观思维与心理障碍。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文本框 17">
            <a:extLst>
              <a:ext uri="{FF2B5EF4-FFF2-40B4-BE49-F238E27FC236}">
                <a16:creationId xmlns:a16="http://schemas.microsoft.com/office/drawing/2014/main" id="{DAB7D4E6-EB21-D205-9E93-6E6BB26DE552}"/>
              </a:ext>
            </a:extLst>
          </p:cNvPr>
          <p:cNvSpPr txBox="1"/>
          <p:nvPr/>
        </p:nvSpPr>
        <p:spPr>
          <a:xfrm>
            <a:off x="1544594" y="746941"/>
            <a:ext cx="10647406" cy="19878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统一对称思维：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正向与反向符合统一的思维与算法</a:t>
            </a:r>
          </a:p>
          <a:p>
            <a:pPr>
              <a:lnSpc>
                <a:spcPct val="2000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把握阴阳转换节奏：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阴阳转换过程以反复波动过程进行，单向趋势从小到大再到小，转为反向趋势后重复此过程。</a:t>
            </a:r>
          </a:p>
          <a:p>
            <a:pPr>
              <a:lnSpc>
                <a:spcPct val="2000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圈定操作区域：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按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选上不选下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延拓至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确定大趋势</a:t>
            </a:r>
          </a:p>
          <a:p>
            <a:pPr>
              <a:lnSpc>
                <a:spcPct val="2000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圈定主升区域：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选升不选震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选主升不选再升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选触顶不选离顶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FB9D89B5-4EB8-4D52-0D57-1794E2F3A164}"/>
              </a:ext>
            </a:extLst>
          </p:cNvPr>
          <p:cNvSpPr txBox="1"/>
          <p:nvPr/>
        </p:nvSpPr>
        <p:spPr>
          <a:xfrm>
            <a:off x="0" y="1523045"/>
            <a:ext cx="11244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阴阳思维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左大括号 5">
            <a:extLst>
              <a:ext uri="{FF2B5EF4-FFF2-40B4-BE49-F238E27FC236}">
                <a16:creationId xmlns:a16="http://schemas.microsoft.com/office/drawing/2014/main" id="{998C80B0-785B-5B48-DFDD-3C36547C6F26}"/>
              </a:ext>
            </a:extLst>
          </p:cNvPr>
          <p:cNvSpPr/>
          <p:nvPr/>
        </p:nvSpPr>
        <p:spPr>
          <a:xfrm>
            <a:off x="1031156" y="846885"/>
            <a:ext cx="540000" cy="1782539"/>
          </a:xfrm>
          <a:prstGeom prst="leftBrace">
            <a:avLst/>
          </a:prstGeom>
          <a:noFill/>
          <a:ln w="508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CB234609-CE45-4BC8-C479-A9D4F8DA2AC7}"/>
              </a:ext>
            </a:extLst>
          </p:cNvPr>
          <p:cNvSpPr txBox="1"/>
          <p:nvPr/>
        </p:nvSpPr>
        <p:spPr>
          <a:xfrm>
            <a:off x="1571156" y="2740070"/>
            <a:ext cx="10647406" cy="19878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存在平衡位置：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不要总担心下跌，由于无重力场  ⇒  存在平衡位置</a:t>
            </a:r>
          </a:p>
          <a:p>
            <a:pPr>
              <a:lnSpc>
                <a:spcPct val="2000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存在坡度路线：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要选取一定角度≥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30°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，不要选贴伏均线或无坡度波动。</a:t>
            </a:r>
          </a:p>
          <a:p>
            <a:pPr>
              <a:lnSpc>
                <a:spcPct val="2000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存在单向冲高：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偏离可以很大很久，要利用这一特征而非故步自封。</a:t>
            </a:r>
            <a:endParaRPr lang="en-US" altLang="zh-CN" sz="1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2000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存在马太效应：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均线之上多阳柱，连阳后有连阳。宁选阳中阴，不选阴中阳。摒弃扶弱思维，善用惯性与股性。</a:t>
            </a: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97C4D865-8340-FB9A-8E69-F1608FCA5CEB}"/>
              </a:ext>
            </a:extLst>
          </p:cNvPr>
          <p:cNvSpPr txBox="1"/>
          <p:nvPr/>
        </p:nvSpPr>
        <p:spPr>
          <a:xfrm>
            <a:off x="0" y="3549330"/>
            <a:ext cx="11244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无重力场</a:t>
            </a:r>
          </a:p>
        </p:txBody>
      </p:sp>
      <p:sp>
        <p:nvSpPr>
          <p:cNvPr id="12" name="左大括号 11">
            <a:extLst>
              <a:ext uri="{FF2B5EF4-FFF2-40B4-BE49-F238E27FC236}">
                <a16:creationId xmlns:a16="http://schemas.microsoft.com/office/drawing/2014/main" id="{3046AC70-ECE2-A9EA-EE7D-C6DB4FECC331}"/>
              </a:ext>
            </a:extLst>
          </p:cNvPr>
          <p:cNvSpPr/>
          <p:nvPr/>
        </p:nvSpPr>
        <p:spPr>
          <a:xfrm>
            <a:off x="1031156" y="2853303"/>
            <a:ext cx="540000" cy="1782539"/>
          </a:xfrm>
          <a:prstGeom prst="leftBrace">
            <a:avLst/>
          </a:prstGeom>
          <a:noFill/>
          <a:ln w="508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44858898-6018-92A9-5698-8FB48C74143E}"/>
              </a:ext>
            </a:extLst>
          </p:cNvPr>
          <p:cNvSpPr txBox="1"/>
          <p:nvPr/>
        </p:nvSpPr>
        <p:spPr>
          <a:xfrm>
            <a:off x="1554959" y="4847042"/>
            <a:ext cx="10647406" cy="19878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规则思维：</a:t>
            </a:r>
            <a:r>
              <a: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rPr>
              <a:t>不要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主观预判，选取合理位置基于规则进行操作。多看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excel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少盯盘，可以见好就收。</a:t>
            </a:r>
            <a:endParaRPr lang="en-US" altLang="zh-CN" sz="1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2000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先短线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再长线</a:t>
            </a:r>
            <a:r>
              <a: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rPr>
              <a:t>：先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关注短线走势，见好就收。长线守仓以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为界，不要寄希望于幻想或消息。</a:t>
            </a:r>
          </a:p>
          <a:p>
            <a:pPr>
              <a:lnSpc>
                <a:spcPct val="2000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不受持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仓影响：</a:t>
            </a:r>
            <a:r>
              <a: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rPr>
              <a:t>不要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因短期走势未如预期而放弃。要持有虚拟仓位，按持有规则而非主观判断操作。</a:t>
            </a:r>
          </a:p>
          <a:p>
            <a:pPr>
              <a:lnSpc>
                <a:spcPct val="2000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微观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逆向捡漏：</a:t>
            </a:r>
            <a:r>
              <a: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低维度，均线不具有趋势效应，要阴入阳出，与大势相反。</a:t>
            </a:r>
            <a:endParaRPr lang="en-US" altLang="zh-CN" sz="1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文本框 18">
            <a:extLst>
              <a:ext uri="{FF2B5EF4-FFF2-40B4-BE49-F238E27FC236}">
                <a16:creationId xmlns:a16="http://schemas.microsoft.com/office/drawing/2014/main" id="{8D4F67E8-0538-9A04-CA65-E103627D1EBC}"/>
              </a:ext>
            </a:extLst>
          </p:cNvPr>
          <p:cNvSpPr txBox="1"/>
          <p:nvPr/>
        </p:nvSpPr>
        <p:spPr>
          <a:xfrm>
            <a:off x="0" y="5599678"/>
            <a:ext cx="11244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无我思维</a:t>
            </a:r>
          </a:p>
        </p:txBody>
      </p:sp>
      <p:sp>
        <p:nvSpPr>
          <p:cNvPr id="21" name="文本框 20">
            <a:extLst>
              <a:ext uri="{FF2B5EF4-FFF2-40B4-BE49-F238E27FC236}">
                <a16:creationId xmlns:a16="http://schemas.microsoft.com/office/drawing/2014/main" id="{C5278D17-DAF9-61E8-F5BE-BE9F21EB2F87}"/>
              </a:ext>
            </a:extLst>
          </p:cNvPr>
          <p:cNvSpPr txBox="1"/>
          <p:nvPr/>
        </p:nvSpPr>
        <p:spPr>
          <a:xfrm>
            <a:off x="1544594" y="751187"/>
            <a:ext cx="360000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10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对上升与</a:t>
            </a: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下跌运行规律的总体认识</a:t>
            </a:r>
          </a:p>
        </p:txBody>
      </p:sp>
      <p:sp>
        <p:nvSpPr>
          <p:cNvPr id="22" name="文本框 21">
            <a:extLst>
              <a:ext uri="{FF2B5EF4-FFF2-40B4-BE49-F238E27FC236}">
                <a16:creationId xmlns:a16="http://schemas.microsoft.com/office/drawing/2014/main" id="{C1094566-13E4-8C78-126C-260793B95550}"/>
              </a:ext>
            </a:extLst>
          </p:cNvPr>
          <p:cNvSpPr txBox="1"/>
          <p:nvPr/>
        </p:nvSpPr>
        <p:spPr>
          <a:xfrm>
            <a:off x="1544594" y="1230879"/>
            <a:ext cx="360000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把握趋势展开的运行节奏</a:t>
            </a:r>
          </a:p>
        </p:txBody>
      </p:sp>
      <p:sp>
        <p:nvSpPr>
          <p:cNvPr id="23" name="文本框 22">
            <a:extLst>
              <a:ext uri="{FF2B5EF4-FFF2-40B4-BE49-F238E27FC236}">
                <a16:creationId xmlns:a16="http://schemas.microsoft.com/office/drawing/2014/main" id="{C10689C8-D05B-A53C-1142-796B1E861398}"/>
              </a:ext>
            </a:extLst>
          </p:cNvPr>
          <p:cNvSpPr txBox="1"/>
          <p:nvPr/>
        </p:nvSpPr>
        <p:spPr>
          <a:xfrm>
            <a:off x="1544594" y="1723562"/>
            <a:ext cx="360000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限定基本</a:t>
            </a:r>
            <a:r>
              <a:rPr lang="zh-CN" altLang="en-US" sz="110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操作范围：在</a:t>
            </a: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其中进行周类或日类操作</a:t>
            </a:r>
          </a:p>
        </p:txBody>
      </p:sp>
      <p:sp>
        <p:nvSpPr>
          <p:cNvPr id="24" name="文本框 23">
            <a:extLst>
              <a:ext uri="{FF2B5EF4-FFF2-40B4-BE49-F238E27FC236}">
                <a16:creationId xmlns:a16="http://schemas.microsoft.com/office/drawing/2014/main" id="{93C9D5D3-35C7-2494-B4B3-EFBBFB3A1C04}"/>
              </a:ext>
            </a:extLst>
          </p:cNvPr>
          <p:cNvSpPr txBox="1"/>
          <p:nvPr/>
        </p:nvSpPr>
        <p:spPr>
          <a:xfrm>
            <a:off x="1544594" y="2210044"/>
            <a:ext cx="360000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限定细分操作区域：在基本操作范围内</a:t>
            </a:r>
            <a:r>
              <a:rPr lang="zh-CN" altLang="en-US" sz="110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选取主升区域</a:t>
            </a:r>
            <a:endParaRPr lang="zh-CN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华文楷体" panose="02010600040101010101" pitchFamily="2" charset="-122"/>
              <a:ea typeface="华文楷体" panose="02010600040101010101" pitchFamily="2" charset="-122"/>
            </a:endParaRPr>
          </a:p>
        </p:txBody>
      </p:sp>
      <p:sp>
        <p:nvSpPr>
          <p:cNvPr id="25" name="文本框 24">
            <a:extLst>
              <a:ext uri="{FF2B5EF4-FFF2-40B4-BE49-F238E27FC236}">
                <a16:creationId xmlns:a16="http://schemas.microsoft.com/office/drawing/2014/main" id="{5D2C01CD-118F-0617-2D85-8F4DAC568593}"/>
              </a:ext>
            </a:extLst>
          </p:cNvPr>
          <p:cNvSpPr txBox="1"/>
          <p:nvPr/>
        </p:nvSpPr>
        <p:spPr>
          <a:xfrm>
            <a:off x="1544594" y="2740930"/>
            <a:ext cx="360000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消除下跌过程中担心无止境下跌的心理</a:t>
            </a:r>
          </a:p>
        </p:txBody>
      </p:sp>
      <p:sp>
        <p:nvSpPr>
          <p:cNvPr id="26" name="文本框 25">
            <a:extLst>
              <a:ext uri="{FF2B5EF4-FFF2-40B4-BE49-F238E27FC236}">
                <a16:creationId xmlns:a16="http://schemas.microsoft.com/office/drawing/2014/main" id="{52D21098-A2BF-B476-04A8-281EDCA19AE5}"/>
              </a:ext>
            </a:extLst>
          </p:cNvPr>
          <p:cNvSpPr txBox="1"/>
          <p:nvPr/>
        </p:nvSpPr>
        <p:spPr>
          <a:xfrm>
            <a:off x="1544594" y="3233290"/>
            <a:ext cx="360000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消除上涨过程中恐惧慢涨的心理</a:t>
            </a:r>
          </a:p>
        </p:txBody>
      </p:sp>
      <p:sp>
        <p:nvSpPr>
          <p:cNvPr id="27" name="文本框 26">
            <a:extLst>
              <a:ext uri="{FF2B5EF4-FFF2-40B4-BE49-F238E27FC236}">
                <a16:creationId xmlns:a16="http://schemas.microsoft.com/office/drawing/2014/main" id="{4877F0FF-DD94-F253-2DD9-ABCF19E459C9}"/>
              </a:ext>
            </a:extLst>
          </p:cNvPr>
          <p:cNvSpPr txBox="1"/>
          <p:nvPr/>
        </p:nvSpPr>
        <p:spPr>
          <a:xfrm>
            <a:off x="1544594" y="3717337"/>
            <a:ext cx="360000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消除上涨过程中恐惧快涨的心理</a:t>
            </a:r>
          </a:p>
        </p:txBody>
      </p:sp>
      <p:sp>
        <p:nvSpPr>
          <p:cNvPr id="28" name="文本框 27">
            <a:extLst>
              <a:ext uri="{FF2B5EF4-FFF2-40B4-BE49-F238E27FC236}">
                <a16:creationId xmlns:a16="http://schemas.microsoft.com/office/drawing/2014/main" id="{84DC0476-F312-5837-8B97-1BD784BD2689}"/>
              </a:ext>
            </a:extLst>
          </p:cNvPr>
          <p:cNvSpPr txBox="1"/>
          <p:nvPr/>
        </p:nvSpPr>
        <p:spPr>
          <a:xfrm>
            <a:off x="1544594" y="4201384"/>
            <a:ext cx="360000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消除抄底思维与止盈后不敢再入的心理</a:t>
            </a:r>
          </a:p>
        </p:txBody>
      </p:sp>
      <p:sp>
        <p:nvSpPr>
          <p:cNvPr id="29" name="文本框 28">
            <a:extLst>
              <a:ext uri="{FF2B5EF4-FFF2-40B4-BE49-F238E27FC236}">
                <a16:creationId xmlns:a16="http://schemas.microsoft.com/office/drawing/2014/main" id="{B3A247C9-A646-112D-5737-DBDA3DF5BFF2}"/>
              </a:ext>
            </a:extLst>
          </p:cNvPr>
          <p:cNvSpPr txBox="1"/>
          <p:nvPr/>
        </p:nvSpPr>
        <p:spPr>
          <a:xfrm>
            <a:off x="1561220" y="5320103"/>
            <a:ext cx="37405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抵抗人性</a:t>
            </a:r>
            <a:r>
              <a:rPr lang="en-US" altLang="zh-CN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2</a:t>
            </a: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：消除无根据的执念，尊重短线，善用复利法则</a:t>
            </a:r>
          </a:p>
        </p:txBody>
      </p:sp>
      <p:sp>
        <p:nvSpPr>
          <p:cNvPr id="30" name="文本框 29">
            <a:extLst>
              <a:ext uri="{FF2B5EF4-FFF2-40B4-BE49-F238E27FC236}">
                <a16:creationId xmlns:a16="http://schemas.microsoft.com/office/drawing/2014/main" id="{16B207AD-674A-5438-5A05-81DA387FCCFE}"/>
              </a:ext>
            </a:extLst>
          </p:cNvPr>
          <p:cNvSpPr txBox="1"/>
          <p:nvPr/>
        </p:nvSpPr>
        <p:spPr>
          <a:xfrm>
            <a:off x="1569533" y="5809580"/>
            <a:ext cx="360000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抵抗</a:t>
            </a:r>
            <a:r>
              <a:rPr lang="zh-CN" altLang="en-US" sz="110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人性</a:t>
            </a:r>
            <a:r>
              <a:rPr lang="en-US" altLang="zh-CN" sz="110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3</a:t>
            </a:r>
            <a:r>
              <a:rPr lang="zh-CN" altLang="en-US" sz="110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：消除</a:t>
            </a: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担心浮盈归零或恐惧浮亏的心理</a:t>
            </a:r>
          </a:p>
        </p:txBody>
      </p:sp>
      <p:sp>
        <p:nvSpPr>
          <p:cNvPr id="33" name="文本框 32">
            <a:extLst>
              <a:ext uri="{FF2B5EF4-FFF2-40B4-BE49-F238E27FC236}">
                <a16:creationId xmlns:a16="http://schemas.microsoft.com/office/drawing/2014/main" id="{6D855E6F-3B95-998E-1EA9-9D030C6F3DE4}"/>
              </a:ext>
            </a:extLst>
          </p:cNvPr>
          <p:cNvSpPr txBox="1"/>
          <p:nvPr/>
        </p:nvSpPr>
        <p:spPr>
          <a:xfrm>
            <a:off x="1569533" y="6294816"/>
            <a:ext cx="360000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抵抗</a:t>
            </a:r>
            <a:r>
              <a:rPr lang="zh-CN" altLang="en-US" sz="110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人性</a:t>
            </a:r>
            <a:r>
              <a:rPr lang="en-US" altLang="zh-CN" sz="110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4</a:t>
            </a:r>
            <a:r>
              <a:rPr lang="zh-CN" altLang="en-US" sz="110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：抵御</a:t>
            </a: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短线震仓的庄家恐吓</a:t>
            </a:r>
          </a:p>
        </p:txBody>
      </p:sp>
      <p:sp>
        <p:nvSpPr>
          <p:cNvPr id="35" name="左大括号 34">
            <a:extLst>
              <a:ext uri="{FF2B5EF4-FFF2-40B4-BE49-F238E27FC236}">
                <a16:creationId xmlns:a16="http://schemas.microsoft.com/office/drawing/2014/main" id="{B99BCF27-9FC1-F3C0-086F-9B34FA7481FC}"/>
              </a:ext>
            </a:extLst>
          </p:cNvPr>
          <p:cNvSpPr/>
          <p:nvPr/>
        </p:nvSpPr>
        <p:spPr>
          <a:xfrm>
            <a:off x="1031156" y="4930285"/>
            <a:ext cx="540000" cy="1782539"/>
          </a:xfrm>
          <a:prstGeom prst="leftBrace">
            <a:avLst/>
          </a:prstGeom>
          <a:noFill/>
          <a:ln w="508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6" name="文本框 35">
            <a:extLst>
              <a:ext uri="{FF2B5EF4-FFF2-40B4-BE49-F238E27FC236}">
                <a16:creationId xmlns:a16="http://schemas.microsoft.com/office/drawing/2014/main" id="{3A253970-2DBD-1ED5-6C75-D29FE15DE78D}"/>
              </a:ext>
            </a:extLst>
          </p:cNvPr>
          <p:cNvSpPr txBox="1"/>
          <p:nvPr/>
        </p:nvSpPr>
        <p:spPr>
          <a:xfrm>
            <a:off x="1561220" y="4827192"/>
            <a:ext cx="360000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抵抗</a:t>
            </a:r>
            <a:r>
              <a:rPr lang="zh-CN" altLang="en-US" sz="110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人性</a:t>
            </a:r>
            <a:r>
              <a:rPr lang="en-US" altLang="zh-CN" sz="110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1</a:t>
            </a:r>
            <a:r>
              <a:rPr lang="zh-CN" altLang="en-US" sz="110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：消除</a:t>
            </a: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主观判断，接受客观程序化操作</a:t>
            </a:r>
          </a:p>
        </p:txBody>
      </p:sp>
    </p:spTree>
    <p:extLst>
      <p:ext uri="{BB962C8B-B14F-4D97-AF65-F5344CB8AC3E}">
        <p14:creationId xmlns:p14="http://schemas.microsoft.com/office/powerpoint/2010/main" val="79808278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20000"/>
            <a:lumOff val="8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98C5E6F-4629-841C-0E52-AD427345D3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4A02E44-7804-4A45-F41A-A1F5A32F42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基础理论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第一性原理在抓涨的应用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本页要阐明的是，基于第一性原理得到的抓上涨的方法论；而非为何股价会上涨的第一性原理（价值投资、反身性原理等）。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5" name="组合 34">
            <a:extLst>
              <a:ext uri="{FF2B5EF4-FFF2-40B4-BE49-F238E27FC236}">
                <a16:creationId xmlns:a16="http://schemas.microsoft.com/office/drawing/2014/main" id="{2835603D-2BF3-6BFF-FA13-58BCE572E629}"/>
              </a:ext>
            </a:extLst>
          </p:cNvPr>
          <p:cNvGrpSpPr/>
          <p:nvPr/>
        </p:nvGrpSpPr>
        <p:grpSpPr>
          <a:xfrm>
            <a:off x="12192000" y="1978643"/>
            <a:ext cx="3786544" cy="1624055"/>
            <a:chOff x="10155974" y="919521"/>
            <a:chExt cx="4545454" cy="2158790"/>
          </a:xfrm>
        </p:grpSpPr>
        <p:cxnSp>
          <p:nvCxnSpPr>
            <p:cNvPr id="12" name="直接连接符 11">
              <a:extLst>
                <a:ext uri="{FF2B5EF4-FFF2-40B4-BE49-F238E27FC236}">
                  <a16:creationId xmlns:a16="http://schemas.microsoft.com/office/drawing/2014/main" id="{7B945178-CBCA-1FD3-561D-E574FB5B0A96}"/>
                </a:ext>
              </a:extLst>
            </p:cNvPr>
            <p:cNvCxnSpPr>
              <a:cxnSpLocks/>
            </p:cNvCxnSpPr>
            <p:nvPr/>
          </p:nvCxnSpPr>
          <p:spPr>
            <a:xfrm>
              <a:off x="11132728" y="1224111"/>
              <a:ext cx="0" cy="1854200"/>
            </a:xfrm>
            <a:prstGeom prst="line">
              <a:avLst/>
            </a:prstGeom>
            <a:ln w="5080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连接符 12">
              <a:extLst>
                <a:ext uri="{FF2B5EF4-FFF2-40B4-BE49-F238E27FC236}">
                  <a16:creationId xmlns:a16="http://schemas.microsoft.com/office/drawing/2014/main" id="{1F1B99D1-B0E2-0BCA-DC78-5F69E7EBCF30}"/>
                </a:ext>
              </a:extLst>
            </p:cNvPr>
            <p:cNvCxnSpPr>
              <a:cxnSpLocks/>
            </p:cNvCxnSpPr>
            <p:nvPr/>
          </p:nvCxnSpPr>
          <p:spPr>
            <a:xfrm>
              <a:off x="12123328" y="1224111"/>
              <a:ext cx="0" cy="1854200"/>
            </a:xfrm>
            <a:prstGeom prst="line">
              <a:avLst/>
            </a:prstGeom>
            <a:ln w="5080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连接符 13">
              <a:extLst>
                <a:ext uri="{FF2B5EF4-FFF2-40B4-BE49-F238E27FC236}">
                  <a16:creationId xmlns:a16="http://schemas.microsoft.com/office/drawing/2014/main" id="{4886FD81-E59A-5944-B2E2-385FDE0D2F39}"/>
                </a:ext>
              </a:extLst>
            </p:cNvPr>
            <p:cNvCxnSpPr>
              <a:cxnSpLocks/>
            </p:cNvCxnSpPr>
            <p:nvPr/>
          </p:nvCxnSpPr>
          <p:spPr>
            <a:xfrm>
              <a:off x="13190128" y="1224111"/>
              <a:ext cx="0" cy="1854200"/>
            </a:xfrm>
            <a:prstGeom prst="line">
              <a:avLst/>
            </a:prstGeom>
            <a:ln w="5080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接连接符 14">
              <a:extLst>
                <a:ext uri="{FF2B5EF4-FFF2-40B4-BE49-F238E27FC236}">
                  <a16:creationId xmlns:a16="http://schemas.microsoft.com/office/drawing/2014/main" id="{1B30E63F-C798-9187-518C-1CCB1F865C4D}"/>
                </a:ext>
              </a:extLst>
            </p:cNvPr>
            <p:cNvCxnSpPr>
              <a:cxnSpLocks/>
            </p:cNvCxnSpPr>
            <p:nvPr/>
          </p:nvCxnSpPr>
          <p:spPr>
            <a:xfrm>
              <a:off x="14295028" y="1224111"/>
              <a:ext cx="0" cy="1854200"/>
            </a:xfrm>
            <a:prstGeom prst="line">
              <a:avLst/>
            </a:prstGeom>
            <a:ln w="5080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接连接符 15">
              <a:extLst>
                <a:ext uri="{FF2B5EF4-FFF2-40B4-BE49-F238E27FC236}">
                  <a16:creationId xmlns:a16="http://schemas.microsoft.com/office/drawing/2014/main" id="{FE2A3119-46DD-5F64-04AA-80C4C552802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523128" y="1224111"/>
              <a:ext cx="2082800" cy="1443899"/>
            </a:xfrm>
            <a:prstGeom prst="line">
              <a:avLst/>
            </a:prstGeom>
            <a:ln w="25400">
              <a:solidFill>
                <a:schemeClr val="accent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352CF293-0B4C-EECC-80F1-6DDD8C951F05}"/>
                </a:ext>
              </a:extLst>
            </p:cNvPr>
            <p:cNvSpPr/>
            <p:nvPr/>
          </p:nvSpPr>
          <p:spPr>
            <a:xfrm>
              <a:off x="10954928" y="1598864"/>
              <a:ext cx="3746500" cy="1161947"/>
            </a:xfrm>
            <a:custGeom>
              <a:avLst/>
              <a:gdLst>
                <a:gd name="connsiteX0" fmla="*/ 0 w 3746500"/>
                <a:gd name="connsiteY0" fmla="*/ 1161947 h 1161947"/>
                <a:gd name="connsiteX1" fmla="*/ 1168400 w 3746500"/>
                <a:gd name="connsiteY1" fmla="*/ 222147 h 1161947"/>
                <a:gd name="connsiteX2" fmla="*/ 2222500 w 3746500"/>
                <a:gd name="connsiteY2" fmla="*/ 1098447 h 1161947"/>
                <a:gd name="connsiteX3" fmla="*/ 3314700 w 3746500"/>
                <a:gd name="connsiteY3" fmla="*/ 145947 h 1161947"/>
                <a:gd name="connsiteX4" fmla="*/ 3746500 w 3746500"/>
                <a:gd name="connsiteY4" fmla="*/ 18947 h 116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46500" h="1161947">
                  <a:moveTo>
                    <a:pt x="0" y="1161947"/>
                  </a:moveTo>
                  <a:cubicBezTo>
                    <a:pt x="398991" y="697338"/>
                    <a:pt x="797983" y="232730"/>
                    <a:pt x="1168400" y="222147"/>
                  </a:cubicBezTo>
                  <a:cubicBezTo>
                    <a:pt x="1538817" y="211564"/>
                    <a:pt x="1864783" y="1111147"/>
                    <a:pt x="2222500" y="1098447"/>
                  </a:cubicBezTo>
                  <a:cubicBezTo>
                    <a:pt x="2580217" y="1085747"/>
                    <a:pt x="3060700" y="325864"/>
                    <a:pt x="3314700" y="145947"/>
                  </a:cubicBezTo>
                  <a:cubicBezTo>
                    <a:pt x="3568700" y="-33970"/>
                    <a:pt x="3657600" y="-7512"/>
                    <a:pt x="3746500" y="18947"/>
                  </a:cubicBezTo>
                </a:path>
              </a:pathLst>
            </a:custGeom>
            <a:noFill/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" name="文本框 17">
              <a:extLst>
                <a:ext uri="{FF2B5EF4-FFF2-40B4-BE49-F238E27FC236}">
                  <a16:creationId xmlns:a16="http://schemas.microsoft.com/office/drawing/2014/main" id="{14D78A4E-D380-E05F-CD3C-901183783032}"/>
                </a:ext>
              </a:extLst>
            </p:cNvPr>
            <p:cNvSpPr txBox="1"/>
            <p:nvPr/>
          </p:nvSpPr>
          <p:spPr>
            <a:xfrm>
              <a:off x="10155974" y="2511694"/>
              <a:ext cx="443355" cy="249118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zh-CN" altLang="en-US" sz="12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哼</a:t>
              </a:r>
            </a:p>
          </p:txBody>
        </p:sp>
        <p:sp>
          <p:nvSpPr>
            <p:cNvPr id="19" name="文本框 18">
              <a:extLst>
                <a:ext uri="{FF2B5EF4-FFF2-40B4-BE49-F238E27FC236}">
                  <a16:creationId xmlns:a16="http://schemas.microsoft.com/office/drawing/2014/main" id="{CABE8213-1374-D36D-8F32-56EF4F9BBA6C}"/>
                </a:ext>
              </a:extLst>
            </p:cNvPr>
            <p:cNvSpPr txBox="1"/>
            <p:nvPr/>
          </p:nvSpPr>
          <p:spPr>
            <a:xfrm>
              <a:off x="11325918" y="919521"/>
              <a:ext cx="665032" cy="249118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触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哼</a:t>
              </a:r>
            </a:p>
          </p:txBody>
        </p:sp>
        <p:sp>
          <p:nvSpPr>
            <p:cNvPr id="20" name="文本框 19">
              <a:extLst>
                <a:ext uri="{FF2B5EF4-FFF2-40B4-BE49-F238E27FC236}">
                  <a16:creationId xmlns:a16="http://schemas.microsoft.com/office/drawing/2014/main" id="{22A706A1-A824-A8CC-3816-5189C86B8E61}"/>
                </a:ext>
              </a:extLst>
            </p:cNvPr>
            <p:cNvSpPr txBox="1"/>
            <p:nvPr/>
          </p:nvSpPr>
          <p:spPr>
            <a:xfrm>
              <a:off x="12765084" y="919521"/>
              <a:ext cx="886709" cy="249118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触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哼未</a:t>
              </a:r>
            </a:p>
          </p:txBody>
        </p:sp>
      </p:grp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911CA0E1-5F43-6D8F-5F7D-46FEB6BB6A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5780494"/>
              </p:ext>
            </p:extLst>
          </p:nvPr>
        </p:nvGraphicFramePr>
        <p:xfrm>
          <a:off x="-11533" y="720000"/>
          <a:ext cx="12192000" cy="2514600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6118167">
                  <a:extLst>
                    <a:ext uri="{9D8B030D-6E8A-4147-A177-3AD203B41FA5}">
                      <a16:colId xmlns:a16="http://schemas.microsoft.com/office/drawing/2014/main" val="62992905"/>
                    </a:ext>
                  </a:extLst>
                </a:gridCol>
                <a:gridCol w="6073833">
                  <a:extLst>
                    <a:ext uri="{9D8B030D-6E8A-4147-A177-3AD203B41FA5}">
                      <a16:colId xmlns:a16="http://schemas.microsoft.com/office/drawing/2014/main" val="213002666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第一性原理的重要性：</a:t>
                      </a:r>
                      <a:r>
                        <a:rPr lang="zh-CN" altLang="en-US" sz="9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在认知与实践的逻辑框架中，</a:t>
                      </a:r>
                      <a:endParaRPr lang="en-US" altLang="zh-CN" sz="9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归纳法负责 “从下往上” 从具体现象提炼初步规律以提供认知素材。</a:t>
                      </a:r>
                      <a:endParaRPr lang="en-US" altLang="zh-CN" sz="9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第一性原理负责 “锚定根本” 作为演绎法的终极可靠前提。</a:t>
                      </a:r>
                      <a:endParaRPr lang="en-US" altLang="zh-CN" sz="9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演绎法负责 “从上往下” 将第一性原理转化为落地方案。</a:t>
                      </a:r>
                      <a:endParaRPr lang="en-US" altLang="zh-CN" sz="9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结论：相较于易受样本局限、路径依赖、场景适配性缺失及因果倒置风险影响的归纳法，优先使用第一性原理是突破经验桎梏、实现根本性创新与精准决策的必要选择。</a:t>
                      </a:r>
                      <a:endParaRPr lang="zh-CN" altLang="en-US" sz="9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4327450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基于第一性原理的抓涨方法：基于</a:t>
                      </a:r>
                      <a:r>
                        <a:rPr lang="en-US" altLang="zh-CN" sz="9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数学特性的精确进出。</a:t>
                      </a:r>
                      <a:endParaRPr lang="en-US" altLang="zh-CN" sz="900" b="1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正向思考：为何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能用于抓涨？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数学特性，只要股价在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之上，就能驱动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上涨。所以，柱在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之上，可作为判定上涨的工具。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当出现单边势时，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比均线增长的慢。因此，柱在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之上，可作为圈定上涨区域的工具。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负向思考：要善用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作为工具，要依赖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底层原理，而非依赖个人的主观判断。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不要总期望在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之上提前退出。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比柱排运行的慢，是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作为抓涨工具的本质。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要抓突破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后的主升。突破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后，通常有快速的升排，此时一定不要清仓，只能分步止盈至底仓。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要平心静气走完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。要以底仓完成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整个护线，善始善终。</a:t>
                      </a:r>
                      <a:endParaRPr lang="en-US" altLang="zh-CN" sz="900" b="1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原有的基于他人经验的归纳法，所总结的抓涨方法论包括：</a:t>
                      </a:r>
                      <a:endParaRPr lang="en-US" altLang="zh-CN" sz="9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指标之间的衍生关系：柱排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底层驱动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⇒均线（核心）⇒顶型（子集）</a:t>
                      </a:r>
                      <a:endParaRPr lang="en-US" altLang="zh-CN" sz="9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上涨的最优情形：均线间呈多头排列，柱在均线之上，升排，不断触顶。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现实中违反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”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以上抓涨规律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”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的上涨情形：</a:t>
                      </a:r>
                      <a:endParaRPr lang="en-US" altLang="zh-CN" sz="9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上涨的最差情形：每波只有单巨阳柱，之后是连续跌排，下破均线，导致均线呈空头排列。（注：仍可在上破均线时精准进出）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违反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柱排：应为升排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：均线之上，经过快速上涨后的缓慢连跌。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违反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柱与均线关系：起涨点应在均线之上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：从均线之下启涨，且为巨阳柱快速冲高。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违反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均线与均线关系：应为多头排列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：均线负交后，快速上涨，然后阴跌。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违反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顶型：应为触顶或触哼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触顶哼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均线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是内在统一，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均线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更基础，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触顶哼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是子集。可能单巨柱触顶后回归均线，然后再次单巨柱。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05587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3935195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基础理论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思维法宝</a:t>
            </a:r>
            <a:b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优化本质：在遵守基本数学规律的基础上，进行变通，提高收益。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5D35E88D-72F6-19CC-78DD-8968AA76BB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6033683"/>
              </p:ext>
            </p:extLst>
          </p:nvPr>
        </p:nvGraphicFramePr>
        <p:xfrm>
          <a:off x="0" y="720001"/>
          <a:ext cx="12192000" cy="4709160"/>
        </p:xfrm>
        <a:graphic>
          <a:graphicData uri="http://schemas.openxmlformats.org/drawingml/2006/table">
            <a:tbl>
              <a:tblPr firstRow="1" bandRow="1">
                <a:tableStyleId>{1E171933-4619-4E11-9A3F-F7608DF75F80}</a:tableStyleId>
              </a:tblPr>
              <a:tblGrid>
                <a:gridCol w="1064029">
                  <a:extLst>
                    <a:ext uri="{9D8B030D-6E8A-4147-A177-3AD203B41FA5}">
                      <a16:colId xmlns:a16="http://schemas.microsoft.com/office/drawing/2014/main" val="1239727620"/>
                    </a:ext>
                  </a:extLst>
                </a:gridCol>
                <a:gridCol w="11127971">
                  <a:extLst>
                    <a:ext uri="{9D8B030D-6E8A-4147-A177-3AD203B41FA5}">
                      <a16:colId xmlns:a16="http://schemas.microsoft.com/office/drawing/2014/main" val="1170060104"/>
                    </a:ext>
                  </a:extLst>
                </a:gridCol>
              </a:tblGrid>
              <a:tr h="125891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思维法宝</a:t>
                      </a:r>
                      <a:endParaRPr lang="zh-CN" altLang="en-US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解释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8396981"/>
                  </a:ext>
                </a:extLst>
              </a:tr>
              <a:tr h="386065">
                <a:tc rowSpan="2">
                  <a:txBody>
                    <a:bodyPr/>
                    <a:lstStyle/>
                    <a:p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思维法宝：</a:t>
                      </a:r>
                      <a:endParaRPr lang="en-US" altLang="zh-CN" sz="9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坐公交理论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原旨：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只要路线正确，中途即使存在与目标方向不同的路径（逆向、停顿、平行等），只要保证该路径经过目的地，就可以安心乘坐，并在目的地附近下车。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理念：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要顺从大势（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决定），有容乃大（容忍适当级别的劫）。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知天命</a:t>
                      </a:r>
                      <a:r>
                        <a:rPr lang="en-US" altLang="zh-CN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要保证一定经过最高点：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纵观单个股票的全时间段，所有主要上升都被包含在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WJC&amp;WJB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之上。保守稳赢做法是，在其上不放弃任何仓位，任由其波动。</a:t>
                      </a:r>
                      <a:endParaRPr lang="en-US" altLang="zh-CN" sz="800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 defTabSz="9144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一定要保证经过最高点：要保证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之上持有（不代表下破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后须退出）；要保证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之上持有（不代表下破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后须退出）；要保证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之上持有（不代表下破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后须退出）。</a:t>
                      </a:r>
                      <a:endParaRPr lang="en-US" altLang="zh-CN" sz="800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尽人事</a:t>
                      </a:r>
                      <a:r>
                        <a:rPr lang="en-US" altLang="zh-CN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应争取在最高点附近下车：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当处于上升趋势中，不是单边快速上冲，而是沿东北方向某角度反复波动上升。所以，原则上以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作为止损线，要包容低级别均线。</a:t>
                      </a:r>
                      <a:endParaRPr lang="zh-CN" altLang="en-US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3982296"/>
                  </a:ext>
                </a:extLst>
              </a:tr>
              <a:tr h="453207">
                <a:tc vMerge="1">
                  <a:txBody>
                    <a:bodyPr/>
                    <a:lstStyle/>
                    <a:p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应用坐公交理论，将持股作为乘坐公交车：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要确定入点：作为可上车的站点，而不应总在中途强行介入。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要确定出点：不应总是跳车而出。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类比理论：将以均线为丘，作为进出口。类比于，将持股作为进出一个房间：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若在突破均线后的中途介入，相当于破墙而入。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若在均线之上因为其他条件退出，相当于破墙而出。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3302709"/>
                  </a:ext>
                </a:extLst>
              </a:tr>
              <a:tr h="65463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思维法宝：</a:t>
                      </a:r>
                      <a:endParaRPr lang="en-US" altLang="zh-CN" sz="9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舍的功效</a:t>
                      </a:r>
                    </a:p>
                    <a:p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①舍我：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应对持仓成本陷阱。不要以自身仓位为准，而要以市场均线为准。无我，要放弃自我，以市场操盘方式运作。</a:t>
                      </a:r>
                    </a:p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②应对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A5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管止损陷阱执念：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为何在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A5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管总是要等待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(WTZA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久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五柱三阴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WJA)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再卖出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? ⇒ 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因为总想要卖在最高点且在最高点不止盈⇒要通过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舍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最高来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得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收益⇒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结论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遇顶型（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龙）要卖（触顶时或触顶后）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结论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 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：遇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巨宽龙要卖</a:t>
                      </a:r>
                    </a:p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③为何叭宽太大可以减仓一部分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?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因为如果仅按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减仓，那么当叭宽太大时，须回吐整个叭宽的收益，导致回撤太多。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另一方面，走势可能不会回调，而是继续暴涨，所以可以保留一部分仓位。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结论：对冲高情况，仓位必一分为二，左侧触顶退出一部分，破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清仓了结。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21892"/>
                  </a:ext>
                </a:extLst>
              </a:tr>
              <a:tr h="721774">
                <a:tc>
                  <a:txBody>
                    <a:bodyPr/>
                    <a:lstStyle/>
                    <a:p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思维法宝：</a:t>
                      </a:r>
                      <a:endParaRPr lang="en-US" altLang="zh-CN" sz="9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低吸高抛的功效</a:t>
                      </a:r>
                    </a:p>
                    <a:p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应对思维陷阱：对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A5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总是进入的太迟，但要等到下破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甚至更低才退出。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错误在于：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为丘，如果能精确进出是必胜策略，而错误在于，在实际操作中单柱会贯穿均线，无法精确退出。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正确作法：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不以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为权重线，放弃失败战法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强制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A5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Ae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，而是根据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精确下入上出。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优化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_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将出点提高：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出⇒触顶后根据回撤退出⇒触顶时在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巨宽龙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优化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_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将入点降低：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入⇒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W2e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入⇒根据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进入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正确买入方式：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入，冲高卖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之上阴买高卖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要确定买入后会远离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WJC)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A5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中途买，冲高卖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注意成本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148214"/>
                  </a:ext>
                </a:extLst>
              </a:tr>
              <a:tr h="367428">
                <a:tc>
                  <a:txBody>
                    <a:bodyPr/>
                    <a:lstStyle/>
                    <a:p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思维法宝：</a:t>
                      </a:r>
                      <a:endParaRPr lang="en-US" altLang="zh-CN" sz="9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单向二戒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在一个位置只能选择做多或做空一个方向，不能盈利实现后就立刻反向操作，这样将铸成大祸。需要贯彻二戒：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一戒（基础版）：在方向判断正确，且盈利退出后，不要因偏离过大或参考低阶波动，而立刻反向操作。必须戒断。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二戒（进阶版）：单向判断正确后，过早退出。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5532536"/>
                  </a:ext>
                </a:extLst>
              </a:tr>
            </a:tbl>
          </a:graphicData>
        </a:graphic>
      </p:graphicFrame>
      <p:sp>
        <p:nvSpPr>
          <p:cNvPr id="7" name="矩形 6">
            <a:extLst>
              <a:ext uri="{FF2B5EF4-FFF2-40B4-BE49-F238E27FC236}">
                <a16:creationId xmlns:a16="http://schemas.microsoft.com/office/drawing/2014/main" id="{E070339C-2A39-AE56-FA89-8ED479E86B78}"/>
              </a:ext>
            </a:extLst>
          </p:cNvPr>
          <p:cNvSpPr/>
          <p:nvPr/>
        </p:nvSpPr>
        <p:spPr>
          <a:xfrm>
            <a:off x="0" y="5678905"/>
            <a:ext cx="6096000" cy="1179095"/>
          </a:xfrm>
          <a:prstGeom prst="rect">
            <a:avLst/>
          </a:prstGeom>
          <a:solidFill>
            <a:schemeClr val="bg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持股三要素：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@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邻居大爷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看逻辑有没有结束？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是否有持续的政策与市场关注度？是否有反复的刺激？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是否缩量下跌？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看趋势线有没有结束？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单一趋势用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做风控。放量下破就离场；缩量下破看三天内能够收回来。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看主力有没有出货？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股价在高位，是否出现放量的阳柱或阴柱？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如果之前是缩量上涨或温和量上涨，突然大放量，代表集中筹码交换。如果后续出现下跌，则可以考虑离场。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25846611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 fontScale="90000"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原旨思考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优化思路</a:t>
            </a:r>
            <a:b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核心是寻找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最大偏离位置原旨教义：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WTZC&gt;0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是大涨必要条件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通过观察全局周线图得出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b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优化本质：低阶均线是否能够决定高阶均线仓位的存在 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抓上升段，避下跌段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文本框 3">
                <a:extLst>
                  <a:ext uri="{FF2B5EF4-FFF2-40B4-BE49-F238E27FC236}">
                    <a16:creationId xmlns:a16="http://schemas.microsoft.com/office/drawing/2014/main" id="{54959ED3-AE02-9FF8-188E-37395414F29F}"/>
                  </a:ext>
                </a:extLst>
              </p:cNvPr>
              <p:cNvSpPr txBox="1"/>
              <p:nvPr/>
            </p:nvSpPr>
            <p:spPr>
              <a:xfrm>
                <a:off x="10684738" y="898250"/>
                <a:ext cx="1236364" cy="87665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zh-CN" altLang="en-US" sz="900" i="1" smtClean="0">
                        <a:latin typeface="Cambria Math" panose="02040503050406030204" pitchFamily="18" charset="0"/>
                        <a:ea typeface="微软雅黑" panose="020B0503020204020204" pitchFamily="34" charset="-122"/>
                      </a:rPr>
                      <m:t>优化参数</m:t>
                    </m:r>
                  </m:oMath>
                </a14:m>
                <a:r>
                  <a:rPr lang="zh-CN" altLang="en-US" sz="9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类别</a:t>
                </a:r>
                <a14:m>
                  <m:oMath xmlns:m="http://schemas.openxmlformats.org/officeDocument/2006/math">
                    <m:d>
                      <m:dPr>
                        <m:begChr m:val="{"/>
                        <m:endChr m:val=""/>
                        <m:ctrlPr>
                          <a:rPr lang="en-US" altLang="zh-CN" sz="900" i="1" dirty="0" smtClean="0">
                            <a:latin typeface="Cambria Math" panose="02040503050406030204" pitchFamily="18" charset="0"/>
                            <a:ea typeface="微软雅黑" panose="020B0503020204020204" pitchFamily="34" charset="-122"/>
                          </a:rPr>
                        </m:ctrlPr>
                      </m:dPr>
                      <m:e>
                        <m:eqArr>
                          <m:eqArrPr>
                            <m:ctrlPr>
                              <a:rPr lang="en-US" altLang="zh-CN" sz="900" i="1" dirty="0" smtClean="0">
                                <a:latin typeface="Cambria Math" panose="02040503050406030204" pitchFamily="18" charset="0"/>
                                <a:ea typeface="微软雅黑" panose="020B0503020204020204" pitchFamily="34" charset="-122"/>
                              </a:rPr>
                            </m:ctrlPr>
                          </m:eqArrPr>
                          <m:e>
                            <m:r>
                              <m:rPr>
                                <m:sty m:val="p"/>
                              </m:rPr>
                              <a:rPr lang="en-US" altLang="zh-CN" sz="900" i="1" dirty="0">
                                <a:latin typeface="Cambria Math" panose="02040503050406030204" pitchFamily="18" charset="0"/>
                                <a:ea typeface="微软雅黑" panose="020B0503020204020204" pitchFamily="34" charset="-122"/>
                              </a:rPr>
                              <m:t>WJC</m:t>
                            </m:r>
                          </m:e>
                          <m:e>
                            <m:r>
                              <a:rPr lang="zh-CN" altLang="en-US" sz="900" i="1" smtClean="0">
                                <a:latin typeface="Cambria Math" panose="02040503050406030204" pitchFamily="18" charset="0"/>
                              </a:rPr>
                              <m:t>局</m:t>
                            </m:r>
                            <m:r>
                              <m:rPr>
                                <m:sty m:val="p"/>
                              </m:rPr>
                              <a:rPr lang="en-US" altLang="zh-CN" sz="900" i="1" smtClean="0">
                                <a:latin typeface="Cambria Math" panose="02040503050406030204" pitchFamily="18" charset="0"/>
                              </a:rPr>
                              <m:t>WJCBA</m:t>
                            </m:r>
                          </m:e>
                          <m:e>
                            <m:r>
                              <a:rPr lang="zh-CN" altLang="en-US" sz="900" i="1" smtClean="0">
                                <a:latin typeface="Cambria Math" panose="02040503050406030204" pitchFamily="18" charset="0"/>
                              </a:rPr>
                              <m:t>中枢</m:t>
                            </m:r>
                            <m:r>
                              <m:rPr>
                                <m:sty m:val="p"/>
                              </m:rPr>
                              <a:rPr lang="en-US" altLang="zh-CN" sz="900" i="1" smtClean="0">
                                <a:latin typeface="Cambria Math" panose="02040503050406030204" pitchFamily="18" charset="0"/>
                              </a:rPr>
                              <m:t>WJA</m:t>
                            </m:r>
                          </m:e>
                          <m:e>
                            <m:r>
                              <a:rPr lang="zh-CN" altLang="en-US" sz="900" i="1" smtClean="0">
                                <a:latin typeface="Cambria Math" panose="02040503050406030204" pitchFamily="18" charset="0"/>
                              </a:rPr>
                              <m:t>周</m:t>
                            </m:r>
                            <m:r>
                              <a:rPr lang="zh-CN" altLang="en-US" sz="900" i="1">
                                <a:latin typeface="Cambria Math" panose="02040503050406030204" pitchFamily="18" charset="0"/>
                              </a:rPr>
                              <m:t>并</m:t>
                            </m:r>
                            <m:r>
                              <a:rPr lang="zh-CN" altLang="en-US" sz="900" i="1" smtClean="0">
                                <a:latin typeface="Cambria Math" panose="02040503050406030204" pitchFamily="18" charset="0"/>
                              </a:rPr>
                              <m:t>符</m:t>
                            </m:r>
                          </m:e>
                          <m:e>
                            <m:r>
                              <a:rPr lang="zh-CN" altLang="en-US" sz="900" i="1">
                                <a:latin typeface="Cambria Math" panose="02040503050406030204" pitchFamily="18" charset="0"/>
                              </a:rPr>
                              <m:t>日</m:t>
                            </m:r>
                            <m:r>
                              <m:rPr>
                                <m:sty m:val="p"/>
                              </m:rPr>
                              <a:rPr lang="en-US" altLang="zh-CN" sz="900" i="1" smtClean="0">
                                <a:latin typeface="Cambria Math" panose="02040503050406030204" pitchFamily="18" charset="0"/>
                              </a:rPr>
                              <m:t>DJCBA</m:t>
                            </m:r>
                          </m:e>
                          <m:e>
                            <m:r>
                              <a:rPr lang="zh-CN" altLang="en-US" sz="900" i="1">
                                <a:latin typeface="Cambria Math" panose="02040503050406030204" pitchFamily="18" charset="0"/>
                              </a:rPr>
                              <m:t>日</m:t>
                            </m:r>
                            <m:r>
                              <a:rPr lang="zh-CN" altLang="en-US" sz="900" i="1" smtClean="0">
                                <a:latin typeface="Cambria Math" panose="02040503050406030204" pitchFamily="18" charset="0"/>
                              </a:rPr>
                              <m:t>并符</m:t>
                            </m:r>
                          </m:e>
                        </m:eqArr>
                      </m:e>
                    </m:d>
                  </m:oMath>
                </a14:m>
                <a:endParaRPr lang="zh-CN" altLang="en-US" sz="9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mc:Choice>
        <mc:Fallback xmlns="">
          <p:sp>
            <p:nvSpPr>
              <p:cNvPr id="4" name="文本框 3">
                <a:extLst>
                  <a:ext uri="{FF2B5EF4-FFF2-40B4-BE49-F238E27FC236}">
                    <a16:creationId xmlns:a16="http://schemas.microsoft.com/office/drawing/2014/main" id="{54959ED3-AE02-9FF8-188E-37395414F2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84738" y="898250"/>
                <a:ext cx="1236364" cy="87665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" name="组合 9">
            <a:extLst>
              <a:ext uri="{FF2B5EF4-FFF2-40B4-BE49-F238E27FC236}">
                <a16:creationId xmlns:a16="http://schemas.microsoft.com/office/drawing/2014/main" id="{FEA5D59C-98FD-EEDB-6555-CE016E818B61}"/>
              </a:ext>
            </a:extLst>
          </p:cNvPr>
          <p:cNvGrpSpPr/>
          <p:nvPr/>
        </p:nvGrpSpPr>
        <p:grpSpPr>
          <a:xfrm>
            <a:off x="9201345" y="2146976"/>
            <a:ext cx="2966785" cy="1970260"/>
            <a:chOff x="9207630" y="3775751"/>
            <a:chExt cx="2966785" cy="1970260"/>
          </a:xfrm>
        </p:grpSpPr>
        <p:grpSp>
          <p:nvGrpSpPr>
            <p:cNvPr id="22" name="组合 21">
              <a:extLst>
                <a:ext uri="{FF2B5EF4-FFF2-40B4-BE49-F238E27FC236}">
                  <a16:creationId xmlns:a16="http://schemas.microsoft.com/office/drawing/2014/main" id="{78C270E7-46CC-0DB2-50BD-9BBE09E0F24E}"/>
                </a:ext>
              </a:extLst>
            </p:cNvPr>
            <p:cNvGrpSpPr/>
            <p:nvPr/>
          </p:nvGrpSpPr>
          <p:grpSpPr>
            <a:xfrm>
              <a:off x="9207630" y="3775751"/>
              <a:ext cx="2954215" cy="1875407"/>
              <a:chOff x="8845062" y="4358339"/>
              <a:chExt cx="2954215" cy="1875407"/>
            </a:xfrm>
          </p:grpSpPr>
          <p:sp>
            <p:nvSpPr>
              <p:cNvPr id="13" name="椭圆 12">
                <a:extLst>
                  <a:ext uri="{FF2B5EF4-FFF2-40B4-BE49-F238E27FC236}">
                    <a16:creationId xmlns:a16="http://schemas.microsoft.com/office/drawing/2014/main" id="{DF456EC8-D97E-8C86-E5B5-38AE5C1BC3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53854" y="5597400"/>
                <a:ext cx="216000" cy="216000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dirty="0">
                    <a:solidFill>
                      <a:schemeClr val="tx1"/>
                    </a:solidFill>
                  </a:rPr>
                  <a:t>1</a:t>
                </a:r>
                <a:endParaRPr lang="zh-CN" altLang="en-US" sz="1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椭圆 13">
                <a:extLst>
                  <a:ext uri="{FF2B5EF4-FFF2-40B4-BE49-F238E27FC236}">
                    <a16:creationId xmlns:a16="http://schemas.microsoft.com/office/drawing/2014/main" id="{656B4F25-96EA-E51F-EA74-A5C7E0C1F5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35560" y="5343720"/>
                <a:ext cx="216000" cy="216000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dirty="0">
                    <a:solidFill>
                      <a:schemeClr val="tx1"/>
                    </a:solidFill>
                  </a:rPr>
                  <a:t>2</a:t>
                </a:r>
                <a:endParaRPr lang="zh-CN" altLang="en-US" sz="1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椭圆 14">
                <a:extLst>
                  <a:ext uri="{FF2B5EF4-FFF2-40B4-BE49-F238E27FC236}">
                    <a16:creationId xmlns:a16="http://schemas.microsoft.com/office/drawing/2014/main" id="{6681F6FC-E1DC-CDD7-05F3-47B05AE51F0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68738" y="4879402"/>
                <a:ext cx="216000" cy="216000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dirty="0">
                    <a:solidFill>
                      <a:schemeClr val="tx1"/>
                    </a:solidFill>
                  </a:rPr>
                  <a:t>3</a:t>
                </a:r>
                <a:endParaRPr lang="zh-CN" altLang="en-US" sz="1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7" name="矩形 16">
                <a:extLst>
                  <a:ext uri="{FF2B5EF4-FFF2-40B4-BE49-F238E27FC236}">
                    <a16:creationId xmlns:a16="http://schemas.microsoft.com/office/drawing/2014/main" id="{4ACFD77E-7F12-F958-229B-34A7F02BDACB}"/>
                  </a:ext>
                </a:extLst>
              </p:cNvPr>
              <p:cNvSpPr/>
              <p:nvPr/>
            </p:nvSpPr>
            <p:spPr>
              <a:xfrm>
                <a:off x="9243913" y="5015715"/>
                <a:ext cx="45719" cy="318900"/>
              </a:xfrm>
              <a:prstGeom prst="rect">
                <a:avLst/>
              </a:prstGeom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8" name="矩形 17">
                <a:extLst>
                  <a:ext uri="{FF2B5EF4-FFF2-40B4-BE49-F238E27FC236}">
                    <a16:creationId xmlns:a16="http://schemas.microsoft.com/office/drawing/2014/main" id="{24732C79-B05A-AD3D-6EBB-B52751B09CED}"/>
                  </a:ext>
                </a:extLst>
              </p:cNvPr>
              <p:cNvSpPr/>
              <p:nvPr/>
            </p:nvSpPr>
            <p:spPr>
              <a:xfrm>
                <a:off x="10775008" y="4436861"/>
                <a:ext cx="45719" cy="318900"/>
              </a:xfrm>
              <a:prstGeom prst="rect">
                <a:avLst/>
              </a:prstGeom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" name="文本框 18">
                <a:extLst>
                  <a:ext uri="{FF2B5EF4-FFF2-40B4-BE49-F238E27FC236}">
                    <a16:creationId xmlns:a16="http://schemas.microsoft.com/office/drawing/2014/main" id="{458D1A82-1F2C-D861-20C0-C4F52EE982D5}"/>
                  </a:ext>
                </a:extLst>
              </p:cNvPr>
              <p:cNvSpPr txBox="1"/>
              <p:nvPr/>
            </p:nvSpPr>
            <p:spPr>
              <a:xfrm>
                <a:off x="9221573" y="4930325"/>
                <a:ext cx="607859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1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应止盈</a:t>
                </a:r>
              </a:p>
            </p:txBody>
          </p:sp>
          <p:sp>
            <p:nvSpPr>
              <p:cNvPr id="20" name="文本框 19">
                <a:extLst>
                  <a:ext uri="{FF2B5EF4-FFF2-40B4-BE49-F238E27FC236}">
                    <a16:creationId xmlns:a16="http://schemas.microsoft.com/office/drawing/2014/main" id="{58C99D92-7E18-8622-BF99-B856FA0435D7}"/>
                  </a:ext>
                </a:extLst>
              </p:cNvPr>
              <p:cNvSpPr txBox="1"/>
              <p:nvPr/>
            </p:nvSpPr>
            <p:spPr>
              <a:xfrm>
                <a:off x="10775008" y="4358339"/>
                <a:ext cx="607859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1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应止盈</a:t>
                </a:r>
              </a:p>
            </p:txBody>
          </p:sp>
          <p:cxnSp>
            <p:nvCxnSpPr>
              <p:cNvPr id="9" name="直接连接符 8">
                <a:extLst>
                  <a:ext uri="{FF2B5EF4-FFF2-40B4-BE49-F238E27FC236}">
                    <a16:creationId xmlns:a16="http://schemas.microsoft.com/office/drawing/2014/main" id="{FF7443D6-4BE5-1656-047D-CF9161A2D70D}"/>
                  </a:ext>
                </a:extLst>
              </p:cNvPr>
              <p:cNvCxnSpPr/>
              <p:nvPr/>
            </p:nvCxnSpPr>
            <p:spPr>
              <a:xfrm flipV="1">
                <a:off x="8845062" y="5486400"/>
                <a:ext cx="2954215" cy="747346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" name="任意多边形: 形状 11">
              <a:extLst>
                <a:ext uri="{FF2B5EF4-FFF2-40B4-BE49-F238E27FC236}">
                  <a16:creationId xmlns:a16="http://schemas.microsoft.com/office/drawing/2014/main" id="{4B5774EE-768E-8E34-5575-2F1B957A1794}"/>
                </a:ext>
              </a:extLst>
            </p:cNvPr>
            <p:cNvSpPr/>
            <p:nvPr/>
          </p:nvSpPr>
          <p:spPr>
            <a:xfrm>
              <a:off x="9246577" y="4066614"/>
              <a:ext cx="2927838" cy="1679397"/>
            </a:xfrm>
            <a:custGeom>
              <a:avLst/>
              <a:gdLst>
                <a:gd name="connsiteX0" fmla="*/ 0 w 2927838"/>
                <a:gd name="connsiteY0" fmla="*/ 1679397 h 1679397"/>
                <a:gd name="connsiteX1" fmla="*/ 659423 w 2927838"/>
                <a:gd name="connsiteY1" fmla="*/ 545190 h 1679397"/>
                <a:gd name="connsiteX2" fmla="*/ 1424354 w 2927838"/>
                <a:gd name="connsiteY2" fmla="*/ 940844 h 1679397"/>
                <a:gd name="connsiteX3" fmla="*/ 2198077 w 2927838"/>
                <a:gd name="connsiteY3" fmla="*/ 67 h 1679397"/>
                <a:gd name="connsiteX4" fmla="*/ 2927838 w 2927838"/>
                <a:gd name="connsiteY4" fmla="*/ 993597 h 1679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7838" h="1679397">
                  <a:moveTo>
                    <a:pt x="0" y="1679397"/>
                  </a:moveTo>
                  <a:cubicBezTo>
                    <a:pt x="211015" y="1173839"/>
                    <a:pt x="422031" y="668282"/>
                    <a:pt x="659423" y="545190"/>
                  </a:cubicBezTo>
                  <a:cubicBezTo>
                    <a:pt x="896815" y="422098"/>
                    <a:pt x="1167912" y="1031698"/>
                    <a:pt x="1424354" y="940844"/>
                  </a:cubicBezTo>
                  <a:cubicBezTo>
                    <a:pt x="1680796" y="849990"/>
                    <a:pt x="1947496" y="-8725"/>
                    <a:pt x="2198077" y="67"/>
                  </a:cubicBezTo>
                  <a:cubicBezTo>
                    <a:pt x="2448658" y="8859"/>
                    <a:pt x="2688248" y="501228"/>
                    <a:pt x="2927838" y="993597"/>
                  </a:cubicBezTo>
                </a:path>
              </a:pathLst>
            </a:custGeom>
            <a:noFill/>
            <a:ln w="2540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graphicFrame>
        <p:nvGraphicFramePr>
          <p:cNvPr id="8" name="表格 7">
            <a:extLst>
              <a:ext uri="{FF2B5EF4-FFF2-40B4-BE49-F238E27FC236}">
                <a16:creationId xmlns:a16="http://schemas.microsoft.com/office/drawing/2014/main" id="{2B82BE9B-F0A5-98AF-AB24-5BFAA46E53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4857278"/>
              </p:ext>
            </p:extLst>
          </p:nvPr>
        </p:nvGraphicFramePr>
        <p:xfrm>
          <a:off x="-6286" y="720000"/>
          <a:ext cx="8308076" cy="3458969"/>
        </p:xfrm>
        <a:graphic>
          <a:graphicData uri="http://schemas.openxmlformats.org/drawingml/2006/table">
            <a:tbl>
              <a:tblPr firstRow="1" bandRow="1">
                <a:tableStyleId>{C4B1156A-380E-4F78-BDF5-A606A8083BF9}</a:tableStyleId>
              </a:tblPr>
              <a:tblGrid>
                <a:gridCol w="1064431">
                  <a:extLst>
                    <a:ext uri="{9D8B030D-6E8A-4147-A177-3AD203B41FA5}">
                      <a16:colId xmlns:a16="http://schemas.microsoft.com/office/drawing/2014/main" val="2962600750"/>
                    </a:ext>
                  </a:extLst>
                </a:gridCol>
                <a:gridCol w="874929">
                  <a:extLst>
                    <a:ext uri="{9D8B030D-6E8A-4147-A177-3AD203B41FA5}">
                      <a16:colId xmlns:a16="http://schemas.microsoft.com/office/drawing/2014/main" val="2927289393"/>
                    </a:ext>
                  </a:extLst>
                </a:gridCol>
                <a:gridCol w="6368716">
                  <a:extLst>
                    <a:ext uri="{9D8B030D-6E8A-4147-A177-3AD203B41FA5}">
                      <a16:colId xmlns:a16="http://schemas.microsoft.com/office/drawing/2014/main" val="903017978"/>
                    </a:ext>
                  </a:extLst>
                </a:gridCol>
              </a:tblGrid>
              <a:tr h="23371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优化的核心思路</a:t>
                      </a:r>
                    </a:p>
                  </a:txBody>
                  <a:tcPr>
                    <a:solidFill>
                      <a:schemeClr val="accent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丘必赢 ⇒ 抓升避降 ⇒ 高阶均线决定仓位限额，低阶均线决定进出时点。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49824612"/>
                  </a:ext>
                </a:extLst>
              </a:tr>
              <a:tr h="373943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优化的方法</a:t>
                      </a: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改变出口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预判成功后提前止盈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	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⇒目的是避开上升趋势中的回撤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可忍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：四类警盈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偏宽叠久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预判失败后提前止损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	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⇒目的是避开趋势逆转后的回撤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不应忍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：四类警损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9502806"/>
                  </a:ext>
                </a:extLst>
              </a:tr>
              <a:tr h="373943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改变入口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为初入口：以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为界精确进入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少数可扩展至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/w6w/w6v)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之上再入口：以低阶均线为丘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层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BCD/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层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AG)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507976"/>
                  </a:ext>
                </a:extLst>
              </a:tr>
              <a:tr h="373943"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优化的难点</a:t>
                      </a: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止盈难点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止盈后继续上升：已保证正收益，会错过后续上升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止盈后下跌是否再进入：是否做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阴买阳卖。风险：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卖飞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连续下跌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5473484"/>
                  </a:ext>
                </a:extLst>
              </a:tr>
              <a:tr h="934856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止损难点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出现亏损后过晚退出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区分是否已大涨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如已大涨，应按低阶均线止盈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介于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与周哼之间止盈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如未大涨，应按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持仓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寻找哪些先兆必然导致继续下跌⇒镜：在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之下寻找上升先兆（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三柱排列）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四级警损处置方法：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/0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守仓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减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/3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清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3390217"/>
                  </a:ext>
                </a:extLst>
              </a:tr>
              <a:tr h="5141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再入难点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扭转趋势后不敢进入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注意次级丘的节奏：高阶均线之上丘大小不同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幅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。舍弃大涨后再次进入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分批建仓，限制仓位。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884469"/>
                  </a:ext>
                </a:extLst>
              </a:tr>
              <a:tr h="654399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交易技术难点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精确进出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理想情况：针对任意均线精确上入下出必赢。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实际情况：当下破低阶均线会导致更多下跌时，应提前退出；当在高阶均线之上，下破低阶均线后止跌蓄力时，应提前埋伏且快速获利了结。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29614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0352014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 fontScale="90000"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原旨思考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亏损来源与应对策略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本页主题：以 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丘为根本，分析亏损来源与应对策略的得失。在真正操盘过程中，开始不知丘大小，只能摸着石头过河。要按照持有标准进行判定，被动演化为大丘或止损退出。</a:t>
            </a:r>
            <a:b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分析思路是：亏损来源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⇒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应对策略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⇒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操盘方法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0" y="720000"/>
            <a:ext cx="12192000" cy="14773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根据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丘分析收益来源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根据精确进出必赢，收益来源分为两部分：一部分是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增幅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通过精准进出保证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；一部分是偏增幅。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充分利用偏增幅提高收益，优化步骤包括：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①保证遍历从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到丘最高点的整个过程；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②绝对优化：取上升段，舍下降段。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③效率优化：从上升段中，舍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缓慢上升段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][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震荡上升段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](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多出现在顶部确认阶段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错误操作导致亏损：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应对措施是在中途只出不入。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错误判断是机会导致错误操作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：应卖出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止盈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⇒ 持有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不知足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⇒ 加仓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追高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		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如：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鼎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/3h/2I/2e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返鼎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触顶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错误判断是风险导致错误操作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：应买入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捡漏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⇒ 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观望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不勇敢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⇒ 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卖出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杀跌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		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如：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JDC/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DJB/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3" name="组合 42">
            <a:extLst>
              <a:ext uri="{FF2B5EF4-FFF2-40B4-BE49-F238E27FC236}">
                <a16:creationId xmlns:a16="http://schemas.microsoft.com/office/drawing/2014/main" id="{CDD0232D-084C-980D-63C4-EAD65548AA6A}"/>
              </a:ext>
            </a:extLst>
          </p:cNvPr>
          <p:cNvGrpSpPr/>
          <p:nvPr/>
        </p:nvGrpSpPr>
        <p:grpSpPr>
          <a:xfrm>
            <a:off x="9653784" y="4125316"/>
            <a:ext cx="1757166" cy="746841"/>
            <a:chOff x="9653784" y="4039591"/>
            <a:chExt cx="1757166" cy="746841"/>
          </a:xfrm>
        </p:grpSpPr>
        <p:cxnSp>
          <p:nvCxnSpPr>
            <p:cNvPr id="7" name="直接连接符 6">
              <a:extLst>
                <a:ext uri="{FF2B5EF4-FFF2-40B4-BE49-F238E27FC236}">
                  <a16:creationId xmlns:a16="http://schemas.microsoft.com/office/drawing/2014/main" id="{8DD1A2A0-7601-F8D9-AE49-05BEABEA100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653784" y="4072307"/>
              <a:ext cx="1757166" cy="356818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任意多边形: 形状 10">
              <a:extLst>
                <a:ext uri="{FF2B5EF4-FFF2-40B4-BE49-F238E27FC236}">
                  <a16:creationId xmlns:a16="http://schemas.microsoft.com/office/drawing/2014/main" id="{021519A1-5199-4AAD-4E54-BB7AE5B1DA47}"/>
                </a:ext>
              </a:extLst>
            </p:cNvPr>
            <p:cNvSpPr/>
            <p:nvPr/>
          </p:nvSpPr>
          <p:spPr>
            <a:xfrm>
              <a:off x="9795192" y="4321956"/>
              <a:ext cx="1494971" cy="464476"/>
            </a:xfrm>
            <a:custGeom>
              <a:avLst/>
              <a:gdLst>
                <a:gd name="connsiteX0" fmla="*/ 0 w 1494971"/>
                <a:gd name="connsiteY0" fmla="*/ 449962 h 464476"/>
                <a:gd name="connsiteX1" fmla="*/ 595086 w 1494971"/>
                <a:gd name="connsiteY1" fmla="*/ 19 h 464476"/>
                <a:gd name="connsiteX2" fmla="*/ 1494971 w 1494971"/>
                <a:gd name="connsiteY2" fmla="*/ 464476 h 464476"/>
                <a:gd name="connsiteX3" fmla="*/ 1494971 w 1494971"/>
                <a:gd name="connsiteY3" fmla="*/ 464476 h 46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4971" h="464476">
                  <a:moveTo>
                    <a:pt x="0" y="449962"/>
                  </a:moveTo>
                  <a:cubicBezTo>
                    <a:pt x="172962" y="223781"/>
                    <a:pt x="345924" y="-2400"/>
                    <a:pt x="595086" y="19"/>
                  </a:cubicBezTo>
                  <a:cubicBezTo>
                    <a:pt x="844248" y="2438"/>
                    <a:pt x="1494971" y="464476"/>
                    <a:pt x="1494971" y="464476"/>
                  </a:cubicBezTo>
                  <a:lnTo>
                    <a:pt x="1494971" y="464476"/>
                  </a:lnTo>
                </a:path>
              </a:pathLst>
            </a:custGeom>
            <a:noFill/>
            <a:ln w="2540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任意多边形: 形状 22">
              <a:extLst>
                <a:ext uri="{FF2B5EF4-FFF2-40B4-BE49-F238E27FC236}">
                  <a16:creationId xmlns:a16="http://schemas.microsoft.com/office/drawing/2014/main" id="{1AC0BC9E-6B18-69E5-9370-5CAF95C6E39F}"/>
                </a:ext>
              </a:extLst>
            </p:cNvPr>
            <p:cNvSpPr/>
            <p:nvPr/>
          </p:nvSpPr>
          <p:spPr>
            <a:xfrm>
              <a:off x="9795191" y="4039591"/>
              <a:ext cx="1494971" cy="464476"/>
            </a:xfrm>
            <a:custGeom>
              <a:avLst/>
              <a:gdLst>
                <a:gd name="connsiteX0" fmla="*/ 0 w 1494971"/>
                <a:gd name="connsiteY0" fmla="*/ 449962 h 464476"/>
                <a:gd name="connsiteX1" fmla="*/ 595086 w 1494971"/>
                <a:gd name="connsiteY1" fmla="*/ 19 h 464476"/>
                <a:gd name="connsiteX2" fmla="*/ 1494971 w 1494971"/>
                <a:gd name="connsiteY2" fmla="*/ 464476 h 464476"/>
                <a:gd name="connsiteX3" fmla="*/ 1494971 w 1494971"/>
                <a:gd name="connsiteY3" fmla="*/ 464476 h 46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4971" h="464476">
                  <a:moveTo>
                    <a:pt x="0" y="449962"/>
                  </a:moveTo>
                  <a:cubicBezTo>
                    <a:pt x="172962" y="223781"/>
                    <a:pt x="345924" y="-2400"/>
                    <a:pt x="595086" y="19"/>
                  </a:cubicBezTo>
                  <a:cubicBezTo>
                    <a:pt x="844248" y="2438"/>
                    <a:pt x="1494971" y="464476"/>
                    <a:pt x="1494971" y="464476"/>
                  </a:cubicBezTo>
                  <a:lnTo>
                    <a:pt x="1494971" y="464476"/>
                  </a:lnTo>
                </a:path>
              </a:pathLst>
            </a:custGeom>
            <a:noFill/>
            <a:ln w="2540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7" name="组合 36">
            <a:extLst>
              <a:ext uri="{FF2B5EF4-FFF2-40B4-BE49-F238E27FC236}">
                <a16:creationId xmlns:a16="http://schemas.microsoft.com/office/drawing/2014/main" id="{67728F66-FF44-0A27-1B19-6FBB9B2AC784}"/>
              </a:ext>
            </a:extLst>
          </p:cNvPr>
          <p:cNvGrpSpPr/>
          <p:nvPr/>
        </p:nvGrpSpPr>
        <p:grpSpPr>
          <a:xfrm>
            <a:off x="8705006" y="5374241"/>
            <a:ext cx="3424891" cy="1355776"/>
            <a:chOff x="8819306" y="3837783"/>
            <a:chExt cx="3424891" cy="1355776"/>
          </a:xfrm>
        </p:grpSpPr>
        <p:cxnSp>
          <p:nvCxnSpPr>
            <p:cNvPr id="13" name="直接连接符 12">
              <a:extLst>
                <a:ext uri="{FF2B5EF4-FFF2-40B4-BE49-F238E27FC236}">
                  <a16:creationId xmlns:a16="http://schemas.microsoft.com/office/drawing/2014/main" id="{BACE5448-FC7A-BCB0-DB28-303766C6D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21191" y="4816187"/>
              <a:ext cx="2902857" cy="159657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任意多边形: 形状 13">
              <a:extLst>
                <a:ext uri="{FF2B5EF4-FFF2-40B4-BE49-F238E27FC236}">
                  <a16:creationId xmlns:a16="http://schemas.microsoft.com/office/drawing/2014/main" id="{5ADB4A3A-E1F3-9954-E71D-E713773700DB}"/>
                </a:ext>
              </a:extLst>
            </p:cNvPr>
            <p:cNvSpPr/>
            <p:nvPr/>
          </p:nvSpPr>
          <p:spPr>
            <a:xfrm>
              <a:off x="9121191" y="4066087"/>
              <a:ext cx="3007250" cy="1127472"/>
            </a:xfrm>
            <a:custGeom>
              <a:avLst/>
              <a:gdLst>
                <a:gd name="connsiteX0" fmla="*/ 0 w 3007250"/>
                <a:gd name="connsiteY0" fmla="*/ 1127472 h 1127472"/>
                <a:gd name="connsiteX1" fmla="*/ 856343 w 3007250"/>
                <a:gd name="connsiteY1" fmla="*/ 9872 h 1127472"/>
                <a:gd name="connsiteX2" fmla="*/ 1611086 w 3007250"/>
                <a:gd name="connsiteY2" fmla="*/ 561415 h 1127472"/>
                <a:gd name="connsiteX3" fmla="*/ 2177143 w 3007250"/>
                <a:gd name="connsiteY3" fmla="*/ 213072 h 1127472"/>
                <a:gd name="connsiteX4" fmla="*/ 2496457 w 3007250"/>
                <a:gd name="connsiteY4" fmla="*/ 503357 h 1127472"/>
                <a:gd name="connsiteX5" fmla="*/ 2699657 w 3007250"/>
                <a:gd name="connsiteY5" fmla="*/ 358215 h 1127472"/>
                <a:gd name="connsiteX6" fmla="*/ 2975429 w 3007250"/>
                <a:gd name="connsiteY6" fmla="*/ 982329 h 1127472"/>
                <a:gd name="connsiteX7" fmla="*/ 3004457 w 3007250"/>
                <a:gd name="connsiteY7" fmla="*/ 1054900 h 1127472"/>
                <a:gd name="connsiteX8" fmla="*/ 3004457 w 3007250"/>
                <a:gd name="connsiteY8" fmla="*/ 1011357 h 112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07250" h="1127472">
                  <a:moveTo>
                    <a:pt x="0" y="1127472"/>
                  </a:moveTo>
                  <a:cubicBezTo>
                    <a:pt x="293914" y="615843"/>
                    <a:pt x="587829" y="104215"/>
                    <a:pt x="856343" y="9872"/>
                  </a:cubicBezTo>
                  <a:cubicBezTo>
                    <a:pt x="1124857" y="-84471"/>
                    <a:pt x="1390953" y="527548"/>
                    <a:pt x="1611086" y="561415"/>
                  </a:cubicBezTo>
                  <a:cubicBezTo>
                    <a:pt x="1831219" y="595282"/>
                    <a:pt x="2029581" y="222748"/>
                    <a:pt x="2177143" y="213072"/>
                  </a:cubicBezTo>
                  <a:cubicBezTo>
                    <a:pt x="2324705" y="203396"/>
                    <a:pt x="2409371" y="479166"/>
                    <a:pt x="2496457" y="503357"/>
                  </a:cubicBezTo>
                  <a:cubicBezTo>
                    <a:pt x="2583543" y="527547"/>
                    <a:pt x="2619828" y="278386"/>
                    <a:pt x="2699657" y="358215"/>
                  </a:cubicBezTo>
                  <a:cubicBezTo>
                    <a:pt x="2779486" y="438044"/>
                    <a:pt x="2924629" y="866215"/>
                    <a:pt x="2975429" y="982329"/>
                  </a:cubicBezTo>
                  <a:cubicBezTo>
                    <a:pt x="3026229" y="1098443"/>
                    <a:pt x="2999619" y="1050062"/>
                    <a:pt x="3004457" y="1054900"/>
                  </a:cubicBezTo>
                  <a:cubicBezTo>
                    <a:pt x="3009295" y="1059738"/>
                    <a:pt x="3006876" y="1035547"/>
                    <a:pt x="3004457" y="1011357"/>
                  </a:cubicBezTo>
                </a:path>
              </a:pathLst>
            </a:custGeom>
            <a:noFill/>
            <a:ln w="2540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文本框 15">
              <a:extLst>
                <a:ext uri="{FF2B5EF4-FFF2-40B4-BE49-F238E27FC236}">
                  <a16:creationId xmlns:a16="http://schemas.microsoft.com/office/drawing/2014/main" id="{12B345D1-E529-CB59-7A55-8E98A3CB558F}"/>
                </a:ext>
              </a:extLst>
            </p:cNvPr>
            <p:cNvSpPr txBox="1"/>
            <p:nvPr/>
          </p:nvSpPr>
          <p:spPr>
            <a:xfrm>
              <a:off x="8819306" y="4616627"/>
              <a:ext cx="619126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进入太迟</a:t>
              </a:r>
              <a:endParaRPr lang="zh-CN" altLang="en-US" sz="800" dirty="0"/>
            </a:p>
          </p:txBody>
        </p:sp>
        <p:sp>
          <p:nvSpPr>
            <p:cNvPr id="17" name="椭圆 16">
              <a:extLst>
                <a:ext uri="{FF2B5EF4-FFF2-40B4-BE49-F238E27FC236}">
                  <a16:creationId xmlns:a16="http://schemas.microsoft.com/office/drawing/2014/main" id="{89A99E1C-EADE-95F3-345E-847C25A3AF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348432" y="4675878"/>
              <a:ext cx="90000" cy="90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" name="文本框 17">
              <a:extLst>
                <a:ext uri="{FF2B5EF4-FFF2-40B4-BE49-F238E27FC236}">
                  <a16:creationId xmlns:a16="http://schemas.microsoft.com/office/drawing/2014/main" id="{F6830082-5A95-F3DC-7F23-C726BFAC63B1}"/>
                </a:ext>
              </a:extLst>
            </p:cNvPr>
            <p:cNvSpPr txBox="1"/>
            <p:nvPr/>
          </p:nvSpPr>
          <p:spPr>
            <a:xfrm>
              <a:off x="9124692" y="4168962"/>
              <a:ext cx="643392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退出太早</a:t>
              </a:r>
              <a:endParaRPr lang="zh-CN" altLang="en-US" sz="800" dirty="0"/>
            </a:p>
          </p:txBody>
        </p: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921BD9-1179-BF67-0976-24A221C6190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56341" y="4235432"/>
              <a:ext cx="90000" cy="90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椭圆 19">
              <a:extLst>
                <a:ext uri="{FF2B5EF4-FFF2-40B4-BE49-F238E27FC236}">
                  <a16:creationId xmlns:a16="http://schemas.microsoft.com/office/drawing/2014/main" id="{A07B3398-0047-2AC5-3B02-D7A475DD05B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81017" y="4294406"/>
              <a:ext cx="90000" cy="90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" name="文本框 21">
              <a:extLst>
                <a:ext uri="{FF2B5EF4-FFF2-40B4-BE49-F238E27FC236}">
                  <a16:creationId xmlns:a16="http://schemas.microsoft.com/office/drawing/2014/main" id="{D4CFB907-A34E-2F10-F046-6999C7D70A59}"/>
                </a:ext>
              </a:extLst>
            </p:cNvPr>
            <p:cNvSpPr txBox="1"/>
            <p:nvPr/>
          </p:nvSpPr>
          <p:spPr>
            <a:xfrm>
              <a:off x="10393684" y="4225693"/>
              <a:ext cx="619126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退出太迟</a:t>
              </a:r>
              <a:endParaRPr lang="zh-CN" altLang="en-US" sz="800" dirty="0"/>
            </a:p>
          </p:txBody>
        </p:sp>
        <p:sp>
          <p:nvSpPr>
            <p:cNvPr id="24" name="椭圆 23">
              <a:extLst>
                <a:ext uri="{FF2B5EF4-FFF2-40B4-BE49-F238E27FC236}">
                  <a16:creationId xmlns:a16="http://schemas.microsoft.com/office/drawing/2014/main" id="{7488E96F-B4A2-D9DF-75CB-4C007153B90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55761" y="4021087"/>
              <a:ext cx="90000" cy="90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椭圆 24">
              <a:extLst>
                <a:ext uri="{FF2B5EF4-FFF2-40B4-BE49-F238E27FC236}">
                  <a16:creationId xmlns:a16="http://schemas.microsoft.com/office/drawing/2014/main" id="{6D74273F-680B-E79F-B840-CC875B985EE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03247" y="4581407"/>
              <a:ext cx="90000" cy="90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文本框 25">
              <a:extLst>
                <a:ext uri="{FF2B5EF4-FFF2-40B4-BE49-F238E27FC236}">
                  <a16:creationId xmlns:a16="http://schemas.microsoft.com/office/drawing/2014/main" id="{853D00BA-0420-B277-741A-598D1DD29FCD}"/>
                </a:ext>
              </a:extLst>
            </p:cNvPr>
            <p:cNvSpPr txBox="1"/>
            <p:nvPr/>
          </p:nvSpPr>
          <p:spPr>
            <a:xfrm>
              <a:off x="9746341" y="3837783"/>
              <a:ext cx="643392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未止盈</a:t>
              </a:r>
              <a:endParaRPr lang="zh-CN" altLang="en-US" sz="800" dirty="0"/>
            </a:p>
          </p:txBody>
        </p:sp>
        <p:sp>
          <p:nvSpPr>
            <p:cNvPr id="27" name="文本框 26">
              <a:extLst>
                <a:ext uri="{FF2B5EF4-FFF2-40B4-BE49-F238E27FC236}">
                  <a16:creationId xmlns:a16="http://schemas.microsoft.com/office/drawing/2014/main" id="{DBEC3F25-7543-A77D-E75A-76165CAE810D}"/>
                </a:ext>
              </a:extLst>
            </p:cNvPr>
            <p:cNvSpPr txBox="1"/>
            <p:nvPr/>
          </p:nvSpPr>
          <p:spPr>
            <a:xfrm>
              <a:off x="10520781" y="4655523"/>
              <a:ext cx="643392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未再入</a:t>
              </a:r>
              <a:endParaRPr lang="zh-CN" altLang="en-US" sz="800" dirty="0"/>
            </a:p>
          </p:txBody>
        </p:sp>
        <p:sp>
          <p:nvSpPr>
            <p:cNvPr id="28" name="椭圆 27">
              <a:extLst>
                <a:ext uri="{FF2B5EF4-FFF2-40B4-BE49-F238E27FC236}">
                  <a16:creationId xmlns:a16="http://schemas.microsoft.com/office/drawing/2014/main" id="{D44CAD9C-825F-06EF-9CBA-DC8E47E50BA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952708" y="4771187"/>
              <a:ext cx="90000" cy="90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0" name="文本框 29">
              <a:extLst>
                <a:ext uri="{FF2B5EF4-FFF2-40B4-BE49-F238E27FC236}">
                  <a16:creationId xmlns:a16="http://schemas.microsoft.com/office/drawing/2014/main" id="{DED24962-E20F-2651-FC79-145C59844C90}"/>
                </a:ext>
              </a:extLst>
            </p:cNvPr>
            <p:cNvSpPr txBox="1"/>
            <p:nvPr/>
          </p:nvSpPr>
          <p:spPr>
            <a:xfrm>
              <a:off x="11600805" y="4908649"/>
              <a:ext cx="643392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未止损</a:t>
              </a:r>
              <a:endParaRPr lang="zh-CN" altLang="en-US" sz="800" dirty="0"/>
            </a:p>
          </p:txBody>
        </p:sp>
      </p:grp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7E942943-F969-B066-87E5-A075D5521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0490942"/>
              </p:ext>
            </p:extLst>
          </p:nvPr>
        </p:nvGraphicFramePr>
        <p:xfrm>
          <a:off x="-602" y="3962382"/>
          <a:ext cx="8270466" cy="2895600"/>
        </p:xfrm>
        <a:graphic>
          <a:graphicData uri="http://schemas.openxmlformats.org/drawingml/2006/table">
            <a:tbl>
              <a:tblPr firstRow="1" bandRow="1">
                <a:tableStyleId>{74C1A8A3-306A-4EB7-A6B1-4F7E0EB9C5D6}</a:tableStyleId>
              </a:tblPr>
              <a:tblGrid>
                <a:gridCol w="1259907">
                  <a:extLst>
                    <a:ext uri="{9D8B030D-6E8A-4147-A177-3AD203B41FA5}">
                      <a16:colId xmlns:a16="http://schemas.microsoft.com/office/drawing/2014/main" val="4210394109"/>
                    </a:ext>
                  </a:extLst>
                </a:gridCol>
                <a:gridCol w="7010559">
                  <a:extLst>
                    <a:ext uri="{9D8B030D-6E8A-4147-A177-3AD203B41FA5}">
                      <a16:colId xmlns:a16="http://schemas.microsoft.com/office/drawing/2014/main" val="2797605165"/>
                    </a:ext>
                  </a:extLst>
                </a:gridCol>
              </a:tblGrid>
              <a:tr h="214584">
                <a:tc gridSpan="2"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亏损来源分类与应对策略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65412593"/>
                  </a:ext>
                </a:extLst>
              </a:tr>
              <a:tr h="21458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未止损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严格按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5935653"/>
                  </a:ext>
                </a:extLst>
              </a:tr>
              <a:tr h="472085"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误困</a:t>
                      </a:r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亏损原因是迷恋低阶均线，后果是困于下跌趋势，应对措施是以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作为基准线，舍弃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之下微小增幅。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附近反复震荡，寄希望于大趋势机会，而不舍得按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之下被诱多于：低阶均线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/WJB/WJA/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日级别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形态。应对措施是未站上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要止损。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69594395"/>
                  </a:ext>
                </a:extLst>
              </a:tr>
              <a:tr h="600835"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进入太迟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亏损原因是没在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精确进入，后果是错过部分涨幅，应对措施是：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精准进入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等待回踩确认趋势再进入。</a:t>
                      </a: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未在上破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时及时进入：特别针对小丘错失涨幅。应对措施是在初始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/w1w/w1v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按并符持仓。</a:t>
                      </a: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丘中途进入：迷恋于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以外各次级入口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(/WXAB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/WXZB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。应快进快出单柱止盈。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追涨：迷恋于各持殊形态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，受消息、板块异动影响。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97463854"/>
                  </a:ext>
                </a:extLst>
              </a:tr>
              <a:tr h="600835"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退出太早</a:t>
                      </a:r>
                      <a:endParaRPr lang="en-US" altLang="zh-CN" sz="10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（机会成本）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保证了收益为正，但未覆盖完整增幅。应对策略是留底仓。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在大丘的调整处，根据并符、警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、警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等次级信号，认亏退出。应对措施，保留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底仓防止踏空。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担心调整浪费时间。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担心进入下跌趋势，只要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未破或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且沿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形成柱排列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，都不需要止损，但不要主动介入。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5203099"/>
                  </a:ext>
                </a:extLst>
              </a:tr>
              <a:tr h="600835"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退出太迟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不知止盈：</a:t>
                      </a: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错误区分主升区与震荡区：主升区可长期持有；震荡区围绕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/WJA/WJB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，要快进快出，且战且退，仅保证下柱为阳柱。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杀跌：错误解读信号，不知足，未止盈，一旦转跌就迫不及待卖出。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被动等待破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退出：未卖出的心态为存在对政策、消息、国家队的幻想，不甘心认亏的侥幸心理。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492548"/>
                  </a:ext>
                </a:extLst>
              </a:tr>
            </a:tbl>
          </a:graphicData>
        </a:graphic>
      </p:graphicFrame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70EA6FAE-D59B-3644-8E6F-2BCA394DCF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2689234"/>
              </p:ext>
            </p:extLst>
          </p:nvPr>
        </p:nvGraphicFramePr>
        <p:xfrm>
          <a:off x="0" y="2192107"/>
          <a:ext cx="12192000" cy="1325880"/>
        </p:xfrm>
        <a:graphic>
          <a:graphicData uri="http://schemas.openxmlformats.org/drawingml/2006/table">
            <a:tbl>
              <a:tblPr firstRow="1" bandRow="1">
                <a:tableStyleId>{72833802-FEF1-4C79-8D5D-14CF1EAF98D9}</a:tableStyleId>
              </a:tblPr>
              <a:tblGrid>
                <a:gridCol w="1431150">
                  <a:extLst>
                    <a:ext uri="{9D8B030D-6E8A-4147-A177-3AD203B41FA5}">
                      <a16:colId xmlns:a16="http://schemas.microsoft.com/office/drawing/2014/main" val="4154883505"/>
                    </a:ext>
                  </a:extLst>
                </a:gridCol>
                <a:gridCol w="10760850">
                  <a:extLst>
                    <a:ext uri="{9D8B030D-6E8A-4147-A177-3AD203B41FA5}">
                      <a16:colId xmlns:a16="http://schemas.microsoft.com/office/drawing/2014/main" val="313195567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心态分析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9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223375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现状：</a:t>
                      </a:r>
                    </a:p>
                  </a:txBody>
                  <a:tcP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根据周线，特别是日线特殊形态进入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孕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/3h/2I)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，第二天没有如预期上涨或未止盈，或经过一段时间下破均线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/DJB/DJC/DJE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就认亏止损卖出。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82851125"/>
                  </a:ext>
                </a:extLst>
              </a:tr>
              <a:tr h="15218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卖出时的心态：</a:t>
                      </a:r>
                    </a:p>
                  </a:txBody>
                  <a:tcP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怕陷入长期下降趋势：如果周线正确，纯粹是自己吓自己；如果周线错误，进入空头排列，其实是操作区域错误（被诱多：在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之下进入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未止损）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怕进入短期调整过程：浪费时间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未在触顶时上盈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综上，以上是标准的做空手法，专门为他人送钱。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择高而入，逢低而出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，应反其道而行。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557672"/>
                  </a:ext>
                </a:extLst>
              </a:tr>
              <a:tr h="15218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处于高点的心态：</a:t>
                      </a:r>
                    </a:p>
                  </a:txBody>
                  <a:tcP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绝对高点不舍得卖出：希望继续大升 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			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⇒教训：一定不要重仓，即使保留仓位也要小仓。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相对高点认为即将开启大升：认为是从前劫恢复，而不知其实为诱多 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	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⇒教训： 分仓分步介入，等回调站稳。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6180587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2585382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4C75F3-8FDF-B676-3FCF-558B566116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634E1FFD-DAF0-2BE3-39B6-6BC673E718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日类操盘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反思：为何会亏损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操盘方法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：要解决现有操盘中亏损问题，解决不同操盘方法的冲突。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64E867C4-2C72-8734-7A45-381D09EC6D91}"/>
              </a:ext>
            </a:extLst>
          </p:cNvPr>
          <p:cNvSpPr txBox="1"/>
          <p:nvPr/>
        </p:nvSpPr>
        <p:spPr>
          <a:xfrm>
            <a:off x="0" y="720000"/>
            <a:ext cx="12192000" cy="3554819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）现有问题：买入点符合周类与日类支持条件，期待后续继续上涨（起码下柱会冲高），但实际出现下跌，且下跌后无法明确止损时点导致亏损扩大。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买入时符合周类支持条件：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WXZC&gt;0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WXZB&gt;0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买入时符合日类支持条件：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DXZB&gt;0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。附加：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升排。特殊形态：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四柱栅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阳柱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操作失败的实例：在中途进入，看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是否在均线之上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是否升排均无问题，但随后可能快速转跌。阳柱买入后下柱走势：</a:t>
            </a:r>
          </a:p>
          <a:p>
            <a:pPr lvl="2"/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①如果下柱为上升：如为中阳柱则与买入点情况相同；如为巨阳或上影则应止盈；如冲高后收阴柱则可参考下列情况。</a:t>
            </a:r>
          </a:p>
          <a:p>
            <a:pPr lvl="2"/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②如果下柱未按期待上升：可能为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跌吞。无论何种下跌都会亏损，此时卖出理由是担心继续下跌，而非基于技术指标的支持。下跌后卖出的实际效果：实际是高买低卖，捕捉了升势的一个阴柱。</a:t>
            </a:r>
          </a:p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）考察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引起担心继续下跌的现象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真正会推动后续下跌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均线因素：趋势性均线均不支持下跌（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/WJC/WJB/DJC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）；仅仅日类均线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可能出现压制均线情况，不足以形成趋势。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柱排因素：可能出现跌排，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之上任何柱排都是可取情况；即使出现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之下跌排也是弱于均线的因素，不应过分担忧，但不是主攻势头。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前期走势：如果出现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管宽过大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连续处于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之上过久，一旦下破日类均线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也代表逆转趋势。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环境因素：大盘下跌带动个股继续下跌。对策：上证下破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不持仓；上证下破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维持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¼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仓。</a:t>
            </a:r>
          </a:p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）应对买入后下跌的对策：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信念</a:t>
            </a:r>
            <a:r>
              <a:rPr lang="en-US" altLang="zh-CN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不要关注低级均线与柱级别波动：所有看似简单的必赢策略，包括</a:t>
            </a:r>
            <a:r>
              <a:rPr lang="en-US" altLang="zh-CN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丘、</a:t>
            </a:r>
            <a:r>
              <a:rPr lang="en-US" altLang="zh-CN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丘、</a:t>
            </a:r>
            <a:r>
              <a:rPr lang="en-US" altLang="zh-CN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丘，核心要素都是在趋势性均线之上不操作，即不止盈。（也是</a:t>
            </a:r>
            <a:r>
              <a:rPr lang="en-US" altLang="zh-CN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Livermore</a:t>
            </a:r>
            <a:r>
              <a:rPr lang="zh-CN" altLang="en-US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操盘法精髓）</a:t>
            </a:r>
            <a:endParaRPr lang="en-US" altLang="zh-CN" sz="900" b="1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信念</a:t>
            </a:r>
            <a:r>
              <a:rPr lang="en-US" altLang="zh-CN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重视大盘走势：根据多位操盘手的经验，在牛市中，应选定股票，但不是按照个股走势，而是按照大盘走势进行增减仓位。一定要重视大盘的走势。</a:t>
            </a:r>
            <a:endParaRPr lang="en-US" altLang="zh-CN" sz="900" b="1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信念</a:t>
            </a:r>
            <a:r>
              <a:rPr lang="en-US" altLang="zh-CN" sz="900" b="1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明确上升过程的一般情况</a:t>
            </a:r>
            <a:r>
              <a:rPr lang="zh-CN" altLang="en-US" sz="9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：不要期待连续涨停；不要期待阳柱后也是阳柱。飞天连续涨停只可偶遇（按底仓）不可强求（重仓）。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信念</a:t>
            </a:r>
            <a:r>
              <a:rPr lang="en-US" altLang="zh-CN" sz="900" b="1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存在神秘力量</a:t>
            </a:r>
            <a:r>
              <a:rPr lang="zh-CN" altLang="en-US" sz="9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：按</a:t>
            </a:r>
            <a:r>
              <a:rPr lang="en-US" altLang="zh-CN" sz="9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吃开口饭必赢就是依赖神秘力量。神秘力量出现区域为</a:t>
            </a:r>
            <a:r>
              <a:rPr lang="en-US" altLang="zh-CN" sz="9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，特别是</a:t>
            </a:r>
            <a:r>
              <a:rPr lang="en-US" altLang="zh-CN" sz="9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之上（神秘力量使得重返</a:t>
            </a:r>
            <a:r>
              <a:rPr lang="en-US" altLang="zh-CN" sz="9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）。要依赖神秘力量，高抛于阳柱，低吸于阴柱。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入点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不要在阳柱买入重仓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：一旦出现阳柱应卖不应买，应收缩仓位至底仓（底仓受限于总资金，不要妄念）。从而可以按照周级别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进行止损，既可以经历最高点，也可以抵抗依赖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之上的神秘力量挺过可能出现的波动。不要以日线为由加仓，只能轻仓。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入点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选取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之上阴柱买入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之上出现阴柱，剔除已冲高或已久升情况，剩余情况不存在均线空头排列，只能按照柱排进行判断。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当柱排出现（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升排后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跌吞）（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D2e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跌排减缓）（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D2e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跌排转人排）情况，都可以试仓。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后，不能仅在站上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后再次介入，要等待同时站上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后出现升排再介入。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出点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警惕周级别巨阳与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久。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即使偏离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不大，但在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运行较长后仍有可能走坏，特别是在走平阴阳交错之后。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出点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遵循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特性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：严格遵守匹配原则，从哪里入从哪里出：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出；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出；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出。对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尽量在初始突破进入，不要在中途进入。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出点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再卖出止损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：利用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趋势性特征，以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作为止损线或提前卖出线。在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之上可止盈则止盈，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之上阴柱买入后如继续下跌则等待破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再止损，不要中途过分恐惧。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出点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不要依赖低阶均线：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是根本，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是中枢，只能给与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权重。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无趋势效应，只能按照单柱进行逆踢，不要臆想下破低阶均线就作为止损条件。</a:t>
            </a:r>
          </a:p>
        </p:txBody>
      </p:sp>
      <p:grpSp>
        <p:nvGrpSpPr>
          <p:cNvPr id="21" name="组合 20">
            <a:extLst>
              <a:ext uri="{FF2B5EF4-FFF2-40B4-BE49-F238E27FC236}">
                <a16:creationId xmlns:a16="http://schemas.microsoft.com/office/drawing/2014/main" id="{6A1B5DF9-CA67-AA65-E125-4230EB3598E7}"/>
              </a:ext>
            </a:extLst>
          </p:cNvPr>
          <p:cNvGrpSpPr/>
          <p:nvPr/>
        </p:nvGrpSpPr>
        <p:grpSpPr>
          <a:xfrm>
            <a:off x="10982325" y="748971"/>
            <a:ext cx="847725" cy="691029"/>
            <a:chOff x="8334375" y="4999034"/>
            <a:chExt cx="847725" cy="691029"/>
          </a:xfrm>
        </p:grpSpPr>
        <p:sp>
          <p:nvSpPr>
            <p:cNvPr id="3" name="矩形 2">
              <a:extLst>
                <a:ext uri="{FF2B5EF4-FFF2-40B4-BE49-F238E27FC236}">
                  <a16:creationId xmlns:a16="http://schemas.microsoft.com/office/drawing/2014/main" id="{36CB6BD5-3458-E35E-94DD-7A882121006C}"/>
                </a:ext>
              </a:extLst>
            </p:cNvPr>
            <p:cNvSpPr/>
            <p:nvPr/>
          </p:nvSpPr>
          <p:spPr>
            <a:xfrm>
              <a:off x="8980815" y="5013905"/>
              <a:ext cx="72000" cy="36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" name="矩形 5">
              <a:extLst>
                <a:ext uri="{FF2B5EF4-FFF2-40B4-BE49-F238E27FC236}">
                  <a16:creationId xmlns:a16="http://schemas.microsoft.com/office/drawing/2014/main" id="{CE97E5A5-480A-7D67-3E5D-7A8A614AE477}"/>
                </a:ext>
              </a:extLst>
            </p:cNvPr>
            <p:cNvSpPr/>
            <p:nvPr/>
          </p:nvSpPr>
          <p:spPr>
            <a:xfrm>
              <a:off x="9110100" y="5031181"/>
              <a:ext cx="72000" cy="288000"/>
            </a:xfrm>
            <a:prstGeom prst="rect">
              <a:avLst/>
            </a:prstGeom>
            <a:solidFill>
              <a:srgbClr val="548235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" name="矩形 8">
              <a:extLst>
                <a:ext uri="{FF2B5EF4-FFF2-40B4-BE49-F238E27FC236}">
                  <a16:creationId xmlns:a16="http://schemas.microsoft.com/office/drawing/2014/main" id="{145CF109-5480-83CA-6ED2-427B2D815680}"/>
                </a:ext>
              </a:extLst>
            </p:cNvPr>
            <p:cNvSpPr/>
            <p:nvPr/>
          </p:nvSpPr>
          <p:spPr>
            <a:xfrm>
              <a:off x="8334375" y="5466947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" name="矩形 10">
              <a:extLst>
                <a:ext uri="{FF2B5EF4-FFF2-40B4-BE49-F238E27FC236}">
                  <a16:creationId xmlns:a16="http://schemas.microsoft.com/office/drawing/2014/main" id="{84ADB8E7-C523-9283-8670-326CB15CEA1D}"/>
                </a:ext>
              </a:extLst>
            </p:cNvPr>
            <p:cNvSpPr/>
            <p:nvPr/>
          </p:nvSpPr>
          <p:spPr>
            <a:xfrm>
              <a:off x="8851527" y="4999034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" name="任意多边形: 形状 13">
              <a:extLst>
                <a:ext uri="{FF2B5EF4-FFF2-40B4-BE49-F238E27FC236}">
                  <a16:creationId xmlns:a16="http://schemas.microsoft.com/office/drawing/2014/main" id="{D13932FA-3566-C0F3-5928-819D2B28D2D5}"/>
                </a:ext>
              </a:extLst>
            </p:cNvPr>
            <p:cNvSpPr/>
            <p:nvPr/>
          </p:nvSpPr>
          <p:spPr>
            <a:xfrm>
              <a:off x="8334375" y="5286375"/>
              <a:ext cx="847725" cy="371475"/>
            </a:xfrm>
            <a:custGeom>
              <a:avLst/>
              <a:gdLst>
                <a:gd name="connsiteX0" fmla="*/ 0 w 847725"/>
                <a:gd name="connsiteY0" fmla="*/ 371475 h 371475"/>
                <a:gd name="connsiteX1" fmla="*/ 390525 w 847725"/>
                <a:gd name="connsiteY1" fmla="*/ 66675 h 371475"/>
                <a:gd name="connsiteX2" fmla="*/ 847725 w 847725"/>
                <a:gd name="connsiteY2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7725" h="371475">
                  <a:moveTo>
                    <a:pt x="0" y="371475"/>
                  </a:moveTo>
                  <a:cubicBezTo>
                    <a:pt x="124618" y="250031"/>
                    <a:pt x="249237" y="128588"/>
                    <a:pt x="390525" y="66675"/>
                  </a:cubicBezTo>
                  <a:cubicBezTo>
                    <a:pt x="531813" y="4762"/>
                    <a:pt x="689769" y="2381"/>
                    <a:pt x="847725" y="0"/>
                  </a:cubicBezTo>
                </a:path>
              </a:pathLst>
            </a:custGeom>
            <a:noFill/>
            <a:ln w="254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" name="矩形 14">
              <a:extLst>
                <a:ext uri="{FF2B5EF4-FFF2-40B4-BE49-F238E27FC236}">
                  <a16:creationId xmlns:a16="http://schemas.microsoft.com/office/drawing/2014/main" id="{2BB71ED6-F35F-BEFF-C1CB-2C2D1E4E7ADA}"/>
                </a:ext>
              </a:extLst>
            </p:cNvPr>
            <p:cNvSpPr/>
            <p:nvPr/>
          </p:nvSpPr>
          <p:spPr>
            <a:xfrm>
              <a:off x="8592951" y="5215034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矩形 15">
              <a:extLst>
                <a:ext uri="{FF2B5EF4-FFF2-40B4-BE49-F238E27FC236}">
                  <a16:creationId xmlns:a16="http://schemas.microsoft.com/office/drawing/2014/main" id="{371FAC39-44E7-4A1F-3295-0CE3E458FA0E}"/>
                </a:ext>
              </a:extLst>
            </p:cNvPr>
            <p:cNvSpPr/>
            <p:nvPr/>
          </p:nvSpPr>
          <p:spPr>
            <a:xfrm>
              <a:off x="8722239" y="5112474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矩形 16">
              <a:extLst>
                <a:ext uri="{FF2B5EF4-FFF2-40B4-BE49-F238E27FC236}">
                  <a16:creationId xmlns:a16="http://schemas.microsoft.com/office/drawing/2014/main" id="{8107F6C9-96A2-F8FE-9391-CD42D50B2294}"/>
                </a:ext>
              </a:extLst>
            </p:cNvPr>
            <p:cNvSpPr/>
            <p:nvPr/>
          </p:nvSpPr>
          <p:spPr>
            <a:xfrm>
              <a:off x="8463663" y="5322947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9" name="直接箭头连接符 18">
              <a:extLst>
                <a:ext uri="{FF2B5EF4-FFF2-40B4-BE49-F238E27FC236}">
                  <a16:creationId xmlns:a16="http://schemas.microsoft.com/office/drawing/2014/main" id="{7C10A1AE-B7E4-4804-9F6B-DFAA2BBB6BF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818890" y="5280647"/>
              <a:ext cx="201285" cy="409416"/>
            </a:xfrm>
            <a:prstGeom prst="straightConnector1">
              <a:avLst/>
            </a:prstGeom>
            <a:ln w="317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" name="矩形 7">
            <a:extLst>
              <a:ext uri="{FF2B5EF4-FFF2-40B4-BE49-F238E27FC236}">
                <a16:creationId xmlns:a16="http://schemas.microsoft.com/office/drawing/2014/main" id="{20E23C59-09F4-139A-BB27-E03E33A22D96}"/>
              </a:ext>
            </a:extLst>
          </p:cNvPr>
          <p:cNvSpPr/>
          <p:nvPr/>
        </p:nvSpPr>
        <p:spPr>
          <a:xfrm>
            <a:off x="0" y="5893029"/>
            <a:ext cx="12192000" cy="947261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 w="38100">
            <a:solidFill>
              <a:schemeClr val="accent4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结论：为何会买入后亏损？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⇒应专注于</a:t>
            </a:r>
            <a:r>
              <a:rPr lang="en-US" altLang="zh-CN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可获利升势区域</a:t>
            </a:r>
            <a:r>
              <a:rPr lang="en-US" altLang="zh-CN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】&amp;【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必须退出</a:t>
            </a:r>
            <a:r>
              <a:rPr lang="en-US" altLang="zh-CN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endParaRPr lang="en-US" altLang="zh-CN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亏损原因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：固执于长期趋势，轻视了短期波动：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代表长期趋势的指标未走坏；但即使在符合长期趋势的范围内短期波动已经造成亏损。</a:t>
            </a:r>
            <a:endParaRPr lang="en-US" altLang="zh-CN" sz="14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亏损原因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：未在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可获利升势区域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反复操作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：冲高后未止盈减仓；回调时未再次进入；跌破</a:t>
            </a:r>
            <a:r>
              <a:rPr lang="en-US" altLang="zh-CN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未及时退出。</a:t>
            </a:r>
            <a:endParaRPr lang="en-US" altLang="zh-CN" sz="14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</a:t>
            </a:r>
            <a:r>
              <a:rPr lang="en-US" altLang="zh-CN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20251025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：正常上升过程中贯穿</a:t>
            </a:r>
            <a:r>
              <a:rPr lang="en-US" altLang="zh-CN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情况很多，要把止损线下移至</a:t>
            </a:r>
            <a:r>
              <a:rPr lang="en-US" altLang="zh-CN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（以</a:t>
            </a:r>
            <a:r>
              <a:rPr lang="en-US" altLang="zh-CN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抓主升，有容乃大，容纳下探）</a:t>
            </a:r>
          </a:p>
        </p:txBody>
      </p:sp>
      <p:sp>
        <p:nvSpPr>
          <p:cNvPr id="10" name="箭头: 下 9">
            <a:extLst>
              <a:ext uri="{FF2B5EF4-FFF2-40B4-BE49-F238E27FC236}">
                <a16:creationId xmlns:a16="http://schemas.microsoft.com/office/drawing/2014/main" id="{71418141-93B6-28B6-9A1A-72D5E4CAAA9F}"/>
              </a:ext>
            </a:extLst>
          </p:cNvPr>
          <p:cNvSpPr/>
          <p:nvPr/>
        </p:nvSpPr>
        <p:spPr>
          <a:xfrm>
            <a:off x="4029045" y="4813428"/>
            <a:ext cx="3823063" cy="1018602"/>
          </a:xfrm>
          <a:prstGeom prst="downArrow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由上可得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algn="ctr"/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防止买入后亏损的对策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8176779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9A9277-65B7-985F-EC2F-5796F2637A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6FDAE94D-92D5-0D23-A445-C3F46A71D3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日类操盘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日类柱型分布 ⇒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可获利升势区域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实际操盘不能只依赖周趋势，周趋势保持不变的情况下，日类波动可能很大。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56ACC988-B7B8-DD05-0DF4-099CD3BE5C40}"/>
              </a:ext>
            </a:extLst>
          </p:cNvPr>
          <p:cNvSpPr txBox="1"/>
          <p:nvPr/>
        </p:nvSpPr>
        <p:spPr>
          <a:xfrm>
            <a:off x="6085119" y="720000"/>
            <a:ext cx="6100353" cy="2628000"/>
          </a:xfrm>
          <a:prstGeom prst="rect">
            <a:avLst/>
          </a:prstGeom>
          <a:solidFill>
            <a:srgbClr val="FFFFCC"/>
          </a:solidFill>
        </p:spPr>
        <p:txBody>
          <a:bodyPr wrap="square">
            <a:spAutoFit/>
          </a:bodyPr>
          <a:lstStyle/>
          <a:p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纵观整个图形可得规律：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升势集中于（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上）（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上）（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上）（合顶）。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凡小级别上升必在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之上，无论处于何处（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/DJE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上下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上下），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之下的上升很少（属于线下回归均线）。但在实际操作中存在从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之下向上破，可以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为辅助。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凡中级别上升必在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之上，无论处于何处（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/DJE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上下），不需要看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之下的上升（属于线下回归均线）。要持有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之下，除非在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之上且局为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/6w/6v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凡大级别上升必在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之上，无论处于何处，不需要看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之下的上升（属于线下回归均线）。必须遵守，优选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DXCE&gt;0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DXAE&gt;0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已验证公理：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只有均线之上的上涨才是真正的上涨，才是可获利的阳柱。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遇阳问是否卖：不要以为在某条均线之上就可以一直持有，而要看见上涨就问是否减仓。在均线之上不代表一定会上涨，而是提供了上涨的更多机会，即把出现阳柱的概率提高了。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遇阴问是否买：不要看见阴柱就恐惧会继续下跌，要看到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之上阴柱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就问是否有机会。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所有</a:t>
            </a:r>
            <a:r>
              <a:rPr lang="en-US" altLang="zh-CN" sz="8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可获利升势</a:t>
            </a:r>
            <a:r>
              <a:rPr lang="en-US" altLang="zh-CN" sz="8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都在</a:t>
            </a:r>
            <a:r>
              <a:rPr lang="en-US" altLang="zh-CN" sz="8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r>
              <a:rPr lang="zh-CN" altLang="en-US" sz="8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一定要清醒认识</a:t>
            </a:r>
            <a:r>
              <a:rPr lang="en-US" altLang="zh-CN" sz="8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重要性，要懂得适可而止盈，要勇于破线止盈。在实际操作中，以</a:t>
            </a:r>
            <a:r>
              <a:rPr lang="en-US" altLang="zh-CN" sz="8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为准，不要把</a:t>
            </a:r>
            <a:r>
              <a:rPr lang="en-US" altLang="zh-CN" sz="8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(DJC</a:t>
            </a:r>
            <a:r>
              <a:rPr lang="zh-CN" altLang="en-US" sz="8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周期</a:t>
            </a:r>
            <a:r>
              <a:rPr lang="en-US" altLang="zh-CN" sz="8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)(DJE</a:t>
            </a:r>
            <a:r>
              <a:rPr lang="zh-CN" altLang="en-US" sz="8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周期</a:t>
            </a:r>
            <a:r>
              <a:rPr lang="en-US" altLang="zh-CN" sz="8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的重要性置于日类周期之上。</a:t>
            </a:r>
            <a:endParaRPr lang="en-US" altLang="zh-CN" sz="800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所有可获利的上涨都在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为根本，作为操盘的强制止损。操盘范围强制选取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所有可获利的上涨都在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之上是最基本要求，必须遵守，不要惦记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之下的抄底。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完整日类波动过程：劫的级别逐渐变化。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波动变化过程：（触顶主升）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DJCBA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多头排列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⇒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围绕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⇒ 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（围绕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震荡）可能多次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⇒ 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 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⇒ ⇒ ⇒ 《DJC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之下趋势镜像演化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》 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之上运行较长时间情况，出现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劫后很可能进入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震荡；然后出现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震荡，形成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头。所以，较长时间上升后，机会少于风险，要千万谨慎，此阶段对应于周柱并排平移。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59A84DC5-2154-F8B7-CFBF-689943C19F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0554299"/>
              </p:ext>
            </p:extLst>
          </p:nvPr>
        </p:nvGraphicFramePr>
        <p:xfrm>
          <a:off x="0" y="720000"/>
          <a:ext cx="6104704" cy="5074920"/>
        </p:xfrm>
        <a:graphic>
          <a:graphicData uri="http://schemas.openxmlformats.org/drawingml/2006/table">
            <a:tbl>
              <a:tblPr firstRow="1" bandRow="1">
                <a:tableStyleId>{912C8C85-51F0-491E-9774-3900AFEF0FD7}</a:tableStyleId>
              </a:tblPr>
              <a:tblGrid>
                <a:gridCol w="1187116">
                  <a:extLst>
                    <a:ext uri="{9D8B030D-6E8A-4147-A177-3AD203B41FA5}">
                      <a16:colId xmlns:a16="http://schemas.microsoft.com/office/drawing/2014/main" val="288421924"/>
                    </a:ext>
                  </a:extLst>
                </a:gridCol>
                <a:gridCol w="4917588">
                  <a:extLst>
                    <a:ext uri="{9D8B030D-6E8A-4147-A177-3AD203B41FA5}">
                      <a16:colId xmlns:a16="http://schemas.microsoft.com/office/drawing/2014/main" val="1335146258"/>
                    </a:ext>
                  </a:extLst>
                </a:gridCol>
              </a:tblGrid>
              <a:tr h="141534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定理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日类柱型分布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89863206"/>
                  </a:ext>
                </a:extLst>
              </a:tr>
              <a:tr h="545918"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日类柱型分布定理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1】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要明确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在分离（升排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跌排）的作用。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对于柱型的分离效果：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①初始上破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后，会有连续升排。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②捡漏机会：可在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之上各种劫失效时介入，特别是处于周管内的情况。既然冲高至何处无法预测，那么遇劫而入也可依赖运气。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之下。根据镜像对称原理，在下破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DJC/DJB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后，会有连续跌排。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2189736"/>
                  </a:ext>
                </a:extLst>
              </a:tr>
              <a:tr h="141534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跨周期推论：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可以分类柱型分布。⇒映射可得⇒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可以分离周级别柱型分布。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4653651"/>
                  </a:ext>
                </a:extLst>
              </a:tr>
              <a:tr h="788549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区分柱型运动方式：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两种柱型运动方式：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波运动：包括升排与降排。运动具有连续性，在突破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/DJC/DJB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后会有一波垒升或垒降。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粒运动：无连续性，无法预测。常用于做底或做顶，进行阴阳转换。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各种柱型所对应的运动方式：主升转跌后，会由“波”变为“粒”，尽量不要在“粒”介入。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由“波”变为“波”：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梯交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由“粒”变为“波”：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枝启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枝贯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由“波”变为“粒”：出现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跌孕升孕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453570"/>
                  </a:ext>
                </a:extLst>
              </a:tr>
              <a:tr h="3841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日类柱型分布定理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2】 DJB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之上都“可买”，虽然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之上也存在（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跌吞）。</a:t>
                      </a:r>
                      <a:endParaRPr lang="zh-CN" altLang="en-US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要将“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之上”放入（顶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,WJC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）整体视野，观察图形可知所有阳柱基本都在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之上，可见此区域的重要性。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要勇敢在阴柱买入（葛卫东），特别是（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刚上破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DJB/DXAB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刚正交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合顶）。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606954"/>
                  </a:ext>
                </a:extLst>
              </a:tr>
              <a:tr h="222411">
                <a:tc rowSpan="3"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日类柱型分布定理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3】 DJA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之上无“阴柱止损点”，在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之上“阴加阳减”不清仓。</a:t>
                      </a:r>
                      <a:endParaRPr lang="zh-CN" altLang="en-US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要将“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之上”放入（顶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,WJC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）整体视野， “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之上所有升幅”都靠“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之上的阳柱”进行实现。所以，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之上无需考虑止损，要选择“已站上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DJA”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或“将站上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DJA”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3303900"/>
                  </a:ext>
                </a:extLst>
              </a:tr>
              <a:tr h="465042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正确观察方式。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上，不要因出现阴柱而判定会继续下跌，而要假定后续会转升，看走势是否支持。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要选择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之上升趋势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中的阴柱：日合顶且窄管，阴柱（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慎重对待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之上震荡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中的阴柱：不要在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之上中途介入。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不要留恋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下降趋势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中的阴柱：下破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后多柱且出现跌排，不要介入。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9599022"/>
                  </a:ext>
                </a:extLst>
              </a:tr>
              <a:tr h="143556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错误认知：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之上不可退出。⇒应该为，在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之上无阴柱止损点。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起心动念：为了保证经过最高点，从而要求在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上不退出。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实际情况：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之上可能存在很大的回撤空间。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重点在于看是否已冲高。当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DSHA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偏离巨大时可减仓或退出。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之上可能存在阴阳相间情况。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针对走势极好情况保持警惕：如（升排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触顶）。不要贪不加仓不排斥，保持底仓跟随。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针对阴柱后的阳柱，很容易产生幻想会继续连阳。但实际，很可能平移而非垒升。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不能作为明确的退出条件。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针对已经历完整弧，可在下破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时退出。其余情况，单柱下破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不应退出，其后可能贯穿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震荡；至少下破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两柱且已形成跌排才可退出。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无征兆下破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情况。虽然存在此类情况，但应当做受大盘等其他因素影响的特殊情况，而不应该时时刻刻担心。即使下破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，也可按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进行控制。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0600229"/>
                  </a:ext>
                </a:extLst>
              </a:tr>
            </a:tbl>
          </a:graphicData>
        </a:graphic>
      </p:graphicFrame>
      <p:sp>
        <p:nvSpPr>
          <p:cNvPr id="7" name="矩形 6">
            <a:extLst>
              <a:ext uri="{FF2B5EF4-FFF2-40B4-BE49-F238E27FC236}">
                <a16:creationId xmlns:a16="http://schemas.microsoft.com/office/drawing/2014/main" id="{509C0736-9738-7792-92F3-A787BB8DABD1}"/>
              </a:ext>
            </a:extLst>
          </p:cNvPr>
          <p:cNvSpPr/>
          <p:nvPr/>
        </p:nvSpPr>
        <p:spPr>
          <a:xfrm>
            <a:off x="7547956" y="4706999"/>
            <a:ext cx="4644044" cy="215100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周期规律：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根据实际观察，上破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通常经历（以升排快速主升⇒以人排横盘震荡⇒以跌排调整）过程。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5">
            <a:extLst>
              <a:ext uri="{FF2B5EF4-FFF2-40B4-BE49-F238E27FC236}">
                <a16:creationId xmlns:a16="http://schemas.microsoft.com/office/drawing/2014/main" id="{04223E85-4C34-9909-80B3-A266FC3C7CB2}"/>
              </a:ext>
            </a:extLst>
          </p:cNvPr>
          <p:cNvGrpSpPr/>
          <p:nvPr/>
        </p:nvGrpSpPr>
        <p:grpSpPr>
          <a:xfrm>
            <a:off x="7629430" y="5196474"/>
            <a:ext cx="4481095" cy="1416376"/>
            <a:chOff x="7522483" y="4405720"/>
            <a:chExt cx="4481095" cy="1416376"/>
          </a:xfrm>
        </p:grpSpPr>
        <p:cxnSp>
          <p:nvCxnSpPr>
            <p:cNvPr id="9" name="直接连接符 8">
              <a:extLst>
                <a:ext uri="{FF2B5EF4-FFF2-40B4-BE49-F238E27FC236}">
                  <a16:creationId xmlns:a16="http://schemas.microsoft.com/office/drawing/2014/main" id="{B1E9FD8F-9460-B5BF-9C7D-0BEE917D121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63840" y="5170516"/>
              <a:ext cx="4139738" cy="464533"/>
            </a:xfrm>
            <a:prstGeom prst="line">
              <a:avLst/>
            </a:prstGeom>
            <a:ln w="25400">
              <a:solidFill>
                <a:schemeClr val="accent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任意多边形: 形状 10">
              <a:extLst>
                <a:ext uri="{FF2B5EF4-FFF2-40B4-BE49-F238E27FC236}">
                  <a16:creationId xmlns:a16="http://schemas.microsoft.com/office/drawing/2014/main" id="{9EE4DBC1-B4BD-05F4-9750-510C27432C97}"/>
                </a:ext>
              </a:extLst>
            </p:cNvPr>
            <p:cNvSpPr/>
            <p:nvPr/>
          </p:nvSpPr>
          <p:spPr>
            <a:xfrm>
              <a:off x="8030095" y="4405720"/>
              <a:ext cx="3915294" cy="1416376"/>
            </a:xfrm>
            <a:custGeom>
              <a:avLst/>
              <a:gdLst>
                <a:gd name="connsiteX0" fmla="*/ 0 w 3915294"/>
                <a:gd name="connsiteY0" fmla="*/ 1180433 h 1416376"/>
                <a:gd name="connsiteX1" fmla="*/ 532014 w 3915294"/>
                <a:gd name="connsiteY1" fmla="*/ 1355000 h 1416376"/>
                <a:gd name="connsiteX2" fmla="*/ 922712 w 3915294"/>
                <a:gd name="connsiteY2" fmla="*/ 257720 h 1416376"/>
                <a:gd name="connsiteX3" fmla="*/ 1371600 w 3915294"/>
                <a:gd name="connsiteY3" fmla="*/ 149655 h 1416376"/>
                <a:gd name="connsiteX4" fmla="*/ 1654232 w 3915294"/>
                <a:gd name="connsiteY4" fmla="*/ 33276 h 1416376"/>
                <a:gd name="connsiteX5" fmla="*/ 1945178 w 3915294"/>
                <a:gd name="connsiteY5" fmla="*/ 133029 h 1416376"/>
                <a:gd name="connsiteX6" fmla="*/ 2177934 w 3915294"/>
                <a:gd name="connsiteY6" fmla="*/ 8338 h 1416376"/>
                <a:gd name="connsiteX7" fmla="*/ 2468880 w 3915294"/>
                <a:gd name="connsiteY7" fmla="*/ 415662 h 1416376"/>
                <a:gd name="connsiteX8" fmla="*/ 2726574 w 3915294"/>
                <a:gd name="connsiteY8" fmla="*/ 282658 h 1416376"/>
                <a:gd name="connsiteX9" fmla="*/ 3025832 w 3915294"/>
                <a:gd name="connsiteY9" fmla="*/ 906113 h 1416376"/>
                <a:gd name="connsiteX10" fmla="*/ 3374967 w 3915294"/>
                <a:gd name="connsiteY10" fmla="*/ 1147182 h 1416376"/>
                <a:gd name="connsiteX11" fmla="*/ 3374967 w 3915294"/>
                <a:gd name="connsiteY11" fmla="*/ 1147182 h 1416376"/>
                <a:gd name="connsiteX12" fmla="*/ 3915294 w 3915294"/>
                <a:gd name="connsiteY12" fmla="*/ 1296811 h 141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15294" h="1416376">
                  <a:moveTo>
                    <a:pt x="0" y="1180433"/>
                  </a:moveTo>
                  <a:cubicBezTo>
                    <a:pt x="189114" y="1344609"/>
                    <a:pt x="378229" y="1508785"/>
                    <a:pt x="532014" y="1355000"/>
                  </a:cubicBezTo>
                  <a:cubicBezTo>
                    <a:pt x="685799" y="1201215"/>
                    <a:pt x="782781" y="458611"/>
                    <a:pt x="922712" y="257720"/>
                  </a:cubicBezTo>
                  <a:cubicBezTo>
                    <a:pt x="1062643" y="56829"/>
                    <a:pt x="1249680" y="187062"/>
                    <a:pt x="1371600" y="149655"/>
                  </a:cubicBezTo>
                  <a:cubicBezTo>
                    <a:pt x="1493520" y="112248"/>
                    <a:pt x="1558636" y="36047"/>
                    <a:pt x="1654232" y="33276"/>
                  </a:cubicBezTo>
                  <a:cubicBezTo>
                    <a:pt x="1749828" y="30505"/>
                    <a:pt x="1857894" y="137185"/>
                    <a:pt x="1945178" y="133029"/>
                  </a:cubicBezTo>
                  <a:cubicBezTo>
                    <a:pt x="2032462" y="128873"/>
                    <a:pt x="2090650" y="-38767"/>
                    <a:pt x="2177934" y="8338"/>
                  </a:cubicBezTo>
                  <a:cubicBezTo>
                    <a:pt x="2265218" y="55443"/>
                    <a:pt x="2377440" y="369942"/>
                    <a:pt x="2468880" y="415662"/>
                  </a:cubicBezTo>
                  <a:cubicBezTo>
                    <a:pt x="2560320" y="461382"/>
                    <a:pt x="2633749" y="200916"/>
                    <a:pt x="2726574" y="282658"/>
                  </a:cubicBezTo>
                  <a:cubicBezTo>
                    <a:pt x="2819399" y="364400"/>
                    <a:pt x="2917767" y="762026"/>
                    <a:pt x="3025832" y="906113"/>
                  </a:cubicBezTo>
                  <a:cubicBezTo>
                    <a:pt x="3133897" y="1050200"/>
                    <a:pt x="3374967" y="1147182"/>
                    <a:pt x="3374967" y="1147182"/>
                  </a:cubicBezTo>
                  <a:lnTo>
                    <a:pt x="3374967" y="1147182"/>
                  </a:lnTo>
                  <a:lnTo>
                    <a:pt x="3915294" y="1296811"/>
                  </a:lnTo>
                </a:path>
              </a:pathLst>
            </a:custGeom>
            <a:noFill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" name="文本框 13">
              <a:extLst>
                <a:ext uri="{FF2B5EF4-FFF2-40B4-BE49-F238E27FC236}">
                  <a16:creationId xmlns:a16="http://schemas.microsoft.com/office/drawing/2014/main" id="{232B2069-22A0-DC26-96A2-F7BC4D09E291}"/>
                </a:ext>
              </a:extLst>
            </p:cNvPr>
            <p:cNvSpPr txBox="1"/>
            <p:nvPr/>
          </p:nvSpPr>
          <p:spPr>
            <a:xfrm>
              <a:off x="7522483" y="5361622"/>
              <a:ext cx="52200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/>
                <a:t>DJC</a:t>
              </a:r>
              <a:endParaRPr lang="zh-CN" altLang="en-US" dirty="0"/>
            </a:p>
          </p:txBody>
        </p:sp>
      </p:grpSp>
      <p:sp>
        <p:nvSpPr>
          <p:cNvPr id="3" name="矩形 2">
            <a:extLst>
              <a:ext uri="{FF2B5EF4-FFF2-40B4-BE49-F238E27FC236}">
                <a16:creationId xmlns:a16="http://schemas.microsoft.com/office/drawing/2014/main" id="{43C78CD7-2907-BAD9-4CBE-35549C477816}"/>
              </a:ext>
            </a:extLst>
          </p:cNvPr>
          <p:cNvSpPr/>
          <p:nvPr/>
        </p:nvSpPr>
        <p:spPr>
          <a:xfrm>
            <a:off x="7547956" y="4019528"/>
            <a:ext cx="4644044" cy="687470"/>
          </a:xfrm>
          <a:prstGeom prst="rect">
            <a:avLst/>
          </a:prstGeom>
          <a:solidFill>
            <a:schemeClr val="accent6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主升过程中符规律（周级别）：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斜率较大：绝大多数为中符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。与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接触较少。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斜率较小：呈波段状。每个波段内不与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接触。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频繁接触：斜率基本为平，柱与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频繁贯穿接触。但能保持在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20522400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15A313-9272-D9F2-14E5-BB35EA5699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>
            <a:extLst>
              <a:ext uri="{FF2B5EF4-FFF2-40B4-BE49-F238E27FC236}">
                <a16:creationId xmlns:a16="http://schemas.microsoft.com/office/drawing/2014/main" id="{EDEDE4AF-6AAC-138B-CE19-A9BEBAFCFE7D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基础设施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参考日类的正确方法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主题：日类仅作为参考信息，不要直接用于研判趋势，要坚决贯彻“先周后日”的决策顺序。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562B8B45-2008-ED1C-3135-C1E932E2E2F1}"/>
              </a:ext>
            </a:extLst>
          </p:cNvPr>
          <p:cNvSpPr/>
          <p:nvPr/>
        </p:nvSpPr>
        <p:spPr>
          <a:xfrm>
            <a:off x="6104091" y="722747"/>
            <a:ext cx="6089399" cy="2058553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利用日顶型来抓市场热点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：遍历验证并更新筛选规则。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市场热点是最具收益前景的短线标的，预期利用新闻资讯来锁定市场热点，不如直接利用日触（顶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ab/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）来作为抓取市场热点的方法：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周日顶型配合：当周为合顶（特别是触顶）时，利用日触顶来抓冲高机会。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日管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特性进行操盘：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在上升过程中，最好情况是柱排稳定排列于（顶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）日管中。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u="sng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理想运行情况：</a:t>
            </a:r>
            <a:r>
              <a:rPr lang="zh-CN" altLang="en-US" sz="8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在日管内均匀分布，有角度向东北运动，经常触顶，使得维持固定管宽。</a:t>
            </a:r>
            <a:endParaRPr lang="en-US" altLang="zh-CN" sz="800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介入点包括：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DJABC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多头排列，日合顶， 取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之上阴柱。</a:t>
            </a: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上跌孕；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上跌孕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升孕。</a:t>
            </a: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上跌吞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升孕。</a:t>
            </a: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上跌连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升孕。</a:t>
            </a: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首下破。</a:t>
            </a: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后回踩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之下以连阳上破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在下降过程中，最差情况是柱排稳定排列于（底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）日管中。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利用日顶型来反向介入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当符合周类持仓规则时，利用日顶型（底哈）与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来再次介入：脱离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)(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，靠近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，上破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，上破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，上破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时，可以基于周符合持有范围（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WJC&amp;WJB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）而介入。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0151487A-CDC9-9969-61C1-80013FDA5B93}"/>
              </a:ext>
            </a:extLst>
          </p:cNvPr>
          <p:cNvSpPr txBox="1"/>
          <p:nvPr/>
        </p:nvSpPr>
        <p:spPr>
          <a:xfrm>
            <a:off x="-1488" y="746418"/>
            <a:ext cx="6105579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参考日类的正确方法：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当处于上升趋势中，不是单边快速上冲，而是沿东北方向某角度反复波动上升。所以日线在主升过程中，只能作为周柱的组成零件，只考虑如何用（日五柱）组成（周柱）。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日类只提供真实信息，不应根据日线进行止损，只可用于确定介入时机。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日类入口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DJB+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触顶（顶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），作为介入条件。介入后按周线持有规则。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在周级别主升中，很少出现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劫，所以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应保持正交。</a:t>
            </a:r>
            <a:endParaRPr lang="zh-CN" altLang="en-US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5356888C-E1EC-EF8C-F27C-361777AAB5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8760214"/>
              </p:ext>
            </p:extLst>
          </p:nvPr>
        </p:nvGraphicFramePr>
        <p:xfrm>
          <a:off x="0" y="1796607"/>
          <a:ext cx="6105579" cy="24697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0570">
                  <a:extLst>
                    <a:ext uri="{9D8B030D-6E8A-4147-A177-3AD203B41FA5}">
                      <a16:colId xmlns:a16="http://schemas.microsoft.com/office/drawing/2014/main" val="3818986108"/>
                    </a:ext>
                  </a:extLst>
                </a:gridCol>
                <a:gridCol w="5235009">
                  <a:extLst>
                    <a:ext uri="{9D8B030D-6E8A-4147-A177-3AD203B41FA5}">
                      <a16:colId xmlns:a16="http://schemas.microsoft.com/office/drawing/2014/main" val="689784734"/>
                    </a:ext>
                  </a:extLst>
                </a:gridCol>
              </a:tblGrid>
              <a:tr h="214268">
                <a:tc gridSpan="2"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参考日类的方法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8756563"/>
                  </a:ext>
                </a:extLst>
              </a:tr>
              <a:tr h="7572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参考日类的正确方法包括：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“先周后日”原则：根据周柱排类型（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调整），观察对应时间段的日类走势。（注意勿扩大观察范围）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选择（周顶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），对应看日类是否触顶。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选择（周合顶），选择日类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之下离开哈或底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站上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再次触顶或触哼。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确定介入点：依据日类确定介入点。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在周柱排非跌排的情况下，设置介入点：至少在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之上；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之上是主区域，在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之下需要周柱配合。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用于冲高止盈：要触顶（龙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或龙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）形成较大偏离时止盈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当处于（龙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）时，属于左侧卖出，应已形成较大偏离，或满足最后一柱相应特征。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当处于（龙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）时，需选择方向：要么得到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支撑继续上升；要么前期触顶后已开始转向向下。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2133845"/>
                  </a:ext>
                </a:extLst>
              </a:tr>
              <a:tr h="61638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参考日类的错误方法包括：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错误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：将全范围周级别及以上规则，映射至日类，并完全按日类进行操盘。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错误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：只在日类图形上，设置操盘规则，而抛弃了“先周后日”的决策层级。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错误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：以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以下级别的日均线作为止损依据：认为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等均线均有趋势作用。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之上，不能以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作为止损条件。应以提前卖出，等到遇到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时必然已有较大回撤。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为何将全局止损线统一设置为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？根本原因是希望下破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后仍希望站上去。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虽有一定趋势作用，但在实际走势中，经常有下破后再次站上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之上都属于正常范围，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站上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日触顶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周触顶都只是其中的子集。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0437295"/>
                  </a:ext>
                </a:extLst>
              </a:tr>
            </a:tbl>
          </a:graphicData>
        </a:graphic>
      </p:graphicFrame>
      <p:graphicFrame>
        <p:nvGraphicFramePr>
          <p:cNvPr id="8" name="表格 7">
            <a:extLst>
              <a:ext uri="{FF2B5EF4-FFF2-40B4-BE49-F238E27FC236}">
                <a16:creationId xmlns:a16="http://schemas.microsoft.com/office/drawing/2014/main" id="{3AF1CCBC-760B-651F-FD44-55B1C8B631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0729962"/>
              </p:ext>
            </p:extLst>
          </p:nvPr>
        </p:nvGraphicFramePr>
        <p:xfrm>
          <a:off x="6104091" y="3609134"/>
          <a:ext cx="6105579" cy="3246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0570">
                  <a:extLst>
                    <a:ext uri="{9D8B030D-6E8A-4147-A177-3AD203B41FA5}">
                      <a16:colId xmlns:a16="http://schemas.microsoft.com/office/drawing/2014/main" val="3818986108"/>
                    </a:ext>
                  </a:extLst>
                </a:gridCol>
                <a:gridCol w="5235009">
                  <a:extLst>
                    <a:ext uri="{9D8B030D-6E8A-4147-A177-3AD203B41FA5}">
                      <a16:colId xmlns:a16="http://schemas.microsoft.com/office/drawing/2014/main" val="689784734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日周联合的正确方法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endParaRPr lang="zh-CN" altLang="en-US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8756563"/>
                  </a:ext>
                </a:extLst>
              </a:tr>
              <a:tr h="2529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准则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1【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要明确“先周后日”的原则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不是：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观察图形的先后问题（先看周级别图再看日级别图，对日级别图进行全时间范围的观察）。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而是：而是先根据周级别图形确定周柱排列模式，然后参考对应时间段的日级别走势（日仅作参考）。针对不同的周柱排列模式，制定对日类的不用要求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（注意，不要制定统一的日类持仓逻辑，如不参考周柱走势就要求日类必须在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之上）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若预期（周柱为连阳） ⇒对应区域日类应在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之上，若在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之上切勿卖出。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若为主升浪，不破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完全不需要卖出。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若预期（周柱为升排，不出现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跌吞） ⇒对应区域日类应在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若预期（周柱为阴柱后恢复升势，如连阳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阴柱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恢复） ⇒对应区域日类要站上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，且触顶。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2133845"/>
                  </a:ext>
                </a:extLst>
              </a:tr>
              <a:tr h="28186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准则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2【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不要关注盘中下破低级别均线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当盘中下破某均线时，可以进行两种选择：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85800" lvl="1" indent="-228600">
                        <a:buFont typeface="+mj-ea"/>
                        <a:buAutoNum type="circleNumDbPlain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一旦盘中下破均线，就立刻退出。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85800" lvl="1" indent="-228600">
                        <a:buFont typeface="+mj-ea"/>
                        <a:buAutoNum type="circleNumDbPlain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等待日线收盘或周线收盘，再判定是否构成实质性突破。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分析如下：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针对①，实质是关注低级别均线，如分钟级别或分时级别，而该级别很容易转换趋势的方向；等到收盘未必构成实质性突破。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针对②，虽然在收盘后进行操作具有一定确定性，但前提是要保证该均线具有趋势性，否则下破时不能精确退出，上破时又不能精确进入。进出过程承担较大的交易摩擦，如日级别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，所以要选择具有强趋势作用的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作为止损线。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0437295"/>
                  </a:ext>
                </a:extLst>
              </a:tr>
              <a:tr h="28186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（待验证）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准则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3【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日周联合进行操作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当周级别处于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主升阶段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时要介入：因所有上升过程必在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时不要清仓：在周主升过程中，要以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为准进行止损。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在日主升过程中，要尽量在靠近顶的区域退出。（在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之上、在下破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时）止盈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当确定周级别已进入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震荡阶段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：应在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之上逢高提前退出。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90766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3331589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>
            <a:lumMod val="5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A046EDC-9D7F-64CE-CE6C-B20EA39C0C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A3AF652-3715-7F78-9D09-2010F5871A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53000" y="365125"/>
            <a:ext cx="7043530" cy="2169352"/>
          </a:xfrm>
        </p:spPr>
        <p:txBody>
          <a:bodyPr>
            <a:normAutofit/>
          </a:bodyPr>
          <a:lstStyle/>
          <a:p>
            <a:r>
              <a:rPr lang="en-US" altLang="zh-CN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</a:t>
            </a:r>
            <a:br>
              <a:rPr lang="en-US" altLang="zh-CN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800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总结</a:t>
            </a:r>
            <a:r>
              <a:rPr lang="en-US" altLang="zh-CN" sz="1800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800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生命周期的核心主题</a:t>
            </a:r>
            <a:endParaRPr lang="zh-CN" altLang="en-US" sz="2000" dirty="0">
              <a:solidFill>
                <a:schemeClr val="tx2">
                  <a:lumMod val="20000"/>
                  <a:lumOff val="8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F0803B84-976B-9998-1FBD-A8C22F81F5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52999" y="2534477"/>
            <a:ext cx="6825331" cy="3642485"/>
          </a:xfrm>
        </p:spPr>
        <p:txBody>
          <a:bodyPr>
            <a:normAutofit/>
          </a:bodyPr>
          <a:lstStyle/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大局观附注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趋势判定原则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1-5</a:t>
            </a: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周奏：主要形状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周波：划分主升与震荡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生命周期中的核心主题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总体形态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主升区域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周级别“升连”的甄别作用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主升区域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特梯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特栏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特栅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主升结构启动信号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主升结构结束信号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退出程序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B395AF72-7E9D-9A4A-8AD0-2EECABFB01C0}"/>
              </a:ext>
            </a:extLst>
          </p:cNvPr>
          <p:cNvSpPr txBox="1"/>
          <p:nvPr/>
        </p:nvSpPr>
        <p:spPr>
          <a:xfrm>
            <a:off x="1071312" y="1746835"/>
            <a:ext cx="2867025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0" dirty="0">
                <a:solidFill>
                  <a:schemeClr val="tx2">
                    <a:lumMod val="75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命</a:t>
            </a: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6CCA39D0-96C9-A5C0-AF35-3B4CCACB9BFC}"/>
              </a:ext>
            </a:extLst>
          </p:cNvPr>
          <p:cNvSpPr/>
          <p:nvPr/>
        </p:nvSpPr>
        <p:spPr>
          <a:xfrm>
            <a:off x="413669" y="5505416"/>
            <a:ext cx="4032000" cy="1037431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本章思维导图：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想抓阳柱，考虑：阳柱启动点、调整结构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想</a:t>
            </a:r>
            <a:r>
              <a:rPr lang="zh-CN" altLang="en-US" sz="1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抓主升，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考虑</a:t>
            </a:r>
            <a:r>
              <a:rPr lang="zh-CN" altLang="en-US" sz="1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：主升启动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结构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想应对见顶，考虑：左侧止盈、右侧见顶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想应对劫，考虑：劫恢复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37421021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7D9422-4403-4A46-4836-21CF5E5309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标题 1">
            <a:extLst>
              <a:ext uri="{FF2B5EF4-FFF2-40B4-BE49-F238E27FC236}">
                <a16:creationId xmlns:a16="http://schemas.microsoft.com/office/drawing/2014/main" id="{BA3CD06B-03D6-1E4F-FE93-040F86689290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大局观附注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趋势判定原则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：必要条件是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b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本页内容：。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627765BB-B87F-1577-4DCA-F1A51E058F14}"/>
              </a:ext>
            </a:extLst>
          </p:cNvPr>
          <p:cNvSpPr/>
          <p:nvPr/>
        </p:nvSpPr>
        <p:spPr>
          <a:xfrm>
            <a:off x="0" y="720000"/>
            <a:ext cx="6089399" cy="199826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研究大局观的重要结论汇总：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：抓涨的最重要必要条件是在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必须认清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周期的运行规律，从而得到抓涨的方法。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重要性：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要明白能够在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之上运行非常难得。所以，抓涨的必要条件是站上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高维：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要明白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生命周期必须服从由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决定的月级别运行规律。</a:t>
            </a:r>
            <a:r>
              <a:rPr lang="zh-CN" altLang="en-US" sz="1000" i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（后续专题展开）</a:t>
            </a:r>
            <a:endParaRPr lang="en-US" altLang="zh-CN" sz="1000" i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负交，很可能属于底诱或顶诱（不一定持久），需要特殊情况特殊分析。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低维：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要明白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生命周期内，存在很多运行陷阱，如（主升与震荡）（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头）（诱多连阳）。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主升与震荡：是基本运行规律。可利用周层与顶型鉴别主升。 </a:t>
            </a:r>
            <a:r>
              <a:rPr lang="zh-CN" altLang="en-US" sz="1000" i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（后续专题展开）</a:t>
            </a:r>
            <a:endParaRPr lang="en-US" altLang="zh-CN" sz="1000" i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主升最后一柱特征。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周期以及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周阶中所处的位置。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头：属于震荡，也可能再次转为主升。可利用周层与顶型鉴别。（后续专题展开）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诱多连阳：虽然属于叠垒式柱排，但可能是震荡中的诱多情形。需要梳理汇总虽为连阳但实属诱多的情况（后续专题展开）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52992AA2-897F-1740-45F6-C415DA1D4EA0}"/>
              </a:ext>
            </a:extLst>
          </p:cNvPr>
          <p:cNvSpPr/>
          <p:nvPr/>
        </p:nvSpPr>
        <p:spPr>
          <a:xfrm>
            <a:off x="6097063" y="728771"/>
            <a:ext cx="6089400" cy="1878072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双护线系统：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护线的地位：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护线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决定趋势更迭：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不会反复相交，优选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，次选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即将正交。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护线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决定波段：珍惜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，特别是当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是止损依据：保证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WJB&amp;WJC&amp;WJD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之上必持有。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护线系统的使用方法：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：选取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不代表趋势逆转，只代表截断回撤（下破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代表可能导致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要秉持“有容乃大”，只有包容适当的劫才能安心持有上升波段（遇阳柱时不急于止盈；遇阴柱或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W2e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时不急于止损；在主升过程不乱折腾）。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：要等待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要等待突破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，才可能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正交。不要提前在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之下介入。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zh-CN" altLang="en-US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2AB387ED-2CD1-8C5D-FC1E-AADB8602AE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0029555"/>
              </p:ext>
            </p:extLst>
          </p:nvPr>
        </p:nvGraphicFramePr>
        <p:xfrm>
          <a:off x="6102600" y="2604943"/>
          <a:ext cx="6089400" cy="3048000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1268840">
                  <a:extLst>
                    <a:ext uri="{9D8B030D-6E8A-4147-A177-3AD203B41FA5}">
                      <a16:colId xmlns:a16="http://schemas.microsoft.com/office/drawing/2014/main" val="3433798685"/>
                    </a:ext>
                  </a:extLst>
                </a:gridCol>
                <a:gridCol w="4820560">
                  <a:extLst>
                    <a:ext uri="{9D8B030D-6E8A-4147-A177-3AD203B41FA5}">
                      <a16:colId xmlns:a16="http://schemas.microsoft.com/office/drawing/2014/main" val="1705328521"/>
                    </a:ext>
                  </a:extLst>
                </a:gridCol>
              </a:tblGrid>
              <a:tr h="209508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护线逻辑的扩散层级：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1550672"/>
                  </a:ext>
                </a:extLst>
              </a:tr>
              <a:tr h="7404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护线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决定波段，最基础的护线。</a:t>
                      </a:r>
                      <a:endParaRPr lang="en-US" altLang="zh-CN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正交时，周管为主战场。以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为止损线。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只有下破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才有可能导致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负交，只要维持在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之上则不会导致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两柱，才最有可能导致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两柱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单柱为跌连，可能导致继续下破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，但未必导致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负交时，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时，要按反向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失败来观察，主要看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下柱排列是否失去跌势。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时，相当于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向下做护，千万要避开。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劫与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劫，要利用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丘，而非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不再向更低级别均线进行护线的扩散，是因为要衡量比较（单柱涨幅与护型幅）。当单柱涨幅可能大于（护型幅）时，再依靠均线没有意义。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4371312"/>
                  </a:ext>
                </a:extLst>
              </a:tr>
              <a:tr h="20950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WXBC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将护线扩散为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周界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根据周界，对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][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][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（非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劫）应用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护型，其余应用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周奏：要注意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之上的奏。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5615080"/>
                  </a:ext>
                </a:extLst>
              </a:tr>
              <a:tr h="46493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将护线扩散为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周阶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WJCDE]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，是判别大势的最有力工具。</a:t>
                      </a:r>
                      <a:endParaRPr lang="en-US" altLang="zh-CN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根据周阶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WJCDE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最有利周阶为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137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，或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经过多次震荡即将正交。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周阶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7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一定要珍惜。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要防止顶部震荡与诱多。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判定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大丘出现的位置：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负交时，虽然可能出现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大丘，但很难。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由负交向正交转变过程中，很难出现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大丘，更多是短期震荡。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正交时，当未下破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时，可能出现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大丘（对应月大柱），对应于（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WXZA/WXZB/WXAB/WXAC/WXBC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）各级别调整。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09223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052821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BF5CE0-CFE2-7DDA-72D2-3AC8761795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标题 1">
            <a:extLst>
              <a:ext uri="{FF2B5EF4-FFF2-40B4-BE49-F238E27FC236}">
                <a16:creationId xmlns:a16="http://schemas.microsoft.com/office/drawing/2014/main" id="{796496AD-9F51-1AC9-F8EA-C1955C9602CB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大局观附注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趋势判定原则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</a:t>
            </a:r>
            <a:b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本页内容：。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6" name="直接连接符 5">
            <a:extLst>
              <a:ext uri="{FF2B5EF4-FFF2-40B4-BE49-F238E27FC236}">
                <a16:creationId xmlns:a16="http://schemas.microsoft.com/office/drawing/2014/main" id="{D5832104-E709-F5FC-71B7-AC8D61F5B8A5}"/>
              </a:ext>
            </a:extLst>
          </p:cNvPr>
          <p:cNvCxnSpPr>
            <a:stCxn id="3" idx="2"/>
          </p:cNvCxnSpPr>
          <p:nvPr/>
        </p:nvCxnSpPr>
        <p:spPr>
          <a:xfrm>
            <a:off x="6096000" y="720000"/>
            <a:ext cx="0" cy="6138000"/>
          </a:xfrm>
          <a:prstGeom prst="line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>
            <a:extLst>
              <a:ext uri="{FF2B5EF4-FFF2-40B4-BE49-F238E27FC236}">
                <a16:creationId xmlns:a16="http://schemas.microsoft.com/office/drawing/2014/main" id="{654423A8-A162-793F-C206-649B33A633C5}"/>
              </a:ext>
            </a:extLst>
          </p:cNvPr>
          <p:cNvSpPr/>
          <p:nvPr/>
        </p:nvSpPr>
        <p:spPr>
          <a:xfrm>
            <a:off x="0" y="720001"/>
            <a:ext cx="6089399" cy="88782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研究大局观的重要结论汇总：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全时域阶段高点都在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设置止损线的实质：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设置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作为止损线的论证。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基于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丘必赢的两种持仓观点。（后续专题展开）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88F77949-7381-2CC3-FDE7-816563E8EF37}"/>
              </a:ext>
            </a:extLst>
          </p:cNvPr>
          <p:cNvSpPr/>
          <p:nvPr/>
        </p:nvSpPr>
        <p:spPr>
          <a:xfrm>
            <a:off x="6109202" y="719999"/>
            <a:ext cx="6089399" cy="4860669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专题展开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基于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丘必赢的两种持仓观点。 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两种观点：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+mj-ea"/>
              <a:buAutoNum type="circleNumDbPlain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丘原旨：是否只要在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之上都应当持有。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+mj-ea"/>
              <a:buAutoNum type="circleNumDbPlain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上属于可持状态链：是否除了满足在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之上的要求，还应符合（可持状态链）才应当持有。只有当周末收盘后已不是（可持状态链）才可退出。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上属于叠垒状态链：将（可持状态链）进一步限制为（叠垒状态链）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观点差异：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第①法与第②法在三个位置可能产生差异：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刚上破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：很可能是单柱突破或突破后剧烈震荡未形成（可持状态链）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周中剧烈波动：周中可能由于下探导致变为非（可持状态链），但周末救回来。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尾部下落：经过较长运行后，已不符合（可持状态链），是否可提前退出。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现有操盘方法中的误区：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（截止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20251020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）致力于向第②法优化算法，目的是在经历最高点后及时逃顶，从而增加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丘的收益。但实际结果却是，总在主升浪左侧卖出，导致失去仓位，不仅没有逃顶，连最高点都已踏空。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（领悟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20251020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）对于（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之上的跌吞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劫），只需躲避可能转变为下跌情况的前导（主要针对已冲高或已完整弧），不需躲避正常的上升中继调整。所以，要判定已冲高或已完整弧，再决定是否做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或清仓。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必须明确的基本认知：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首先要明白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丘的重要性：能够在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之上运行非常难得，在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上更加难得。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第①法与第②法的差异只在细枝末节。如果因为追求第②法而失去了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之上的仓位，则必将承受踏空的巨大痛苦。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第①法与第②法所导致的思维模式差异：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第①法具有较大包容性，严格执行第①法必赢，且可保证经历高点；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第②法时刻思考是否卖出，特别是在日线波动情况，很可能会导致踏空。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变通之法：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对于刚上破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WJB/WJC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按第①法增强容错，切不可在刚上破时严格按第②法；但要维持在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为标准抓主升。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进入主升后，按照（顶型为龙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）（可持状态链）抓住全部主升。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针对已冲高或已整弧，按第②法进行减仓或清仓。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为截损线的交易模式。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设置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为止损线，可能导致针对止损线的上入下出操作，若不能做到精准进出，则可能出现较大的交易摩擦费用。（注意，各方式均应在周线运行完毕后进行交易，而非实时精准进出）：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原旨方案：上入下出。在下破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后止损卖出；在上破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后买回。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改进方案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：提前退出。在下破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后，通过判定脱离顶后，特别是当前期长时间在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之上运行，下破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后极有可能下破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，从而提前退出；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改进方案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：提前试仓。即使在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之下，但若出现下降柱排被破坏，或已站上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等情况，可在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之下提前试仓。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需明确，应重点关注主升区域，而非机械地以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为进出线，对于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》《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等区域只能博短差，而不应做长远布局。</a:t>
            </a:r>
          </a:p>
          <a:p>
            <a:pPr marL="1543050" lvl="3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4D028CAB-76D9-A60B-002E-C6025894F4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3154583"/>
              </p:ext>
            </p:extLst>
          </p:nvPr>
        </p:nvGraphicFramePr>
        <p:xfrm>
          <a:off x="0" y="4632960"/>
          <a:ext cx="6089400" cy="2225040"/>
        </p:xfrm>
        <a:graphic>
          <a:graphicData uri="http://schemas.openxmlformats.org/drawingml/2006/table">
            <a:tbl>
              <a:tblPr firstRow="1" bandRow="1">
                <a:tableStyleId>{22838BEF-8BB2-4498-84A7-C5851F593DF1}</a:tableStyleId>
              </a:tblPr>
              <a:tblGrid>
                <a:gridCol w="779940">
                  <a:extLst>
                    <a:ext uri="{9D8B030D-6E8A-4147-A177-3AD203B41FA5}">
                      <a16:colId xmlns:a16="http://schemas.microsoft.com/office/drawing/2014/main" val="4051837567"/>
                    </a:ext>
                  </a:extLst>
                </a:gridCol>
                <a:gridCol w="895253">
                  <a:extLst>
                    <a:ext uri="{9D8B030D-6E8A-4147-A177-3AD203B41FA5}">
                      <a16:colId xmlns:a16="http://schemas.microsoft.com/office/drawing/2014/main" val="3213946908"/>
                    </a:ext>
                  </a:extLst>
                </a:gridCol>
                <a:gridCol w="3554301">
                  <a:extLst>
                    <a:ext uri="{9D8B030D-6E8A-4147-A177-3AD203B41FA5}">
                      <a16:colId xmlns:a16="http://schemas.microsoft.com/office/drawing/2014/main" val="654018139"/>
                    </a:ext>
                  </a:extLst>
                </a:gridCol>
                <a:gridCol w="859906">
                  <a:extLst>
                    <a:ext uri="{9D8B030D-6E8A-4147-A177-3AD203B41FA5}">
                      <a16:colId xmlns:a16="http://schemas.microsoft.com/office/drawing/2014/main" val="2120408285"/>
                    </a:ext>
                  </a:extLst>
                </a:gridCol>
              </a:tblGrid>
              <a:tr h="0">
                <a:tc gridSpan="4"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分类：全时域阶段高点都在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1502078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子区域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是否具有后续冲高可能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周波型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70592352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真突破⇒将形成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假突破⇒短暂脉冲后会回落至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头负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9072646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已无冲高可能（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/3w/3h/3u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）⇒等待再次站上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震负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40766312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主升管内是主战场：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推高顶：在冲高时保持仓位或减仓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在管内震荡：日级别反复波动，保持仓位。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（震）与（头）是无序波动。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龙猪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龙落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栅跌人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震正〇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震正芽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头正芽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0800189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间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假下破：下破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无征兆⇒等待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站上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真下破：已经历冲高或整弧⇒可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减仓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清仓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龙落根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震正根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头正根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691861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假下破：已下破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应退出，但可以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作为止损线。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真下破：会形成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震正根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18227366"/>
                  </a:ext>
                </a:extLst>
              </a:tr>
            </a:tbl>
          </a:graphicData>
        </a:graphic>
      </p:graphicFrame>
      <p:sp>
        <p:nvSpPr>
          <p:cNvPr id="4" name="矩形 3">
            <a:extLst>
              <a:ext uri="{FF2B5EF4-FFF2-40B4-BE49-F238E27FC236}">
                <a16:creationId xmlns:a16="http://schemas.microsoft.com/office/drawing/2014/main" id="{255B4BFC-4121-D5EF-5721-B3EF1189B323}"/>
              </a:ext>
            </a:extLst>
          </p:cNvPr>
          <p:cNvSpPr/>
          <p:nvPr/>
        </p:nvSpPr>
        <p:spPr>
          <a:xfrm>
            <a:off x="-2558" y="1589872"/>
            <a:ext cx="6096000" cy="288988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设置止损线的实质</a:t>
            </a:r>
            <a:r>
              <a:rPr lang="en-US" altLang="zh-CN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既然已经放弃了所有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之下区域，就要容忍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之上的波动，应以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为止损线，不要约束为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800" b="1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在止损线之上，应容忍回撤（如跌连）。</a:t>
            </a:r>
            <a:endParaRPr lang="en-US" altLang="zh-CN" sz="800" b="1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如果止损线上不能卖出。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则止损线不应设置得太低，否则将从高点回落较大幅度才能正式止损。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如果止损线上能卖出。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对于已冲高或已完整弧情况，应在高点减仓，其余剩余仓位可等待在止损线退出。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在止损线附近，针对反复贯穿止损线的情况，按照止损线定义，会出现低卖高买。违反高抛低吸的必胜法则。</a:t>
            </a:r>
            <a:endParaRPr lang="en-US" altLang="zh-CN" sz="800" b="1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在实际走势中，在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附近进场出现反复贯穿，并不是跌破后就会长时间维持在线下。所以，应将止损线设置为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更高维的均线。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在止损线之下，不应进行任何操作。</a:t>
            </a:r>
            <a:endParaRPr lang="en-US" altLang="zh-CN" sz="800" b="1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若止损线设置为</a:t>
            </a:r>
            <a:r>
              <a:rPr lang="en-US" altLang="zh-CN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则在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之上，仍处于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之上，对应于周阴柱，仍可能下周上涨或冲高。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若止损线设置为</a:t>
            </a:r>
            <a:r>
              <a:rPr lang="en-US" altLang="zh-CN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在周中有很多下破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情况，或周级别下破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情况，下柱仍可能上涨或冲高。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所以，实际走势中，低阶均线是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线运行的中枢，应将止损线设置为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更高级别的均线。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综合以上分析与大多数实际走势：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应将止损线设置为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要明确只要在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之上就有升机，在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之上就应无理由地持有底仓。不应跌破低维均线时止损。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针对日线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的操作（注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20251011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）：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用于确定介入时点：在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之上时介入（代表远离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用于安心持有：不下破不退出，除非冲高偏离较大时止盈。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止损线之上允许操作。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要允许提前退出。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针对已冲高，可将退出条件设置为“最后一柱”、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之上跌连退出。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针对已整弧，可将退出条件设置为下破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两柱。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要允许提前减仓。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针对日柱阳柱，可减仓至底仓。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000250" lvl="4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54214486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8A8C47-84E1-A2FE-FE50-51BA0FCEE6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>
            <a:extLst>
              <a:ext uri="{FF2B5EF4-FFF2-40B4-BE49-F238E27FC236}">
                <a16:creationId xmlns:a16="http://schemas.microsoft.com/office/drawing/2014/main" id="{27F17BC6-BBC6-5B66-5887-B132113A4CD7}"/>
              </a:ext>
            </a:extLst>
          </p:cNvPr>
          <p:cNvSpPr/>
          <p:nvPr/>
        </p:nvSpPr>
        <p:spPr>
          <a:xfrm>
            <a:off x="7583434" y="722746"/>
            <a:ext cx="2580346" cy="6123089"/>
          </a:xfrm>
          <a:prstGeom prst="rect">
            <a:avLst/>
          </a:prstGeom>
          <a:solidFill>
            <a:schemeClr val="accent2">
              <a:lumMod val="75000"/>
              <a:alpha val="2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zh-CN" altLang="en-US" sz="800" dirty="0"/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6C2E475D-4CCD-D9F0-5CA8-41FABBE8368B}"/>
              </a:ext>
            </a:extLst>
          </p:cNvPr>
          <p:cNvSpPr/>
          <p:nvPr/>
        </p:nvSpPr>
        <p:spPr>
          <a:xfrm>
            <a:off x="10163780" y="722746"/>
            <a:ext cx="2034000" cy="6123089"/>
          </a:xfrm>
          <a:prstGeom prst="rect">
            <a:avLst/>
          </a:prstGeom>
          <a:solidFill>
            <a:schemeClr val="tx2">
              <a:lumMod val="50000"/>
              <a:alpha val="2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zh-CN" altLang="en-US" sz="800" dirty="0"/>
          </a:p>
        </p:txBody>
      </p:sp>
      <p:sp>
        <p:nvSpPr>
          <p:cNvPr id="28" name="矩形 27">
            <a:extLst>
              <a:ext uri="{FF2B5EF4-FFF2-40B4-BE49-F238E27FC236}">
                <a16:creationId xmlns:a16="http://schemas.microsoft.com/office/drawing/2014/main" id="{4F9492D3-5506-F59D-96F1-B6D4469D8210}"/>
              </a:ext>
            </a:extLst>
          </p:cNvPr>
          <p:cNvSpPr/>
          <p:nvPr/>
        </p:nvSpPr>
        <p:spPr>
          <a:xfrm>
            <a:off x="4665225" y="711462"/>
            <a:ext cx="2925696" cy="6134374"/>
          </a:xfrm>
          <a:prstGeom prst="rect">
            <a:avLst/>
          </a:prstGeom>
          <a:solidFill>
            <a:schemeClr val="accent5">
              <a:lumMod val="75000"/>
              <a:alpha val="2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zh-CN" altLang="en-US" sz="800" dirty="0"/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A470461B-CB78-6409-686B-ADDA6E533302}"/>
              </a:ext>
            </a:extLst>
          </p:cNvPr>
          <p:cNvSpPr/>
          <p:nvPr/>
        </p:nvSpPr>
        <p:spPr>
          <a:xfrm>
            <a:off x="2512470" y="760846"/>
            <a:ext cx="2160000" cy="6131932"/>
          </a:xfrm>
          <a:prstGeom prst="rect">
            <a:avLst/>
          </a:prstGeom>
          <a:solidFill>
            <a:schemeClr val="accent6">
              <a:lumMod val="75000"/>
              <a:alpha val="2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zh-CN" altLang="en-US" sz="800" dirty="0"/>
          </a:p>
        </p:txBody>
      </p:sp>
      <p:sp>
        <p:nvSpPr>
          <p:cNvPr id="30" name="矩形 29">
            <a:extLst>
              <a:ext uri="{FF2B5EF4-FFF2-40B4-BE49-F238E27FC236}">
                <a16:creationId xmlns:a16="http://schemas.microsoft.com/office/drawing/2014/main" id="{A4BB17B1-EF96-2430-285D-72794211D23B}"/>
              </a:ext>
            </a:extLst>
          </p:cNvPr>
          <p:cNvSpPr/>
          <p:nvPr/>
        </p:nvSpPr>
        <p:spPr>
          <a:xfrm>
            <a:off x="-2" y="727509"/>
            <a:ext cx="2520000" cy="6131932"/>
          </a:xfrm>
          <a:prstGeom prst="rect">
            <a:avLst/>
          </a:prstGeom>
          <a:solidFill>
            <a:schemeClr val="tx2">
              <a:lumMod val="50000"/>
              <a:alpha val="2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zh-CN" altLang="en-US" sz="800" dirty="0"/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E263672C-2C7E-4CAA-5925-29903382DA5E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 fontScale="925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趋势判定原则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：利用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视角确定月级别大势</a:t>
            </a:r>
            <a:r>
              <a:rPr lang="zh-CN" altLang="en-US" sz="15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5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15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</a:t>
            </a:r>
            <a:r>
              <a:rPr lang="en-US" altLang="zh-CN" sz="15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5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丘幅度的影响）</a:t>
            </a:r>
            <a:br>
              <a:rPr lang="en-US" altLang="zh-CN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主题：月势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是宝藏发现，是各种思路的出发点，不要再丢弃。月局是规划走势的最高级别，利用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确定月级别可能出现大升的位置，从而抓住最有把握的大升。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F02A85E4-A3BD-372F-28EE-01954813B1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0858698"/>
              </p:ext>
            </p:extLst>
          </p:nvPr>
        </p:nvGraphicFramePr>
        <p:xfrm>
          <a:off x="0" y="722747"/>
          <a:ext cx="12192002" cy="2209800"/>
        </p:xfrm>
        <a:graphic>
          <a:graphicData uri="http://schemas.openxmlformats.org/drawingml/2006/table">
            <a:tbl>
              <a:tblPr>
                <a:tableStyleId>{BDBED569-4797-4DF1-A0F4-6AAB3CD982D8}</a:tableStyleId>
              </a:tblPr>
              <a:tblGrid>
                <a:gridCol w="285376">
                  <a:extLst>
                    <a:ext uri="{9D8B030D-6E8A-4147-A177-3AD203B41FA5}">
                      <a16:colId xmlns:a16="http://schemas.microsoft.com/office/drawing/2014/main" val="1385312033"/>
                    </a:ext>
                  </a:extLst>
                </a:gridCol>
                <a:gridCol w="561371">
                  <a:extLst>
                    <a:ext uri="{9D8B030D-6E8A-4147-A177-3AD203B41FA5}">
                      <a16:colId xmlns:a16="http://schemas.microsoft.com/office/drawing/2014/main" val="4026346126"/>
                    </a:ext>
                  </a:extLst>
                </a:gridCol>
                <a:gridCol w="4696132">
                  <a:extLst>
                    <a:ext uri="{9D8B030D-6E8A-4147-A177-3AD203B41FA5}">
                      <a16:colId xmlns:a16="http://schemas.microsoft.com/office/drawing/2014/main" val="3147102153"/>
                    </a:ext>
                  </a:extLst>
                </a:gridCol>
                <a:gridCol w="749917">
                  <a:extLst>
                    <a:ext uri="{9D8B030D-6E8A-4147-A177-3AD203B41FA5}">
                      <a16:colId xmlns:a16="http://schemas.microsoft.com/office/drawing/2014/main" val="1223605934"/>
                    </a:ext>
                  </a:extLst>
                </a:gridCol>
                <a:gridCol w="478306">
                  <a:extLst>
                    <a:ext uri="{9D8B030D-6E8A-4147-A177-3AD203B41FA5}">
                      <a16:colId xmlns:a16="http://schemas.microsoft.com/office/drawing/2014/main" val="3142470223"/>
                    </a:ext>
                  </a:extLst>
                </a:gridCol>
                <a:gridCol w="478306">
                  <a:extLst>
                    <a:ext uri="{9D8B030D-6E8A-4147-A177-3AD203B41FA5}">
                      <a16:colId xmlns:a16="http://schemas.microsoft.com/office/drawing/2014/main" val="3923617960"/>
                    </a:ext>
                  </a:extLst>
                </a:gridCol>
                <a:gridCol w="478306">
                  <a:extLst>
                    <a:ext uri="{9D8B030D-6E8A-4147-A177-3AD203B41FA5}">
                      <a16:colId xmlns:a16="http://schemas.microsoft.com/office/drawing/2014/main" val="2456434265"/>
                    </a:ext>
                  </a:extLst>
                </a:gridCol>
                <a:gridCol w="475180">
                  <a:extLst>
                    <a:ext uri="{9D8B030D-6E8A-4147-A177-3AD203B41FA5}">
                      <a16:colId xmlns:a16="http://schemas.microsoft.com/office/drawing/2014/main" val="1216122148"/>
                    </a:ext>
                  </a:extLst>
                </a:gridCol>
                <a:gridCol w="475180">
                  <a:extLst>
                    <a:ext uri="{9D8B030D-6E8A-4147-A177-3AD203B41FA5}">
                      <a16:colId xmlns:a16="http://schemas.microsoft.com/office/drawing/2014/main" val="2085459826"/>
                    </a:ext>
                  </a:extLst>
                </a:gridCol>
                <a:gridCol w="486734">
                  <a:extLst>
                    <a:ext uri="{9D8B030D-6E8A-4147-A177-3AD203B41FA5}">
                      <a16:colId xmlns:a16="http://schemas.microsoft.com/office/drawing/2014/main" val="4092707429"/>
                    </a:ext>
                  </a:extLst>
                </a:gridCol>
                <a:gridCol w="698291">
                  <a:extLst>
                    <a:ext uri="{9D8B030D-6E8A-4147-A177-3AD203B41FA5}">
                      <a16:colId xmlns:a16="http://schemas.microsoft.com/office/drawing/2014/main" val="3250842083"/>
                    </a:ext>
                  </a:extLst>
                </a:gridCol>
                <a:gridCol w="698291">
                  <a:extLst>
                    <a:ext uri="{9D8B030D-6E8A-4147-A177-3AD203B41FA5}">
                      <a16:colId xmlns:a16="http://schemas.microsoft.com/office/drawing/2014/main" val="794079015"/>
                    </a:ext>
                  </a:extLst>
                </a:gridCol>
                <a:gridCol w="1075584">
                  <a:extLst>
                    <a:ext uri="{9D8B030D-6E8A-4147-A177-3AD203B41FA5}">
                      <a16:colId xmlns:a16="http://schemas.microsoft.com/office/drawing/2014/main" val="3004664990"/>
                    </a:ext>
                  </a:extLst>
                </a:gridCol>
                <a:gridCol w="555028">
                  <a:extLst>
                    <a:ext uri="{9D8B030D-6E8A-4147-A177-3AD203B41FA5}">
                      <a16:colId xmlns:a16="http://schemas.microsoft.com/office/drawing/2014/main" val="2975845390"/>
                    </a:ext>
                  </a:extLst>
                </a:gridCol>
              </a:tblGrid>
              <a:tr h="226831">
                <a:tc gridSpan="14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走势分析规律：仓位应随势，要按走势投入更有价值的地方。切勿介入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嘘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银唏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更有价值。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月势：依靠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WJCDE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对全时间进行划分，基本要求是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。眼中时刻要有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护型；要珍惜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交叉是全时域的定海神针，不会频繁交叉，一定要珍惜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正交，直至冲高。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正交且始终不破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对应于月级别主升；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负交且始终不破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对应于月级别主降；其余为阴阳转换。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操作目标：优选（有序主升）备选（无序震荡）剔除（下降诱多）</a:t>
                      </a:r>
                      <a:endParaRPr lang="zh-CN" alt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zh-CN" altLang="en-US" sz="800" b="1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US" altLang="zh-CN" sz="8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US" altLang="zh-CN" sz="8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US" altLang="zh-CN" sz="8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US" altLang="zh-CN" sz="8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US" altLang="zh-CN" sz="8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US" altLang="zh-CN" sz="8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US" altLang="zh-CN" sz="8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US" altLang="zh-CN" sz="8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zh-CN" altLang="en-US" sz="800" b="1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zh-CN" altLang="en-US" sz="800" b="1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zh-CN" altLang="en-US" sz="800" b="1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zh-CN" altLang="en-US" sz="800" b="1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0133926"/>
                  </a:ext>
                </a:extLst>
              </a:tr>
              <a:tr h="4962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大置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大置的条件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altLang="zh-CN" sz="7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月阶</a:t>
                      </a:r>
                      <a:endParaRPr lang="en-US" altLang="zh-CN" sz="7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70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en-US" altLang="zh-CN" sz="7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70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en-US" altLang="zh-CN" sz="7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70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7</a:t>
                      </a:r>
                      <a:endParaRPr lang="en-US" altLang="zh-CN" sz="7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70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</a:t>
                      </a:r>
                      <a:endParaRPr lang="en-US" altLang="zh-CN" sz="7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70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en-US" altLang="zh-CN" sz="7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70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en-US" altLang="zh-CN" sz="7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筛选操作</a:t>
                      </a:r>
                      <a:endParaRPr lang="en-US" altLang="zh-CN" sz="7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应对战法</a:t>
                      </a:r>
                      <a:endParaRPr lang="en-US" altLang="zh-CN" sz="7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是否月级主升</a:t>
                      </a:r>
                      <a:endParaRPr lang="en-US" altLang="zh-CN" sz="7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策略</a:t>
                      </a:r>
                      <a:endParaRPr lang="en-US" altLang="zh-CN" sz="700" b="0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7003677"/>
                  </a:ext>
                </a:extLst>
              </a:tr>
              <a:tr h="137495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唏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WXCD&lt;0,WXZ</a:t>
                      </a:r>
                      <a:r>
                        <a:rPr lang="en-US" altLang="zh-CN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</a:t>
                      </a: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&gt;0</a:t>
                      </a:r>
                      <a:endParaRPr 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呈无序震荡。更多倾向是转跌至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之下。仅观察。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周类走势只为在月级别形成底部震荡（多为月阴阳交错），不适合长期持有。存在少数月级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V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字走势。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底部可能存在多次震荡诱多，要等待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即将正交时再介入。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zh-CN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C0/C6/C4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　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　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　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唏</a:t>
                      </a: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C6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降震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唏</a:t>
                      </a: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C4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降震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唏</a:t>
                      </a:r>
                      <a:r>
                        <a:rPr lang="en-US" altLang="zh-CN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C0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底震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单列备选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（无序底震）</a:t>
                      </a:r>
                    </a:p>
                    <a:p>
                      <a:pPr algn="l" fontAlgn="ctr">
                        <a:buNone/>
                      </a:pP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勿介入</a:t>
                      </a:r>
                    </a:p>
                    <a:p>
                      <a:pPr algn="l" fontAlgn="ctr">
                        <a:buNone/>
                      </a:pP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不可能，防多次震荡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“可看”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0234707"/>
                  </a:ext>
                </a:extLst>
              </a:tr>
              <a:tr h="137495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银</a:t>
                      </a:r>
                      <a:endParaRPr lang="zh-CN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WXCD&lt;0,WXZ</a:t>
                      </a:r>
                      <a:r>
                        <a:rPr lang="en-US" altLang="zh-CN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</a:t>
                      </a: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&gt;0</a:t>
                      </a:r>
                      <a:endParaRPr 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呈无序震荡。可能存在多次震荡，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周期极易结束。仅可试仓。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在底部突破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后，可能在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M6v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长时间震荡后启动主升突破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WJE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月级别波动有限，周级别无序震荡。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A0/C6/C4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l" fontAlgn="ctr">
                        <a:buNone/>
                      </a:pP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　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　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　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银</a:t>
                      </a: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C6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降震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银</a:t>
                      </a: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C4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降震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银</a:t>
                      </a:r>
                      <a:r>
                        <a:rPr lang="en-US" altLang="zh-CN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A0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底震</a:t>
                      </a:r>
                      <a:b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</a:b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单列备选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（无序底震）</a:t>
                      </a:r>
                    </a:p>
                    <a:p>
                      <a:pPr algn="l" fontAlgn="ctr">
                        <a:buNone/>
                      </a:pP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下柱冲高战法</a:t>
                      </a:r>
                    </a:p>
                    <a:p>
                      <a:pPr algn="l" fontAlgn="ctr">
                        <a:buNone/>
                      </a:pP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可能，防多次震荡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“可持”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566105"/>
                  </a:ext>
                </a:extLst>
              </a:tr>
              <a:tr h="95644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金</a:t>
                      </a:r>
                      <a:endParaRPr lang="zh-CN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WXCD&gt;0,WXZC&gt;0</a:t>
                      </a:r>
                      <a:endParaRPr lang="zh-CN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良序主升区域，启动月级别主升。要抓住其中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正交部分，以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要珍惜：（阶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3&amp;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7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）且（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之上）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zh-CN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A7/C7/A3/A1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金</a:t>
                      </a: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A1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升主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金</a:t>
                      </a: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A3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升主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金</a:t>
                      </a:r>
                      <a:r>
                        <a:rPr lang="en-US" altLang="zh-CN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A7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升主</a:t>
                      </a:r>
                      <a:endParaRPr lang="en-US" altLang="zh-CN" sz="700" u="none" strike="noStrike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金</a:t>
                      </a:r>
                      <a:r>
                        <a:rPr lang="en-US" altLang="zh-CN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C7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顶震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　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　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　</a:t>
                      </a:r>
                      <a:endParaRPr lang="zh-CN" altLang="en-US" sz="7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单列优选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（有序主升）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zh-CN" altLang="en-US" sz="7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非常可能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“可持”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3196598"/>
                  </a:ext>
                </a:extLst>
              </a:tr>
              <a:tr h="137495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嘘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WXCD&gt;0,WXZC&lt;0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很可能转为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金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。切勿介入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嘘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银唏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更有价值。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周级别走势多数为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WXBC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劫或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劫。奏：要统计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正交时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/WXBC/WXAB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相交次数。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顶部多次震荡，只为在月级别形成顶部震荡（多为月阴阳交错）。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zh-CN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X7/X3/X1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嘘</a:t>
                      </a: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X1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升震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嘘</a:t>
                      </a: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X3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升震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嘘</a:t>
                      </a:r>
                      <a:r>
                        <a:rPr lang="en-US" altLang="zh-CN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X7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顶震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　</a:t>
                      </a:r>
                      <a:endParaRPr lang="zh-CN" altLang="en-US" sz="7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　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　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单列备选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（无序顶震）</a:t>
                      </a:r>
                    </a:p>
                    <a:p>
                      <a:pPr algn="l" fontAlgn="ctr">
                        <a:buNone/>
                      </a:pP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可能，防震荡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“可看”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9528773"/>
                  </a:ext>
                </a:extLst>
              </a:tr>
              <a:tr h="92826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尿</a:t>
                      </a:r>
                      <a:endParaRPr lang="zh-CN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WXCD&gt;0,WXZ</a:t>
                      </a:r>
                      <a:r>
                        <a:rPr lang="en-US" altLang="zh-CN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</a:t>
                      </a: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&lt;0</a:t>
                      </a:r>
                      <a:endParaRPr lang="zh-CN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毫无价值，仅站上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正交才可观察。勿介入。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zh-CN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Z7/X3/X1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尿</a:t>
                      </a: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X1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升震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尿</a:t>
                      </a: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X3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升震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尿</a:t>
                      </a:r>
                      <a:r>
                        <a:rPr lang="en-US" altLang="zh-CN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Z7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顶震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不可能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“放弃”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559770"/>
                  </a:ext>
                </a:extLst>
              </a:tr>
              <a:tr h="95644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屎</a:t>
                      </a:r>
                      <a:endParaRPr lang="zh-CN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WXCD&lt;0,WXZC&lt;0</a:t>
                      </a:r>
                      <a:endParaRPr lang="zh-CN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毫无价值，仅站上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正交才可观察。勿介入。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zh-CN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Z0/X0/Z4/Z6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　</a:t>
                      </a:r>
                      <a:endParaRPr lang="zh-CN" altLang="en-US" sz="7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　</a:t>
                      </a:r>
                      <a:endParaRPr lang="zh-CN" altLang="en-US" sz="7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　</a:t>
                      </a:r>
                      <a:endParaRPr lang="zh-CN" altLang="en-US" sz="7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屎</a:t>
                      </a:r>
                      <a:r>
                        <a:rPr lang="en-US" sz="7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Z6</a:t>
                      </a:r>
                      <a:r>
                        <a:rPr lang="zh-CN" altLang="en-US" sz="7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降主</a:t>
                      </a:r>
                      <a:endParaRPr lang="zh-CN" altLang="en-US" sz="7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屎</a:t>
                      </a:r>
                      <a:r>
                        <a:rPr lang="en-US" sz="7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Z4</a:t>
                      </a:r>
                      <a:r>
                        <a:rPr lang="zh-CN" altLang="en-US" sz="7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降主</a:t>
                      </a:r>
                      <a:endParaRPr lang="zh-CN" altLang="en-US" sz="7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屎</a:t>
                      </a: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X0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底震</a:t>
                      </a:r>
                      <a:b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</a:b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屎</a:t>
                      </a:r>
                      <a:r>
                        <a:rPr 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Z0</a:t>
                      </a:r>
                      <a:r>
                        <a:rPr lang="zh-CN" altLang="en-US" sz="7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降主</a:t>
                      </a: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zh-CN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不可能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zh-CN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“放弃”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188854"/>
                  </a:ext>
                </a:extLst>
              </a:tr>
            </a:tbl>
          </a:graphicData>
        </a:graphic>
      </p:graphicFrame>
      <p:sp>
        <p:nvSpPr>
          <p:cNvPr id="9" name="矩形 8">
            <a:extLst>
              <a:ext uri="{FF2B5EF4-FFF2-40B4-BE49-F238E27FC236}">
                <a16:creationId xmlns:a16="http://schemas.microsoft.com/office/drawing/2014/main" id="{83B632A0-2412-4DC6-DB88-E52FF6A5F4E6}"/>
              </a:ext>
            </a:extLst>
          </p:cNvPr>
          <p:cNvSpPr/>
          <p:nvPr/>
        </p:nvSpPr>
        <p:spPr>
          <a:xfrm>
            <a:off x="4671839" y="5747327"/>
            <a:ext cx="1586086" cy="710628"/>
          </a:xfrm>
          <a:prstGeom prst="rect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月级别上升趋势包含两部分：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完整弧的回踩：可下破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，但不应下破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月级别主升：前面周级别回撤变为月阴柱，并开始长时间月级别主升。</a:t>
            </a:r>
          </a:p>
        </p:txBody>
      </p:sp>
      <p:cxnSp>
        <p:nvCxnSpPr>
          <p:cNvPr id="10" name="直接箭头连接符 9">
            <a:extLst>
              <a:ext uri="{FF2B5EF4-FFF2-40B4-BE49-F238E27FC236}">
                <a16:creationId xmlns:a16="http://schemas.microsoft.com/office/drawing/2014/main" id="{25E76EC6-43C3-6D56-01A3-D845418B05AD}"/>
              </a:ext>
            </a:extLst>
          </p:cNvPr>
          <p:cNvCxnSpPr>
            <a:cxnSpLocks/>
          </p:cNvCxnSpPr>
          <p:nvPr/>
        </p:nvCxnSpPr>
        <p:spPr>
          <a:xfrm flipV="1">
            <a:off x="5627989" y="5447231"/>
            <a:ext cx="0" cy="279743"/>
          </a:xfrm>
          <a:prstGeom prst="straightConnector1">
            <a:avLst/>
          </a:prstGeom>
          <a:ln w="12700"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右大括号 10">
            <a:extLst>
              <a:ext uri="{FF2B5EF4-FFF2-40B4-BE49-F238E27FC236}">
                <a16:creationId xmlns:a16="http://schemas.microsoft.com/office/drawing/2014/main" id="{A61D4890-581B-7EF9-27B0-8F9669479E51}"/>
              </a:ext>
            </a:extLst>
          </p:cNvPr>
          <p:cNvSpPr/>
          <p:nvPr/>
        </p:nvSpPr>
        <p:spPr>
          <a:xfrm rot="5400000">
            <a:off x="3458404" y="4492265"/>
            <a:ext cx="241066" cy="2119596"/>
          </a:xfrm>
          <a:prstGeom prst="rightBrace">
            <a:avLst>
              <a:gd name="adj1" fmla="val 79188"/>
              <a:gd name="adj2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C10ACAB0-B931-FD4D-EF90-F5B52203E758}"/>
              </a:ext>
            </a:extLst>
          </p:cNvPr>
          <p:cNvSpPr/>
          <p:nvPr/>
        </p:nvSpPr>
        <p:spPr>
          <a:xfrm>
            <a:off x="6300790" y="5747327"/>
            <a:ext cx="1282644" cy="710628"/>
          </a:xfrm>
          <a:prstGeom prst="rect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多头排列，在首次经历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级别震荡后，存在两个方向：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再次形成主升。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形成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头，从而进入顶部震荡。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3" name="直接箭头连接符 12">
            <a:extLst>
              <a:ext uri="{FF2B5EF4-FFF2-40B4-BE49-F238E27FC236}">
                <a16:creationId xmlns:a16="http://schemas.microsoft.com/office/drawing/2014/main" id="{761087D3-B44D-C8EF-D6E0-0D3133B6B010}"/>
              </a:ext>
            </a:extLst>
          </p:cNvPr>
          <p:cNvCxnSpPr>
            <a:cxnSpLocks/>
          </p:cNvCxnSpPr>
          <p:nvPr/>
        </p:nvCxnSpPr>
        <p:spPr>
          <a:xfrm flipV="1">
            <a:off x="6864483" y="4453682"/>
            <a:ext cx="0" cy="1273292"/>
          </a:xfrm>
          <a:prstGeom prst="straightConnector1">
            <a:avLst/>
          </a:prstGeom>
          <a:ln w="12700"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矩形 13">
            <a:extLst>
              <a:ext uri="{FF2B5EF4-FFF2-40B4-BE49-F238E27FC236}">
                <a16:creationId xmlns:a16="http://schemas.microsoft.com/office/drawing/2014/main" id="{63F70CCF-D666-3954-2D3D-F5F16A60195A}"/>
              </a:ext>
            </a:extLst>
          </p:cNvPr>
          <p:cNvSpPr/>
          <p:nvPr/>
        </p:nvSpPr>
        <p:spPr>
          <a:xfrm>
            <a:off x="5323238" y="2945280"/>
            <a:ext cx="2252401" cy="708595"/>
          </a:xfrm>
          <a:prstGeom prst="rect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当处于上升趋势中，不是单边快速上冲，而是沿东北方向某角度反复波动上升。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不会因前柱为阳，从而下柱必为阳。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不会因前柱为阴，从而下柱必为阴。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不要在日线左侧退出。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不要一定等日线止跌出现阳柱再介入。</a:t>
            </a:r>
          </a:p>
        </p:txBody>
      </p:sp>
      <p:sp>
        <p:nvSpPr>
          <p:cNvPr id="15" name="右大括号 14">
            <a:extLst>
              <a:ext uri="{FF2B5EF4-FFF2-40B4-BE49-F238E27FC236}">
                <a16:creationId xmlns:a16="http://schemas.microsoft.com/office/drawing/2014/main" id="{7FBBC43F-D4AB-2FEA-ABD8-28629B634A2D}"/>
              </a:ext>
            </a:extLst>
          </p:cNvPr>
          <p:cNvSpPr/>
          <p:nvPr/>
        </p:nvSpPr>
        <p:spPr>
          <a:xfrm rot="5400000">
            <a:off x="8740980" y="2800157"/>
            <a:ext cx="241066" cy="2587335"/>
          </a:xfrm>
          <a:prstGeom prst="rightBrace">
            <a:avLst>
              <a:gd name="adj1" fmla="val 79188"/>
              <a:gd name="adj2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sz="16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7" name="直接箭头连接符 16">
            <a:extLst>
              <a:ext uri="{FF2B5EF4-FFF2-40B4-BE49-F238E27FC236}">
                <a16:creationId xmlns:a16="http://schemas.microsoft.com/office/drawing/2014/main" id="{2B050231-C617-1082-36D6-62588048A515}"/>
              </a:ext>
            </a:extLst>
          </p:cNvPr>
          <p:cNvCxnSpPr>
            <a:cxnSpLocks/>
          </p:cNvCxnSpPr>
          <p:nvPr/>
        </p:nvCxnSpPr>
        <p:spPr>
          <a:xfrm flipV="1">
            <a:off x="11179419" y="4607885"/>
            <a:ext cx="1" cy="1034831"/>
          </a:xfrm>
          <a:prstGeom prst="straightConnector1">
            <a:avLst/>
          </a:prstGeom>
          <a:ln w="12700"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矩形 17">
            <a:extLst>
              <a:ext uri="{FF2B5EF4-FFF2-40B4-BE49-F238E27FC236}">
                <a16:creationId xmlns:a16="http://schemas.microsoft.com/office/drawing/2014/main" id="{8A4007C6-DBE2-B2D8-1FD4-7DCA99332ACC}"/>
              </a:ext>
            </a:extLst>
          </p:cNvPr>
          <p:cNvSpPr/>
          <p:nvPr/>
        </p:nvSpPr>
        <p:spPr>
          <a:xfrm>
            <a:off x="7583431" y="4203811"/>
            <a:ext cx="2580346" cy="824308"/>
          </a:xfrm>
          <a:prstGeom prst="rect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周级别操作规则：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入口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应只从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介入，少数在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后介入。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应避开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月底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月顶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周震荡。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出口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原则上只以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作为止损点；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针对已完整弧可以下破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两柱退出；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针对已冲高可以下破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捡漏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】/WJA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上跌孕、跌吞、跌连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zh-CN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右大括号 18">
            <a:extLst>
              <a:ext uri="{FF2B5EF4-FFF2-40B4-BE49-F238E27FC236}">
                <a16:creationId xmlns:a16="http://schemas.microsoft.com/office/drawing/2014/main" id="{6564B156-526A-88B9-BFD4-BE3028C6892A}"/>
              </a:ext>
            </a:extLst>
          </p:cNvPr>
          <p:cNvSpPr/>
          <p:nvPr/>
        </p:nvSpPr>
        <p:spPr>
          <a:xfrm rot="12359150">
            <a:off x="5672164" y="4061248"/>
            <a:ext cx="241066" cy="1404149"/>
          </a:xfrm>
          <a:prstGeom prst="rightBrace">
            <a:avLst>
              <a:gd name="adj1" fmla="val 79188"/>
              <a:gd name="adj2" fmla="val 83603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sz="16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112F0214-1CD1-1E6E-2A98-B38F0D9EE6FF}"/>
              </a:ext>
            </a:extLst>
          </p:cNvPr>
          <p:cNvSpPr/>
          <p:nvPr/>
        </p:nvSpPr>
        <p:spPr>
          <a:xfrm>
            <a:off x="2512470" y="6483650"/>
            <a:ext cx="2160000" cy="37431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屎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唏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银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en-US" altLang="zh-CN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</a:p>
          <a:p>
            <a:pPr algn="ctr"/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无序底震：下柱冲高战法</a:t>
            </a:r>
          </a:p>
        </p:txBody>
      </p:sp>
      <p:sp>
        <p:nvSpPr>
          <p:cNvPr id="21" name="矩形 20">
            <a:extLst>
              <a:ext uri="{FF2B5EF4-FFF2-40B4-BE49-F238E27FC236}">
                <a16:creationId xmlns:a16="http://schemas.microsoft.com/office/drawing/2014/main" id="{7EA27973-7420-B5AE-3E4A-72164D266508}"/>
              </a:ext>
            </a:extLst>
          </p:cNvPr>
          <p:cNvSpPr/>
          <p:nvPr/>
        </p:nvSpPr>
        <p:spPr>
          <a:xfrm>
            <a:off x="4665225" y="6483650"/>
            <a:ext cx="2925696" cy="37431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金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en-US" altLang="zh-CN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WXCD&gt;0</a:t>
            </a:r>
          </a:p>
          <a:p>
            <a:pPr algn="ctr"/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良序主升：坐公交战法</a:t>
            </a:r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567AA57A-98E1-78A6-550A-381806C1444C}"/>
              </a:ext>
            </a:extLst>
          </p:cNvPr>
          <p:cNvSpPr/>
          <p:nvPr/>
        </p:nvSpPr>
        <p:spPr>
          <a:xfrm>
            <a:off x="7583434" y="6483650"/>
            <a:ext cx="2580346" cy="374317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嘘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尿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en-US" altLang="zh-CN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</a:p>
          <a:p>
            <a:pPr algn="ctr"/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无序顶震：下柱冲高战法</a:t>
            </a:r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B0FC8397-2A8E-D42E-0D19-580C10D873CD}"/>
              </a:ext>
            </a:extLst>
          </p:cNvPr>
          <p:cNvSpPr/>
          <p:nvPr/>
        </p:nvSpPr>
        <p:spPr>
          <a:xfrm>
            <a:off x="10163780" y="6483650"/>
            <a:ext cx="2034000" cy="374317"/>
          </a:xfrm>
          <a:prstGeom prst="rect">
            <a:avLst/>
          </a:prstGeom>
          <a:solidFill>
            <a:schemeClr val="tx2">
              <a:lumMod val="5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屎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en-US" altLang="zh-CN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</a:p>
          <a:p>
            <a:pPr algn="ctr"/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良序主降：勿介入</a:t>
            </a: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C57087B3-9CF0-655E-6A38-748C40F15189}"/>
              </a:ext>
            </a:extLst>
          </p:cNvPr>
          <p:cNvSpPr/>
          <p:nvPr/>
        </p:nvSpPr>
        <p:spPr>
          <a:xfrm>
            <a:off x="-4151" y="6483650"/>
            <a:ext cx="2520000" cy="374317"/>
          </a:xfrm>
          <a:prstGeom prst="rect">
            <a:avLst/>
          </a:prstGeom>
          <a:solidFill>
            <a:schemeClr val="tx2">
              <a:lumMod val="5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zh-CN" altLang="en-US" sz="7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任意多边形: 形状 25">
            <a:extLst>
              <a:ext uri="{FF2B5EF4-FFF2-40B4-BE49-F238E27FC236}">
                <a16:creationId xmlns:a16="http://schemas.microsoft.com/office/drawing/2014/main" id="{E2BD3621-F6A7-E921-C4D6-7529D57CD56B}"/>
              </a:ext>
            </a:extLst>
          </p:cNvPr>
          <p:cNvSpPr/>
          <p:nvPr/>
        </p:nvSpPr>
        <p:spPr>
          <a:xfrm>
            <a:off x="-25637" y="3333963"/>
            <a:ext cx="12579409" cy="2749148"/>
          </a:xfrm>
          <a:custGeom>
            <a:avLst/>
            <a:gdLst>
              <a:gd name="connsiteX0" fmla="*/ 0 w 12579409"/>
              <a:gd name="connsiteY0" fmla="*/ 128409 h 2749148"/>
              <a:gd name="connsiteX1" fmla="*/ 623843 w 12579409"/>
              <a:gd name="connsiteY1" fmla="*/ 179684 h 2749148"/>
              <a:gd name="connsiteX2" fmla="*/ 1239140 w 12579409"/>
              <a:gd name="connsiteY2" fmla="*/ 1863205 h 2749148"/>
              <a:gd name="connsiteX3" fmla="*/ 1743342 w 12579409"/>
              <a:gd name="connsiteY3" fmla="*/ 1564103 h 2749148"/>
              <a:gd name="connsiteX4" fmla="*/ 2486826 w 12579409"/>
              <a:gd name="connsiteY4" fmla="*/ 2461411 h 2749148"/>
              <a:gd name="connsiteX5" fmla="*/ 3367043 w 12579409"/>
              <a:gd name="connsiteY5" fmla="*/ 2299041 h 2749148"/>
              <a:gd name="connsiteX6" fmla="*/ 3683237 w 12579409"/>
              <a:gd name="connsiteY6" fmla="*/ 2521232 h 2749148"/>
              <a:gd name="connsiteX7" fmla="*/ 4238714 w 12579409"/>
              <a:gd name="connsiteY7" fmla="*/ 2230675 h 2749148"/>
              <a:gd name="connsiteX8" fmla="*/ 4580545 w 12579409"/>
              <a:gd name="connsiteY8" fmla="*/ 2478503 h 2749148"/>
              <a:gd name="connsiteX9" fmla="*/ 5144568 w 12579409"/>
              <a:gd name="connsiteY9" fmla="*/ 1803385 h 2749148"/>
              <a:gd name="connsiteX10" fmla="*/ 5580403 w 12579409"/>
              <a:gd name="connsiteY10" fmla="*/ 2153762 h 2749148"/>
              <a:gd name="connsiteX11" fmla="*/ 6255521 w 12579409"/>
              <a:gd name="connsiteY11" fmla="*/ 897531 h 2749148"/>
              <a:gd name="connsiteX12" fmla="*/ 6836635 w 12579409"/>
              <a:gd name="connsiteY12" fmla="*/ 1145359 h 2749148"/>
              <a:gd name="connsiteX13" fmla="*/ 7315200 w 12579409"/>
              <a:gd name="connsiteY13" fmla="*/ 205321 h 2749148"/>
              <a:gd name="connsiteX14" fmla="*/ 7904859 w 12579409"/>
              <a:gd name="connsiteY14" fmla="*/ 564245 h 2749148"/>
              <a:gd name="connsiteX15" fmla="*/ 8545794 w 12579409"/>
              <a:gd name="connsiteY15" fmla="*/ 154047 h 2749148"/>
              <a:gd name="connsiteX16" fmla="*/ 9049996 w 12579409"/>
              <a:gd name="connsiteY16" fmla="*/ 504424 h 2749148"/>
              <a:gd name="connsiteX17" fmla="*/ 9537106 w 12579409"/>
              <a:gd name="connsiteY17" fmla="*/ 316417 h 2749148"/>
              <a:gd name="connsiteX18" fmla="*/ 9844755 w 12579409"/>
              <a:gd name="connsiteY18" fmla="*/ 530061 h 2749148"/>
              <a:gd name="connsiteX19" fmla="*/ 10049854 w 12579409"/>
              <a:gd name="connsiteY19" fmla="*/ 393329 h 2749148"/>
              <a:gd name="connsiteX20" fmla="*/ 10665151 w 12579409"/>
              <a:gd name="connsiteY20" fmla="*/ 1555557 h 2749148"/>
              <a:gd name="connsiteX21" fmla="*/ 11126624 w 12579409"/>
              <a:gd name="connsiteY21" fmla="*/ 1051355 h 2749148"/>
              <a:gd name="connsiteX22" fmla="*/ 11870108 w 12579409"/>
              <a:gd name="connsiteY22" fmla="*/ 2666510 h 2749148"/>
              <a:gd name="connsiteX23" fmla="*/ 12211940 w 12579409"/>
              <a:gd name="connsiteY23" fmla="*/ 2529777 h 2749148"/>
              <a:gd name="connsiteX24" fmla="*/ 12579409 w 12579409"/>
              <a:gd name="connsiteY24" fmla="*/ 2666510 h 2749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2579409" h="2749148">
                <a:moveTo>
                  <a:pt x="0" y="128409"/>
                </a:moveTo>
                <a:cubicBezTo>
                  <a:pt x="208660" y="9480"/>
                  <a:pt x="417320" y="-109449"/>
                  <a:pt x="623843" y="179684"/>
                </a:cubicBezTo>
                <a:cubicBezTo>
                  <a:pt x="830366" y="468817"/>
                  <a:pt x="1052557" y="1632469"/>
                  <a:pt x="1239140" y="1863205"/>
                </a:cubicBezTo>
                <a:cubicBezTo>
                  <a:pt x="1425723" y="2093941"/>
                  <a:pt x="1535394" y="1464402"/>
                  <a:pt x="1743342" y="1564103"/>
                </a:cubicBezTo>
                <a:cubicBezTo>
                  <a:pt x="1951290" y="1663804"/>
                  <a:pt x="2216209" y="2338921"/>
                  <a:pt x="2486826" y="2461411"/>
                </a:cubicBezTo>
                <a:cubicBezTo>
                  <a:pt x="2757443" y="2583901"/>
                  <a:pt x="3167641" y="2289071"/>
                  <a:pt x="3367043" y="2299041"/>
                </a:cubicBezTo>
                <a:cubicBezTo>
                  <a:pt x="3566445" y="2309011"/>
                  <a:pt x="3537959" y="2532626"/>
                  <a:pt x="3683237" y="2521232"/>
                </a:cubicBezTo>
                <a:cubicBezTo>
                  <a:pt x="3828515" y="2509838"/>
                  <a:pt x="4089163" y="2237796"/>
                  <a:pt x="4238714" y="2230675"/>
                </a:cubicBezTo>
                <a:cubicBezTo>
                  <a:pt x="4388265" y="2223554"/>
                  <a:pt x="4429569" y="2549718"/>
                  <a:pt x="4580545" y="2478503"/>
                </a:cubicBezTo>
                <a:cubicBezTo>
                  <a:pt x="4731521" y="2407288"/>
                  <a:pt x="4977925" y="1857509"/>
                  <a:pt x="5144568" y="1803385"/>
                </a:cubicBezTo>
                <a:cubicBezTo>
                  <a:pt x="5311211" y="1749262"/>
                  <a:pt x="5395244" y="2304738"/>
                  <a:pt x="5580403" y="2153762"/>
                </a:cubicBezTo>
                <a:cubicBezTo>
                  <a:pt x="5765562" y="2002786"/>
                  <a:pt x="6046149" y="1065598"/>
                  <a:pt x="6255521" y="897531"/>
                </a:cubicBezTo>
                <a:cubicBezTo>
                  <a:pt x="6464893" y="729464"/>
                  <a:pt x="6660022" y="1260727"/>
                  <a:pt x="6836635" y="1145359"/>
                </a:cubicBezTo>
                <a:cubicBezTo>
                  <a:pt x="7013248" y="1029991"/>
                  <a:pt x="7137163" y="302173"/>
                  <a:pt x="7315200" y="205321"/>
                </a:cubicBezTo>
                <a:cubicBezTo>
                  <a:pt x="7493237" y="108469"/>
                  <a:pt x="7699760" y="572791"/>
                  <a:pt x="7904859" y="564245"/>
                </a:cubicBezTo>
                <a:cubicBezTo>
                  <a:pt x="8109958" y="555699"/>
                  <a:pt x="8354938" y="164017"/>
                  <a:pt x="8545794" y="154047"/>
                </a:cubicBezTo>
                <a:cubicBezTo>
                  <a:pt x="8736650" y="144077"/>
                  <a:pt x="8884777" y="477362"/>
                  <a:pt x="9049996" y="504424"/>
                </a:cubicBezTo>
                <a:cubicBezTo>
                  <a:pt x="9215215" y="531486"/>
                  <a:pt x="9404646" y="312144"/>
                  <a:pt x="9537106" y="316417"/>
                </a:cubicBezTo>
                <a:cubicBezTo>
                  <a:pt x="9669566" y="320690"/>
                  <a:pt x="9759297" y="517242"/>
                  <a:pt x="9844755" y="530061"/>
                </a:cubicBezTo>
                <a:cubicBezTo>
                  <a:pt x="9930213" y="542880"/>
                  <a:pt x="9913121" y="222413"/>
                  <a:pt x="10049854" y="393329"/>
                </a:cubicBezTo>
                <a:cubicBezTo>
                  <a:pt x="10186587" y="564245"/>
                  <a:pt x="10485689" y="1445886"/>
                  <a:pt x="10665151" y="1555557"/>
                </a:cubicBezTo>
                <a:cubicBezTo>
                  <a:pt x="10844613" y="1665228"/>
                  <a:pt x="10925798" y="866196"/>
                  <a:pt x="11126624" y="1051355"/>
                </a:cubicBezTo>
                <a:cubicBezTo>
                  <a:pt x="11327450" y="1236514"/>
                  <a:pt x="11689222" y="2420106"/>
                  <a:pt x="11870108" y="2666510"/>
                </a:cubicBezTo>
                <a:cubicBezTo>
                  <a:pt x="12050994" y="2912914"/>
                  <a:pt x="12093723" y="2529777"/>
                  <a:pt x="12211940" y="2529777"/>
                </a:cubicBezTo>
                <a:cubicBezTo>
                  <a:pt x="12330157" y="2529777"/>
                  <a:pt x="12563742" y="2646570"/>
                  <a:pt x="12579409" y="2666510"/>
                </a:cubicBezTo>
              </a:path>
            </a:pathLst>
          </a:custGeom>
          <a:noFill/>
          <a:ln w="381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文本框 26">
            <a:extLst>
              <a:ext uri="{FF2B5EF4-FFF2-40B4-BE49-F238E27FC236}">
                <a16:creationId xmlns:a16="http://schemas.microsoft.com/office/drawing/2014/main" id="{6127747F-F651-3A06-09DF-45F898AD04C6}"/>
              </a:ext>
            </a:extLst>
          </p:cNvPr>
          <p:cNvSpPr txBox="1"/>
          <p:nvPr/>
        </p:nvSpPr>
        <p:spPr>
          <a:xfrm>
            <a:off x="2519139" y="4797753"/>
            <a:ext cx="2150432" cy="63094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关注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如何定位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大丘：</a:t>
            </a:r>
            <a:endParaRPr lang="en-US" altLang="zh-CN" sz="7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处于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WJE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endParaRPr lang="en-US" altLang="zh-CN" sz="7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介于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WJE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  <a:endParaRPr lang="en-US" altLang="zh-CN" sz="7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介于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  <a:endParaRPr lang="en-US" altLang="zh-CN" sz="7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关注周丘变化规律：从阴至阳，从小到大再到小</a:t>
            </a:r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858ADE8F-2D8D-853B-27E8-B9D364AE7366}"/>
              </a:ext>
            </a:extLst>
          </p:cNvPr>
          <p:cNvSpPr/>
          <p:nvPr/>
        </p:nvSpPr>
        <p:spPr>
          <a:xfrm>
            <a:off x="-7064" y="5823598"/>
            <a:ext cx="2524763" cy="1036419"/>
          </a:xfrm>
          <a:prstGeom prst="rect">
            <a:avLst/>
          </a:prstGeom>
          <a:solidFill>
            <a:schemeClr val="bg1">
              <a:lumMod val="75000"/>
              <a:alpha val="9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月势级别：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变化规律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沿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主跌（不存在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WXZD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围绕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底部震荡（存在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WXZD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由负交变为正交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围绕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底部震荡（存在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WXZD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沿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主升（不存在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WXZD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围绕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顶部震荡（存在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WXZD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1D91DB28-B8C6-7E68-2A97-DEEDBAAFB894}"/>
              </a:ext>
            </a:extLst>
          </p:cNvPr>
          <p:cNvSpPr/>
          <p:nvPr/>
        </p:nvSpPr>
        <p:spPr>
          <a:xfrm>
            <a:off x="10163780" y="5659343"/>
            <a:ext cx="2030991" cy="824308"/>
          </a:xfrm>
          <a:prstGeom prst="rect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月级别下升趋势包含两部分：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完整弧的回弹：可上破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月级别主降：前面周级别回撤变为月阳柱，并开始长时间月级别主降。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呈空头排列，此处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丘虽然也有一定规模，但本质上属于下跌趋势的刹车。</a:t>
            </a:r>
          </a:p>
          <a:p>
            <a:endParaRPr lang="zh-CN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8305063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209EA2-A036-869C-81DF-C71BD3E1E1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>
            <a:extLst>
              <a:ext uri="{FF2B5EF4-FFF2-40B4-BE49-F238E27FC236}">
                <a16:creationId xmlns:a16="http://schemas.microsoft.com/office/drawing/2014/main" id="{7D81F2FB-3424-C626-B91E-2978230B5E7E}"/>
              </a:ext>
            </a:extLst>
          </p:cNvPr>
          <p:cNvSpPr/>
          <p:nvPr/>
        </p:nvSpPr>
        <p:spPr>
          <a:xfrm>
            <a:off x="6096000" y="4638573"/>
            <a:ext cx="6096000" cy="2216681"/>
          </a:xfrm>
          <a:prstGeom prst="rect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要疏勿堵，用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观察阴阳大势的演化。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可快速反应阴阳交替： 不要因下破某均线就必须强制退出，而应考虑在各种劫情况下如何恢复。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待完成：总结梳理各种劫恢复的典型图谱。（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天劫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/WXZA/WXZB/WXAB/WXBC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波段观察阴阳交替。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之上波段。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之上柱排列。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在管（顶，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）中延续触顶：主升。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回落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：预备出管。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		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⇒第一波打击（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之上）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或有过程：反复贯穿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震荡。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		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⇒第二波打击（贯穿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或有过程：反复贯穿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震荡。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		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⇒第三波打击（贯穿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之下波段。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				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⇒第四波打击（下破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之下柱排列。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在管（底，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）中延续触顶：主跌。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回落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：预备出管。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7EE05181-D42D-8D86-F589-EC28A0069B67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大局观附注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趋势判定原则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：要疏勿堵，用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观察阴阳大势的演化。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主题：护线的应用。与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护线专页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合并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841137C6-98B3-DFA3-DEF9-76C1B39166D8}"/>
              </a:ext>
            </a:extLst>
          </p:cNvPr>
          <p:cNvSpPr/>
          <p:nvPr/>
        </p:nvSpPr>
        <p:spPr>
          <a:xfrm>
            <a:off x="0" y="722746"/>
            <a:ext cx="6096000" cy="1221935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眼中一定要有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什么位置会有下柱冲高？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之上，主要包含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（包含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首下破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/W2e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20251122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：首下破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为跌连时，不要退出。⇒要以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为准，要等待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再退出。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只有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，才有可能导致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只针对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已完整弧，才考虑在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WJA/WJA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之上跌连，提前退出。其他情况，必须等待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WJZB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，才能导致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BD54B96D-BA3C-7F99-5D7F-0A6A19CB0D63}"/>
              </a:ext>
            </a:extLst>
          </p:cNvPr>
          <p:cNvGraphicFramePr>
            <a:graphicFrameLocks noGrp="1"/>
          </p:cNvGraphicFramePr>
          <p:nvPr/>
        </p:nvGraphicFramePr>
        <p:xfrm>
          <a:off x="1" y="2416294"/>
          <a:ext cx="6095999" cy="44389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756685">
                  <a:extLst>
                    <a:ext uri="{9D8B030D-6E8A-4147-A177-3AD203B41FA5}">
                      <a16:colId xmlns:a16="http://schemas.microsoft.com/office/drawing/2014/main" val="2599958900"/>
                    </a:ext>
                  </a:extLst>
                </a:gridCol>
                <a:gridCol w="5339314">
                  <a:extLst>
                    <a:ext uri="{9D8B030D-6E8A-4147-A177-3AD203B41FA5}">
                      <a16:colId xmlns:a16="http://schemas.microsoft.com/office/drawing/2014/main" val="1278423074"/>
                    </a:ext>
                  </a:extLst>
                </a:gridCol>
              </a:tblGrid>
              <a:tr h="121737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如何形成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WXAB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护？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39904430"/>
                  </a:ext>
                </a:extLst>
              </a:tr>
              <a:tr h="340864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正交前导</a:t>
                      </a: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/W6w/W6v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：要等待上破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WJC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。但在周阶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=137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情况，由于走势良序，可提前介入。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待完成：需改筛选程序，提前筛选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M2e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（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W6w/W6v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）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/W1v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：已在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WJB&amp;WJA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之上，只要维持就能使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正交。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/W2I/W3h/W2i/W3u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：要维持在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WJB&amp;WJA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之上，使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正交。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1452517"/>
                  </a:ext>
                </a:extLst>
              </a:tr>
              <a:tr h="194779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正交开始</a:t>
                      </a: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W1w/W1b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：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[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初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]W2cd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：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1600902"/>
                  </a:ext>
                </a:extLst>
              </a:tr>
              <a:tr h="504980"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正交过程</a:t>
                      </a: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WTZA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≥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2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（可入）：利用柱排判断方向。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在主升阶段，是最好介入机会，等待冲高。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在震荡阶段，须判断是否为诱多？是否可能再次入管？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4032010"/>
                  </a:ext>
                </a:extLst>
              </a:tr>
              <a:tr h="504980">
                <a:tc vMerge="1">
                  <a:txBody>
                    <a:bodyPr/>
                    <a:lstStyle/>
                    <a:p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WTZA=-1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（可忍可出不可入）：可容错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按劫恢复的典型模式判定方向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应给出警告。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针对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已冲高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已完整弧情况，可提前退出。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需要注意在下破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前，在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之上经历了几柱。列出尾部诱多特例。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之前首上破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：下柱可能立刻下破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之前两柱上破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：如未形成连升攻击柱排，可能下破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之前多柱上破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：三柱以上，可以判定是否站稳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（入管）。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96324308"/>
                  </a:ext>
                </a:extLst>
              </a:tr>
              <a:tr h="504980">
                <a:tc vMerge="1">
                  <a:txBody>
                    <a:bodyPr/>
                    <a:lstStyle/>
                    <a:p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WTZA=1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（可出可入）：很可能是震荡过程中的假突破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按劫恢复的典型模式判定方向。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针对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WXZA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与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WXZB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劫，只能看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丘。围绕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震荡为平移待选择方向。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需要注意在上破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前，在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之下经历了几柱。列出尾部诱多特例。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之前单柱下破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：下柱可能立刻站上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之前两柱下破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：（升孕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+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升连）可站上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。且可能形成升连。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之前多柱下破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：须在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之下形成升连，且小碎步突破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才能站稳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1392290"/>
                  </a:ext>
                </a:extLst>
              </a:tr>
              <a:tr h="504980">
                <a:tc vMerge="1">
                  <a:txBody>
                    <a:bodyPr/>
                    <a:lstStyle/>
                    <a:p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WTZA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≤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-2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（可忍可出）：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可忍：是否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已冲高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已完整弧。区分震仓与已经见顶。以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或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WJC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止损。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可先退出：要判断是否已沿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形成下降趋势，进而可能下破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。可反向做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T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。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2170122"/>
                  </a:ext>
                </a:extLst>
              </a:tr>
              <a:tr h="194779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正交破坏</a:t>
                      </a: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W3v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：只要维持在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之下，必然导致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负交。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W3w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：已破坏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。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87590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0910357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FDB613-F289-ED7C-A7C6-CC6F06C3EF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>
            <a:extLst>
              <a:ext uri="{FF2B5EF4-FFF2-40B4-BE49-F238E27FC236}">
                <a16:creationId xmlns:a16="http://schemas.microsoft.com/office/drawing/2014/main" id="{7C3FDEBC-DB38-2B70-EED9-23609EDD3DE0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【WJC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周奏：第一要务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.WJC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丘的结构与形状</a:t>
            </a:r>
            <a:endParaRPr lang="en-US" altLang="zh-CN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20251101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：总结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丘的结构与形状，核心是将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丘拆分为不同的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丘片段（但不要继续细分）。研究路径：遍历⇒寻找规律⇒验证。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C08078DF-DA45-C0EC-DDF6-0C043D8CCBE4}"/>
              </a:ext>
            </a:extLst>
          </p:cNvPr>
          <p:cNvSpPr/>
          <p:nvPr/>
        </p:nvSpPr>
        <p:spPr>
          <a:xfrm>
            <a:off x="-11229" y="3837240"/>
            <a:ext cx="6097712" cy="302400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专题展开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丘作为形态分析的基本元件的理由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退出点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】WJB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丘的弧形对设置退出条件的影响。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主要看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的伴随程度。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对于已冲高：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最高点偏离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足够大，在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上预留足够空间逆转趋势，在下破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时退出。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对于已整弧：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丘已形成完整结构，应在下破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时退出。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对于其他缓升：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未形成完整结构，且未冲高，则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不能作为退出条件，要以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为准。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退出点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异常柱排（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跌连）对于确定退出点的影响：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法定观测点：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要在下破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时看柱排是否形成跌排。只有在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之下才能借助跌排断定下降趋势。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参考观测点：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时，应警告，但要根据之前弧形判断是否继续下跌。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如已冲高或已整弧，则下破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且为跌排，代表形成下跌势头，将继续下破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如前为无序波动且贴附于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，则下破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，并不代表失势。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退出点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为止损线的具体退出条件：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</a:t>
            </a:r>
            <a:endParaRPr lang="zh-CN" altLang="en-US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不下破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不须退出：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之上的异常（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周中下破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）需警告但不需退出。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一柱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已冲高（应退出）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时为跌连（可退出）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其他（不应退出）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二柱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已冲高（应退出）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线下第二柱为阳柱（可不退出）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已跌排（可退出）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多柱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：应先退出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：应退出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：必退出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介入点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主要依赖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作为介入点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要在周柱收盘时判定：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不要在（首上破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）（首上破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）周中介入。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判定是否远离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顶型（是否触顶）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柱排（是否为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叠垒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升排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交错平移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调整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跌排）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捡漏点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不构成退出条件的调整都可作为捡漏，首选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之上未冲高的情况。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孕跌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首下破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27A8444E-A4AD-D3E6-4CDA-86410E19F1B6}"/>
              </a:ext>
            </a:extLst>
          </p:cNvPr>
          <p:cNvSpPr/>
          <p:nvPr/>
        </p:nvSpPr>
        <p:spPr>
          <a:xfrm>
            <a:off x="6105181" y="4118842"/>
            <a:ext cx="6084000" cy="2735805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专题展开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单个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丘的典型形状：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丘的结构：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主要针对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正交情况，根据（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身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尾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劫）自由组合。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是否有初回踩：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有初回踩？无初回踩？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身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是否有冲高：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有冲高？无冲高？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如何判定已冲高或已完整弧？是否以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WJA*1.2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作为判断依据。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已冲高后的走向：不预测是否冲高后见顶，只跟随柱排列。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平移震荡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回落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回落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见顶回落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尾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是否有尾回弹：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有尾回弹？无尾回弹？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是否有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头？有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劫？无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劫？注意，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只作为辅助，不构成划分弧的依据。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维度的位置：</a:t>
            </a: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波：首次正交形成主升，一般呈一定角度（太陡或太平都不合格）</a:t>
            </a: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波：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劫后可能再次触顶，但不易形成主升，除非之前未拉升，下破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为蓄力上冲；</a:t>
            </a: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波：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劫后，须得到支撑后快速反弹，可能形成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头。</a:t>
            </a: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波：须站稳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后小碎步入轨。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缓急分布：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之上的单波圆弧，区分缓急分布。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无序震荡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匀速贴附：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后续可衔接下列分布，或作为下跌中继。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左缓右缓：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圆弧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两阳一阴逐步逆转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左急右缓：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左缓右急：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左急右急：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尖顶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徐翔式冲高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" name="组合 7">
            <a:extLst>
              <a:ext uri="{FF2B5EF4-FFF2-40B4-BE49-F238E27FC236}">
                <a16:creationId xmlns:a16="http://schemas.microsoft.com/office/drawing/2014/main" id="{4C7F9FFB-21A7-3493-3AD6-7F9C6B05DD13}"/>
              </a:ext>
            </a:extLst>
          </p:cNvPr>
          <p:cNvGrpSpPr/>
          <p:nvPr/>
        </p:nvGrpSpPr>
        <p:grpSpPr>
          <a:xfrm>
            <a:off x="10713880" y="4998175"/>
            <a:ext cx="1453835" cy="289366"/>
            <a:chOff x="2012126" y="3775558"/>
            <a:chExt cx="1453835" cy="289366"/>
          </a:xfrm>
        </p:grpSpPr>
        <p:sp>
          <p:nvSpPr>
            <p:cNvPr id="7" name="任意多边形: 形状 6">
              <a:extLst>
                <a:ext uri="{FF2B5EF4-FFF2-40B4-BE49-F238E27FC236}">
                  <a16:creationId xmlns:a16="http://schemas.microsoft.com/office/drawing/2014/main" id="{0AD85996-2844-94E8-6E85-604646453070}"/>
                </a:ext>
              </a:extLst>
            </p:cNvPr>
            <p:cNvSpPr/>
            <p:nvPr/>
          </p:nvSpPr>
          <p:spPr>
            <a:xfrm>
              <a:off x="2028305" y="3823855"/>
              <a:ext cx="872837" cy="241069"/>
            </a:xfrm>
            <a:custGeom>
              <a:avLst/>
              <a:gdLst>
                <a:gd name="connsiteX0" fmla="*/ 0 w 872837"/>
                <a:gd name="connsiteY0" fmla="*/ 241069 h 241069"/>
                <a:gd name="connsiteX1" fmla="*/ 290946 w 872837"/>
                <a:gd name="connsiteY1" fmla="*/ 124690 h 241069"/>
                <a:gd name="connsiteX2" fmla="*/ 349135 w 872837"/>
                <a:gd name="connsiteY2" fmla="*/ 166254 h 241069"/>
                <a:gd name="connsiteX3" fmla="*/ 581891 w 872837"/>
                <a:gd name="connsiteY3" fmla="*/ 49876 h 241069"/>
                <a:gd name="connsiteX4" fmla="*/ 648393 w 872837"/>
                <a:gd name="connsiteY4" fmla="*/ 116378 h 241069"/>
                <a:gd name="connsiteX5" fmla="*/ 872837 w 872837"/>
                <a:gd name="connsiteY5" fmla="*/ 0 h 241069"/>
                <a:gd name="connsiteX6" fmla="*/ 872837 w 872837"/>
                <a:gd name="connsiteY6" fmla="*/ 0 h 24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2837" h="241069">
                  <a:moveTo>
                    <a:pt x="0" y="241069"/>
                  </a:moveTo>
                  <a:cubicBezTo>
                    <a:pt x="116378" y="189114"/>
                    <a:pt x="232757" y="137159"/>
                    <a:pt x="290946" y="124690"/>
                  </a:cubicBezTo>
                  <a:cubicBezTo>
                    <a:pt x="349135" y="112221"/>
                    <a:pt x="300644" y="178723"/>
                    <a:pt x="349135" y="166254"/>
                  </a:cubicBezTo>
                  <a:cubicBezTo>
                    <a:pt x="397626" y="153785"/>
                    <a:pt x="532015" y="58189"/>
                    <a:pt x="581891" y="49876"/>
                  </a:cubicBezTo>
                  <a:cubicBezTo>
                    <a:pt x="631767" y="41563"/>
                    <a:pt x="599902" y="124691"/>
                    <a:pt x="648393" y="116378"/>
                  </a:cubicBezTo>
                  <a:cubicBezTo>
                    <a:pt x="696884" y="108065"/>
                    <a:pt x="872837" y="0"/>
                    <a:pt x="872837" y="0"/>
                  </a:cubicBezTo>
                  <a:lnTo>
                    <a:pt x="872837" y="0"/>
                  </a:lnTo>
                </a:path>
              </a:pathLst>
            </a:custGeom>
            <a:noFill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" name="任意多边形: 形状 2">
              <a:extLst>
                <a:ext uri="{FF2B5EF4-FFF2-40B4-BE49-F238E27FC236}">
                  <a16:creationId xmlns:a16="http://schemas.microsoft.com/office/drawing/2014/main" id="{9F11193B-A230-A52E-D79C-87DDE0950ED7}"/>
                </a:ext>
              </a:extLst>
            </p:cNvPr>
            <p:cNvSpPr/>
            <p:nvPr/>
          </p:nvSpPr>
          <p:spPr>
            <a:xfrm>
              <a:off x="2012126" y="3898669"/>
              <a:ext cx="947205" cy="166255"/>
            </a:xfrm>
            <a:custGeom>
              <a:avLst/>
              <a:gdLst>
                <a:gd name="connsiteX0" fmla="*/ 0 w 897775"/>
                <a:gd name="connsiteY0" fmla="*/ 182880 h 182880"/>
                <a:gd name="connsiteX1" fmla="*/ 897775 w 897775"/>
                <a:gd name="connsiteY1" fmla="*/ 0 h 182880"/>
                <a:gd name="connsiteX2" fmla="*/ 897775 w 897775"/>
                <a:gd name="connsiteY2" fmla="*/ 0 h 182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7775" h="182880">
                  <a:moveTo>
                    <a:pt x="0" y="182880"/>
                  </a:moveTo>
                  <a:lnTo>
                    <a:pt x="897775" y="0"/>
                  </a:lnTo>
                  <a:lnTo>
                    <a:pt x="897775" y="0"/>
                  </a:lnTo>
                </a:path>
              </a:pathLst>
            </a:custGeom>
            <a:noFill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" name="文本框 3">
              <a:extLst>
                <a:ext uri="{FF2B5EF4-FFF2-40B4-BE49-F238E27FC236}">
                  <a16:creationId xmlns:a16="http://schemas.microsoft.com/office/drawing/2014/main" id="{47AC2CE0-BB87-F2A4-7086-0AD20C95D108}"/>
                </a:ext>
              </a:extLst>
            </p:cNvPr>
            <p:cNvSpPr txBox="1"/>
            <p:nvPr/>
          </p:nvSpPr>
          <p:spPr>
            <a:xfrm>
              <a:off x="2917321" y="3775558"/>
              <a:ext cx="54864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000" dirty="0"/>
                <a:t>WJA</a:t>
              </a:r>
              <a:endParaRPr lang="zh-CN" altLang="en-US" sz="1000" dirty="0"/>
            </a:p>
          </p:txBody>
        </p:sp>
      </p:grpSp>
      <p:cxnSp>
        <p:nvCxnSpPr>
          <p:cNvPr id="15" name="直接连接符 14">
            <a:extLst>
              <a:ext uri="{FF2B5EF4-FFF2-40B4-BE49-F238E27FC236}">
                <a16:creationId xmlns:a16="http://schemas.microsoft.com/office/drawing/2014/main" id="{ECC659EB-3EFF-2D26-C52C-3B84177C3118}"/>
              </a:ext>
            </a:extLst>
          </p:cNvPr>
          <p:cNvCxnSpPr>
            <a:cxnSpLocks/>
          </p:cNvCxnSpPr>
          <p:nvPr/>
        </p:nvCxnSpPr>
        <p:spPr>
          <a:xfrm>
            <a:off x="9907547" y="6370671"/>
            <a:ext cx="2294103" cy="0"/>
          </a:xfrm>
          <a:prstGeom prst="line">
            <a:avLst/>
          </a:prstGeom>
          <a:ln w="254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矩形 13">
            <a:extLst>
              <a:ext uri="{FF2B5EF4-FFF2-40B4-BE49-F238E27FC236}">
                <a16:creationId xmlns:a16="http://schemas.microsoft.com/office/drawing/2014/main" id="{18C699BB-50FC-679A-8ACA-05007BA6DC66}"/>
              </a:ext>
            </a:extLst>
          </p:cNvPr>
          <p:cNvSpPr/>
          <p:nvPr/>
        </p:nvSpPr>
        <p:spPr>
          <a:xfrm>
            <a:off x="1825" y="722746"/>
            <a:ext cx="6089399" cy="1806809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专题地图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丘拆分为不同的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丘片段，以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周层作为划分趋势的基础。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周奏：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丘片段如何连接？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参考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《【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标准走势图谱 ⇒ 周奏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endParaRPr lang="zh-CN" altLang="en-US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丘的组合结构：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单个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丘组成的单弧（特例）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以多个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丘连接的多弧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单个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丘的典型形状：左右区别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周奏的分布规律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升维视角：在更高维进行观察，在月级别进行观察。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周波：单个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丘的内部结构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周波型：区分主升与震荡。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丘作为形态分析的基本元件的理由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退出点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为止损线的退出条件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介入点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主要依赖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作为介入点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捡漏点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不构成退出条件的调整情况</a:t>
            </a:r>
          </a:p>
        </p:txBody>
      </p:sp>
      <p:sp>
        <p:nvSpPr>
          <p:cNvPr id="16" name="任意多边形: 形状 15">
            <a:extLst>
              <a:ext uri="{FF2B5EF4-FFF2-40B4-BE49-F238E27FC236}">
                <a16:creationId xmlns:a16="http://schemas.microsoft.com/office/drawing/2014/main" id="{C776F0E4-0E59-62F7-9A69-2DC216F4128F}"/>
              </a:ext>
            </a:extLst>
          </p:cNvPr>
          <p:cNvSpPr/>
          <p:nvPr/>
        </p:nvSpPr>
        <p:spPr>
          <a:xfrm>
            <a:off x="9930890" y="6296827"/>
            <a:ext cx="396240" cy="114658"/>
          </a:xfrm>
          <a:custGeom>
            <a:avLst/>
            <a:gdLst>
              <a:gd name="connsiteX0" fmla="*/ 0 w 396240"/>
              <a:gd name="connsiteY0" fmla="*/ 99418 h 114658"/>
              <a:gd name="connsiteX1" fmla="*/ 68580 w 396240"/>
              <a:gd name="connsiteY1" fmla="*/ 15598 h 114658"/>
              <a:gd name="connsiteX2" fmla="*/ 129540 w 396240"/>
              <a:gd name="connsiteY2" fmla="*/ 76558 h 114658"/>
              <a:gd name="connsiteX3" fmla="*/ 205740 w 396240"/>
              <a:gd name="connsiteY3" fmla="*/ 15598 h 114658"/>
              <a:gd name="connsiteX4" fmla="*/ 243840 w 396240"/>
              <a:gd name="connsiteY4" fmla="*/ 76558 h 114658"/>
              <a:gd name="connsiteX5" fmla="*/ 327660 w 396240"/>
              <a:gd name="connsiteY5" fmla="*/ 358 h 114658"/>
              <a:gd name="connsiteX6" fmla="*/ 396240 w 396240"/>
              <a:gd name="connsiteY6" fmla="*/ 114658 h 114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6240" h="114658">
                <a:moveTo>
                  <a:pt x="0" y="99418"/>
                </a:moveTo>
                <a:cubicBezTo>
                  <a:pt x="23495" y="59413"/>
                  <a:pt x="46990" y="19408"/>
                  <a:pt x="68580" y="15598"/>
                </a:cubicBezTo>
                <a:cubicBezTo>
                  <a:pt x="90170" y="11788"/>
                  <a:pt x="106680" y="76558"/>
                  <a:pt x="129540" y="76558"/>
                </a:cubicBezTo>
                <a:cubicBezTo>
                  <a:pt x="152400" y="76558"/>
                  <a:pt x="186690" y="15598"/>
                  <a:pt x="205740" y="15598"/>
                </a:cubicBezTo>
                <a:cubicBezTo>
                  <a:pt x="224790" y="15598"/>
                  <a:pt x="223520" y="79098"/>
                  <a:pt x="243840" y="76558"/>
                </a:cubicBezTo>
                <a:cubicBezTo>
                  <a:pt x="264160" y="74018"/>
                  <a:pt x="302260" y="-5992"/>
                  <a:pt x="327660" y="358"/>
                </a:cubicBezTo>
                <a:cubicBezTo>
                  <a:pt x="353060" y="6708"/>
                  <a:pt x="374650" y="60683"/>
                  <a:pt x="396240" y="114658"/>
                </a:cubicBezTo>
              </a:path>
            </a:pathLst>
          </a:cu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任意多边形: 形状 16">
            <a:extLst>
              <a:ext uri="{FF2B5EF4-FFF2-40B4-BE49-F238E27FC236}">
                <a16:creationId xmlns:a16="http://schemas.microsoft.com/office/drawing/2014/main" id="{91227C5E-D175-FDD7-B0E4-2AAB715CC8B2}"/>
              </a:ext>
            </a:extLst>
          </p:cNvPr>
          <p:cNvSpPr/>
          <p:nvPr/>
        </p:nvSpPr>
        <p:spPr>
          <a:xfrm>
            <a:off x="10479530" y="6258841"/>
            <a:ext cx="342900" cy="175504"/>
          </a:xfrm>
          <a:custGeom>
            <a:avLst/>
            <a:gdLst>
              <a:gd name="connsiteX0" fmla="*/ 0 w 342900"/>
              <a:gd name="connsiteY0" fmla="*/ 145024 h 175504"/>
              <a:gd name="connsiteX1" fmla="*/ 175260 w 342900"/>
              <a:gd name="connsiteY1" fmla="*/ 244 h 175504"/>
              <a:gd name="connsiteX2" fmla="*/ 342900 w 342900"/>
              <a:gd name="connsiteY2" fmla="*/ 175504 h 175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42900" h="175504">
                <a:moveTo>
                  <a:pt x="0" y="145024"/>
                </a:moveTo>
                <a:cubicBezTo>
                  <a:pt x="59055" y="70094"/>
                  <a:pt x="118110" y="-4836"/>
                  <a:pt x="175260" y="244"/>
                </a:cubicBezTo>
                <a:cubicBezTo>
                  <a:pt x="232410" y="5324"/>
                  <a:pt x="287655" y="90414"/>
                  <a:pt x="342900" y="175504"/>
                </a:cubicBezTo>
              </a:path>
            </a:pathLst>
          </a:cu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350D3947-E290-7CB7-FC6F-B6C42C634F27}"/>
              </a:ext>
            </a:extLst>
          </p:cNvPr>
          <p:cNvSpPr/>
          <p:nvPr/>
        </p:nvSpPr>
        <p:spPr>
          <a:xfrm>
            <a:off x="11218670" y="6205745"/>
            <a:ext cx="205740" cy="220980"/>
          </a:xfrm>
          <a:custGeom>
            <a:avLst/>
            <a:gdLst>
              <a:gd name="connsiteX0" fmla="*/ 0 w 205740"/>
              <a:gd name="connsiteY0" fmla="*/ 220980 h 220980"/>
              <a:gd name="connsiteX1" fmla="*/ 53340 w 205740"/>
              <a:gd name="connsiteY1" fmla="*/ 0 h 220980"/>
              <a:gd name="connsiteX2" fmla="*/ 205740 w 205740"/>
              <a:gd name="connsiteY2" fmla="*/ 22098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5740" h="220980">
                <a:moveTo>
                  <a:pt x="0" y="220980"/>
                </a:moveTo>
                <a:cubicBezTo>
                  <a:pt x="9525" y="110490"/>
                  <a:pt x="19050" y="0"/>
                  <a:pt x="53340" y="0"/>
                </a:cubicBezTo>
                <a:cubicBezTo>
                  <a:pt x="87630" y="0"/>
                  <a:pt x="146685" y="110490"/>
                  <a:pt x="205740" y="220980"/>
                </a:cubicBezTo>
              </a:path>
            </a:pathLst>
          </a:cu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任意多边形: 形状 18">
            <a:extLst>
              <a:ext uri="{FF2B5EF4-FFF2-40B4-BE49-F238E27FC236}">
                <a16:creationId xmlns:a16="http://schemas.microsoft.com/office/drawing/2014/main" id="{799E1B04-D4D9-3766-F70A-236704876189}"/>
              </a:ext>
            </a:extLst>
          </p:cNvPr>
          <p:cNvSpPr/>
          <p:nvPr/>
        </p:nvSpPr>
        <p:spPr>
          <a:xfrm>
            <a:off x="11523470" y="6236172"/>
            <a:ext cx="190500" cy="190553"/>
          </a:xfrm>
          <a:custGeom>
            <a:avLst/>
            <a:gdLst>
              <a:gd name="connsiteX0" fmla="*/ 0 w 190500"/>
              <a:gd name="connsiteY0" fmla="*/ 190553 h 190553"/>
              <a:gd name="connsiteX1" fmla="*/ 152400 w 190500"/>
              <a:gd name="connsiteY1" fmla="*/ 53 h 190553"/>
              <a:gd name="connsiteX2" fmla="*/ 190500 w 190500"/>
              <a:gd name="connsiteY2" fmla="*/ 175313 h 1905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0" h="190553">
                <a:moveTo>
                  <a:pt x="0" y="190553"/>
                </a:moveTo>
                <a:cubicBezTo>
                  <a:pt x="60325" y="96573"/>
                  <a:pt x="120650" y="2593"/>
                  <a:pt x="152400" y="53"/>
                </a:cubicBezTo>
                <a:cubicBezTo>
                  <a:pt x="184150" y="-2487"/>
                  <a:pt x="187325" y="86413"/>
                  <a:pt x="190500" y="175313"/>
                </a:cubicBezTo>
              </a:path>
            </a:pathLst>
          </a:cu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任意多边形: 形状 19">
            <a:extLst>
              <a:ext uri="{FF2B5EF4-FFF2-40B4-BE49-F238E27FC236}">
                <a16:creationId xmlns:a16="http://schemas.microsoft.com/office/drawing/2014/main" id="{2C506B68-6567-AD3E-45BE-F2F8579FD57F}"/>
              </a:ext>
            </a:extLst>
          </p:cNvPr>
          <p:cNvSpPr/>
          <p:nvPr/>
        </p:nvSpPr>
        <p:spPr>
          <a:xfrm>
            <a:off x="11858750" y="6198115"/>
            <a:ext cx="160020" cy="228610"/>
          </a:xfrm>
          <a:custGeom>
            <a:avLst/>
            <a:gdLst>
              <a:gd name="connsiteX0" fmla="*/ 0 w 160020"/>
              <a:gd name="connsiteY0" fmla="*/ 228610 h 228610"/>
              <a:gd name="connsiteX1" fmla="*/ 121920 w 160020"/>
              <a:gd name="connsiteY1" fmla="*/ 10 h 228610"/>
              <a:gd name="connsiteX2" fmla="*/ 160020 w 160020"/>
              <a:gd name="connsiteY2" fmla="*/ 220990 h 228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0020" h="228610">
                <a:moveTo>
                  <a:pt x="0" y="228610"/>
                </a:moveTo>
                <a:cubicBezTo>
                  <a:pt x="47625" y="114945"/>
                  <a:pt x="95250" y="1280"/>
                  <a:pt x="121920" y="10"/>
                </a:cubicBezTo>
                <a:cubicBezTo>
                  <a:pt x="148590" y="-1260"/>
                  <a:pt x="154305" y="109865"/>
                  <a:pt x="160020" y="220990"/>
                </a:cubicBezTo>
              </a:path>
            </a:pathLst>
          </a:cu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任意多边形: 形状 20">
            <a:extLst>
              <a:ext uri="{FF2B5EF4-FFF2-40B4-BE49-F238E27FC236}">
                <a16:creationId xmlns:a16="http://schemas.microsoft.com/office/drawing/2014/main" id="{A861DAE5-7DDC-BA94-8768-51C7F533E666}"/>
              </a:ext>
            </a:extLst>
          </p:cNvPr>
          <p:cNvSpPr/>
          <p:nvPr/>
        </p:nvSpPr>
        <p:spPr>
          <a:xfrm>
            <a:off x="10875770" y="6319846"/>
            <a:ext cx="289560" cy="122119"/>
          </a:xfrm>
          <a:custGeom>
            <a:avLst/>
            <a:gdLst>
              <a:gd name="connsiteX0" fmla="*/ 0 w 289560"/>
              <a:gd name="connsiteY0" fmla="*/ 122119 h 122119"/>
              <a:gd name="connsiteX1" fmla="*/ 144780 w 289560"/>
              <a:gd name="connsiteY1" fmla="*/ 199 h 122119"/>
              <a:gd name="connsiteX2" fmla="*/ 289560 w 289560"/>
              <a:gd name="connsiteY2" fmla="*/ 99259 h 122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89560" h="122119">
                <a:moveTo>
                  <a:pt x="0" y="122119"/>
                </a:moveTo>
                <a:cubicBezTo>
                  <a:pt x="48260" y="63064"/>
                  <a:pt x="96520" y="4009"/>
                  <a:pt x="144780" y="199"/>
                </a:cubicBezTo>
                <a:cubicBezTo>
                  <a:pt x="193040" y="-3611"/>
                  <a:pt x="241300" y="47824"/>
                  <a:pt x="289560" y="99259"/>
                </a:cubicBezTo>
              </a:path>
            </a:pathLst>
          </a:cu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aphicFrame>
        <p:nvGraphicFramePr>
          <p:cNvPr id="25" name="表格 24">
            <a:extLst>
              <a:ext uri="{FF2B5EF4-FFF2-40B4-BE49-F238E27FC236}">
                <a16:creationId xmlns:a16="http://schemas.microsoft.com/office/drawing/2014/main" id="{94286FFE-B5AC-1BF5-4790-65C75D81D906}"/>
              </a:ext>
            </a:extLst>
          </p:cNvPr>
          <p:cNvGraphicFramePr>
            <a:graphicFrameLocks noGrp="1"/>
          </p:cNvGraphicFramePr>
          <p:nvPr/>
        </p:nvGraphicFramePr>
        <p:xfrm>
          <a:off x="6105978" y="722746"/>
          <a:ext cx="6096117" cy="1706880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1082627">
                  <a:extLst>
                    <a:ext uri="{9D8B030D-6E8A-4147-A177-3AD203B41FA5}">
                      <a16:colId xmlns:a16="http://schemas.microsoft.com/office/drawing/2014/main" val="4004418672"/>
                    </a:ext>
                  </a:extLst>
                </a:gridCol>
                <a:gridCol w="5013490">
                  <a:extLst>
                    <a:ext uri="{9D8B030D-6E8A-4147-A177-3AD203B41FA5}">
                      <a16:colId xmlns:a16="http://schemas.microsoft.com/office/drawing/2014/main" val="426842137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升维视角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】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在更高维进行观察：在月级别进行观察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2640824"/>
                  </a:ext>
                </a:extLst>
              </a:tr>
              <a:tr h="145451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参考月线级别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月级别叠垒：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月梯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月级别调整：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月栏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月栅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38570159"/>
                  </a:ext>
                </a:extLst>
              </a:tr>
              <a:tr h="251234">
                <a:tc rowSpan="2"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月大势形状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单弧形态：如果不存在回踩站稳，则只是单弧形态。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初始突破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：很可能是单弧形态，围绕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波动。不要重仓，等待回踩站稳再择机介入。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暴升形态：以主升结构巨幅拉升，不存在调整结构。然后进入顶部结构。</a:t>
                      </a:r>
                      <a:endParaRPr lang="zh-CN" altLang="en-US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2668735"/>
                  </a:ext>
                </a:extLst>
              </a:tr>
              <a:tr h="304126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多弧形态：葛兰碧形态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初期突破回踩：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波段上升：主升结构与调整结构交替。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缓慢爬升：不能形成完整的波段，但总体趋势向上。多见于大蓝筹。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顶部结构：主升结构越来越小，不创新高，从而形成顶部结构。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1044457"/>
                  </a:ext>
                </a:extLst>
              </a:tr>
            </a:tbl>
          </a:graphicData>
        </a:graphic>
      </p:graphicFrame>
      <p:cxnSp>
        <p:nvCxnSpPr>
          <p:cNvPr id="35" name="直接连接符 34">
            <a:extLst>
              <a:ext uri="{FF2B5EF4-FFF2-40B4-BE49-F238E27FC236}">
                <a16:creationId xmlns:a16="http://schemas.microsoft.com/office/drawing/2014/main" id="{DA5A330C-5154-F22F-EF16-B6F0C24CB792}"/>
              </a:ext>
            </a:extLst>
          </p:cNvPr>
          <p:cNvCxnSpPr>
            <a:cxnSpLocks/>
          </p:cNvCxnSpPr>
          <p:nvPr/>
        </p:nvCxnSpPr>
        <p:spPr>
          <a:xfrm>
            <a:off x="6096470" y="689517"/>
            <a:ext cx="0" cy="6165737"/>
          </a:xfrm>
          <a:prstGeom prst="line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矩形 25">
            <a:extLst>
              <a:ext uri="{FF2B5EF4-FFF2-40B4-BE49-F238E27FC236}">
                <a16:creationId xmlns:a16="http://schemas.microsoft.com/office/drawing/2014/main" id="{97D573EA-1193-A359-14A5-04414C7F2AF5}"/>
              </a:ext>
            </a:extLst>
          </p:cNvPr>
          <p:cNvSpPr/>
          <p:nvPr/>
        </p:nvSpPr>
        <p:spPr>
          <a:xfrm>
            <a:off x="6098325" y="2440156"/>
            <a:ext cx="6097712" cy="167868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待继续总结</a:t>
            </a:r>
            <a:r>
              <a:rPr lang="en-US" altLang="zh-CN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亟待遍历后总结</a:t>
            </a:r>
            <a:r>
              <a:rPr lang="en-US" altLang="zh-CN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丘的奏</a:t>
            </a:r>
            <a:endParaRPr lang="en-US" altLang="zh-CN" sz="8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专题展开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周奏的分布规律：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“大升”可能出现的区域：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初始突破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沿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小碎步入管。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针对“冲高”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之上，丘会呈现波动幅度的规律性变化。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若之前都是小丘，且未围绕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剧烈波动，则后续可能出现大丘。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如前已有冲高弧且回落，再次启动的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丘很可能是与前弧同向，但幅度很小的弧。 ⇒用来防止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针对“劫”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如前已有较大级别的劫，很可能后面的弧只是诱多，即将下破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不要轻易介入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WXBC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丘的连接方式：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主升衔接主升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/M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以阴阳对称视角，观察正向与反向趋势。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06511516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3D0E9E-5989-1083-BFE3-73502EB4E6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>
            <a:extLst>
              <a:ext uri="{FF2B5EF4-FFF2-40B4-BE49-F238E27FC236}">
                <a16:creationId xmlns:a16="http://schemas.microsoft.com/office/drawing/2014/main" id="{8A2DF72F-C7EB-ED56-0580-FA8C36527B20}"/>
              </a:ext>
            </a:extLst>
          </p:cNvPr>
          <p:cNvSpPr/>
          <p:nvPr/>
        </p:nvSpPr>
        <p:spPr>
          <a:xfrm>
            <a:off x="-8546" y="5243330"/>
            <a:ext cx="6114851" cy="161178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支撑作用：上破后首次靠近会有支撑，其后形成</a:t>
            </a:r>
            <a:r>
              <a:rPr lang="en-US" altLang="zh-CN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头或三浪主升。</a:t>
            </a:r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FB11300A-085F-F339-085B-2B35043DCD7D}"/>
              </a:ext>
            </a:extLst>
          </p:cNvPr>
          <p:cNvSpPr/>
          <p:nvPr/>
        </p:nvSpPr>
        <p:spPr>
          <a:xfrm>
            <a:off x="-8546" y="3631544"/>
            <a:ext cx="6114850" cy="16117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周奏规律</a:t>
            </a:r>
            <a:r>
              <a:rPr lang="en-US" altLang="zh-CN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尾</a:t>
            </a:r>
            <a:r>
              <a:rPr lang="en-US" altLang="zh-CN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由震荡向下跌转化过程中，劫的级别逐步加重。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之上波动：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首次回踩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不破，然后选择方向（向上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：需要按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丘，而非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护型，作为工具进行衡量。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首次下破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，后续很可能再次向上形成比较大的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后再站上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的模式：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之下单柱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之下两柱：应为升孕，随后以升连上破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之下多柱：应为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a-b-c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浪。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是否已冲高：对于已冲高情况，即使再站上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，也无力再创新高。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多次下破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，后续很可能向下。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：需要利用（周奏）作为工具进行衡量。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：强制退出。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矩形 41">
            <a:extLst>
              <a:ext uri="{FF2B5EF4-FFF2-40B4-BE49-F238E27FC236}">
                <a16:creationId xmlns:a16="http://schemas.microsoft.com/office/drawing/2014/main" id="{6C4E4FD1-A078-DB97-E702-557A1B8237D8}"/>
              </a:ext>
            </a:extLst>
          </p:cNvPr>
          <p:cNvSpPr/>
          <p:nvPr/>
        </p:nvSpPr>
        <p:spPr>
          <a:xfrm>
            <a:off x="-8546" y="2414731"/>
            <a:ext cx="6114851" cy="122269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周奏规律</a:t>
            </a:r>
            <a:r>
              <a:rPr lang="en-US" altLang="zh-CN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身</a:t>
            </a:r>
            <a:r>
              <a:rPr lang="en-US" altLang="zh-CN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：主升柱组之间重叠部分少，转为平震后，重叠阴阳交错。</a:t>
            </a:r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7BFF3211-BBF1-FBB7-9D60-D38EB82AC051}"/>
              </a:ext>
            </a:extLst>
          </p:cNvPr>
          <p:cNvSpPr/>
          <p:nvPr/>
        </p:nvSpPr>
        <p:spPr>
          <a:xfrm>
            <a:off x="-1236" y="722747"/>
            <a:ext cx="6114851" cy="1691984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周奏规律</a:t>
            </a:r>
            <a:r>
              <a:rPr lang="en-US" altLang="zh-CN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</a:t>
            </a:r>
            <a:r>
              <a:rPr lang="en-US" altLang="zh-CN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</a:t>
            </a:r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：突破初期阴阳相间⇒连阳主升⇒沿</a:t>
            </a:r>
            <a:r>
              <a:rPr lang="en-US" altLang="zh-CN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不断冲浪上行⇒顶部尾部</a:t>
            </a:r>
            <a:endParaRPr lang="zh-CN" altLang="en-US" sz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57D991C6-EB3E-9A62-0A9E-DA15B5198B49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【WJC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周奏：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丘弧型图谱</a:t>
            </a:r>
            <a:br>
              <a:rPr lang="en-US" altLang="zh-CN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本页内容：对主升弧型进行形态分类，分别针对各结构给出应对策略。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任意多边形: 形状 25">
            <a:extLst>
              <a:ext uri="{FF2B5EF4-FFF2-40B4-BE49-F238E27FC236}">
                <a16:creationId xmlns:a16="http://schemas.microsoft.com/office/drawing/2014/main" id="{90BC0E95-8EC7-E1DE-6046-EE303D29B56C}"/>
              </a:ext>
            </a:extLst>
          </p:cNvPr>
          <p:cNvSpPr/>
          <p:nvPr/>
        </p:nvSpPr>
        <p:spPr>
          <a:xfrm>
            <a:off x="379033" y="2707958"/>
            <a:ext cx="2464526" cy="870612"/>
          </a:xfrm>
          <a:custGeom>
            <a:avLst/>
            <a:gdLst>
              <a:gd name="connsiteX0" fmla="*/ 0 w 2464526"/>
              <a:gd name="connsiteY0" fmla="*/ 1447380 h 1447380"/>
              <a:gd name="connsiteX1" fmla="*/ 844731 w 2464526"/>
              <a:gd name="connsiteY1" fmla="*/ 54008 h 1447380"/>
              <a:gd name="connsiteX2" fmla="*/ 1193074 w 2464526"/>
              <a:gd name="connsiteY2" fmla="*/ 271722 h 1447380"/>
              <a:gd name="connsiteX3" fmla="*/ 1384663 w 2464526"/>
              <a:gd name="connsiteY3" fmla="*/ 141094 h 1447380"/>
              <a:gd name="connsiteX4" fmla="*/ 1541417 w 2464526"/>
              <a:gd name="connsiteY4" fmla="*/ 263014 h 1447380"/>
              <a:gd name="connsiteX5" fmla="*/ 1793966 w 2464526"/>
              <a:gd name="connsiteY5" fmla="*/ 184637 h 1447380"/>
              <a:gd name="connsiteX6" fmla="*/ 1950720 w 2464526"/>
              <a:gd name="connsiteY6" fmla="*/ 472020 h 1447380"/>
              <a:gd name="connsiteX7" fmla="*/ 2142308 w 2464526"/>
              <a:gd name="connsiteY7" fmla="*/ 341391 h 1447380"/>
              <a:gd name="connsiteX8" fmla="*/ 2351314 w 2464526"/>
              <a:gd name="connsiteY8" fmla="*/ 1107745 h 1447380"/>
              <a:gd name="connsiteX9" fmla="*/ 2464526 w 2464526"/>
              <a:gd name="connsiteY9" fmla="*/ 1151288 h 1447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64526" h="1447380">
                <a:moveTo>
                  <a:pt x="0" y="1447380"/>
                </a:moveTo>
                <a:cubicBezTo>
                  <a:pt x="322942" y="848665"/>
                  <a:pt x="645885" y="249951"/>
                  <a:pt x="844731" y="54008"/>
                </a:cubicBezTo>
                <a:cubicBezTo>
                  <a:pt x="1043577" y="-141935"/>
                  <a:pt x="1103085" y="257208"/>
                  <a:pt x="1193074" y="271722"/>
                </a:cubicBezTo>
                <a:cubicBezTo>
                  <a:pt x="1283063" y="286236"/>
                  <a:pt x="1326606" y="142545"/>
                  <a:pt x="1384663" y="141094"/>
                </a:cubicBezTo>
                <a:cubicBezTo>
                  <a:pt x="1442720" y="139643"/>
                  <a:pt x="1473200" y="255757"/>
                  <a:pt x="1541417" y="263014"/>
                </a:cubicBezTo>
                <a:cubicBezTo>
                  <a:pt x="1609634" y="270271"/>
                  <a:pt x="1725749" y="149803"/>
                  <a:pt x="1793966" y="184637"/>
                </a:cubicBezTo>
                <a:cubicBezTo>
                  <a:pt x="1862183" y="219471"/>
                  <a:pt x="1892663" y="445894"/>
                  <a:pt x="1950720" y="472020"/>
                </a:cubicBezTo>
                <a:cubicBezTo>
                  <a:pt x="2008777" y="498146"/>
                  <a:pt x="2075542" y="235437"/>
                  <a:pt x="2142308" y="341391"/>
                </a:cubicBezTo>
                <a:cubicBezTo>
                  <a:pt x="2209074" y="447345"/>
                  <a:pt x="2297611" y="972762"/>
                  <a:pt x="2351314" y="1107745"/>
                </a:cubicBezTo>
                <a:cubicBezTo>
                  <a:pt x="2405017" y="1242728"/>
                  <a:pt x="2434771" y="1197008"/>
                  <a:pt x="2464526" y="1151288"/>
                </a:cubicBezTo>
              </a:path>
            </a:pathLst>
          </a:custGeom>
          <a:noFill/>
          <a:ln w="254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7" name="文本框 26">
            <a:extLst>
              <a:ext uri="{FF2B5EF4-FFF2-40B4-BE49-F238E27FC236}">
                <a16:creationId xmlns:a16="http://schemas.microsoft.com/office/drawing/2014/main" id="{DC2F8965-F70B-E20F-BEFC-7437325A9B22}"/>
              </a:ext>
            </a:extLst>
          </p:cNvPr>
          <p:cNvSpPr txBox="1"/>
          <p:nvPr/>
        </p:nvSpPr>
        <p:spPr>
          <a:xfrm>
            <a:off x="150558" y="3117495"/>
            <a:ext cx="82586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000" b="1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主升不</a:t>
            </a:r>
            <a:r>
              <a:rPr lang="zh-CN" altLang="en-US" sz="10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重叠</a:t>
            </a:r>
          </a:p>
        </p:txBody>
      </p:sp>
      <p:sp>
        <p:nvSpPr>
          <p:cNvPr id="32" name="文本框 31">
            <a:extLst>
              <a:ext uri="{FF2B5EF4-FFF2-40B4-BE49-F238E27FC236}">
                <a16:creationId xmlns:a16="http://schemas.microsoft.com/office/drawing/2014/main" id="{D38317FF-62D8-08E8-7724-58B2EE2AD763}"/>
              </a:ext>
            </a:extLst>
          </p:cNvPr>
          <p:cNvSpPr txBox="1"/>
          <p:nvPr/>
        </p:nvSpPr>
        <p:spPr>
          <a:xfrm>
            <a:off x="1158236" y="2667762"/>
            <a:ext cx="31290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0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顶</a:t>
            </a:r>
          </a:p>
        </p:txBody>
      </p:sp>
      <p:sp>
        <p:nvSpPr>
          <p:cNvPr id="41" name="文本框 40">
            <a:extLst>
              <a:ext uri="{FF2B5EF4-FFF2-40B4-BE49-F238E27FC236}">
                <a16:creationId xmlns:a16="http://schemas.microsoft.com/office/drawing/2014/main" id="{E3C455CB-F3E6-59A2-A8FD-F331B00CA5FD}"/>
              </a:ext>
            </a:extLst>
          </p:cNvPr>
          <p:cNvSpPr txBox="1"/>
          <p:nvPr/>
        </p:nvSpPr>
        <p:spPr>
          <a:xfrm>
            <a:off x="3595409" y="2872458"/>
            <a:ext cx="2164375" cy="784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主震：</a:t>
            </a:r>
            <a:endParaRPr lang="en-US" altLang="zh-CN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可能创新高</a:t>
            </a:r>
            <a:endParaRPr lang="en-US" altLang="zh-CN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可能接近原高点</a:t>
            </a:r>
            <a:endParaRPr lang="en-US" altLang="zh-CN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可能直接向下（恶庄）</a:t>
            </a:r>
            <a:endParaRPr lang="en-US" altLang="zh-CN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以</a:t>
            </a:r>
            <a:r>
              <a:rPr lang="en-US" altLang="zh-CN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作为持仓线，下破就考虑退出</a:t>
            </a:r>
          </a:p>
        </p:txBody>
      </p:sp>
      <p:grpSp>
        <p:nvGrpSpPr>
          <p:cNvPr id="46" name="组合 45">
            <a:extLst>
              <a:ext uri="{FF2B5EF4-FFF2-40B4-BE49-F238E27FC236}">
                <a16:creationId xmlns:a16="http://schemas.microsoft.com/office/drawing/2014/main" id="{747951E1-D4CE-EA25-085E-2F4332F49CB8}"/>
              </a:ext>
            </a:extLst>
          </p:cNvPr>
          <p:cNvGrpSpPr/>
          <p:nvPr/>
        </p:nvGrpSpPr>
        <p:grpSpPr>
          <a:xfrm>
            <a:off x="268582" y="1006984"/>
            <a:ext cx="5074383" cy="1362420"/>
            <a:chOff x="209330" y="1389547"/>
            <a:chExt cx="5074383" cy="1534563"/>
          </a:xfrm>
        </p:grpSpPr>
        <p:sp>
          <p:nvSpPr>
            <p:cNvPr id="49" name="文本框 48">
              <a:extLst>
                <a:ext uri="{FF2B5EF4-FFF2-40B4-BE49-F238E27FC236}">
                  <a16:creationId xmlns:a16="http://schemas.microsoft.com/office/drawing/2014/main" id="{1ED0EC58-F764-DEA0-250C-E2A5B698F6FF}"/>
                </a:ext>
              </a:extLst>
            </p:cNvPr>
            <p:cNvSpPr txBox="1"/>
            <p:nvPr/>
          </p:nvSpPr>
          <p:spPr>
            <a:xfrm>
              <a:off x="209330" y="2400890"/>
              <a:ext cx="49276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400" dirty="0"/>
                <a:t>WJB</a:t>
              </a:r>
            </a:p>
            <a:p>
              <a:r>
                <a:rPr lang="en-US" altLang="zh-CN" sz="1400" dirty="0"/>
                <a:t>WJA</a:t>
              </a:r>
              <a:endParaRPr lang="zh-CN" altLang="en-US" sz="1400" dirty="0"/>
            </a:p>
          </p:txBody>
        </p:sp>
        <p:cxnSp>
          <p:nvCxnSpPr>
            <p:cNvPr id="56" name="直接连接符 55">
              <a:extLst>
                <a:ext uri="{FF2B5EF4-FFF2-40B4-BE49-F238E27FC236}">
                  <a16:creationId xmlns:a16="http://schemas.microsoft.com/office/drawing/2014/main" id="{E9313CBE-9CA7-B842-F46B-ECDD4529C2A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7700" y="2090119"/>
              <a:ext cx="4636013" cy="453224"/>
            </a:xfrm>
            <a:prstGeom prst="line">
              <a:avLst/>
            </a:prstGeom>
            <a:ln w="38100">
              <a:solidFill>
                <a:schemeClr val="tx2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接连接符 60">
              <a:extLst>
                <a:ext uri="{FF2B5EF4-FFF2-40B4-BE49-F238E27FC236}">
                  <a16:creationId xmlns:a16="http://schemas.microsoft.com/office/drawing/2014/main" id="{8090A460-FA5C-6C3B-8DA3-F9CC63B6172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38991" y="1551640"/>
              <a:ext cx="4594828" cy="1184895"/>
            </a:xfrm>
            <a:prstGeom prst="line">
              <a:avLst/>
            </a:prstGeom>
            <a:ln w="38100">
              <a:solidFill>
                <a:schemeClr val="tx2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右大括号 61">
              <a:extLst>
                <a:ext uri="{FF2B5EF4-FFF2-40B4-BE49-F238E27FC236}">
                  <a16:creationId xmlns:a16="http://schemas.microsoft.com/office/drawing/2014/main" id="{B58CBD64-8F74-D144-692F-547EC0437C6C}"/>
                </a:ext>
              </a:extLst>
            </p:cNvPr>
            <p:cNvSpPr/>
            <p:nvPr/>
          </p:nvSpPr>
          <p:spPr>
            <a:xfrm rot="16200000">
              <a:off x="1607880" y="1889496"/>
              <a:ext cx="298965" cy="641208"/>
            </a:xfrm>
            <a:prstGeom prst="rightBrace">
              <a:avLst>
                <a:gd name="adj1" fmla="val 22967"/>
                <a:gd name="adj2" fmla="val 47029"/>
              </a:avLst>
            </a:prstGeom>
            <a:ln w="254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1" name="文本框 70">
              <a:extLst>
                <a:ext uri="{FF2B5EF4-FFF2-40B4-BE49-F238E27FC236}">
                  <a16:creationId xmlns:a16="http://schemas.microsoft.com/office/drawing/2014/main" id="{C92404C5-65B0-D264-33DA-898FF4C07495}"/>
                </a:ext>
              </a:extLst>
            </p:cNvPr>
            <p:cNvSpPr txBox="1"/>
            <p:nvPr/>
          </p:nvSpPr>
          <p:spPr>
            <a:xfrm>
              <a:off x="1337813" y="2602182"/>
              <a:ext cx="82426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b="1" dirty="0">
                  <a:solidFill>
                    <a:schemeClr val="accent1"/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已突破</a:t>
              </a:r>
              <a:r>
                <a:rPr lang="en-US" altLang="zh-CN" sz="1000" b="1" dirty="0">
                  <a:solidFill>
                    <a:schemeClr val="accent1"/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WJC</a:t>
              </a:r>
              <a:endParaRPr lang="zh-CN" altLang="en-US" sz="1000" b="1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</p:txBody>
        </p:sp>
        <p:sp>
          <p:nvSpPr>
            <p:cNvPr id="72" name="文本框 71">
              <a:extLst>
                <a:ext uri="{FF2B5EF4-FFF2-40B4-BE49-F238E27FC236}">
                  <a16:creationId xmlns:a16="http://schemas.microsoft.com/office/drawing/2014/main" id="{C906B91C-D8A2-3B8E-C454-DE4C54409F94}"/>
                </a:ext>
              </a:extLst>
            </p:cNvPr>
            <p:cNvSpPr txBox="1"/>
            <p:nvPr/>
          </p:nvSpPr>
          <p:spPr>
            <a:xfrm>
              <a:off x="1337813" y="1698317"/>
              <a:ext cx="95250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b="1" dirty="0">
                  <a:solidFill>
                    <a:schemeClr val="accent1"/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站上</a:t>
              </a:r>
              <a:r>
                <a:rPr lang="en-US" altLang="zh-CN" sz="1000" b="1" dirty="0">
                  <a:solidFill>
                    <a:schemeClr val="accent1"/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WJA</a:t>
              </a:r>
              <a:r>
                <a:rPr lang="zh-CN" altLang="en-US" sz="1000" b="1" dirty="0">
                  <a:solidFill>
                    <a:schemeClr val="accent1"/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初期</a:t>
              </a:r>
              <a:endParaRPr lang="en-US" altLang="zh-CN" sz="1000" b="1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  <a:p>
              <a:r>
                <a:rPr lang="zh-CN" altLang="en-US" sz="1000" b="1" dirty="0">
                  <a:solidFill>
                    <a:schemeClr val="accent1"/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阴阳相间</a:t>
              </a:r>
            </a:p>
          </p:txBody>
        </p:sp>
        <p:cxnSp>
          <p:nvCxnSpPr>
            <p:cNvPr id="73" name="直接箭头连接符 72">
              <a:extLst>
                <a:ext uri="{FF2B5EF4-FFF2-40B4-BE49-F238E27FC236}">
                  <a16:creationId xmlns:a16="http://schemas.microsoft.com/office/drawing/2014/main" id="{6D3E8A34-2E90-B4CA-C537-509C7D77B9F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97017" y="1544845"/>
              <a:ext cx="1059977" cy="795688"/>
            </a:xfrm>
            <a:prstGeom prst="straightConnector1">
              <a:avLst/>
            </a:prstGeom>
            <a:ln w="285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接箭头连接符 73">
              <a:extLst>
                <a:ext uri="{FF2B5EF4-FFF2-40B4-BE49-F238E27FC236}">
                  <a16:creationId xmlns:a16="http://schemas.microsoft.com/office/drawing/2014/main" id="{975AFF49-EE27-4DBB-E48C-7E3A16C73F53}"/>
                </a:ext>
              </a:extLst>
            </p:cNvPr>
            <p:cNvCxnSpPr>
              <a:cxnSpLocks/>
            </p:cNvCxnSpPr>
            <p:nvPr/>
          </p:nvCxnSpPr>
          <p:spPr>
            <a:xfrm>
              <a:off x="3150315" y="1570441"/>
              <a:ext cx="349491" cy="410180"/>
            </a:xfrm>
            <a:prstGeom prst="straightConnector1">
              <a:avLst/>
            </a:prstGeom>
            <a:ln w="254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接箭头连接符 74">
              <a:extLst>
                <a:ext uri="{FF2B5EF4-FFF2-40B4-BE49-F238E27FC236}">
                  <a16:creationId xmlns:a16="http://schemas.microsoft.com/office/drawing/2014/main" id="{06B2DF40-0BF3-85F5-99EF-47110E83BA7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507902" y="1485377"/>
              <a:ext cx="434972" cy="474405"/>
            </a:xfrm>
            <a:prstGeom prst="straightConnector1">
              <a:avLst/>
            </a:prstGeom>
            <a:ln w="285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接箭头连接符 75">
              <a:extLst>
                <a:ext uri="{FF2B5EF4-FFF2-40B4-BE49-F238E27FC236}">
                  <a16:creationId xmlns:a16="http://schemas.microsoft.com/office/drawing/2014/main" id="{7A9A83DE-153F-206D-A25A-E8C98A59274C}"/>
                </a:ext>
              </a:extLst>
            </p:cNvPr>
            <p:cNvCxnSpPr>
              <a:cxnSpLocks/>
            </p:cNvCxnSpPr>
            <p:nvPr/>
          </p:nvCxnSpPr>
          <p:spPr>
            <a:xfrm>
              <a:off x="3950970" y="1475076"/>
              <a:ext cx="428189" cy="505545"/>
            </a:xfrm>
            <a:prstGeom prst="straightConnector1">
              <a:avLst/>
            </a:prstGeom>
            <a:ln w="254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接箭头连接符 76">
              <a:extLst>
                <a:ext uri="{FF2B5EF4-FFF2-40B4-BE49-F238E27FC236}">
                  <a16:creationId xmlns:a16="http://schemas.microsoft.com/office/drawing/2014/main" id="{E2A07F8A-38DC-9C66-0A11-C5E78288DE7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94038" y="1698317"/>
              <a:ext cx="193815" cy="251164"/>
            </a:xfrm>
            <a:prstGeom prst="straightConnector1">
              <a:avLst/>
            </a:prstGeom>
            <a:ln w="285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直接箭头连接符 77">
              <a:extLst>
                <a:ext uri="{FF2B5EF4-FFF2-40B4-BE49-F238E27FC236}">
                  <a16:creationId xmlns:a16="http://schemas.microsoft.com/office/drawing/2014/main" id="{8364EEF1-C95B-589A-DA39-E2A0DE0D0828}"/>
                </a:ext>
              </a:extLst>
            </p:cNvPr>
            <p:cNvCxnSpPr>
              <a:cxnSpLocks/>
            </p:cNvCxnSpPr>
            <p:nvPr/>
          </p:nvCxnSpPr>
          <p:spPr>
            <a:xfrm>
              <a:off x="4586176" y="1744800"/>
              <a:ext cx="428189" cy="505545"/>
            </a:xfrm>
            <a:prstGeom prst="straightConnector1">
              <a:avLst/>
            </a:prstGeom>
            <a:ln w="254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文本框 78">
              <a:extLst>
                <a:ext uri="{FF2B5EF4-FFF2-40B4-BE49-F238E27FC236}">
                  <a16:creationId xmlns:a16="http://schemas.microsoft.com/office/drawing/2014/main" id="{168299E2-46E9-9B5C-5B28-DF9200732E51}"/>
                </a:ext>
              </a:extLst>
            </p:cNvPr>
            <p:cNvSpPr txBox="1"/>
            <p:nvPr/>
          </p:nvSpPr>
          <p:spPr>
            <a:xfrm>
              <a:off x="2364727" y="1553435"/>
              <a:ext cx="44114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b="1" dirty="0">
                  <a:solidFill>
                    <a:schemeClr val="accent1"/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连阳</a:t>
              </a:r>
              <a:endParaRPr lang="en-US" altLang="zh-CN" sz="1000" b="1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  <a:p>
              <a:r>
                <a:rPr lang="zh-CN" altLang="en-US" sz="1000" b="1" dirty="0">
                  <a:solidFill>
                    <a:schemeClr val="accent1"/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主升</a:t>
              </a:r>
            </a:p>
          </p:txBody>
        </p:sp>
        <p:sp>
          <p:nvSpPr>
            <p:cNvPr id="80" name="文本框 79">
              <a:extLst>
                <a:ext uri="{FF2B5EF4-FFF2-40B4-BE49-F238E27FC236}">
                  <a16:creationId xmlns:a16="http://schemas.microsoft.com/office/drawing/2014/main" id="{90C52B05-B48A-BB92-2E3E-5D37AD799B4C}"/>
                </a:ext>
              </a:extLst>
            </p:cNvPr>
            <p:cNvSpPr txBox="1"/>
            <p:nvPr/>
          </p:nvSpPr>
          <p:spPr>
            <a:xfrm>
              <a:off x="3299536" y="1429451"/>
              <a:ext cx="44114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b="1" dirty="0">
                  <a:solidFill>
                    <a:schemeClr val="accent1"/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回踩</a:t>
              </a:r>
              <a:endParaRPr lang="en-US" altLang="zh-CN" sz="1000" b="1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  <a:p>
              <a:r>
                <a:rPr lang="zh-CN" altLang="en-US" sz="1000" b="1" dirty="0">
                  <a:solidFill>
                    <a:schemeClr val="accent1"/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震荡</a:t>
              </a:r>
            </a:p>
          </p:txBody>
        </p:sp>
        <p:sp>
          <p:nvSpPr>
            <p:cNvPr id="81" name="文本框 80">
              <a:extLst>
                <a:ext uri="{FF2B5EF4-FFF2-40B4-BE49-F238E27FC236}">
                  <a16:creationId xmlns:a16="http://schemas.microsoft.com/office/drawing/2014/main" id="{ADCBDFDC-5A9E-146E-8467-2B1E5F1D7E48}"/>
                </a:ext>
              </a:extLst>
            </p:cNvPr>
            <p:cNvSpPr txBox="1"/>
            <p:nvPr/>
          </p:nvSpPr>
          <p:spPr>
            <a:xfrm>
              <a:off x="4099992" y="1389547"/>
              <a:ext cx="44114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b="1" dirty="0">
                  <a:solidFill>
                    <a:schemeClr val="accent1"/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顶部</a:t>
              </a:r>
              <a:endParaRPr lang="en-US" altLang="zh-CN" sz="1000" b="1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  <a:p>
              <a:r>
                <a:rPr lang="zh-CN" altLang="en-US" sz="1000" b="1" dirty="0">
                  <a:solidFill>
                    <a:schemeClr val="accent1"/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尾部</a:t>
              </a:r>
            </a:p>
          </p:txBody>
        </p:sp>
      </p:grpSp>
      <p:cxnSp>
        <p:nvCxnSpPr>
          <p:cNvPr id="35" name="直接连接符 34">
            <a:extLst>
              <a:ext uri="{FF2B5EF4-FFF2-40B4-BE49-F238E27FC236}">
                <a16:creationId xmlns:a16="http://schemas.microsoft.com/office/drawing/2014/main" id="{F975F5F7-8F6A-5913-88B7-0056674C3172}"/>
              </a:ext>
            </a:extLst>
          </p:cNvPr>
          <p:cNvCxnSpPr>
            <a:cxnSpLocks/>
          </p:cNvCxnSpPr>
          <p:nvPr/>
        </p:nvCxnSpPr>
        <p:spPr>
          <a:xfrm>
            <a:off x="6104090" y="681496"/>
            <a:ext cx="0" cy="6165737"/>
          </a:xfrm>
          <a:prstGeom prst="line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5" name="组合 44">
            <a:extLst>
              <a:ext uri="{FF2B5EF4-FFF2-40B4-BE49-F238E27FC236}">
                <a16:creationId xmlns:a16="http://schemas.microsoft.com/office/drawing/2014/main" id="{E29DE784-412D-C0B2-7F93-AF61602DC913}"/>
              </a:ext>
            </a:extLst>
          </p:cNvPr>
          <p:cNvGrpSpPr/>
          <p:nvPr/>
        </p:nvGrpSpPr>
        <p:grpSpPr>
          <a:xfrm>
            <a:off x="3889960" y="3668352"/>
            <a:ext cx="2174157" cy="1072215"/>
            <a:chOff x="3168808" y="5723206"/>
            <a:chExt cx="2174157" cy="1072215"/>
          </a:xfrm>
        </p:grpSpPr>
        <p:sp>
          <p:nvSpPr>
            <p:cNvPr id="20" name="任意多边形: 形状 19">
              <a:extLst>
                <a:ext uri="{FF2B5EF4-FFF2-40B4-BE49-F238E27FC236}">
                  <a16:creationId xmlns:a16="http://schemas.microsoft.com/office/drawing/2014/main" id="{12FA539A-37E2-3628-C85C-F6E7C80C2F77}"/>
                </a:ext>
              </a:extLst>
            </p:cNvPr>
            <p:cNvSpPr/>
            <p:nvPr/>
          </p:nvSpPr>
          <p:spPr>
            <a:xfrm>
              <a:off x="3516415" y="6171189"/>
              <a:ext cx="1799661" cy="514920"/>
            </a:xfrm>
            <a:custGeom>
              <a:avLst/>
              <a:gdLst>
                <a:gd name="connsiteX0" fmla="*/ 0 w 5220393"/>
                <a:gd name="connsiteY0" fmla="*/ 764771 h 764771"/>
                <a:gd name="connsiteX1" fmla="*/ 5220393 w 5220393"/>
                <a:gd name="connsiteY1" fmla="*/ 0 h 764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20393" h="764771">
                  <a:moveTo>
                    <a:pt x="0" y="764771"/>
                  </a:moveTo>
                  <a:lnTo>
                    <a:pt x="5220393" y="0"/>
                  </a:lnTo>
                </a:path>
              </a:pathLst>
            </a:custGeom>
            <a:noFill/>
            <a:ln w="254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" name="任意多边形: 形状 20">
              <a:extLst>
                <a:ext uri="{FF2B5EF4-FFF2-40B4-BE49-F238E27FC236}">
                  <a16:creationId xmlns:a16="http://schemas.microsoft.com/office/drawing/2014/main" id="{AA72A989-42D1-5110-C7CA-558AD59B2988}"/>
                </a:ext>
              </a:extLst>
            </p:cNvPr>
            <p:cNvSpPr/>
            <p:nvPr/>
          </p:nvSpPr>
          <p:spPr>
            <a:xfrm>
              <a:off x="3517513" y="5751884"/>
              <a:ext cx="1825452" cy="565293"/>
            </a:xfrm>
            <a:custGeom>
              <a:avLst/>
              <a:gdLst>
                <a:gd name="connsiteX0" fmla="*/ 0 w 5295207"/>
                <a:gd name="connsiteY0" fmla="*/ 839586 h 839586"/>
                <a:gd name="connsiteX1" fmla="*/ 2244436 w 5295207"/>
                <a:gd name="connsiteY1" fmla="*/ 232756 h 839586"/>
                <a:gd name="connsiteX2" fmla="*/ 3399905 w 5295207"/>
                <a:gd name="connsiteY2" fmla="*/ 41564 h 839586"/>
                <a:gd name="connsiteX3" fmla="*/ 5220392 w 5295207"/>
                <a:gd name="connsiteY3" fmla="*/ 0 h 839586"/>
                <a:gd name="connsiteX4" fmla="*/ 5220392 w 5295207"/>
                <a:gd name="connsiteY4" fmla="*/ 0 h 839586"/>
                <a:gd name="connsiteX5" fmla="*/ 5295207 w 5295207"/>
                <a:gd name="connsiteY5" fmla="*/ 0 h 839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95207" h="839586">
                  <a:moveTo>
                    <a:pt x="0" y="839586"/>
                  </a:moveTo>
                  <a:cubicBezTo>
                    <a:pt x="838892" y="602673"/>
                    <a:pt x="1677785" y="365760"/>
                    <a:pt x="2244436" y="232756"/>
                  </a:cubicBezTo>
                  <a:cubicBezTo>
                    <a:pt x="2811087" y="99752"/>
                    <a:pt x="2903912" y="80357"/>
                    <a:pt x="3399905" y="41564"/>
                  </a:cubicBezTo>
                  <a:cubicBezTo>
                    <a:pt x="3895898" y="2771"/>
                    <a:pt x="5220392" y="0"/>
                    <a:pt x="5220392" y="0"/>
                  </a:cubicBezTo>
                  <a:lnTo>
                    <a:pt x="5220392" y="0"/>
                  </a:lnTo>
                  <a:lnTo>
                    <a:pt x="5295207" y="0"/>
                  </a:lnTo>
                </a:path>
              </a:pathLst>
            </a:custGeom>
            <a:noFill/>
            <a:ln w="254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7" name="任意多边形: 形状 36">
              <a:extLst>
                <a:ext uri="{FF2B5EF4-FFF2-40B4-BE49-F238E27FC236}">
                  <a16:creationId xmlns:a16="http://schemas.microsoft.com/office/drawing/2014/main" id="{E6904B94-9308-7399-024E-60DC67EF78E2}"/>
                </a:ext>
              </a:extLst>
            </p:cNvPr>
            <p:cNvSpPr/>
            <p:nvPr/>
          </p:nvSpPr>
          <p:spPr>
            <a:xfrm>
              <a:off x="3517673" y="5969604"/>
              <a:ext cx="1793929" cy="548502"/>
            </a:xfrm>
            <a:custGeom>
              <a:avLst/>
              <a:gdLst>
                <a:gd name="connsiteX0" fmla="*/ 0 w 5203767"/>
                <a:gd name="connsiteY0" fmla="*/ 814647 h 814647"/>
                <a:gd name="connsiteX1" fmla="*/ 2851265 w 5203767"/>
                <a:gd name="connsiteY1" fmla="*/ 257695 h 814647"/>
                <a:gd name="connsiteX2" fmla="*/ 5203767 w 5203767"/>
                <a:gd name="connsiteY2" fmla="*/ 0 h 814647"/>
                <a:gd name="connsiteX3" fmla="*/ 5203767 w 5203767"/>
                <a:gd name="connsiteY3" fmla="*/ 0 h 814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3767" h="814647">
                  <a:moveTo>
                    <a:pt x="0" y="814647"/>
                  </a:moveTo>
                  <a:cubicBezTo>
                    <a:pt x="991985" y="604058"/>
                    <a:pt x="1983971" y="393469"/>
                    <a:pt x="2851265" y="257695"/>
                  </a:cubicBezTo>
                  <a:cubicBezTo>
                    <a:pt x="3718560" y="121920"/>
                    <a:pt x="5203767" y="0"/>
                    <a:pt x="5203767" y="0"/>
                  </a:cubicBezTo>
                  <a:lnTo>
                    <a:pt x="5203767" y="0"/>
                  </a:lnTo>
                </a:path>
              </a:pathLst>
            </a:custGeom>
            <a:noFill/>
            <a:ln w="254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8" name="文本框 37">
              <a:extLst>
                <a:ext uri="{FF2B5EF4-FFF2-40B4-BE49-F238E27FC236}">
                  <a16:creationId xmlns:a16="http://schemas.microsoft.com/office/drawing/2014/main" id="{723525A5-A0ED-94BD-8213-1A09C683E2D1}"/>
                </a:ext>
              </a:extLst>
            </p:cNvPr>
            <p:cNvSpPr txBox="1"/>
            <p:nvPr/>
          </p:nvSpPr>
          <p:spPr>
            <a:xfrm>
              <a:off x="3168808" y="6156867"/>
              <a:ext cx="463687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100" dirty="0"/>
                <a:t>WJA</a:t>
              </a:r>
              <a:endParaRPr lang="zh-CN" altLang="en-US" sz="1100" dirty="0"/>
            </a:p>
          </p:txBody>
        </p:sp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AFCDB2AB-389F-2873-E096-65353A5B836D}"/>
                </a:ext>
              </a:extLst>
            </p:cNvPr>
            <p:cNvSpPr txBox="1"/>
            <p:nvPr/>
          </p:nvSpPr>
          <p:spPr>
            <a:xfrm>
              <a:off x="3168809" y="6359908"/>
              <a:ext cx="46368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100" dirty="0"/>
                <a:t>WJB</a:t>
              </a:r>
              <a:endParaRPr lang="zh-CN" altLang="en-US" sz="1100" dirty="0"/>
            </a:p>
          </p:txBody>
        </p:sp>
        <p:sp>
          <p:nvSpPr>
            <p:cNvPr id="40" name="文本框 39">
              <a:extLst>
                <a:ext uri="{FF2B5EF4-FFF2-40B4-BE49-F238E27FC236}">
                  <a16:creationId xmlns:a16="http://schemas.microsoft.com/office/drawing/2014/main" id="{FA29EA8E-3A47-FE13-0FDC-B32F33362120}"/>
                </a:ext>
              </a:extLst>
            </p:cNvPr>
            <p:cNvSpPr txBox="1"/>
            <p:nvPr/>
          </p:nvSpPr>
          <p:spPr>
            <a:xfrm>
              <a:off x="3168809" y="6533811"/>
              <a:ext cx="46368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100" dirty="0"/>
                <a:t>WJC</a:t>
              </a:r>
              <a:endParaRPr lang="zh-CN" altLang="en-US" sz="1100" dirty="0"/>
            </a:p>
          </p:txBody>
        </p:sp>
        <p:sp>
          <p:nvSpPr>
            <p:cNvPr id="22" name="任意多边形: 形状 21">
              <a:extLst>
                <a:ext uri="{FF2B5EF4-FFF2-40B4-BE49-F238E27FC236}">
                  <a16:creationId xmlns:a16="http://schemas.microsoft.com/office/drawing/2014/main" id="{57840BF2-DAE5-214F-02F1-C7F65DF4968F}"/>
                </a:ext>
              </a:extLst>
            </p:cNvPr>
            <p:cNvSpPr/>
            <p:nvPr/>
          </p:nvSpPr>
          <p:spPr>
            <a:xfrm>
              <a:off x="3534135" y="5723206"/>
              <a:ext cx="1777531" cy="815208"/>
            </a:xfrm>
            <a:custGeom>
              <a:avLst/>
              <a:gdLst>
                <a:gd name="connsiteX0" fmla="*/ 0 w 5156200"/>
                <a:gd name="connsiteY0" fmla="*/ 1109165 h 1210765"/>
                <a:gd name="connsiteX1" fmla="*/ 812800 w 5156200"/>
                <a:gd name="connsiteY1" fmla="*/ 397965 h 1210765"/>
                <a:gd name="connsiteX2" fmla="*/ 1320800 w 5156200"/>
                <a:gd name="connsiteY2" fmla="*/ 567298 h 1210765"/>
                <a:gd name="connsiteX3" fmla="*/ 1998133 w 5156200"/>
                <a:gd name="connsiteY3" fmla="*/ 101631 h 1210765"/>
                <a:gd name="connsiteX4" fmla="*/ 2497666 w 5156200"/>
                <a:gd name="connsiteY4" fmla="*/ 474165 h 1210765"/>
                <a:gd name="connsiteX5" fmla="*/ 3005666 w 5156200"/>
                <a:gd name="connsiteY5" fmla="*/ 31 h 1210765"/>
                <a:gd name="connsiteX6" fmla="*/ 3488266 w 5156200"/>
                <a:gd name="connsiteY6" fmla="*/ 448765 h 1210765"/>
                <a:gd name="connsiteX7" fmla="*/ 4072466 w 5156200"/>
                <a:gd name="connsiteY7" fmla="*/ 177831 h 1210765"/>
                <a:gd name="connsiteX8" fmla="*/ 4368800 w 5156200"/>
                <a:gd name="connsiteY8" fmla="*/ 651965 h 1210765"/>
                <a:gd name="connsiteX9" fmla="*/ 4885266 w 5156200"/>
                <a:gd name="connsiteY9" fmla="*/ 381031 h 1210765"/>
                <a:gd name="connsiteX10" fmla="*/ 5156200 w 5156200"/>
                <a:gd name="connsiteY10" fmla="*/ 1210765 h 121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56200" h="1210765">
                  <a:moveTo>
                    <a:pt x="0" y="1109165"/>
                  </a:moveTo>
                  <a:cubicBezTo>
                    <a:pt x="296333" y="798720"/>
                    <a:pt x="592667" y="488276"/>
                    <a:pt x="812800" y="397965"/>
                  </a:cubicBezTo>
                  <a:cubicBezTo>
                    <a:pt x="1032933" y="307654"/>
                    <a:pt x="1123245" y="616687"/>
                    <a:pt x="1320800" y="567298"/>
                  </a:cubicBezTo>
                  <a:cubicBezTo>
                    <a:pt x="1518356" y="517909"/>
                    <a:pt x="1801989" y="117153"/>
                    <a:pt x="1998133" y="101631"/>
                  </a:cubicBezTo>
                  <a:cubicBezTo>
                    <a:pt x="2194277" y="86109"/>
                    <a:pt x="2329744" y="491098"/>
                    <a:pt x="2497666" y="474165"/>
                  </a:cubicBezTo>
                  <a:cubicBezTo>
                    <a:pt x="2665588" y="457232"/>
                    <a:pt x="2840566" y="4264"/>
                    <a:pt x="3005666" y="31"/>
                  </a:cubicBezTo>
                  <a:cubicBezTo>
                    <a:pt x="3170766" y="-4202"/>
                    <a:pt x="3310466" y="419132"/>
                    <a:pt x="3488266" y="448765"/>
                  </a:cubicBezTo>
                  <a:cubicBezTo>
                    <a:pt x="3666066" y="478398"/>
                    <a:pt x="3925710" y="143964"/>
                    <a:pt x="4072466" y="177831"/>
                  </a:cubicBezTo>
                  <a:cubicBezTo>
                    <a:pt x="4219222" y="211698"/>
                    <a:pt x="4233333" y="618098"/>
                    <a:pt x="4368800" y="651965"/>
                  </a:cubicBezTo>
                  <a:cubicBezTo>
                    <a:pt x="4504267" y="685832"/>
                    <a:pt x="4754033" y="287898"/>
                    <a:pt x="4885266" y="381031"/>
                  </a:cubicBezTo>
                  <a:cubicBezTo>
                    <a:pt x="5016499" y="474164"/>
                    <a:pt x="5086349" y="842464"/>
                    <a:pt x="5156200" y="1210765"/>
                  </a:cubicBezTo>
                </a:path>
              </a:pathLst>
            </a:custGeom>
            <a:noFill/>
            <a:ln w="19050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" name="组合 11">
            <a:extLst>
              <a:ext uri="{FF2B5EF4-FFF2-40B4-BE49-F238E27FC236}">
                <a16:creationId xmlns:a16="http://schemas.microsoft.com/office/drawing/2014/main" id="{9E2A379A-606B-0FE7-A817-762D1EF65FC7}"/>
              </a:ext>
            </a:extLst>
          </p:cNvPr>
          <p:cNvGrpSpPr/>
          <p:nvPr/>
        </p:nvGrpSpPr>
        <p:grpSpPr>
          <a:xfrm>
            <a:off x="590154" y="5500801"/>
            <a:ext cx="1613821" cy="1354453"/>
            <a:chOff x="512159" y="4581527"/>
            <a:chExt cx="1613821" cy="1354453"/>
          </a:xfrm>
        </p:grpSpPr>
        <p:sp>
          <p:nvSpPr>
            <p:cNvPr id="19" name="文本框 18">
              <a:extLst>
                <a:ext uri="{FF2B5EF4-FFF2-40B4-BE49-F238E27FC236}">
                  <a16:creationId xmlns:a16="http://schemas.microsoft.com/office/drawing/2014/main" id="{39455D80-A492-19F8-C925-0421263011D6}"/>
                </a:ext>
              </a:extLst>
            </p:cNvPr>
            <p:cNvSpPr txBox="1"/>
            <p:nvPr/>
          </p:nvSpPr>
          <p:spPr>
            <a:xfrm>
              <a:off x="927851" y="5298673"/>
              <a:ext cx="38985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锐角</a:t>
              </a:r>
              <a:endParaRPr lang="en-US" altLang="zh-CN" sz="8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zh-CN" altLang="en-US" sz="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反弹</a:t>
              </a:r>
            </a:p>
          </p:txBody>
        </p:sp>
        <p:sp>
          <p:nvSpPr>
            <p:cNvPr id="2" name="文本框 1">
              <a:extLst>
                <a:ext uri="{FF2B5EF4-FFF2-40B4-BE49-F238E27FC236}">
                  <a16:creationId xmlns:a16="http://schemas.microsoft.com/office/drawing/2014/main" id="{DD52BC56-F103-F260-E123-1513B71429FC}"/>
                </a:ext>
              </a:extLst>
            </p:cNvPr>
            <p:cNvSpPr txBox="1"/>
            <p:nvPr/>
          </p:nvSpPr>
          <p:spPr>
            <a:xfrm>
              <a:off x="1394914" y="5145640"/>
              <a:ext cx="38985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钝角</a:t>
              </a:r>
              <a:endParaRPr lang="en-US" altLang="zh-CN" sz="8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zh-CN" altLang="en-US" sz="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反弹</a:t>
              </a:r>
            </a:p>
          </p:txBody>
        </p:sp>
        <p:sp>
          <p:nvSpPr>
            <p:cNvPr id="3" name="文本框 2">
              <a:extLst>
                <a:ext uri="{FF2B5EF4-FFF2-40B4-BE49-F238E27FC236}">
                  <a16:creationId xmlns:a16="http://schemas.microsoft.com/office/drawing/2014/main" id="{C1CD3CF6-3679-F9CF-ED91-35B2F71A289C}"/>
                </a:ext>
              </a:extLst>
            </p:cNvPr>
            <p:cNvSpPr txBox="1"/>
            <p:nvPr/>
          </p:nvSpPr>
          <p:spPr>
            <a:xfrm>
              <a:off x="875348" y="4581527"/>
              <a:ext cx="45434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缓慢下跌</a:t>
              </a:r>
            </a:p>
          </p:txBody>
        </p:sp>
        <p:sp>
          <p:nvSpPr>
            <p:cNvPr id="7" name="任意多边形: 形状 6">
              <a:extLst>
                <a:ext uri="{FF2B5EF4-FFF2-40B4-BE49-F238E27FC236}">
                  <a16:creationId xmlns:a16="http://schemas.microsoft.com/office/drawing/2014/main" id="{A1FBD423-1489-3765-FDDB-240B7ADD3D51}"/>
                </a:ext>
              </a:extLst>
            </p:cNvPr>
            <p:cNvSpPr/>
            <p:nvPr/>
          </p:nvSpPr>
          <p:spPr>
            <a:xfrm>
              <a:off x="512159" y="5085351"/>
              <a:ext cx="1524000" cy="839374"/>
            </a:xfrm>
            <a:custGeom>
              <a:avLst/>
              <a:gdLst>
                <a:gd name="connsiteX0" fmla="*/ 0 w 1524000"/>
                <a:gd name="connsiteY0" fmla="*/ 839374 h 839374"/>
                <a:gd name="connsiteX1" fmla="*/ 740228 w 1524000"/>
                <a:gd name="connsiteY1" fmla="*/ 46894 h 839374"/>
                <a:gd name="connsiteX2" fmla="*/ 1524000 w 1524000"/>
                <a:gd name="connsiteY2" fmla="*/ 160105 h 839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0" h="839374">
                  <a:moveTo>
                    <a:pt x="0" y="839374"/>
                  </a:moveTo>
                  <a:cubicBezTo>
                    <a:pt x="243114" y="499739"/>
                    <a:pt x="486228" y="160105"/>
                    <a:pt x="740228" y="46894"/>
                  </a:cubicBezTo>
                  <a:cubicBezTo>
                    <a:pt x="994228" y="-66318"/>
                    <a:pt x="1259114" y="46893"/>
                    <a:pt x="1524000" y="160105"/>
                  </a:cubicBezTo>
                </a:path>
              </a:pathLst>
            </a:custGeom>
            <a:noFill/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" name="任意多边形: 形状 7">
              <a:extLst>
                <a:ext uri="{FF2B5EF4-FFF2-40B4-BE49-F238E27FC236}">
                  <a16:creationId xmlns:a16="http://schemas.microsoft.com/office/drawing/2014/main" id="{17EC1F8F-22A0-D81F-5213-BEDB6FFE7DEF}"/>
                </a:ext>
              </a:extLst>
            </p:cNvPr>
            <p:cNvSpPr/>
            <p:nvPr/>
          </p:nvSpPr>
          <p:spPr>
            <a:xfrm>
              <a:off x="533400" y="4693855"/>
              <a:ext cx="1592580" cy="1242125"/>
            </a:xfrm>
            <a:custGeom>
              <a:avLst/>
              <a:gdLst>
                <a:gd name="connsiteX0" fmla="*/ 0 w 1592580"/>
                <a:gd name="connsiteY0" fmla="*/ 1242125 h 1242125"/>
                <a:gd name="connsiteX1" fmla="*/ 83820 w 1592580"/>
                <a:gd name="connsiteY1" fmla="*/ 830645 h 1242125"/>
                <a:gd name="connsiteX2" fmla="*/ 198120 w 1592580"/>
                <a:gd name="connsiteY2" fmla="*/ 929705 h 1242125"/>
                <a:gd name="connsiteX3" fmla="*/ 388620 w 1592580"/>
                <a:gd name="connsiteY3" fmla="*/ 121985 h 1242125"/>
                <a:gd name="connsiteX4" fmla="*/ 586740 w 1592580"/>
                <a:gd name="connsiteY4" fmla="*/ 525845 h 1242125"/>
                <a:gd name="connsiteX5" fmla="*/ 777240 w 1592580"/>
                <a:gd name="connsiteY5" fmla="*/ 65 h 1242125"/>
                <a:gd name="connsiteX6" fmla="*/ 1028700 w 1592580"/>
                <a:gd name="connsiteY6" fmla="*/ 487745 h 1242125"/>
                <a:gd name="connsiteX7" fmla="*/ 1219200 w 1592580"/>
                <a:gd name="connsiteY7" fmla="*/ 221045 h 1242125"/>
                <a:gd name="connsiteX8" fmla="*/ 1341120 w 1592580"/>
                <a:gd name="connsiteY8" fmla="*/ 800165 h 1242125"/>
                <a:gd name="connsiteX9" fmla="*/ 1463040 w 1592580"/>
                <a:gd name="connsiteY9" fmla="*/ 624905 h 1242125"/>
                <a:gd name="connsiteX10" fmla="*/ 1592580 w 1592580"/>
                <a:gd name="connsiteY10" fmla="*/ 1112585 h 12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92580" h="1242125">
                  <a:moveTo>
                    <a:pt x="0" y="1242125"/>
                  </a:moveTo>
                  <a:cubicBezTo>
                    <a:pt x="25400" y="1062420"/>
                    <a:pt x="50800" y="882715"/>
                    <a:pt x="83820" y="830645"/>
                  </a:cubicBezTo>
                  <a:cubicBezTo>
                    <a:pt x="116840" y="778575"/>
                    <a:pt x="147320" y="1047815"/>
                    <a:pt x="198120" y="929705"/>
                  </a:cubicBezTo>
                  <a:cubicBezTo>
                    <a:pt x="248920" y="811595"/>
                    <a:pt x="323850" y="189295"/>
                    <a:pt x="388620" y="121985"/>
                  </a:cubicBezTo>
                  <a:cubicBezTo>
                    <a:pt x="453390" y="54675"/>
                    <a:pt x="521970" y="546165"/>
                    <a:pt x="586740" y="525845"/>
                  </a:cubicBezTo>
                  <a:cubicBezTo>
                    <a:pt x="651510" y="505525"/>
                    <a:pt x="703580" y="6415"/>
                    <a:pt x="777240" y="65"/>
                  </a:cubicBezTo>
                  <a:cubicBezTo>
                    <a:pt x="850900" y="-6285"/>
                    <a:pt x="955040" y="450915"/>
                    <a:pt x="1028700" y="487745"/>
                  </a:cubicBezTo>
                  <a:cubicBezTo>
                    <a:pt x="1102360" y="524575"/>
                    <a:pt x="1167130" y="168975"/>
                    <a:pt x="1219200" y="221045"/>
                  </a:cubicBezTo>
                  <a:cubicBezTo>
                    <a:pt x="1271270" y="273115"/>
                    <a:pt x="1300480" y="732855"/>
                    <a:pt x="1341120" y="800165"/>
                  </a:cubicBezTo>
                  <a:cubicBezTo>
                    <a:pt x="1381760" y="867475"/>
                    <a:pt x="1421130" y="572835"/>
                    <a:pt x="1463040" y="624905"/>
                  </a:cubicBezTo>
                  <a:cubicBezTo>
                    <a:pt x="1504950" y="676975"/>
                    <a:pt x="1548765" y="894780"/>
                    <a:pt x="1592580" y="1112585"/>
                  </a:cubicBezTo>
                </a:path>
              </a:pathLst>
            </a:custGeom>
            <a:noFill/>
            <a:ln w="25400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39759206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41FC9E-0FDC-6E55-B8EF-AD378044CB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0BB49F5C-D46A-23EC-B1B3-BFE789A700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 WJC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周级别“升连”在甄别主升的作用</a:t>
            </a:r>
            <a:b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本页主题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：要明确“升连”是主升阶段的最典型形态；要明确在非主升阶段，即使出现“升连”也不应参与。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76D44A74-794F-6BA9-D06D-BBDBBF03D7AE}"/>
              </a:ext>
            </a:extLst>
          </p:cNvPr>
          <p:cNvSpPr/>
          <p:nvPr/>
        </p:nvSpPr>
        <p:spPr>
          <a:xfrm>
            <a:off x="6096000" y="2302933"/>
            <a:ext cx="6099298" cy="283433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柱型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基本分类：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特梯：不出现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跌连等升势中止的柱排。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特栏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特栅：已出现升势中止标志，面临方向选择，可能调整后继续上升，也可能转变为震荡或下跌。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特枝：新进入周类范围或上破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，面临方向选择，可能变为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特梯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，或可能反复贯穿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周“升连”的变体与分类：</a:t>
            </a:r>
            <a:r>
              <a:rPr lang="zh-CN" altLang="en-US" sz="900" b="1" dirty="0">
                <a:solidFill>
                  <a:schemeClr val="tx1"/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特梯</a:t>
            </a:r>
            <a:r>
              <a:rPr lang="en-US" altLang="zh-CN" sz="900" b="1" dirty="0">
                <a:solidFill>
                  <a:schemeClr val="tx1"/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&amp;</a:t>
            </a:r>
            <a:r>
              <a:rPr lang="zh-CN" altLang="en-US" sz="900" b="1" dirty="0">
                <a:solidFill>
                  <a:schemeClr val="tx1"/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特栏</a:t>
            </a:r>
            <a:r>
              <a:rPr lang="en-US" altLang="zh-CN" sz="900" b="1" dirty="0">
                <a:solidFill>
                  <a:schemeClr val="tx1"/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&amp;</a:t>
            </a:r>
            <a:r>
              <a:rPr lang="zh-CN" altLang="en-US" sz="900" b="1" dirty="0">
                <a:solidFill>
                  <a:schemeClr val="tx1"/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特栅构成</a:t>
            </a:r>
            <a:r>
              <a:rPr lang="en-US" altLang="zh-CN" sz="900" b="1" dirty="0">
                <a:solidFill>
                  <a:schemeClr val="tx1"/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主升链</a:t>
            </a:r>
            <a:r>
              <a:rPr lang="en-US" altLang="zh-CN" sz="900" b="1" dirty="0">
                <a:solidFill>
                  <a:schemeClr val="tx1"/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/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，“升连”是主升阶段的最基本零件。</a:t>
            </a:r>
            <a:endParaRPr lang="en-US" altLang="zh-CN" sz="900" b="1" dirty="0">
              <a:solidFill>
                <a:schemeClr val="tx1"/>
              </a:solidFill>
              <a:highlight>
                <a:srgbClr val="FFFF00"/>
              </a:highlight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特梯：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后续（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80%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）必冲高。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特栏：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后续（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50%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）很可能冲高。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特栅：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后续（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10%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）可能冲高。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特枝：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后续（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30%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）很可能冲高。与特升栅区别，此处可在单阳之后，而特升栅是升连之后。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首鼎：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单阳。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首鼎后回踩：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单阳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首鼎后启动结构：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阳阴阳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阳阴阴阳。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6B74386C-C664-D17B-E73E-DFE1890FE0F3}"/>
              </a:ext>
            </a:extLst>
          </p:cNvPr>
          <p:cNvGraphicFramePr>
            <a:graphicFrameLocks noGrp="1"/>
          </p:cNvGraphicFramePr>
          <p:nvPr/>
        </p:nvGraphicFramePr>
        <p:xfrm>
          <a:off x="-15907" y="3840480"/>
          <a:ext cx="6111906" cy="3017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56842">
                  <a:extLst>
                    <a:ext uri="{9D8B030D-6E8A-4147-A177-3AD203B41FA5}">
                      <a16:colId xmlns:a16="http://schemas.microsoft.com/office/drawing/2014/main" val="1234204950"/>
                    </a:ext>
                  </a:extLst>
                </a:gridCol>
                <a:gridCol w="5455064">
                  <a:extLst>
                    <a:ext uri="{9D8B030D-6E8A-4147-A177-3AD203B41FA5}">
                      <a16:colId xmlns:a16="http://schemas.microsoft.com/office/drawing/2014/main" val="75106730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周“升连”的作用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重要结论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周“升连”可用于鉴别主升阶段；因为主升阶段必然大部分由“升连”及其变体组成。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在追寻周级别“升连”的过程汇总保持谨慎：周“升连”是主升阶段的重要必要组成部分，但非必须。</a:t>
                      </a:r>
                      <a:endParaRPr lang="en-US" altLang="zh-CN" sz="9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因为出现周级别“升连”才能称得上主升。</a:t>
                      </a:r>
                      <a:endParaRPr lang="en-US" altLang="zh-CN" sz="9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但主升阶段不必全部是周“升连”。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可以是长久的升连；也可以（“升连”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“升连”）；甚至可能是（巨阳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巨阳）。所以，出现升连后应减仓，趋势在调整后持续可加仓，否则就退出，不要押注单波段的大涨模式。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391155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周“升连”在不同位置的作用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负交：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出现升连基本都是诱多。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仅针对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且即将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正交或即将突破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，谨慎参与。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正交：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之上出现“升连”是主升阶段的必要条件。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顶部震荡：在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/WXZA/WXZB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劫后出现升连，有可能是顶部震荡。切记谨慎参与。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04802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周“跌连”在不同位置的作用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作为周“升连”的相反标志。</a:t>
                      </a:r>
                      <a:endParaRPr lang="en-US" altLang="zh-CN" sz="9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主跌阶段：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是主跌的典型形态。可在下破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后按是否出现跌连进行止损。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主升途中：</a:t>
                      </a:r>
                      <a:r>
                        <a:rPr lang="en-US" altLang="zh-CN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之上连跌，属于异常现象，一旦出现这种情况需要慎重考虑是否需要退出。只有跟在连阳之后的跌连才有参考价值。</a:t>
                      </a:r>
                      <a:endParaRPr lang="en-US" altLang="zh-CN" sz="9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位置</a:t>
                      </a:r>
                      <a:r>
                        <a:rPr lang="en-US" altLang="zh-CN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可退（快速拉升之后）：此处出现连跌属于确定性退出信号。</a:t>
                      </a:r>
                      <a:endParaRPr lang="en-US" altLang="zh-CN" sz="9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位置</a:t>
                      </a:r>
                      <a:r>
                        <a:rPr lang="en-US" altLang="zh-CN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可不退（缓慢爬升之后）：很可能只是调整，后续可能延续爬升，或冲高。</a:t>
                      </a:r>
                      <a:endParaRPr lang="en-US" altLang="zh-CN" sz="9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位置</a:t>
                      </a:r>
                      <a:r>
                        <a:rPr lang="en-US" altLang="zh-CN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可不退（震荡过程）：在拉升后进入震荡过程，出现跌连属于震荡信号。若前期已大升，应退出。</a:t>
                      </a:r>
                      <a:endParaRPr lang="en-US" altLang="zh-CN" sz="9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位置</a:t>
                      </a:r>
                      <a:r>
                        <a:rPr lang="en-US" altLang="zh-CN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可不退（初始突破）：初始突破</a:t>
                      </a:r>
                      <a:r>
                        <a:rPr lang="en-US" altLang="zh-CN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之后，出现连跌可能属于震荡。此处不应退出。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41897860"/>
                  </a:ext>
                </a:extLst>
              </a:tr>
            </a:tbl>
          </a:graphicData>
        </a:graphic>
      </p:graphicFrame>
      <p:grpSp>
        <p:nvGrpSpPr>
          <p:cNvPr id="25" name="组合 24">
            <a:extLst>
              <a:ext uri="{FF2B5EF4-FFF2-40B4-BE49-F238E27FC236}">
                <a16:creationId xmlns:a16="http://schemas.microsoft.com/office/drawing/2014/main" id="{470D6FA3-5C9F-693A-C822-94BADDC2EC54}"/>
              </a:ext>
            </a:extLst>
          </p:cNvPr>
          <p:cNvGrpSpPr/>
          <p:nvPr/>
        </p:nvGrpSpPr>
        <p:grpSpPr>
          <a:xfrm>
            <a:off x="-99276" y="789656"/>
            <a:ext cx="6175339" cy="2614193"/>
            <a:chOff x="-99276" y="789656"/>
            <a:chExt cx="6175339" cy="2614193"/>
          </a:xfrm>
        </p:grpSpPr>
        <p:sp>
          <p:nvSpPr>
            <p:cNvPr id="6" name="文本框 5">
              <a:extLst>
                <a:ext uri="{FF2B5EF4-FFF2-40B4-BE49-F238E27FC236}">
                  <a16:creationId xmlns:a16="http://schemas.microsoft.com/office/drawing/2014/main" id="{D4447E0B-428B-230B-1439-3281B2F118DE}"/>
                </a:ext>
              </a:extLst>
            </p:cNvPr>
            <p:cNvSpPr txBox="1"/>
            <p:nvPr/>
          </p:nvSpPr>
          <p:spPr>
            <a:xfrm>
              <a:off x="-99276" y="2088697"/>
              <a:ext cx="49116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400" dirty="0"/>
                <a:t>WJC</a:t>
              </a:r>
              <a:endParaRPr lang="zh-CN" altLang="en-US" sz="1400" dirty="0"/>
            </a:p>
          </p:txBody>
        </p:sp>
        <p:sp>
          <p:nvSpPr>
            <p:cNvPr id="13" name="文本框 12">
              <a:extLst>
                <a:ext uri="{FF2B5EF4-FFF2-40B4-BE49-F238E27FC236}">
                  <a16:creationId xmlns:a16="http://schemas.microsoft.com/office/drawing/2014/main" id="{17789908-6A05-EF50-CBA2-29085BDCE587}"/>
                </a:ext>
              </a:extLst>
            </p:cNvPr>
            <p:cNvSpPr txBox="1"/>
            <p:nvPr/>
          </p:nvSpPr>
          <p:spPr>
            <a:xfrm>
              <a:off x="67736" y="789656"/>
              <a:ext cx="177484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400" b="1" dirty="0"/>
                <a:t>周“升连”出现的位置</a:t>
              </a:r>
            </a:p>
          </p:txBody>
        </p:sp>
        <p:sp>
          <p:nvSpPr>
            <p:cNvPr id="16" name="任意多边形: 形状 15">
              <a:extLst>
                <a:ext uri="{FF2B5EF4-FFF2-40B4-BE49-F238E27FC236}">
                  <a16:creationId xmlns:a16="http://schemas.microsoft.com/office/drawing/2014/main" id="{7CBB3FED-0A49-DB62-2714-2DDF2A47DB5F}"/>
                </a:ext>
              </a:extLst>
            </p:cNvPr>
            <p:cNvSpPr/>
            <p:nvPr/>
          </p:nvSpPr>
          <p:spPr>
            <a:xfrm>
              <a:off x="307652" y="2077355"/>
              <a:ext cx="5768411" cy="520624"/>
            </a:xfrm>
            <a:custGeom>
              <a:avLst/>
              <a:gdLst>
                <a:gd name="connsiteX0" fmla="*/ 0 w 5768411"/>
                <a:gd name="connsiteY0" fmla="*/ 195826 h 520624"/>
                <a:gd name="connsiteX1" fmla="*/ 769122 w 5768411"/>
                <a:gd name="connsiteY1" fmla="*/ 59094 h 520624"/>
                <a:gd name="connsiteX2" fmla="*/ 2204815 w 5768411"/>
                <a:gd name="connsiteY2" fmla="*/ 520566 h 520624"/>
                <a:gd name="connsiteX3" fmla="*/ 4050707 w 5768411"/>
                <a:gd name="connsiteY3" fmla="*/ 24910 h 520624"/>
                <a:gd name="connsiteX4" fmla="*/ 5768411 w 5768411"/>
                <a:gd name="connsiteY4" fmla="*/ 118914 h 52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8411" h="520624">
                  <a:moveTo>
                    <a:pt x="0" y="195826"/>
                  </a:moveTo>
                  <a:cubicBezTo>
                    <a:pt x="200826" y="100398"/>
                    <a:pt x="401653" y="4971"/>
                    <a:pt x="769122" y="59094"/>
                  </a:cubicBezTo>
                  <a:cubicBezTo>
                    <a:pt x="1136591" y="113217"/>
                    <a:pt x="1657884" y="526263"/>
                    <a:pt x="2204815" y="520566"/>
                  </a:cubicBezTo>
                  <a:cubicBezTo>
                    <a:pt x="2751746" y="514869"/>
                    <a:pt x="3456774" y="91852"/>
                    <a:pt x="4050707" y="24910"/>
                  </a:cubicBezTo>
                  <a:cubicBezTo>
                    <a:pt x="4644640" y="-42032"/>
                    <a:pt x="5206525" y="38441"/>
                    <a:pt x="5768411" y="118914"/>
                  </a:cubicBezTo>
                </a:path>
              </a:pathLst>
            </a:custGeom>
            <a:noFill/>
            <a:ln w="508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任意多边形: 形状 22">
              <a:extLst>
                <a:ext uri="{FF2B5EF4-FFF2-40B4-BE49-F238E27FC236}">
                  <a16:creationId xmlns:a16="http://schemas.microsoft.com/office/drawing/2014/main" id="{3139A902-63A5-AC03-7F39-FD2CAA16E74F}"/>
                </a:ext>
              </a:extLst>
            </p:cNvPr>
            <p:cNvSpPr/>
            <p:nvPr/>
          </p:nvSpPr>
          <p:spPr>
            <a:xfrm>
              <a:off x="264923" y="952511"/>
              <a:ext cx="5811140" cy="2397867"/>
            </a:xfrm>
            <a:custGeom>
              <a:avLst/>
              <a:gdLst>
                <a:gd name="connsiteX0" fmla="*/ 0 w 5811140"/>
                <a:gd name="connsiteY0" fmla="*/ 158442 h 2397867"/>
                <a:gd name="connsiteX1" fmla="*/ 1136591 w 5811140"/>
                <a:gd name="connsiteY1" fmla="*/ 2397440 h 2397867"/>
                <a:gd name="connsiteX2" fmla="*/ 3649054 w 5811140"/>
                <a:gd name="connsiteY2" fmla="*/ 4618 h 2397867"/>
                <a:gd name="connsiteX3" fmla="*/ 5101839 w 5811140"/>
                <a:gd name="connsiteY3" fmla="*/ 1799235 h 2397867"/>
                <a:gd name="connsiteX4" fmla="*/ 5811140 w 5811140"/>
                <a:gd name="connsiteY4" fmla="*/ 2106883 h 2397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11140" h="2397867">
                  <a:moveTo>
                    <a:pt x="0" y="158442"/>
                  </a:moveTo>
                  <a:cubicBezTo>
                    <a:pt x="264207" y="1290759"/>
                    <a:pt x="528415" y="2423077"/>
                    <a:pt x="1136591" y="2397440"/>
                  </a:cubicBezTo>
                  <a:cubicBezTo>
                    <a:pt x="1744767" y="2371803"/>
                    <a:pt x="2988179" y="104319"/>
                    <a:pt x="3649054" y="4618"/>
                  </a:cubicBezTo>
                  <a:cubicBezTo>
                    <a:pt x="4309929" y="-95083"/>
                    <a:pt x="4741491" y="1448858"/>
                    <a:pt x="5101839" y="1799235"/>
                  </a:cubicBezTo>
                  <a:cubicBezTo>
                    <a:pt x="5462187" y="2149612"/>
                    <a:pt x="5636663" y="2128247"/>
                    <a:pt x="5811140" y="2106883"/>
                  </a:cubicBezTo>
                </a:path>
              </a:pathLst>
            </a:custGeom>
            <a:noFill/>
            <a:ln w="2540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" name="文本框 8">
              <a:extLst>
                <a:ext uri="{FF2B5EF4-FFF2-40B4-BE49-F238E27FC236}">
                  <a16:creationId xmlns:a16="http://schemas.microsoft.com/office/drawing/2014/main" id="{221839F7-416A-863B-D144-35570B06CBBD}"/>
                </a:ext>
              </a:extLst>
            </p:cNvPr>
            <p:cNvSpPr txBox="1"/>
            <p:nvPr/>
          </p:nvSpPr>
          <p:spPr>
            <a:xfrm>
              <a:off x="403227" y="2576836"/>
              <a:ext cx="1104182" cy="584775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80000"/>
              </a:schemeClr>
            </a:solidFill>
          </p:spPr>
          <p:txBody>
            <a:bodyPr wrap="square" rtlCol="0">
              <a:spAutoFit/>
            </a:bodyPr>
            <a:lstStyle/>
            <a:p>
              <a:r>
                <a:rPr lang="en-US" altLang="zh-CN" sz="800" b="1" dirty="0"/>
                <a:t>【</a:t>
              </a:r>
              <a:r>
                <a:rPr lang="zh-CN" altLang="en-US" sz="800" b="1" dirty="0"/>
                <a:t>下跌过程</a:t>
              </a:r>
              <a:r>
                <a:rPr lang="en-US" altLang="zh-CN" sz="800" b="1" dirty="0"/>
                <a:t>】</a:t>
              </a:r>
              <a:r>
                <a:rPr lang="zh-CN" altLang="en-US" sz="800" dirty="0"/>
                <a:t>可能出现升连，如突破</a:t>
              </a:r>
              <a:r>
                <a:rPr lang="en-US" altLang="zh-CN" sz="800" dirty="0"/>
                <a:t>WJA</a:t>
              </a:r>
              <a:r>
                <a:rPr lang="zh-CN" altLang="en-US" sz="800" dirty="0"/>
                <a:t>。但在</a:t>
              </a:r>
              <a:r>
                <a:rPr lang="en-US" altLang="zh-CN" sz="800" dirty="0"/>
                <a:t>WJB</a:t>
              </a:r>
              <a:r>
                <a:rPr lang="zh-CN" altLang="en-US" sz="800" dirty="0"/>
                <a:t>之下都不需要考虑。</a:t>
              </a:r>
            </a:p>
          </p:txBody>
        </p:sp>
        <p:sp>
          <p:nvSpPr>
            <p:cNvPr id="10" name="文本框 9">
              <a:extLst>
                <a:ext uri="{FF2B5EF4-FFF2-40B4-BE49-F238E27FC236}">
                  <a16:creationId xmlns:a16="http://schemas.microsoft.com/office/drawing/2014/main" id="{D16E2963-AC1D-DBF0-C1CB-4BEBB5A7E168}"/>
                </a:ext>
              </a:extLst>
            </p:cNvPr>
            <p:cNvSpPr txBox="1"/>
            <p:nvPr/>
          </p:nvSpPr>
          <p:spPr>
            <a:xfrm>
              <a:off x="1672628" y="2819074"/>
              <a:ext cx="1104182" cy="584775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80000"/>
              </a:schemeClr>
            </a:solidFill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>
                <a:defRPr sz="800"/>
              </a:lvl1pPr>
            </a:lstStyle>
            <a:p>
              <a:r>
                <a:rPr lang="en-US" altLang="zh-CN" b="1" dirty="0"/>
                <a:t>【</a:t>
              </a:r>
              <a:r>
                <a:rPr lang="zh-CN" altLang="en-US" b="1" dirty="0"/>
                <a:t>底部震荡</a:t>
              </a:r>
              <a:r>
                <a:rPr lang="en-US" altLang="zh-CN" b="1" dirty="0"/>
                <a:t>】</a:t>
              </a:r>
              <a:r>
                <a:rPr lang="zh-CN" altLang="en-US" dirty="0"/>
                <a:t>可能出现升连，代表已见底。但在</a:t>
              </a:r>
              <a:r>
                <a:rPr lang="en-US" altLang="zh-CN" dirty="0"/>
                <a:t>WXAB</a:t>
              </a:r>
              <a:r>
                <a:rPr lang="zh-CN" altLang="en-US" dirty="0"/>
                <a:t>未正交前不需要参与。</a:t>
              </a:r>
            </a:p>
          </p:txBody>
        </p:sp>
        <p:sp>
          <p:nvSpPr>
            <p:cNvPr id="11" name="文本框 10">
              <a:extLst>
                <a:ext uri="{FF2B5EF4-FFF2-40B4-BE49-F238E27FC236}">
                  <a16:creationId xmlns:a16="http://schemas.microsoft.com/office/drawing/2014/main" id="{B35018A2-6F86-300B-68E1-B1548487C2A1}"/>
                </a:ext>
              </a:extLst>
            </p:cNvPr>
            <p:cNvSpPr txBox="1"/>
            <p:nvPr/>
          </p:nvSpPr>
          <p:spPr>
            <a:xfrm>
              <a:off x="2493068" y="1542102"/>
              <a:ext cx="951782" cy="338554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80000"/>
              </a:schemeClr>
            </a:solidFill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>
                <a:defRPr sz="800"/>
              </a:lvl1pPr>
            </a:lstStyle>
            <a:p>
              <a:r>
                <a:rPr lang="en-US" altLang="zh-CN" b="1" dirty="0"/>
                <a:t>【</a:t>
              </a:r>
              <a:r>
                <a:rPr lang="zh-CN" altLang="en-US" b="1" dirty="0"/>
                <a:t>主升阶段</a:t>
              </a:r>
              <a:r>
                <a:rPr lang="en-US" altLang="zh-CN" b="1" dirty="0"/>
                <a:t>】</a:t>
              </a:r>
              <a:r>
                <a:rPr lang="zh-CN" altLang="en-US" dirty="0"/>
                <a:t>大部分应是升连。</a:t>
              </a:r>
            </a:p>
          </p:txBody>
        </p:sp>
        <p:sp>
          <p:nvSpPr>
            <p:cNvPr id="12" name="文本框 11">
              <a:extLst>
                <a:ext uri="{FF2B5EF4-FFF2-40B4-BE49-F238E27FC236}">
                  <a16:creationId xmlns:a16="http://schemas.microsoft.com/office/drawing/2014/main" id="{F000B31A-4198-1702-61F3-087148345FC4}"/>
                </a:ext>
              </a:extLst>
            </p:cNvPr>
            <p:cNvSpPr txBox="1"/>
            <p:nvPr/>
          </p:nvSpPr>
          <p:spPr>
            <a:xfrm>
              <a:off x="3618362" y="831951"/>
              <a:ext cx="1094665" cy="461665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80000"/>
              </a:schemeClr>
            </a:solidFill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>
                <a:defRPr sz="800"/>
              </a:lvl1pPr>
            </a:lstStyle>
            <a:p>
              <a:r>
                <a:rPr lang="en-US" altLang="zh-CN" b="1" dirty="0"/>
                <a:t>【</a:t>
              </a:r>
              <a:r>
                <a:rPr lang="zh-CN" altLang="en-US" b="1" dirty="0"/>
                <a:t>顶部震荡</a:t>
              </a:r>
              <a:r>
                <a:rPr lang="en-US" altLang="zh-CN" b="1" dirty="0"/>
                <a:t>】</a:t>
              </a:r>
              <a:r>
                <a:rPr lang="zh-CN" altLang="en-US" dirty="0"/>
                <a:t>可能出现</a:t>
              </a:r>
              <a:r>
                <a:rPr lang="en-US" altLang="zh-CN" dirty="0"/>
                <a:t>WXZA/WXZB</a:t>
              </a:r>
              <a:r>
                <a:rPr lang="zh-CN" altLang="en-US" dirty="0"/>
                <a:t>劫后升连，谨慎参与。</a:t>
              </a:r>
            </a:p>
          </p:txBody>
        </p:sp>
      </p:grpSp>
      <p:graphicFrame>
        <p:nvGraphicFramePr>
          <p:cNvPr id="43" name="表格 42">
            <a:extLst>
              <a:ext uri="{FF2B5EF4-FFF2-40B4-BE49-F238E27FC236}">
                <a16:creationId xmlns:a16="http://schemas.microsoft.com/office/drawing/2014/main" id="{FFCC2EBE-0438-DF75-A99D-FD33C264F8BC}"/>
              </a:ext>
            </a:extLst>
          </p:cNvPr>
          <p:cNvGraphicFramePr>
            <a:graphicFrameLocks noGrp="1"/>
          </p:cNvGraphicFramePr>
          <p:nvPr/>
        </p:nvGraphicFramePr>
        <p:xfrm>
          <a:off x="6095998" y="5145430"/>
          <a:ext cx="6111902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3462">
                  <a:extLst>
                    <a:ext uri="{9D8B030D-6E8A-4147-A177-3AD203B41FA5}">
                      <a16:colId xmlns:a16="http://schemas.microsoft.com/office/drawing/2014/main" val="1832260034"/>
                    </a:ext>
                  </a:extLst>
                </a:gridCol>
                <a:gridCol w="804740">
                  <a:extLst>
                    <a:ext uri="{9D8B030D-6E8A-4147-A177-3AD203B41FA5}">
                      <a16:colId xmlns:a16="http://schemas.microsoft.com/office/drawing/2014/main" val="279937712"/>
                    </a:ext>
                  </a:extLst>
                </a:gridCol>
                <a:gridCol w="804740">
                  <a:extLst>
                    <a:ext uri="{9D8B030D-6E8A-4147-A177-3AD203B41FA5}">
                      <a16:colId xmlns:a16="http://schemas.microsoft.com/office/drawing/2014/main" val="101628504"/>
                    </a:ext>
                  </a:extLst>
                </a:gridCol>
                <a:gridCol w="804740">
                  <a:extLst>
                    <a:ext uri="{9D8B030D-6E8A-4147-A177-3AD203B41FA5}">
                      <a16:colId xmlns:a16="http://schemas.microsoft.com/office/drawing/2014/main" val="4146172324"/>
                    </a:ext>
                  </a:extLst>
                </a:gridCol>
                <a:gridCol w="804740">
                  <a:extLst>
                    <a:ext uri="{9D8B030D-6E8A-4147-A177-3AD203B41FA5}">
                      <a16:colId xmlns:a16="http://schemas.microsoft.com/office/drawing/2014/main" val="4272743294"/>
                    </a:ext>
                  </a:extLst>
                </a:gridCol>
                <a:gridCol w="804740">
                  <a:extLst>
                    <a:ext uri="{9D8B030D-6E8A-4147-A177-3AD203B41FA5}">
                      <a16:colId xmlns:a16="http://schemas.microsoft.com/office/drawing/2014/main" val="2041749410"/>
                    </a:ext>
                  </a:extLst>
                </a:gridCol>
                <a:gridCol w="804740">
                  <a:extLst>
                    <a:ext uri="{9D8B030D-6E8A-4147-A177-3AD203B41FA5}">
                      <a16:colId xmlns:a16="http://schemas.microsoft.com/office/drawing/2014/main" val="37924459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是否适用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地型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特枝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特梯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特栏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特栅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特根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449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含突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适用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zh-CN" altLang="en-US" sz="800" kern="1200" dirty="0">
                          <a:solidFill>
                            <a:schemeClr val="dk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适用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适用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适用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058758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kern="1200" noProof="0" dirty="0">
                          <a:solidFill>
                            <a:schemeClr val="dk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适用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NA</a:t>
                      </a:r>
                      <a:endParaRPr kumimoji="0" lang="zh-CN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0612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含栏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NA</a:t>
                      </a:r>
                      <a:endParaRPr kumimoji="0" lang="zh-CN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kern="1200" noProof="0" dirty="0">
                          <a:solidFill>
                            <a:schemeClr val="dk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适用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适用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NA</a:t>
                      </a:r>
                      <a:endParaRPr kumimoji="0" lang="zh-CN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97682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含栅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NA</a:t>
                      </a:r>
                      <a:endParaRPr kumimoji="0" lang="zh-CN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kern="1200" noProof="0" dirty="0">
                          <a:solidFill>
                            <a:schemeClr val="dk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适用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适用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NA</a:t>
                      </a:r>
                      <a:endParaRPr kumimoji="0" lang="zh-CN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818326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余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kern="1200" noProof="0" dirty="0">
                          <a:solidFill>
                            <a:schemeClr val="dk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适用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适用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NA</a:t>
                      </a:r>
                      <a:endParaRPr kumimoji="0" lang="zh-CN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168906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含蛀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适用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kern="1200" noProof="0" dirty="0">
                          <a:solidFill>
                            <a:schemeClr val="dk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适用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适用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适用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64650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含破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WJB&gt;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NA</a:t>
                      </a:r>
                      <a:endParaRPr kumimoji="0" lang="zh-CN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NA</a:t>
                      </a:r>
                      <a:endParaRPr kumimoji="0" lang="zh-CN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NA</a:t>
                      </a:r>
                      <a:endParaRPr kumimoji="0" lang="zh-CN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NA</a:t>
                      </a:r>
                      <a:endParaRPr kumimoji="0" lang="zh-CN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NA</a:t>
                      </a:r>
                      <a:endParaRPr kumimoji="0" lang="zh-CN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367888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7113847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363E8C-EE4D-EE7C-80DC-9FB7CD31FB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" name="表格 15">
            <a:extLst>
              <a:ext uri="{FF2B5EF4-FFF2-40B4-BE49-F238E27FC236}">
                <a16:creationId xmlns:a16="http://schemas.microsoft.com/office/drawing/2014/main" id="{0728E076-BDF8-4E96-0661-43BBFBC850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1690995"/>
              </p:ext>
            </p:extLst>
          </p:nvPr>
        </p:nvGraphicFramePr>
        <p:xfrm>
          <a:off x="0" y="714120"/>
          <a:ext cx="6111546" cy="3901440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652418">
                  <a:extLst>
                    <a:ext uri="{9D8B030D-6E8A-4147-A177-3AD203B41FA5}">
                      <a16:colId xmlns:a16="http://schemas.microsoft.com/office/drawing/2014/main" val="1804879935"/>
                    </a:ext>
                  </a:extLst>
                </a:gridCol>
                <a:gridCol w="1101567">
                  <a:extLst>
                    <a:ext uri="{9D8B030D-6E8A-4147-A177-3AD203B41FA5}">
                      <a16:colId xmlns:a16="http://schemas.microsoft.com/office/drawing/2014/main" val="665012014"/>
                    </a:ext>
                  </a:extLst>
                </a:gridCol>
                <a:gridCol w="4357561">
                  <a:extLst>
                    <a:ext uri="{9D8B030D-6E8A-4147-A177-3AD203B41FA5}">
                      <a16:colId xmlns:a16="http://schemas.microsoft.com/office/drawing/2014/main" val="1037072587"/>
                    </a:ext>
                  </a:extLst>
                </a:gridCol>
              </a:tblGrid>
              <a:tr h="445451"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周类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之上存在哪些上升机会？ → 阐述“为何选取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周管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龙战法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的主战场？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”</a:t>
                      </a: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通过观察实际走势，总结出定位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之上的上升机会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所应考虑的因素。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根据这些因素，依据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WXAB&gt;&lt;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，确定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周管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龙战法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的主战场；根据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周奏：渡主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，细化下周冲高机会。从而提高预判下柱冲高的准确度。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9052100"/>
                  </a:ext>
                </a:extLst>
              </a:tr>
              <a:tr h="257893"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定位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&lt;WJC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之上的上升机会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所应考虑的因素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考虑因素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宏观指标。主要考虑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丘的连接方式，按周层区分为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之上，要求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185756"/>
                  </a:ext>
                </a:extLst>
              </a:tr>
              <a:tr h="164113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考虑因素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顶型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宏观指标。要求触顶，从而打开上升空间。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112570"/>
                  </a:ext>
                </a:extLst>
              </a:tr>
              <a:tr h="164113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考虑因素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地型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微观指标。考虑柱所处的前序环境。（比柱型范围大）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0853368"/>
                  </a:ext>
                </a:extLst>
              </a:tr>
              <a:tr h="164113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考虑因素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柱型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微观指标。考虑相邻柱的组合。（须结合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应用）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7614440"/>
                  </a:ext>
                </a:extLst>
              </a:tr>
              <a:tr h="164113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考虑因素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反例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基于反例。虽然符合上升规则，但在实际情况中存在反例，如“最后一柱”、“梯失势反例”。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865847"/>
                  </a:ext>
                </a:extLst>
              </a:tr>
              <a:tr h="164113">
                <a:tc rowSpan="8">
                  <a:txBody>
                    <a:bodyPr/>
                    <a:lstStyle/>
                    <a:p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之上的上升机会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在周管中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（包含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龙猪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龙落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考察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均线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。要求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。从而必然满足在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之上，包含：渡（储初再）、主。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771165"/>
                  </a:ext>
                </a:extLst>
              </a:tr>
              <a:tr h="164113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考察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。要求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顶≥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6123252"/>
                  </a:ext>
                </a:extLst>
              </a:tr>
              <a:tr h="16411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考察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。要求柱型为：梯栏枝。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2458621"/>
                  </a:ext>
                </a:extLst>
              </a:tr>
              <a:tr h="445451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哪些虽然在管中，但不会上升？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“最后一柱”：虽为升排，但即将转跌。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失势情况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即将脱管：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龙落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，包含跌排、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2563451"/>
                  </a:ext>
                </a:extLst>
              </a:tr>
              <a:tr h="351672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不在周管中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（包含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9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有可能进入周管的情况：虽有可能入管，但最好等入管后再介入。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雀（即将入管）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中柱排为升排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4880288"/>
                  </a:ext>
                </a:extLst>
              </a:tr>
              <a:tr h="164113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9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零星冲高机会（个别现象不延续）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2805134"/>
                  </a:ext>
                </a:extLst>
              </a:tr>
              <a:tr h="164113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9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负交时：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W3h/W3i</a:t>
                      </a:r>
                      <a:endParaRPr lang="zh-CN" altLang="en-US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5241055"/>
                  </a:ext>
                </a:extLst>
              </a:tr>
              <a:tr h="164113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9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之下的阳柱。→等待站上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再介入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771551"/>
                  </a:ext>
                </a:extLst>
              </a:tr>
            </a:tbl>
          </a:graphicData>
        </a:graphic>
      </p:graphicFrame>
      <p:sp>
        <p:nvSpPr>
          <p:cNvPr id="5" name="标题 1">
            <a:extLst>
              <a:ext uri="{FF2B5EF4-FFF2-40B4-BE49-F238E27FC236}">
                <a16:creationId xmlns:a16="http://schemas.microsoft.com/office/drawing/2014/main" id="{E85365C9-0F46-CF49-EB44-85BDD276CD81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【WJC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】WJC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之上的上升机会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主题：讨论主升启动在（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/WJCDE/WJCBA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）的位置。但实际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只决定大势，主要还是要看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坐标系的主升启动位置。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0D8FB0D8-8EB2-5FA4-E4AC-47F543911A78}"/>
              </a:ext>
            </a:extLst>
          </p:cNvPr>
          <p:cNvSpPr/>
          <p:nvPr/>
        </p:nvSpPr>
        <p:spPr>
          <a:xfrm>
            <a:off x="-1" y="4781078"/>
            <a:ext cx="4533724" cy="689447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问题：是否可能刚突破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就形成主升？有可能。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本波段前，存在围绕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的小波动，下破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后立刻再次上破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/WXBC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/WXAC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/WXZC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劫），此时可能刚突破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就形成主升。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上海机场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200608]</a:t>
            </a: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注意，如前期经历大幅拉升，可能形成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若经历多次顶部震荡，顶的规模会逐步减小，持续时间会越来越短。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汉马科技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200708]</a:t>
            </a:r>
          </a:p>
          <a:p>
            <a:pPr marL="685800" lvl="1" indent="-228600">
              <a:buFont typeface="Arial" panose="020B0604020202020204" pitchFamily="34" charset="0"/>
              <a:buChar char="•"/>
            </a:pP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059D1665-54A8-FE0E-349D-5D4C88E6C65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33900" y="4781081"/>
            <a:ext cx="1577646" cy="690111"/>
          </a:xfrm>
          <a:prstGeom prst="rect">
            <a:avLst/>
          </a:prstGeom>
          <a:ln w="3175">
            <a:solidFill>
              <a:schemeClr val="tx1"/>
            </a:solidFill>
          </a:ln>
        </p:spPr>
      </p:pic>
      <p:sp>
        <p:nvSpPr>
          <p:cNvPr id="10" name="矩形 9">
            <a:extLst>
              <a:ext uri="{FF2B5EF4-FFF2-40B4-BE49-F238E27FC236}">
                <a16:creationId xmlns:a16="http://schemas.microsoft.com/office/drawing/2014/main" id="{7DF0BD49-7101-C173-5310-6B10E1254F7C}"/>
              </a:ext>
            </a:extLst>
          </p:cNvPr>
          <p:cNvSpPr/>
          <p:nvPr/>
        </p:nvSpPr>
        <p:spPr>
          <a:xfrm>
            <a:off x="-1" y="5475717"/>
            <a:ext cx="4475644" cy="689447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rgbClr val="222A3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问题：是否可能刚突破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就形成主升？有可能。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前期已形成主升，后进入震荡，下破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后再次上破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/WXZB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劫），此时可能刚上破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就形成主升，需要配合（周柱排）（周顶型）进行判断是否进入主升。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汉马科技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200612]</a:t>
            </a: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注意，如前期升幅较大，可能形成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2" name="图片 11">
            <a:extLst>
              <a:ext uri="{FF2B5EF4-FFF2-40B4-BE49-F238E27FC236}">
                <a16:creationId xmlns:a16="http://schemas.microsoft.com/office/drawing/2014/main" id="{A2759E35-CA4C-22DB-9A4E-5F06723F9F1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75643" y="5475718"/>
            <a:ext cx="1631483" cy="689446"/>
          </a:xfrm>
          <a:prstGeom prst="rect">
            <a:avLst/>
          </a:prstGeom>
          <a:ln w="3175">
            <a:solidFill>
              <a:srgbClr val="222A35"/>
            </a:solidFill>
          </a:ln>
        </p:spPr>
      </p:pic>
      <p:sp>
        <p:nvSpPr>
          <p:cNvPr id="13" name="矩形 12">
            <a:extLst>
              <a:ext uri="{FF2B5EF4-FFF2-40B4-BE49-F238E27FC236}">
                <a16:creationId xmlns:a16="http://schemas.microsoft.com/office/drawing/2014/main" id="{EA9A0D2E-4ACC-7B23-9960-7A4E0CA46275}"/>
              </a:ext>
            </a:extLst>
          </p:cNvPr>
          <p:cNvSpPr/>
          <p:nvPr/>
        </p:nvSpPr>
        <p:spPr>
          <a:xfrm>
            <a:off x="0" y="6166142"/>
            <a:ext cx="3784602" cy="689447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rgbClr val="222A3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问题：是否可能刚回踩下破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就形成主升？有可能。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一般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劫属于主升浪的正常波动。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前期已在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上较长时间缓升，下破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后再次上破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/WXZA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劫），此时可能刚上破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就形成主升。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兴业证券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201410]</a:t>
            </a: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对于小规模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丘，走平后形成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劫，然后上破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可能形成最后一柱。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" name="直接连接符 34">
            <a:extLst>
              <a:ext uri="{FF2B5EF4-FFF2-40B4-BE49-F238E27FC236}">
                <a16:creationId xmlns:a16="http://schemas.microsoft.com/office/drawing/2014/main" id="{322F1C4F-863C-1CB4-002A-43D119F52EBB}"/>
              </a:ext>
            </a:extLst>
          </p:cNvPr>
          <p:cNvCxnSpPr>
            <a:cxnSpLocks/>
          </p:cNvCxnSpPr>
          <p:nvPr/>
        </p:nvCxnSpPr>
        <p:spPr>
          <a:xfrm>
            <a:off x="6104090" y="689517"/>
            <a:ext cx="0" cy="6165737"/>
          </a:xfrm>
          <a:prstGeom prst="line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>
            <a:extLst>
              <a:ext uri="{FF2B5EF4-FFF2-40B4-BE49-F238E27FC236}">
                <a16:creationId xmlns:a16="http://schemas.microsoft.com/office/drawing/2014/main" id="{1AF71745-4C52-6632-F70D-B5927201C050}"/>
              </a:ext>
            </a:extLst>
          </p:cNvPr>
          <p:cNvSpPr/>
          <p:nvPr/>
        </p:nvSpPr>
        <p:spPr>
          <a:xfrm>
            <a:off x="6811258" y="2646163"/>
            <a:ext cx="5060701" cy="1045267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入轨图谱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主升在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周期中的启动模式：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一定要逐步吸附于顶，然后贴顶运动。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入轨模式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：触顶入轨。最好前期已多柱站稳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，然后触顶入轨。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前期经历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天劫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/WXZA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劫：属于轨道内部波动。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前期经历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/WXZB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/WXAB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/WXAC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劫：属于“头”震荡。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前期经历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/WXBC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劫：属于初始突破，很可能出现大丘。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入轨模式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：逐步触哼，后续有可能触顶，属于潜在入轨模式。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主要针对“震”“头”情况：前期震荡造成“离顶”，通过触哼逐步入轨。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983992A5-BAC6-63C1-3BC8-FB9C56E8D3C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84601" y="6166142"/>
            <a:ext cx="2333279" cy="691858"/>
          </a:xfrm>
          <a:prstGeom prst="rect">
            <a:avLst/>
          </a:prstGeom>
          <a:ln w="3175">
            <a:solidFill>
              <a:schemeClr val="tx1"/>
            </a:solidFill>
          </a:ln>
        </p:spPr>
      </p:pic>
      <p:sp>
        <p:nvSpPr>
          <p:cNvPr id="4" name="矩形 3">
            <a:extLst>
              <a:ext uri="{FF2B5EF4-FFF2-40B4-BE49-F238E27FC236}">
                <a16:creationId xmlns:a16="http://schemas.microsoft.com/office/drawing/2014/main" id="{0F8D1840-A585-85CF-0EE4-90E0CEEA48C2}"/>
              </a:ext>
            </a:extLst>
          </p:cNvPr>
          <p:cNvSpPr/>
          <p:nvPr/>
        </p:nvSpPr>
        <p:spPr>
          <a:xfrm>
            <a:off x="6103159" y="4781078"/>
            <a:ext cx="6088320" cy="2074176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主升在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周期以及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周阶中所处的位置：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总结从什么月级别状态开始主升？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周阶：一般要求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0.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基本要求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】WXCD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。不要相信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空头排列，有很多假突破，即使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突破或形成多头，在任意位置（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之上）都随时可能毫无征兆地中断主升。本质还是要维持月级别图形的规范。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刚正交后，一般为建仓震荡阶段，可能为低角度运行，不是主升叠垒阶段。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在月级别已大升情况，周层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，很可能形成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头，而非再次形成主升。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周层：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主升开始位置：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后。需要结合顶型来确定。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通过周层控制周级别入口：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初储（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主枝（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主升出现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栏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跌连（栅）后，面临方向选择。可能继续主升，也可能进入震荡。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宏观形态：关于主升在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之上的典型形态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后立刻大升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之前长期在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以固定角度突破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后继续缓慢爬升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后震荡一段时间，回踩站稳后大丘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围绕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多次巨幅波动</a:t>
            </a: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318FDF3D-4004-E7AB-458C-3528759EC023}"/>
              </a:ext>
            </a:extLst>
          </p:cNvPr>
          <p:cNvSpPr/>
          <p:nvPr/>
        </p:nvSpPr>
        <p:spPr>
          <a:xfrm>
            <a:off x="6811259" y="722746"/>
            <a:ext cx="5060701" cy="1149322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问题：周类</a:t>
            </a:r>
            <a:r>
              <a:rPr lang="en-US" altLang="zh-CN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之上存在哪些上升机会？</a:t>
            </a:r>
            <a:endParaRPr lang="en-US" altLang="zh-CN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结论：</a:t>
            </a:r>
            <a:endParaRPr lang="en-US" altLang="zh-CN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依据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周奏：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WXAB&gt;&lt;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顶型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，划分周波型，确定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周管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龙战法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的主战场。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周奏：渡主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&gt;&lt;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地型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&gt;&lt;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柱型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&gt;&lt;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反例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，总结下周冲高机会的特征，并汇总图谱。</a:t>
            </a:r>
            <a:endParaRPr lang="en-US" altLang="zh-CN" sz="11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箭头: 下 13">
            <a:extLst>
              <a:ext uri="{FF2B5EF4-FFF2-40B4-BE49-F238E27FC236}">
                <a16:creationId xmlns:a16="http://schemas.microsoft.com/office/drawing/2014/main" id="{1F9AFC2D-8A20-0894-C428-FE4DE375E16D}"/>
              </a:ext>
            </a:extLst>
          </p:cNvPr>
          <p:cNvSpPr/>
          <p:nvPr/>
        </p:nvSpPr>
        <p:spPr>
          <a:xfrm>
            <a:off x="8997203" y="2001813"/>
            <a:ext cx="688156" cy="244265"/>
          </a:xfrm>
          <a:prstGeom prst="downArrow">
            <a:avLst/>
          </a:pr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箭头: 下 14">
            <a:extLst>
              <a:ext uri="{FF2B5EF4-FFF2-40B4-BE49-F238E27FC236}">
                <a16:creationId xmlns:a16="http://schemas.microsoft.com/office/drawing/2014/main" id="{35762033-B09D-694B-E7E5-5EDEB0BFA90F}"/>
              </a:ext>
            </a:extLst>
          </p:cNvPr>
          <p:cNvSpPr/>
          <p:nvPr/>
        </p:nvSpPr>
        <p:spPr>
          <a:xfrm rot="16200000">
            <a:off x="6147140" y="944691"/>
            <a:ext cx="688156" cy="244265"/>
          </a:xfrm>
          <a:prstGeom prst="downArrow">
            <a:avLst/>
          </a:pr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EF7102C5-4267-972A-E420-6CD681149AF9}"/>
              </a:ext>
            </a:extLst>
          </p:cNvPr>
          <p:cNvSpPr/>
          <p:nvPr/>
        </p:nvSpPr>
        <p:spPr>
          <a:xfrm>
            <a:off x="7986" y="4781078"/>
            <a:ext cx="6088320" cy="2074176"/>
          </a:xfrm>
          <a:prstGeom prst="rect">
            <a:avLst/>
          </a:prstGeom>
          <a:noFill/>
          <a:ln w="254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zh-CN" altLang="en-US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66148860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0B1B9D-936E-CA5D-16E6-CD0CFA69A6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标题 1">
            <a:extLst>
              <a:ext uri="{FF2B5EF4-FFF2-40B4-BE49-F238E27FC236}">
                <a16:creationId xmlns:a16="http://schemas.microsoft.com/office/drawing/2014/main" id="{526BF22D-C821-1A65-B60F-8A409399C751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 WJC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周波型：区分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b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本页内容：在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WJC&amp;WJB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之上范围内，以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为管抓住主升。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44200049-DE07-D7E1-BC4A-21B1244C9174}"/>
              </a:ext>
            </a:extLst>
          </p:cNvPr>
          <p:cNvSpPr/>
          <p:nvPr/>
        </p:nvSpPr>
        <p:spPr>
          <a:xfrm>
            <a:off x="-3426" y="719999"/>
            <a:ext cx="6120000" cy="1328831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周波型：如何定位主升与震荡？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位置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以周层界作为后缀：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渡（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BCD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）主（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 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蛀）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是否主升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划分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震荡：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龙猪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龙落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主升依据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：触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。（不应按“合顶”，只有“触顶”是确定的，完全可按“触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”进行识别。）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主升依据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已正交或将正交；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表格 1">
            <a:extLst>
              <a:ext uri="{FF2B5EF4-FFF2-40B4-BE49-F238E27FC236}">
                <a16:creationId xmlns:a16="http://schemas.microsoft.com/office/drawing/2014/main" id="{E94CD8C1-1892-F946-ADC9-43D350820D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6654101"/>
              </p:ext>
            </p:extLst>
          </p:nvPr>
        </p:nvGraphicFramePr>
        <p:xfrm>
          <a:off x="6096000" y="720627"/>
          <a:ext cx="6096000" cy="1337299"/>
        </p:xfrm>
        <a:graphic>
          <a:graphicData uri="http://schemas.openxmlformats.org/drawingml/2006/table">
            <a:tbl>
              <a:tblPr firstRow="1" bandRow="1">
                <a:tableStyleId>{22838BEF-8BB2-4498-84A7-C5851F593DF1}</a:tableStyleId>
              </a:tblPr>
              <a:tblGrid>
                <a:gridCol w="648388">
                  <a:extLst>
                    <a:ext uri="{9D8B030D-6E8A-4147-A177-3AD203B41FA5}">
                      <a16:colId xmlns:a16="http://schemas.microsoft.com/office/drawing/2014/main" val="3629860500"/>
                    </a:ext>
                  </a:extLst>
                </a:gridCol>
                <a:gridCol w="5447612">
                  <a:extLst>
                    <a:ext uri="{9D8B030D-6E8A-4147-A177-3AD203B41FA5}">
                      <a16:colId xmlns:a16="http://schemas.microsoft.com/office/drawing/2014/main" val="230067098"/>
                    </a:ext>
                  </a:extLst>
                </a:gridCol>
              </a:tblGrid>
              <a:tr h="202150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周界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周界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细分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82725"/>
                  </a:ext>
                </a:extLst>
              </a:tr>
              <a:tr h="202150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破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破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402927"/>
                  </a:ext>
                </a:extLst>
              </a:tr>
              <a:tr h="202150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渡初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249998"/>
                  </a:ext>
                </a:extLst>
              </a:tr>
              <a:tr h="202150"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渡再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4787555"/>
                  </a:ext>
                </a:extLst>
              </a:tr>
              <a:tr h="528699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区分“层主”，按上沿（顶）下沿（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）是否存在异常添加后缀：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后缀“蛀”：针对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劫，将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单列。此类可能是主升尾部，也可能在下探后形成冲高。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后缀“首”：针对（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合顶≤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），必然前面经历离顶，包括（①衔接层再②经历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劫③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之上长久横盘）。所以此类别与“蛀（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劫）”“头（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劫）”更为接近。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1290956"/>
                  </a:ext>
                </a:extLst>
              </a:tr>
            </a:tbl>
          </a:graphicData>
        </a:graphic>
      </p:graphicFrame>
      <p:sp>
        <p:nvSpPr>
          <p:cNvPr id="12" name="矩形 11">
            <a:extLst>
              <a:ext uri="{FF2B5EF4-FFF2-40B4-BE49-F238E27FC236}">
                <a16:creationId xmlns:a16="http://schemas.microsoft.com/office/drawing/2014/main" id="{58D88CAE-C37B-82CA-74CE-323252F5797C}"/>
              </a:ext>
            </a:extLst>
          </p:cNvPr>
          <p:cNvSpPr/>
          <p:nvPr/>
        </p:nvSpPr>
        <p:spPr>
          <a:xfrm>
            <a:off x="6268344" y="4754497"/>
            <a:ext cx="6094800" cy="3386871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5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主题：主升区域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针对各类中符的应对措施：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参见专页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《【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下周冲高战法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周柱与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的转换关系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》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辅助指标：</a:t>
            </a:r>
            <a:endParaRPr lang="en-US" altLang="zh-CN" sz="9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触顶：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触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a/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触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。优选选择不断触顶的路径，而非遇劫恢复的路径。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升排：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优选升排，一旦遇到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跌吞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跌连，则代表原主升趋势停止。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中符：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优选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柱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A/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柱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B/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柱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C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继鼎，慎选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柱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C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首鼎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柱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，不选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柱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E/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柱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F/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柱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两破。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已确认突破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要突破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两柱以上，且经过回踩确认。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劫调整模式：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不要选在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之上横盘五柱以上。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可选择以下模式：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连升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单柱调整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两柱调整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三柱调整。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上升时保持仓位：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依据周线操作简单，是因为只以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关键均线作为进出点，不需要顾忌中间操作。所以要保证仓位就不能考虑止盈，只有当出现明确的见顶逆转信号以后才可考虑卖出。这意味着：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不能见阳柱就卖：太小阳柱不应清仓，至少应在冲高情况才能止盈，只能减仓不能清仓。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不能把止盈线定得太低：如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或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WJE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，否则退出时无收益且浪费时间。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不能把止盈线定得太高：如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之上阴柱或下破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，否则会导致频繁操作且会踏空。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不能把级别定得太低：如分时波动，任何下跌都是日级别以下某个级别的下跌，怕震荡就在阳柱时卖出。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冲高止盈减仓：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宽偏连。不再考虑久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WTZA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，对于缓升情况等待出现见顶信号再退出。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宽：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WS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顶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JC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＞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20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偏：包含高幅。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WSHA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＞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10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连：五连阳。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大势形态模式：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要重视全新拉升，对震荡回弹要谨慎。针对拉升角度，大角度（≥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45°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）比小角度更可靠。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&gt;45°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（大幅急升完全脱离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）：出现左侧冲高信号。当出现以下信号可退出：非升排、下破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30-45°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之上未接触完整弧）：当出现以下信号可退出：离顶、跌连、下破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&lt;30°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之上频繁贯穿）：当出现以下信号可退出：下破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两柱、下破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&lt;10°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（任意情况）：下破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必须退出。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graphicFrame>
        <p:nvGraphicFramePr>
          <p:cNvPr id="9" name="表格 8">
            <a:extLst>
              <a:ext uri="{FF2B5EF4-FFF2-40B4-BE49-F238E27FC236}">
                <a16:creationId xmlns:a16="http://schemas.microsoft.com/office/drawing/2014/main" id="{5F8C8A52-27A1-DF5E-BF70-126E44610088}"/>
              </a:ext>
            </a:extLst>
          </p:cNvPr>
          <p:cNvGraphicFramePr>
            <a:graphicFrameLocks noGrp="1"/>
          </p:cNvGraphicFramePr>
          <p:nvPr/>
        </p:nvGraphicFramePr>
        <p:xfrm>
          <a:off x="0" y="2057925"/>
          <a:ext cx="12186303" cy="3901440"/>
        </p:xfrm>
        <a:graphic>
          <a:graphicData uri="http://schemas.openxmlformats.org/drawingml/2006/table">
            <a:tbl>
              <a:tblPr firstRow="1" bandRow="1">
                <a:tableStyleId>{22838BEF-8BB2-4498-84A7-C5851F593DF1}</a:tableStyleId>
              </a:tblPr>
              <a:tblGrid>
                <a:gridCol w="324896">
                  <a:extLst>
                    <a:ext uri="{9D8B030D-6E8A-4147-A177-3AD203B41FA5}">
                      <a16:colId xmlns:a16="http://schemas.microsoft.com/office/drawing/2014/main" val="626957189"/>
                    </a:ext>
                  </a:extLst>
                </a:gridCol>
                <a:gridCol w="936004">
                  <a:extLst>
                    <a:ext uri="{9D8B030D-6E8A-4147-A177-3AD203B41FA5}">
                      <a16:colId xmlns:a16="http://schemas.microsoft.com/office/drawing/2014/main" val="230067098"/>
                    </a:ext>
                  </a:extLst>
                </a:gridCol>
                <a:gridCol w="682248">
                  <a:extLst>
                    <a:ext uri="{9D8B030D-6E8A-4147-A177-3AD203B41FA5}">
                      <a16:colId xmlns:a16="http://schemas.microsoft.com/office/drawing/2014/main" val="3473771106"/>
                    </a:ext>
                  </a:extLst>
                </a:gridCol>
                <a:gridCol w="763905">
                  <a:extLst>
                    <a:ext uri="{9D8B030D-6E8A-4147-A177-3AD203B41FA5}">
                      <a16:colId xmlns:a16="http://schemas.microsoft.com/office/drawing/2014/main" val="1955676496"/>
                    </a:ext>
                  </a:extLst>
                </a:gridCol>
                <a:gridCol w="4832284">
                  <a:extLst>
                    <a:ext uri="{9D8B030D-6E8A-4147-A177-3AD203B41FA5}">
                      <a16:colId xmlns:a16="http://schemas.microsoft.com/office/drawing/2014/main" val="3446666056"/>
                    </a:ext>
                  </a:extLst>
                </a:gridCol>
                <a:gridCol w="3837888">
                  <a:extLst>
                    <a:ext uri="{9D8B030D-6E8A-4147-A177-3AD203B41FA5}">
                      <a16:colId xmlns:a16="http://schemas.microsoft.com/office/drawing/2014/main" val="1627884457"/>
                    </a:ext>
                  </a:extLst>
                </a:gridCol>
                <a:gridCol w="809078">
                  <a:extLst>
                    <a:ext uri="{9D8B030D-6E8A-4147-A177-3AD203B41FA5}">
                      <a16:colId xmlns:a16="http://schemas.microsoft.com/office/drawing/2014/main" val="3416717909"/>
                    </a:ext>
                  </a:extLst>
                </a:gridCol>
              </a:tblGrid>
              <a:tr h="0">
                <a:tc gridSpan="7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专题展开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主升与震荡：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是基本运行规律。可利用周层与顶型鉴别主升。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53230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波</a:t>
                      </a:r>
                    </a:p>
                  </a:txBody>
                  <a:tcP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判定条件</a:t>
                      </a:r>
                    </a:p>
                  </a:txBody>
                  <a:tcP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周波型</a:t>
                      </a:r>
                    </a:p>
                  </a:txBody>
                  <a:tcP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盈利策略</a:t>
                      </a:r>
                    </a:p>
                  </a:txBody>
                  <a:tcP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判定条件（柱型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/BTZA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需判定事项</a:t>
                      </a:r>
                    </a:p>
                  </a:txBody>
                  <a:tcP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所涉及周层</a:t>
                      </a:r>
                    </a:p>
                  </a:txBody>
                  <a:tcP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82725"/>
                  </a:ext>
                </a:extLst>
              </a:tr>
              <a:tr h="0">
                <a:tc rowSpan="5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</a:t>
                      </a: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A1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龙猪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吃顶增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吃管宽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要求柱型应为以下类别：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梯：最理想柱排。仅包含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栏：单柱下跌还有希望。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枝启动：属于主升启动结构。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根据前五柱是否包含异常柱，细分为：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/A1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龙猪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/A1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龙猪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V/A1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龙猪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是否符合“最后一柱”警告？⇒左侧止盈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是否已冲高？已整弧？⇒提前退出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rowSpan="5">
                  <a:txBody>
                    <a:bodyPr/>
                    <a:lstStyle/>
                    <a:p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渡：储初再</a:t>
                      </a:r>
                      <a:endParaRPr lang="en-US" altLang="zh-CN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  <a:endParaRPr lang="en-US" altLang="zh-CN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140292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A5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龙落人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吃管宽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观望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其他。需人工判断方向。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要明确“仍属于主升”？可继续持有</a:t>
                      </a: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 altLang="zh-CN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331251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A6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龙落栅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吃管宽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观望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面临方向选择。在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相交初期为回踩；在长时间上升后属于转向。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是否已冲高？已整弧？⇒提前退出</a:t>
                      </a: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 altLang="zh-CN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881490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A7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龙落跌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吃管宽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观望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柱排为跌排，包括：阴阳阴（最后阴柱应为跌吞）。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是否已冲高？已整弧？⇒提前退出</a:t>
                      </a: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 altLang="zh-CN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3363273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A8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龙落根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观望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：主升过程中快速下跌。须方向选择：①上破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：吃管宽；②继续下跌。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WTZA=-1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：仍具有冲高可能，可继续持有。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是否已冲高？已整弧？⇒提前退出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 altLang="zh-CN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56715766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</a:t>
                      </a: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且未触顶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D1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头正芽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吃管宽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包含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正交，但未触顶。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是否连续触哼？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渡：储初再</a:t>
                      </a:r>
                      <a:endParaRPr lang="en-US" altLang="zh-CN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1592016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D5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头正根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观望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包含（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/W2e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返）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是否中途震仓？是否转跌？</a:t>
                      </a: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3518154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D9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头负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吃管宽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负交，包含头负芽（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/W2I/W2i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但未触顶。两种选择：①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正交②诱多后回落。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是否会形成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正交？是否诱多？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07910500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</a:t>
                      </a: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其它。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F0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震正〇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吃管宽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。包含：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①从触顶而来，但未破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②经历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劫后，长时间在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是否入管？是否触哼？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是否升排？</a:t>
                      </a:r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渡：储初再</a:t>
                      </a:r>
                      <a:endParaRPr lang="en-US" altLang="zh-CN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  <a:endParaRPr lang="en-US" altLang="zh-CN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zh-CN" altLang="en-US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1745454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F1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震正芽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逢高退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观望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。包含：很可能是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/WXZA/WXZB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。主要看柱排是否向上？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是否升排？是否站稳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是否震荡诱多？</a:t>
                      </a: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8060782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F5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震正根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观望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后进入特殊处理阶段。参考：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如何穿越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》《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劫恢复？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包含（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/W2e/W3v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是否沿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形成跌排？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是否触哈？是否脱离触哈？</a:t>
                      </a: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7285134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F9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震负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弃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无冲高机会。震负芽（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/W3h/W3u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）震负根（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W3w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6155404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6145275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005DEC-093B-4766-F331-50818E2515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矩形 29">
            <a:extLst>
              <a:ext uri="{FF2B5EF4-FFF2-40B4-BE49-F238E27FC236}">
                <a16:creationId xmlns:a16="http://schemas.microsoft.com/office/drawing/2014/main" id="{348DC192-A7B6-5A9D-0ADC-51A0FD1A9B01}"/>
              </a:ext>
            </a:extLst>
          </p:cNvPr>
          <p:cNvSpPr/>
          <p:nvPr/>
        </p:nvSpPr>
        <p:spPr>
          <a:xfrm>
            <a:off x="-1667" y="720000"/>
            <a:ext cx="12192000" cy="188126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lnSpc>
                <a:spcPct val="120000"/>
              </a:lnSpc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F4765399-681D-F196-39EE-E9127B21483B}"/>
              </a:ext>
            </a:extLst>
          </p:cNvPr>
          <p:cNvSpPr/>
          <p:nvPr/>
        </p:nvSpPr>
        <p:spPr>
          <a:xfrm>
            <a:off x="-1667" y="3231118"/>
            <a:ext cx="12192000" cy="3626881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lnSpc>
                <a:spcPct val="120000"/>
              </a:lnSpc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左大括号 24">
            <a:extLst>
              <a:ext uri="{FF2B5EF4-FFF2-40B4-BE49-F238E27FC236}">
                <a16:creationId xmlns:a16="http://schemas.microsoft.com/office/drawing/2014/main" id="{1F0B82B7-E911-5D3F-AE5C-ACBCF1F6BECA}"/>
              </a:ext>
            </a:extLst>
          </p:cNvPr>
          <p:cNvSpPr/>
          <p:nvPr/>
        </p:nvSpPr>
        <p:spPr>
          <a:xfrm rot="5400000">
            <a:off x="5943680" y="-3007569"/>
            <a:ext cx="302976" cy="12190335"/>
          </a:xfrm>
          <a:prstGeom prst="leftBrace">
            <a:avLst>
              <a:gd name="adj1" fmla="val 240480"/>
              <a:gd name="adj2" fmla="val 50000"/>
            </a:avLst>
          </a:prstGeom>
          <a:solidFill>
            <a:schemeClr val="tx1">
              <a:lumMod val="95000"/>
              <a:lumOff val="5000"/>
            </a:schemeClr>
          </a:solidFill>
          <a:ln w="2222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vert="vert270" rtlCol="0" anchor="ctr"/>
          <a:lstStyle/>
          <a:p>
            <a:pPr algn="ctr"/>
            <a:endParaRPr lang="zh-CN" altLang="en-US" sz="1000" b="1" dirty="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BF696501-63EE-2C6C-2B41-166858C66D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【WJC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&lt;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周机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的定位方法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本页主题：根据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周奏：渡主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&gt;&lt;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地型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&gt;&lt;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柱型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&gt;&lt;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反例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，总结下周冲高机会的特征，应采用何种策略？并汇总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notion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图谱。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AF0CD731-DC37-302E-F30A-3B07EE7379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9458406"/>
              </p:ext>
            </p:extLst>
          </p:nvPr>
        </p:nvGraphicFramePr>
        <p:xfrm>
          <a:off x="3075709" y="3294666"/>
          <a:ext cx="6689785" cy="3535680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598516">
                  <a:extLst>
                    <a:ext uri="{9D8B030D-6E8A-4147-A177-3AD203B41FA5}">
                      <a16:colId xmlns:a16="http://schemas.microsoft.com/office/drawing/2014/main" val="3167359444"/>
                    </a:ext>
                  </a:extLst>
                </a:gridCol>
                <a:gridCol w="3100648">
                  <a:extLst>
                    <a:ext uri="{9D8B030D-6E8A-4147-A177-3AD203B41FA5}">
                      <a16:colId xmlns:a16="http://schemas.microsoft.com/office/drawing/2014/main" val="3308986666"/>
                    </a:ext>
                  </a:extLst>
                </a:gridCol>
                <a:gridCol w="231480">
                  <a:extLst>
                    <a:ext uri="{9D8B030D-6E8A-4147-A177-3AD203B41FA5}">
                      <a16:colId xmlns:a16="http://schemas.microsoft.com/office/drawing/2014/main" val="3168764667"/>
                    </a:ext>
                  </a:extLst>
                </a:gridCol>
                <a:gridCol w="213226">
                  <a:extLst>
                    <a:ext uri="{9D8B030D-6E8A-4147-A177-3AD203B41FA5}">
                      <a16:colId xmlns:a16="http://schemas.microsoft.com/office/drawing/2014/main" val="13690216"/>
                    </a:ext>
                  </a:extLst>
                </a:gridCol>
                <a:gridCol w="213226">
                  <a:extLst>
                    <a:ext uri="{9D8B030D-6E8A-4147-A177-3AD203B41FA5}">
                      <a16:colId xmlns:a16="http://schemas.microsoft.com/office/drawing/2014/main" val="2878114359"/>
                    </a:ext>
                  </a:extLst>
                </a:gridCol>
                <a:gridCol w="213226">
                  <a:extLst>
                    <a:ext uri="{9D8B030D-6E8A-4147-A177-3AD203B41FA5}">
                      <a16:colId xmlns:a16="http://schemas.microsoft.com/office/drawing/2014/main" val="1267722919"/>
                    </a:ext>
                  </a:extLst>
                </a:gridCol>
                <a:gridCol w="2119463">
                  <a:extLst>
                    <a:ext uri="{9D8B030D-6E8A-4147-A177-3AD203B41FA5}">
                      <a16:colId xmlns:a16="http://schemas.microsoft.com/office/drawing/2014/main" val="3252392824"/>
                    </a:ext>
                  </a:extLst>
                </a:gridCol>
              </a:tblGrid>
              <a:tr h="260129">
                <a:tc gridSpan="7">
                  <a:txBody>
                    <a:bodyPr/>
                    <a:lstStyle/>
                    <a:p>
                      <a:pPr algn="ctr"/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/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（代表柱排所处的短期环境）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29677348"/>
                  </a:ext>
                </a:extLst>
              </a:tr>
              <a:tr h="638499">
                <a:tc gridSpan="7">
                  <a:txBody>
                    <a:bodyPr/>
                    <a:lstStyle/>
                    <a:p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定义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地型是根据“本柱前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柱”的异常情况进行分类，用于区分柱型所处的环境。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起心动念：最正常的运行方式是匀速垒升，若上升过快则进行调整。调整级别构成各种地型（无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蛀）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特点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时效介于周层与柱型之间。地型比柱型，时效更长；地型比周层，环境描述地更精确。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使用方法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要根据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地型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划分图谱主题；且在每个图谱中，根据周奏分别总结不同的走势倾向。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分类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分类与对应的情况如下：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须形成互斥分类：除了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，其余均应对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周奏型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笛卡尔积（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常冲震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×&gt;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标注的含义：是否在对应的周奏中提供对应的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分类？详见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notion《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图谱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8929409"/>
                  </a:ext>
                </a:extLst>
              </a:tr>
              <a:tr h="23648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b="1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周地型的具体情况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渡初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渡再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主安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主蛀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对应的产出物</a:t>
                      </a:r>
                      <a:endParaRPr lang="en-US" altLang="zh-CN" sz="700" b="1" dirty="0">
                        <a:solidFill>
                          <a:schemeClr val="bg1">
                            <a:lumMod val="9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4523229"/>
                  </a:ext>
                </a:extLst>
              </a:tr>
              <a:tr h="40201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&lt;0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橅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针对：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，前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柱全为升排</a:t>
                      </a:r>
                      <a:r>
                        <a:rPr lang="en-US" altLang="zh-CN" sz="700" b="0" dirty="0" err="1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QOov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须关注特殊反例：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最后一柱：特别针对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升排失势：虽为升排但已失势的情况。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buFontTx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常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buFontTx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常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常</a:t>
                      </a:r>
                      <a:endParaRPr kumimoji="0" lang="en-US" altLang="zh-CN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冲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在轨图谱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垒升启动结构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反例：最后一柱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</a:p>
                    <a:p>
                      <a:pPr marL="285750" indent="-2857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反例：升排失势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453065"/>
                  </a:ext>
                </a:extLst>
              </a:tr>
              <a:tr h="31924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&lt;1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柜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&lt;2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&lt;1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针对：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，前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柱只有一个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V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，其他均为</a:t>
                      </a:r>
                      <a:r>
                        <a:rPr lang="en-US" altLang="zh-CN" sz="700" b="0" dirty="0" err="1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Qoov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&lt;2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针对：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，前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柱只有一个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，其他均为</a:t>
                      </a:r>
                      <a:r>
                        <a:rPr lang="en-US" altLang="zh-CN" sz="700" b="0" dirty="0" err="1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QoovV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应对策略：对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，总结遇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的经典应对图谱。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在轨图谱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调整结构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040764"/>
                  </a:ext>
                </a:extLst>
              </a:tr>
              <a:tr h="23648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&lt;3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桮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之上的调整，包含：向上、无序、向下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杂、阴阳阴、五柱三阴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待整理：专页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逃顶标志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待整理：专页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主升中的陷阱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243888"/>
                  </a:ext>
                </a:extLst>
              </a:tr>
              <a:tr h="40201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&lt;4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&lt;4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WJA)(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柱以内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总结经典应对图谱。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蛀暂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：前期下破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至多三柱。主要为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震荡中继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：其余情况。主要为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转升初期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转跌初期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应对策略：将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，按镜面对称原则，仿照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整理。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渡中突破的判定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是否真突破？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脱轨图谱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&gt;.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穿越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的典型模式 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：针对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经典恢复模式。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9043228"/>
                  </a:ext>
                </a:extLst>
              </a:tr>
              <a:tr h="15371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&lt;5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破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情况：强制退出。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底仓退出程序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4466656"/>
                  </a:ext>
                </a:extLst>
              </a:tr>
            </a:tbl>
          </a:graphicData>
        </a:graphic>
      </p:graphicFrame>
      <p:graphicFrame>
        <p:nvGraphicFramePr>
          <p:cNvPr id="11" name="表格 10">
            <a:extLst>
              <a:ext uri="{FF2B5EF4-FFF2-40B4-BE49-F238E27FC236}">
                <a16:creationId xmlns:a16="http://schemas.microsoft.com/office/drawing/2014/main" id="{15941934-865B-8EF5-30E1-B514793EFB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3929121"/>
              </p:ext>
            </p:extLst>
          </p:nvPr>
        </p:nvGraphicFramePr>
        <p:xfrm>
          <a:off x="10568940" y="3294666"/>
          <a:ext cx="1623060" cy="1691640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731710">
                  <a:extLst>
                    <a:ext uri="{9D8B030D-6E8A-4147-A177-3AD203B41FA5}">
                      <a16:colId xmlns:a16="http://schemas.microsoft.com/office/drawing/2014/main" val="1533273549"/>
                    </a:ext>
                  </a:extLst>
                </a:gridCol>
                <a:gridCol w="891350">
                  <a:extLst>
                    <a:ext uri="{9D8B030D-6E8A-4147-A177-3AD203B41FA5}">
                      <a16:colId xmlns:a16="http://schemas.microsoft.com/office/drawing/2014/main" val="2025229800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/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周柱型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/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（代表柱排的组合）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597532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柱型分类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子类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of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柱型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8653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枝（突破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踩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启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132866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梯（升排）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016874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栏（跌吞相关）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吞跌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吞孕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吞吞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665555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栅（跌连相关）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连跌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连孕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连吞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1574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080878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根（下破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久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570369"/>
                  </a:ext>
                </a:extLst>
              </a:tr>
            </a:tbl>
          </a:graphicData>
        </a:graphic>
      </p:graphicFrame>
      <p:graphicFrame>
        <p:nvGraphicFramePr>
          <p:cNvPr id="12" name="表格 11">
            <a:extLst>
              <a:ext uri="{FF2B5EF4-FFF2-40B4-BE49-F238E27FC236}">
                <a16:creationId xmlns:a16="http://schemas.microsoft.com/office/drawing/2014/main" id="{69F91AB5-3EAE-5DB3-360A-B7AD69725C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2486018"/>
              </p:ext>
            </p:extLst>
          </p:nvPr>
        </p:nvGraphicFramePr>
        <p:xfrm>
          <a:off x="0" y="3294666"/>
          <a:ext cx="2208655" cy="2712720"/>
        </p:xfrm>
        <a:graphic>
          <a:graphicData uri="http://schemas.openxmlformats.org/drawingml/2006/table">
            <a:tbl>
              <a:tblPr firstRow="1" bandRow="1">
                <a:tableStyleId>{7DF18680-E054-41AD-8BC1-D1AEF772440D}</a:tableStyleId>
              </a:tblPr>
              <a:tblGrid>
                <a:gridCol w="2208655">
                  <a:extLst>
                    <a:ext uri="{9D8B030D-6E8A-4147-A177-3AD203B41FA5}">
                      <a16:colId xmlns:a16="http://schemas.microsoft.com/office/drawing/2014/main" val="153327354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周奏型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/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（代表柱排在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WJCBA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坐标中所处的位置）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8653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分类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根据“四柱定势”原则，将（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以上）划分为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周奏型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初储：针对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WTBC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再：针对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主安：需要区分正常匀速与冲高。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主蛀：针对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的震荡。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13286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将周奏划分为两类的原因：因位置不同，同类柱型可能具有完全不同的走势倾向：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针对柱型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若在突破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初期，可能在跌连调整后继续主升。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若在长久主升之后，跌连是明显的转跌信号。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针对柱型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&lt;15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梯交调待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若在渡区：将会继续向上，特别是当第三柱为鼎的情况。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若在主区：特别是在冲高之后，将会衔接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跌吞，变为下降趋势。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0168748"/>
                  </a:ext>
                </a:extLst>
              </a:tr>
            </a:tbl>
          </a:graphicData>
        </a:graphic>
      </p:graphicFrame>
      <p:sp>
        <p:nvSpPr>
          <p:cNvPr id="13" name="十字形 12">
            <a:extLst>
              <a:ext uri="{FF2B5EF4-FFF2-40B4-BE49-F238E27FC236}">
                <a16:creationId xmlns:a16="http://schemas.microsoft.com/office/drawing/2014/main" id="{5751261E-CED7-A68C-DA12-95BF5CFB52FE}"/>
              </a:ext>
            </a:extLst>
          </p:cNvPr>
          <p:cNvSpPr/>
          <p:nvPr/>
        </p:nvSpPr>
        <p:spPr>
          <a:xfrm>
            <a:off x="2274502" y="3294666"/>
            <a:ext cx="670579" cy="670579"/>
          </a:xfrm>
          <a:prstGeom prst="plus">
            <a:avLst>
              <a:gd name="adj" fmla="val 36869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aphicFrame>
        <p:nvGraphicFramePr>
          <p:cNvPr id="16" name="表格 15">
            <a:extLst>
              <a:ext uri="{FF2B5EF4-FFF2-40B4-BE49-F238E27FC236}">
                <a16:creationId xmlns:a16="http://schemas.microsoft.com/office/drawing/2014/main" id="{DE6B1617-53D0-84B6-8F97-0EBE1F9422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6676924"/>
              </p:ext>
            </p:extLst>
          </p:nvPr>
        </p:nvGraphicFramePr>
        <p:xfrm>
          <a:off x="194734" y="1051365"/>
          <a:ext cx="3315510" cy="853440"/>
        </p:xfrm>
        <a:graphic>
          <a:graphicData uri="http://schemas.openxmlformats.org/drawingml/2006/table">
            <a:tbl>
              <a:tblPr firstRow="1" bandRow="1">
                <a:tableStyleId>{BC89EF96-8CEA-46FF-86C4-4CE0E7609802}</a:tableStyleId>
              </a:tblPr>
              <a:tblGrid>
                <a:gridCol w="968490">
                  <a:extLst>
                    <a:ext uri="{9D8B030D-6E8A-4147-A177-3AD203B41FA5}">
                      <a16:colId xmlns:a16="http://schemas.microsoft.com/office/drawing/2014/main" val="174949292"/>
                    </a:ext>
                  </a:extLst>
                </a:gridCol>
                <a:gridCol w="782340">
                  <a:extLst>
                    <a:ext uri="{9D8B030D-6E8A-4147-A177-3AD203B41FA5}">
                      <a16:colId xmlns:a16="http://schemas.microsoft.com/office/drawing/2014/main" val="1217500009"/>
                    </a:ext>
                  </a:extLst>
                </a:gridCol>
                <a:gridCol w="782340">
                  <a:extLst>
                    <a:ext uri="{9D8B030D-6E8A-4147-A177-3AD203B41FA5}">
                      <a16:colId xmlns:a16="http://schemas.microsoft.com/office/drawing/2014/main" val="2306647001"/>
                    </a:ext>
                  </a:extLst>
                </a:gridCol>
                <a:gridCol w="782340">
                  <a:extLst>
                    <a:ext uri="{9D8B030D-6E8A-4147-A177-3AD203B41FA5}">
                      <a16:colId xmlns:a16="http://schemas.microsoft.com/office/drawing/2014/main" val="2594142238"/>
                    </a:ext>
                  </a:extLst>
                </a:gridCol>
              </a:tblGrid>
              <a:tr h="191488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笛卡尔分类</a:t>
                      </a:r>
                    </a:p>
                  </a:txBody>
                  <a:tcP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后续向上</a:t>
                      </a:r>
                    </a:p>
                  </a:txBody>
                  <a:tcP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后续向平</a:t>
                      </a:r>
                    </a:p>
                  </a:txBody>
                  <a:tcP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后续向下</a:t>
                      </a:r>
                    </a:p>
                  </a:txBody>
                  <a:tcPr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1863259"/>
                  </a:ext>
                </a:extLst>
              </a:tr>
              <a:tr h="191488">
                <a:tc rowSpan="3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（渡初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渡再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主安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主蛀）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</a:p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3449871"/>
                  </a:ext>
                </a:extLst>
              </a:tr>
              <a:tr h="191488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1877202"/>
                  </a:ext>
                </a:extLst>
              </a:tr>
              <a:tr h="191488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8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329585"/>
                  </a:ext>
                </a:extLst>
              </a:tr>
            </a:tbl>
          </a:graphicData>
        </a:graphic>
      </p:graphicFrame>
      <p:sp>
        <p:nvSpPr>
          <p:cNvPr id="18" name="文本框 17">
            <a:extLst>
              <a:ext uri="{FF2B5EF4-FFF2-40B4-BE49-F238E27FC236}">
                <a16:creationId xmlns:a16="http://schemas.microsoft.com/office/drawing/2014/main" id="{9D951CF8-177F-96AC-7B72-D2592ECC6979}"/>
              </a:ext>
            </a:extLst>
          </p:cNvPr>
          <p:cNvSpPr txBox="1"/>
          <p:nvPr/>
        </p:nvSpPr>
        <p:spPr>
          <a:xfrm>
            <a:off x="108400" y="722468"/>
            <a:ext cx="21002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Notion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主升图谱汇总</a:t>
            </a:r>
          </a:p>
        </p:txBody>
      </p:sp>
      <p:graphicFrame>
        <p:nvGraphicFramePr>
          <p:cNvPr id="22" name="表格 21">
            <a:extLst>
              <a:ext uri="{FF2B5EF4-FFF2-40B4-BE49-F238E27FC236}">
                <a16:creationId xmlns:a16="http://schemas.microsoft.com/office/drawing/2014/main" id="{34B2E40F-260A-F5CB-403F-8EEB9BE5D6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7889094"/>
              </p:ext>
            </p:extLst>
          </p:nvPr>
        </p:nvGraphicFramePr>
        <p:xfrm>
          <a:off x="4383946" y="1026533"/>
          <a:ext cx="3159853" cy="1493520"/>
        </p:xfrm>
        <a:graphic>
          <a:graphicData uri="http://schemas.openxmlformats.org/drawingml/2006/table">
            <a:tbl>
              <a:tblPr firstRow="1" bandRow="1">
                <a:tableStyleId>{BC89EF96-8CEA-46FF-86C4-4CE0E7609802}</a:tableStyleId>
              </a:tblPr>
              <a:tblGrid>
                <a:gridCol w="753319">
                  <a:extLst>
                    <a:ext uri="{9D8B030D-6E8A-4147-A177-3AD203B41FA5}">
                      <a16:colId xmlns:a16="http://schemas.microsoft.com/office/drawing/2014/main" val="174949292"/>
                    </a:ext>
                  </a:extLst>
                </a:gridCol>
                <a:gridCol w="766184">
                  <a:extLst>
                    <a:ext uri="{9D8B030D-6E8A-4147-A177-3AD203B41FA5}">
                      <a16:colId xmlns:a16="http://schemas.microsoft.com/office/drawing/2014/main" val="1217500009"/>
                    </a:ext>
                  </a:extLst>
                </a:gridCol>
                <a:gridCol w="820175">
                  <a:extLst>
                    <a:ext uri="{9D8B030D-6E8A-4147-A177-3AD203B41FA5}">
                      <a16:colId xmlns:a16="http://schemas.microsoft.com/office/drawing/2014/main" val="2306647001"/>
                    </a:ext>
                  </a:extLst>
                </a:gridCol>
                <a:gridCol w="820175">
                  <a:extLst>
                    <a:ext uri="{9D8B030D-6E8A-4147-A177-3AD203B41FA5}">
                      <a16:colId xmlns:a16="http://schemas.microsoft.com/office/drawing/2014/main" val="2594142238"/>
                    </a:ext>
                  </a:extLst>
                </a:gridCol>
              </a:tblGrid>
              <a:tr h="17417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周奏位置</a:t>
                      </a:r>
                    </a:p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</a:t>
                      </a:r>
                    </a:p>
                  </a:txBody>
                  <a:tcP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汇总周机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按柱型</a:t>
                      </a:r>
                    </a:p>
                  </a:txBody>
                  <a:tcP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汇总周阱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按柱型</a:t>
                      </a:r>
                    </a:p>
                  </a:txBody>
                  <a:tcPr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1863259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渡初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渡再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344987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。。。</a:t>
                      </a: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187720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含破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329585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主安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主蛀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043707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。。。</a:t>
                      </a: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169230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含破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1475542"/>
                  </a:ext>
                </a:extLst>
              </a:tr>
            </a:tbl>
          </a:graphicData>
        </a:graphic>
      </p:graphicFrame>
      <p:sp>
        <p:nvSpPr>
          <p:cNvPr id="23" name="文本框 22">
            <a:extLst>
              <a:ext uri="{FF2B5EF4-FFF2-40B4-BE49-F238E27FC236}">
                <a16:creationId xmlns:a16="http://schemas.microsoft.com/office/drawing/2014/main" id="{75679E55-613F-01E8-003A-919FAC41E0B3}"/>
              </a:ext>
            </a:extLst>
          </p:cNvPr>
          <p:cNvSpPr txBox="1"/>
          <p:nvPr/>
        </p:nvSpPr>
        <p:spPr>
          <a:xfrm>
            <a:off x="4280681" y="722468"/>
            <a:ext cx="266451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PPT 【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周机汇总表</a:t>
            </a:r>
          </a:p>
        </p:txBody>
      </p:sp>
      <p:sp>
        <p:nvSpPr>
          <p:cNvPr id="26" name="左大括号 25">
            <a:extLst>
              <a:ext uri="{FF2B5EF4-FFF2-40B4-BE49-F238E27FC236}">
                <a16:creationId xmlns:a16="http://schemas.microsoft.com/office/drawing/2014/main" id="{5D11A377-9195-505A-483A-3CD400C586EC}"/>
              </a:ext>
            </a:extLst>
          </p:cNvPr>
          <p:cNvSpPr/>
          <p:nvPr/>
        </p:nvSpPr>
        <p:spPr>
          <a:xfrm rot="16200000">
            <a:off x="5978749" y="-3428271"/>
            <a:ext cx="234501" cy="12192000"/>
          </a:xfrm>
          <a:prstGeom prst="leftBrace">
            <a:avLst>
              <a:gd name="adj1" fmla="val 240480"/>
              <a:gd name="adj2" fmla="val 50000"/>
            </a:avLst>
          </a:prstGeom>
          <a:solidFill>
            <a:schemeClr val="accent6">
              <a:lumMod val="20000"/>
              <a:lumOff val="80000"/>
            </a:schemeClr>
          </a:solidFill>
          <a:ln w="2222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vert="eaVert" rtlCol="0" anchor="ctr"/>
          <a:lstStyle/>
          <a:p>
            <a:pPr algn="ctr"/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产出物</a:t>
            </a:r>
          </a:p>
        </p:txBody>
      </p:sp>
      <p:sp>
        <p:nvSpPr>
          <p:cNvPr id="33" name="矩形 32">
            <a:extLst>
              <a:ext uri="{FF2B5EF4-FFF2-40B4-BE49-F238E27FC236}">
                <a16:creationId xmlns:a16="http://schemas.microsoft.com/office/drawing/2014/main" id="{57D0EE8E-1E71-B524-F713-E17056E826DA}"/>
              </a:ext>
            </a:extLst>
          </p:cNvPr>
          <p:cNvSpPr/>
          <p:nvPr/>
        </p:nvSpPr>
        <p:spPr>
          <a:xfrm>
            <a:off x="9210170" y="1012337"/>
            <a:ext cx="1916698" cy="1264668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lnSpc>
                <a:spcPct val="120000"/>
              </a:lnSpc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专页：应对特定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周地型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</a:p>
          <a:p>
            <a:pPr marL="171450" indent="-17145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通用特征：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针对周奏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渡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的特性：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。。。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针对周奏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的特性：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。。。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CB6B8B43-82FB-755C-9E20-3E7FF305F088}"/>
              </a:ext>
            </a:extLst>
          </p:cNvPr>
          <p:cNvSpPr/>
          <p:nvPr/>
        </p:nvSpPr>
        <p:spPr>
          <a:xfrm>
            <a:off x="9362570" y="1164737"/>
            <a:ext cx="1916698" cy="1264668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lnSpc>
                <a:spcPct val="120000"/>
              </a:lnSpc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专页：应对特定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周地型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</a:p>
          <a:p>
            <a:pPr marL="171450" indent="-17145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通用特征：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针对周奏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渡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的特性：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。。。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针对周奏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的特性：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。。。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9251608D-7518-A229-72EA-D8EF84EAE77C}"/>
              </a:ext>
            </a:extLst>
          </p:cNvPr>
          <p:cNvSpPr/>
          <p:nvPr/>
        </p:nvSpPr>
        <p:spPr>
          <a:xfrm>
            <a:off x="9514970" y="1317137"/>
            <a:ext cx="1916698" cy="1264668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lnSpc>
                <a:spcPct val="120000"/>
              </a:lnSpc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专页：应对特定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周地型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</a:p>
          <a:p>
            <a:pPr marL="171450" indent="-17145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通用特征：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针对周奏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渡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的特性：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。。。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针对周奏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的特性：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。。。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文本框 39">
            <a:extLst>
              <a:ext uri="{FF2B5EF4-FFF2-40B4-BE49-F238E27FC236}">
                <a16:creationId xmlns:a16="http://schemas.microsoft.com/office/drawing/2014/main" id="{788FA0D1-4070-5F93-56D0-AD04FC12EB3E}"/>
              </a:ext>
            </a:extLst>
          </p:cNvPr>
          <p:cNvSpPr txBox="1"/>
          <p:nvPr/>
        </p:nvSpPr>
        <p:spPr>
          <a:xfrm>
            <a:off x="9089963" y="722468"/>
            <a:ext cx="184377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PPT【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 </a:t>
            </a:r>
            <a:endParaRPr lang="zh-CN" altLang="en-US" sz="1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十字形 3">
            <a:extLst>
              <a:ext uri="{FF2B5EF4-FFF2-40B4-BE49-F238E27FC236}">
                <a16:creationId xmlns:a16="http://schemas.microsoft.com/office/drawing/2014/main" id="{DE463CD8-1E33-FE06-30CA-8B88271DE6B0}"/>
              </a:ext>
            </a:extLst>
          </p:cNvPr>
          <p:cNvSpPr/>
          <p:nvPr/>
        </p:nvSpPr>
        <p:spPr>
          <a:xfrm>
            <a:off x="9831927" y="3294666"/>
            <a:ext cx="670579" cy="670579"/>
          </a:xfrm>
          <a:prstGeom prst="plus">
            <a:avLst>
              <a:gd name="adj" fmla="val 36869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0D767A20-5DEA-CC5B-9705-831A3B9D74C6}"/>
              </a:ext>
            </a:extLst>
          </p:cNvPr>
          <p:cNvSpPr txBox="1"/>
          <p:nvPr/>
        </p:nvSpPr>
        <p:spPr>
          <a:xfrm>
            <a:off x="5382775" y="2726652"/>
            <a:ext cx="2348061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周机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的定位方法</a:t>
            </a:r>
            <a:endParaRPr lang="zh-CN" altLang="en-US" sz="1200" dirty="0"/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10F6C1F9-B9A0-E6D0-B552-C8AA52E7FEFC}"/>
              </a:ext>
            </a:extLst>
          </p:cNvPr>
          <p:cNvSpPr txBox="1"/>
          <p:nvPr/>
        </p:nvSpPr>
        <p:spPr>
          <a:xfrm>
            <a:off x="3449782" y="6007386"/>
            <a:ext cx="641714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solidFill>
                  <a:srgbClr val="FF0000"/>
                </a:solidFill>
                <a:highlight>
                  <a:srgbClr val="FFFF00"/>
                </a:highlight>
              </a:rPr>
              <a:t>把地型的具体定义放入专业，这里不对周地型的具体情况展开</a:t>
            </a:r>
            <a:endParaRPr lang="en-US" altLang="zh-CN" dirty="0">
              <a:solidFill>
                <a:srgbClr val="FF0000"/>
              </a:solidFill>
              <a:highlight>
                <a:srgbClr val="FFFF00"/>
              </a:highlight>
            </a:endParaRPr>
          </a:p>
          <a:p>
            <a:r>
              <a:rPr lang="zh-CN" altLang="en-US" dirty="0">
                <a:solidFill>
                  <a:srgbClr val="FF0000"/>
                </a:solidFill>
                <a:highlight>
                  <a:srgbClr val="FFFF00"/>
                </a:highlight>
              </a:rPr>
              <a:t>须更新地型：</a:t>
            </a:r>
            <a:r>
              <a:rPr lang="en-US" altLang="zh-CN" dirty="0">
                <a:solidFill>
                  <a:srgbClr val="FF0000"/>
                </a:solidFill>
                <a:highlight>
                  <a:srgbClr val="FFFF00"/>
                </a:highlight>
              </a:rPr>
              <a:t>0-9</a:t>
            </a:r>
            <a:endParaRPr lang="zh-CN" altLang="en-US" dirty="0">
              <a:solidFill>
                <a:srgbClr val="FF0000"/>
              </a:solidFill>
              <a:highlight>
                <a:srgbClr val="FFFF00"/>
              </a:highlight>
            </a:endParaRPr>
          </a:p>
        </p:txBody>
      </p:sp>
    </p:spTree>
    <p:extLst>
      <p:ext uri="{BB962C8B-B14F-4D97-AF65-F5344CB8AC3E}">
        <p14:creationId xmlns:p14="http://schemas.microsoft.com/office/powerpoint/2010/main" val="238382449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CDF927-58E1-DE28-6B48-7CA084C15D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50CEFBD-2CCE-2418-7942-CE4416C13A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" y="0"/>
            <a:ext cx="479722" cy="6858000"/>
          </a:xfrm>
          <a:solidFill>
            <a:schemeClr val="tx1">
              <a:lumMod val="95000"/>
              <a:lumOff val="5000"/>
            </a:schemeClr>
          </a:solidFill>
        </p:spPr>
        <p:txBody>
          <a:bodyPr vert="eaVert">
            <a:normAutofit fontScale="90000"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【WJC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柱型分类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7" name="表格 6">
            <a:extLst>
              <a:ext uri="{FF2B5EF4-FFF2-40B4-BE49-F238E27FC236}">
                <a16:creationId xmlns:a16="http://schemas.microsoft.com/office/drawing/2014/main" id="{339FEDF4-8C93-9B12-25D4-6F0804648821}"/>
              </a:ext>
            </a:extLst>
          </p:cNvPr>
          <p:cNvGraphicFramePr>
            <a:graphicFrameLocks noGrp="1"/>
          </p:cNvGraphicFramePr>
          <p:nvPr/>
        </p:nvGraphicFramePr>
        <p:xfrm>
          <a:off x="479722" y="-4"/>
          <a:ext cx="11712278" cy="6858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4019">
                  <a:extLst>
                    <a:ext uri="{9D8B030D-6E8A-4147-A177-3AD203B41FA5}">
                      <a16:colId xmlns:a16="http://schemas.microsoft.com/office/drawing/2014/main" val="2620222842"/>
                    </a:ext>
                  </a:extLst>
                </a:gridCol>
                <a:gridCol w="831846">
                  <a:extLst>
                    <a:ext uri="{9D8B030D-6E8A-4147-A177-3AD203B41FA5}">
                      <a16:colId xmlns:a16="http://schemas.microsoft.com/office/drawing/2014/main" val="3355099941"/>
                    </a:ext>
                  </a:extLst>
                </a:gridCol>
                <a:gridCol w="1090591">
                  <a:extLst>
                    <a:ext uri="{9D8B030D-6E8A-4147-A177-3AD203B41FA5}">
                      <a16:colId xmlns:a16="http://schemas.microsoft.com/office/drawing/2014/main" val="354451907"/>
                    </a:ext>
                  </a:extLst>
                </a:gridCol>
                <a:gridCol w="1092895">
                  <a:extLst>
                    <a:ext uri="{9D8B030D-6E8A-4147-A177-3AD203B41FA5}">
                      <a16:colId xmlns:a16="http://schemas.microsoft.com/office/drawing/2014/main" val="403304460"/>
                    </a:ext>
                  </a:extLst>
                </a:gridCol>
                <a:gridCol w="475208">
                  <a:extLst>
                    <a:ext uri="{9D8B030D-6E8A-4147-A177-3AD203B41FA5}">
                      <a16:colId xmlns:a16="http://schemas.microsoft.com/office/drawing/2014/main" val="176141402"/>
                    </a:ext>
                  </a:extLst>
                </a:gridCol>
                <a:gridCol w="513935">
                  <a:extLst>
                    <a:ext uri="{9D8B030D-6E8A-4147-A177-3AD203B41FA5}">
                      <a16:colId xmlns:a16="http://schemas.microsoft.com/office/drawing/2014/main" val="1824081298"/>
                    </a:ext>
                  </a:extLst>
                </a:gridCol>
                <a:gridCol w="515552">
                  <a:extLst>
                    <a:ext uri="{9D8B030D-6E8A-4147-A177-3AD203B41FA5}">
                      <a16:colId xmlns:a16="http://schemas.microsoft.com/office/drawing/2014/main" val="2744068840"/>
                    </a:ext>
                  </a:extLst>
                </a:gridCol>
                <a:gridCol w="6808232">
                  <a:extLst>
                    <a:ext uri="{9D8B030D-6E8A-4147-A177-3AD203B41FA5}">
                      <a16:colId xmlns:a16="http://schemas.microsoft.com/office/drawing/2014/main" val="2471968431"/>
                    </a:ext>
                  </a:extLst>
                </a:gridCol>
              </a:tblGrid>
              <a:tr h="288454">
                <a:tc>
                  <a:txBody>
                    <a:bodyPr/>
                    <a:lstStyle/>
                    <a:p>
                      <a:pPr algn="l"/>
                      <a:r>
                        <a:rPr lang="zh-CN" altLang="en-US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类别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周本柱情况</a:t>
                      </a:r>
                      <a:endParaRPr lang="en-US" altLang="zh-CN" sz="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l"/>
                      <a:r>
                        <a:rPr lang="zh-CN" altLang="en-US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（类</a:t>
                      </a:r>
                      <a:r>
                        <a:rPr lang="en-US" altLang="zh-CN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子类</a:t>
                      </a:r>
                      <a:r>
                        <a:rPr lang="en-US" altLang="zh-CN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提示）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周本柱情况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是否改变</a:t>
                      </a:r>
                      <a:endParaRPr lang="en-US" altLang="zh-CN" sz="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l"/>
                      <a:r>
                        <a:rPr lang="en-US" altLang="zh-CN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</a:t>
                      </a:r>
                      <a:r>
                        <a:rPr lang="en-US" altLang="zh-CN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</a:t>
                      </a:r>
                      <a:endParaRPr lang="en-US" altLang="zh-CN" sz="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l"/>
                      <a:r>
                        <a:rPr lang="zh-CN" altLang="en-US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介入点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下柱</a:t>
                      </a:r>
                      <a:endParaRPr lang="en-US" altLang="zh-CN" sz="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l"/>
                      <a:r>
                        <a:rPr lang="zh-CN" altLang="en-US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下柱</a:t>
                      </a:r>
                      <a:endParaRPr lang="en-US" altLang="zh-CN" sz="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l"/>
                      <a:r>
                        <a:rPr lang="zh-CN" altLang="en-US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600" b="1" dirty="0">
                          <a:solidFill>
                            <a:srgbClr val="FFFF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备注</a:t>
                      </a:r>
                      <a:endParaRPr lang="en-US" altLang="zh-CN" sz="600" b="1" dirty="0">
                        <a:solidFill>
                          <a:srgbClr val="FFFF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600" dirty="0">
                          <a:solidFill>
                            <a:srgbClr val="FFFF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600" dirty="0">
                          <a:solidFill>
                            <a:srgbClr val="FFFF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600" dirty="0">
                          <a:solidFill>
                            <a:srgbClr val="FFFF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600" dirty="0">
                          <a:solidFill>
                            <a:srgbClr val="FFFF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600" dirty="0">
                          <a:solidFill>
                            <a:srgbClr val="FFFF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，对（特栏）（特栅）进行过滤，提示为突破启动。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1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2575123"/>
                  </a:ext>
                </a:extLst>
              </a:tr>
              <a:tr h="415855">
                <a:tc row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升排相关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11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梯升连冲</a:t>
                      </a:r>
                    </a:p>
                    <a:p>
                      <a:pPr marL="0" indent="0" algn="l">
                        <a:lnSpc>
                          <a:spcPct val="95000"/>
                        </a:lnSpc>
                      </a:pP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95000"/>
                        </a:lnSpc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变为地型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冲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或不改变地型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95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是（升连第二柱）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95000"/>
                        </a:lnSpc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95000"/>
                        </a:lnSpc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有利情况：第二个升连是最佳介入机会。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【2</a:t>
                      </a:r>
                      <a:r>
                        <a:rPr lang="zh-CN" altLang="en-US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不利情况（最后一柱）：多重连阳后，要判断是否为最后一柱（</a:t>
                      </a:r>
                      <a:r>
                        <a:rPr lang="en-US" altLang="zh-CN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衰竭</a:t>
                      </a:r>
                      <a:r>
                        <a:rPr lang="en-US" altLang="zh-CN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单巨阳</a:t>
                      </a:r>
                      <a:r>
                        <a:rPr lang="en-US" altLang="zh-CN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逐级放大</a:t>
                      </a:r>
                      <a:r>
                        <a:rPr lang="en-US" altLang="zh-CN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长上影</a:t>
                      </a:r>
                      <a:r>
                        <a:rPr lang="en-US" altLang="zh-CN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假连升）。</a:t>
                      </a:r>
                      <a:endParaRPr lang="en-US" altLang="zh-CN" sz="700" b="0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【3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</a:t>
                      </a: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不利情况（高位或震荡）：</a:t>
                      </a:r>
                      <a:r>
                        <a:rPr lang="zh-CN" altLang="en-US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要剔除无序震荡；要谨慎对待劫后升排（</a:t>
                      </a:r>
                      <a:r>
                        <a:rPr lang="en-US" altLang="zh-CN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/WXZA/WXZB</a:t>
                      </a:r>
                      <a:r>
                        <a:rPr lang="zh-CN" altLang="en-US" sz="7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，即使是升排，也有可能属于诱多，要结合顶型，千万小心）。</a:t>
                      </a:r>
                      <a:endParaRPr lang="en-US" altLang="zh-CN" sz="700" b="0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7701896"/>
                  </a:ext>
                </a:extLst>
              </a:tr>
              <a:tr h="43268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梯升孕冲</a:t>
                      </a:r>
                    </a:p>
                    <a:p>
                      <a:pPr marL="0" indent="0" algn="l">
                        <a:lnSpc>
                          <a:spcPct val="100000"/>
                        </a:lnSpc>
                      </a:pP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不改变地型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有利情况：如未拉升，则无需卖出。后续若出现鼎形成（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升吞），则可能转为（升连）。注意，跌孕不要吃掉前阳柱比例过大。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【2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不利情况（最后一柱）：如已经历较大拉升，很可能是顶部。要判断是否最后一柱，有可能转为连跌。后续应期待幅度较大升吞，如遇矮阳柱则转跌。</a:t>
                      </a:r>
                      <a:endParaRPr lang="en-US" altLang="zh-CN" sz="700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【3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</a:t>
                      </a: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不利情况（特殊组合）：如形成（阴柱</a:t>
                      </a: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阴柱），很可能是顶部。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7630039"/>
                  </a:ext>
                </a:extLst>
              </a:tr>
              <a:tr h="320505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13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梯升调待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不改变地型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有利情况：如在行情启动初期，很可能是调整结构，后续形成升连。升孕最好为鼎，柱体不要太小。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【2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不利情况：如已经历较大拉升（已冲高</a:t>
                      </a: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已整弧），很可能会后跟</a:t>
                      </a: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跌吞形成跌排。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2038155"/>
                  </a:ext>
                </a:extLst>
              </a:tr>
              <a:tr h="320505">
                <a:tc vMerge="1">
                  <a:txBody>
                    <a:bodyPr/>
                    <a:lstStyle/>
                    <a:p>
                      <a:endParaRPr lang="zh-CN" altLang="en-US" sz="9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15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梯交调待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变为地型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冲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或不改变地型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有利情况：维持升排结构。特别是跟在（升连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跌孕）之后。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【2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不利情况：很可能会冲高后进入调整结构，或升吞后出现</a:t>
                      </a: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跌吞形成回踩。</a:t>
                      </a:r>
                      <a:endParaRPr lang="en-US" altLang="zh-CN" sz="700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2698628"/>
                  </a:ext>
                </a:extLst>
              </a:tr>
              <a:tr h="224353">
                <a:tc vMerge="1">
                  <a:txBody>
                    <a:bodyPr/>
                    <a:lstStyle/>
                    <a:p>
                      <a:pPr algn="l"/>
                      <a:endParaRPr lang="zh-CN" altLang="en-US" sz="9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梯交跌警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不改变地型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【3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</a:t>
                      </a: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不利情况：因为是（阴阳阴），很可能是顶部标志。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87107"/>
                  </a:ext>
                </a:extLst>
              </a:tr>
              <a:tr h="320505"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跌吞相关</a:t>
                      </a: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endParaRPr lang="zh-CN" altLang="en-US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l">
                        <a:lnSpc>
                          <a:spcPct val="100000"/>
                        </a:lnSpc>
                      </a:pP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25</a:t>
                      </a:r>
                      <a:r>
                        <a:rPr lang="zh-CN" altLang="en-US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栏调跌警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（不破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变为地型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有利情况：回归均线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，寻找支撑后，继续上升。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不利情况：大阴柱后，待选择方向。不要在阴柱介入（因为不知会不会止跌），要等待出现阳柱再介入（防止下柱先下探再回升形成下影线阳柱）。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6483808"/>
                  </a:ext>
                </a:extLst>
              </a:tr>
              <a:tr h="320505">
                <a:tc vMerge="1">
                  <a:txBody>
                    <a:bodyPr/>
                    <a:lstStyle/>
                    <a:p>
                      <a:pPr algn="l"/>
                      <a:endParaRPr lang="zh-CN" altLang="en-US" sz="9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22</a:t>
                      </a:r>
                      <a:r>
                        <a:rPr lang="zh-CN" altLang="en-US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栏调孕待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变为地型</a:t>
                      </a:r>
                      <a:r>
                        <a:rPr kumimoji="0" lang="en-US" altLang="zh-CN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r>
                        <a:rPr kumimoji="0" lang="en-US" altLang="zh-CN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有利情况：回踩获得支撑（特别是前阴柱收盘低于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），升孕形成鼎，后续可能继续连阳。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不利情况：出现跌吞，形成（阴阳阴）从而转为跌势。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699970"/>
                  </a:ext>
                </a:extLst>
              </a:tr>
              <a:tr h="320505">
                <a:tc vMerge="1">
                  <a:txBody>
                    <a:bodyPr/>
                    <a:lstStyle/>
                    <a:p>
                      <a:pPr algn="l"/>
                      <a:endParaRPr lang="zh-CN" altLang="en-US" sz="9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21</a:t>
                      </a:r>
                      <a:r>
                        <a:rPr lang="zh-CN" altLang="en-US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栏调吞待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变为地型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有利情况：①回踩获得支持后，继续连阳。②出现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跌孕，回踩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后，再进入主升。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不利情况：③出现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跌连，进入震荡，等待再次形成启动结构后介入。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6011919"/>
                  </a:ext>
                </a:extLst>
              </a:tr>
              <a:tr h="320505">
                <a:tc rowSpan="3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跌连相关</a:t>
                      </a: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endParaRPr lang="zh-CN" altLang="en-US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l">
                        <a:lnSpc>
                          <a:spcPct val="100000"/>
                        </a:lnSpc>
                      </a:pP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35</a:t>
                      </a:r>
                      <a:r>
                        <a:rPr lang="zh-CN" altLang="en-US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栅调跌警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+/v/V+W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变为地型</a:t>
                      </a:r>
                      <a:r>
                        <a:rPr kumimoji="0" lang="en-US" altLang="zh-CN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r>
                        <a:rPr kumimoji="0" lang="en-US" altLang="zh-CN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有利情况：连跌柱均为（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十字星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矮阴柱），几乎为平移，或能得到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支撑。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不利情况：不要在阴柱介入（因为不知会不会止跌），要等待出现阳柱再介入（防止下柱先下探再回升形成下影线阳柱）。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2573976"/>
                  </a:ext>
                </a:extLst>
              </a:tr>
              <a:tr h="320505">
                <a:tc vMerge="1">
                  <a:txBody>
                    <a:bodyPr/>
                    <a:lstStyle/>
                    <a:p>
                      <a:pPr algn="l"/>
                      <a:endParaRPr lang="zh-CN" altLang="en-US" sz="9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32</a:t>
                      </a:r>
                      <a:r>
                        <a:rPr lang="zh-CN" altLang="en-US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栅调孕待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+/v/</a:t>
                      </a:r>
                      <a:r>
                        <a:rPr lang="en-US" altLang="zh-CN" sz="700" dirty="0" err="1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V+W+o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变为地型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可能是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有利情况：回踩获得支撑（特别是前阴柱收盘低于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），升孕形成鼎，后续可能继续连阳。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不利情况：出现跌吞，形成（阴阳阴）从而转为跌势。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6897478"/>
                  </a:ext>
                </a:extLst>
              </a:tr>
              <a:tr h="320505">
                <a:tc vMerge="1">
                  <a:txBody>
                    <a:bodyPr/>
                    <a:lstStyle/>
                    <a:p>
                      <a:pPr algn="l"/>
                      <a:endParaRPr lang="zh-CN" altLang="en-US" sz="9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31</a:t>
                      </a:r>
                      <a:r>
                        <a:rPr lang="zh-CN" altLang="en-US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栅调吞待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+/v/V+W+O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变为地型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可能是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有利情况：①回踩获得支持后，继续连阳。但由于日线已走坏，很可能冲高幅度有限，且非常短暂，属于诱多。②出现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跌孕，回踩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后，再进入主升。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不利情况：③出现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跌连，进入震荡，等待再次形成启动结构后介入。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4333102"/>
                  </a:ext>
                </a:extLst>
              </a:tr>
              <a:tr h="320505"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kern="1200" dirty="0">
                          <a:solidFill>
                            <a:schemeClr val="dk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枝</a:t>
                      </a:r>
                      <a:endParaRPr lang="en-US" altLang="zh-CN" sz="900" b="1" kern="1200" dirty="0">
                        <a:solidFill>
                          <a:schemeClr val="dk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单鼎相关</a:t>
                      </a: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endParaRPr lang="zh-CN" altLang="en-US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42</a:t>
                      </a:r>
                      <a:r>
                        <a:rPr lang="zh-CN" altLang="en-US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枝突连待</a:t>
                      </a: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X</a:t>
                      </a:r>
                      <a:endParaRPr lang="zh-CN" altLang="en-US" sz="800" b="1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WTZA=1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为升连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地型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常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有利情况：首上破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后，下柱可能会冲高。可能回落，也可能不会落，要注意冲高止盈。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【3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不利情况：可能是诱多，应等待回踩确认。若在连阴之后，只能冲高卖出，切勿押注长期趋势。等待站上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且形成升排再考虑介入。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6307954"/>
                  </a:ext>
                </a:extLst>
              </a:tr>
              <a:tr h="320505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43</a:t>
                      </a:r>
                      <a:r>
                        <a:rPr lang="zh-CN" altLang="en-US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枝突首待</a:t>
                      </a: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A</a:t>
                      </a:r>
                      <a:endParaRPr lang="zh-CN" altLang="en-US" sz="800" b="1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WTZA=1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为单阳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地型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常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【3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不利情况：单柱很可能是假突破诱多，特别是当（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非触顶震荡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纠缠）时，很可能形成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1349765"/>
                  </a:ext>
                </a:extLst>
              </a:tr>
              <a:tr h="320505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45</a:t>
                      </a:r>
                      <a:r>
                        <a:rPr lang="zh-CN" altLang="en-US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枝调跌警</a:t>
                      </a: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B</a:t>
                      </a:r>
                      <a:endParaRPr lang="zh-CN" altLang="en-US" sz="800" b="1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WTZA=2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v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WTZA=3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700" dirty="0" err="1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v+W</a:t>
                      </a: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地型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常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lang="zh-CN" altLang="en-US" sz="700" kern="1200" dirty="0">
                          <a:solidFill>
                            <a:schemeClr val="dk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可能是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有利情况：回踩确认是第二好介入时机。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【3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不利情况：有可能继续下跌，需等待止跌阳柱，形成启动结构后再介入。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679339"/>
                  </a:ext>
                </a:extLst>
              </a:tr>
              <a:tr h="320505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41</a:t>
                      </a:r>
                      <a:r>
                        <a:rPr lang="zh-CN" altLang="en-US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枝启动冲</a:t>
                      </a: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C</a:t>
                      </a:r>
                      <a:endParaRPr lang="zh-CN" altLang="en-US" sz="800" b="1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WTZA=3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v+/O/o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WTZA=4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W+/O/o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地型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常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/</a:t>
                      </a:r>
                      <a:r>
                        <a:rPr kumimoji="0" lang="zh-CN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垒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/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冲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转跌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有利情况：形成启动结构是最好介入机会。特升栅分为三部分：最后一部分升幅最大。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【3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不利情况：有可能形成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头诱多。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6441030"/>
                  </a:ext>
                </a:extLst>
              </a:tr>
              <a:tr h="224353">
                <a:tc rowSpan="2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59</a:t>
                      </a:r>
                      <a:r>
                        <a:rPr lang="zh-CN" altLang="en-US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杂连跌弃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其他情况均应放弃。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地型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不是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弃勿入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942342"/>
                  </a:ext>
                </a:extLst>
              </a:tr>
              <a:tr h="224353">
                <a:tc vMerge="1">
                  <a:txBody>
                    <a:bodyPr/>
                    <a:lstStyle/>
                    <a:p>
                      <a:pPr algn="l"/>
                      <a:endParaRPr lang="zh-CN" altLang="en-US" sz="9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55</a:t>
                      </a:r>
                      <a:r>
                        <a:rPr lang="zh-CN" altLang="en-US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杂剩余待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其他情况均应放弃。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地型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不是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弃勿入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129242"/>
                  </a:ext>
                </a:extLst>
              </a:tr>
              <a:tr h="224353">
                <a:tc rowSpan="4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WJA)</a:t>
                      </a:r>
                      <a:endParaRPr lang="zh-CN" altLang="en-US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l">
                        <a:lnSpc>
                          <a:spcPct val="100000"/>
                        </a:lnSpc>
                      </a:pP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66</a:t>
                      </a:r>
                      <a:r>
                        <a:rPr lang="zh-CN" altLang="en-US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根连薡冲</a:t>
                      </a: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X</a:t>
                      </a:r>
                      <a:endParaRPr lang="zh-CN" altLang="en-US" sz="800" b="1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WTZA=-1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为跌连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不是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弃勿入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不利情况：如前期冲高，则以形成下降趋势，将继续下跌。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984816"/>
                  </a:ext>
                </a:extLst>
              </a:tr>
              <a:tr h="320505">
                <a:tc vMerge="1">
                  <a:txBody>
                    <a:bodyPr/>
                    <a:lstStyle/>
                    <a:p>
                      <a:pPr algn="l"/>
                      <a:endParaRPr lang="zh-CN" altLang="en-US" sz="9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65</a:t>
                      </a:r>
                      <a:r>
                        <a:rPr lang="zh-CN" altLang="en-US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根首薡待</a:t>
                      </a: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A</a:t>
                      </a:r>
                      <a:endParaRPr lang="zh-CN" altLang="en-US" sz="800" b="1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WTZA=-1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为单跌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地型</a:t>
                      </a:r>
                      <a:r>
                        <a:rPr kumimoji="0" lang="en-US" altLang="zh-CN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r>
                        <a:rPr kumimoji="0" lang="en-US" altLang="zh-CN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不是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弃勿入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有利情况：非连跌，可能形成阴阳交错。下柱可能重新站上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【3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不利情况：继续下跌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1921596"/>
                  </a:ext>
                </a:extLst>
              </a:tr>
              <a:tr h="224353">
                <a:tc vMerge="1">
                  <a:txBody>
                    <a:bodyPr/>
                    <a:lstStyle/>
                    <a:p>
                      <a:pPr algn="l"/>
                      <a:endParaRPr lang="zh-CN" altLang="en-US" sz="9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64</a:t>
                      </a:r>
                      <a:r>
                        <a:rPr lang="zh-CN" altLang="en-US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根久鼎待</a:t>
                      </a: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B</a:t>
                      </a:r>
                      <a:endParaRPr lang="zh-CN" altLang="en-US" sz="800" b="1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且为假鼎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地型</a:t>
                      </a:r>
                      <a:r>
                        <a:rPr kumimoji="0" lang="en-US" altLang="zh-CN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r>
                        <a:rPr kumimoji="0" lang="en-US" altLang="zh-CN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不是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弃勿入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【3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不利情况：诱多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6982578"/>
                  </a:ext>
                </a:extLst>
              </a:tr>
              <a:tr h="432681">
                <a:tc vMerge="1">
                  <a:txBody>
                    <a:bodyPr/>
                    <a:lstStyle/>
                    <a:p>
                      <a:pPr algn="l"/>
                      <a:endParaRPr lang="zh-CN" altLang="en-US" sz="9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69</a:t>
                      </a:r>
                      <a:r>
                        <a:rPr lang="zh-CN" altLang="en-US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根久下警</a:t>
                      </a:r>
                      <a:r>
                        <a:rPr lang="en-US" altLang="zh-CN" sz="8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B</a:t>
                      </a:r>
                      <a:endParaRPr lang="zh-CN" altLang="en-US" sz="800" b="1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地型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弃勿入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之下已经过充分调整（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劫）后，可能再次拉升。要等待重新突破并站稳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再介入。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有利情况：下破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后第二柱为升孕，后续可能以升连方式再次上破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l"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【3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不利情况：可能已形成下降趋势，一定慎重介入。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4767022"/>
                  </a:ext>
                </a:extLst>
              </a:tr>
            </a:tbl>
          </a:graphicData>
        </a:graphic>
      </p:graphicFrame>
      <p:sp>
        <p:nvSpPr>
          <p:cNvPr id="4" name="文本框 3">
            <a:extLst>
              <a:ext uri="{FF2B5EF4-FFF2-40B4-BE49-F238E27FC236}">
                <a16:creationId xmlns:a16="http://schemas.microsoft.com/office/drawing/2014/main" id="{437AB265-8888-B42B-3AB0-7CB19C3DACC5}"/>
              </a:ext>
            </a:extLst>
          </p:cNvPr>
          <p:cNvSpPr txBox="1"/>
          <p:nvPr/>
        </p:nvSpPr>
        <p:spPr>
          <a:xfrm>
            <a:off x="9259520" y="4906126"/>
            <a:ext cx="4735879" cy="1384995"/>
          </a:xfrm>
          <a:prstGeom prst="rect">
            <a:avLst/>
          </a:prstGeom>
          <a:solidFill>
            <a:srgbClr val="FF99CC"/>
          </a:solidFill>
        </p:spPr>
        <p:txBody>
          <a:bodyPr wrap="square" rtlCol="0">
            <a:spAutoFit/>
          </a:bodyPr>
          <a:lstStyle/>
          <a:p>
            <a:r>
              <a:rPr lang="zh-CN" altLang="en-US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把“备注”针对四种情况进行细化。放在一个单元格内。不要仅区分“有利情况”“不利情况”。</a:t>
            </a:r>
            <a:endParaRPr lang="en-US" altLang="zh-CN" sz="105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情况包括：</a:t>
            </a:r>
            <a:endParaRPr lang="en-US" altLang="zh-CN" sz="105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r>
              <a:rPr lang="en-US" altLang="zh-CN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正常缓慢工整上升</a:t>
            </a:r>
            <a:endParaRPr lang="en-US" altLang="zh-CN" sz="105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刚突破：刚突破</a:t>
            </a:r>
            <a:r>
              <a:rPr lang="en-US" altLang="zh-CN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、刚突破</a:t>
            </a:r>
            <a:r>
              <a:rPr lang="en-US" altLang="zh-CN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【2</a:t>
            </a:r>
            <a:r>
              <a:rPr lang="zh-CN" altLang="en-US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冲</a:t>
            </a:r>
            <a:r>
              <a:rPr lang="en-US" altLang="zh-CN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已冲高（已整弧）：代表可能进入波段顶部</a:t>
            </a:r>
            <a:endParaRPr lang="en-US" altLang="zh-CN" sz="105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【3</a:t>
            </a:r>
            <a:r>
              <a:rPr lang="zh-CN" altLang="en-US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震</a:t>
            </a:r>
            <a:r>
              <a:rPr lang="en-US" altLang="zh-CN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5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震荡无序阶段。</a:t>
            </a:r>
          </a:p>
        </p:txBody>
      </p:sp>
    </p:spTree>
    <p:extLst>
      <p:ext uri="{BB962C8B-B14F-4D97-AF65-F5344CB8AC3E}">
        <p14:creationId xmlns:p14="http://schemas.microsoft.com/office/powerpoint/2010/main" val="355173697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>
            <a:lumMod val="5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23C61E1-B2C0-AD0A-48B7-FA66DC0276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B4D49CB-4F86-D743-3A5A-31B1F9EA9E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53000" y="365125"/>
            <a:ext cx="6400800" cy="1325563"/>
          </a:xfrm>
        </p:spPr>
        <p:txBody>
          <a:bodyPr>
            <a:normAutofit/>
          </a:bodyPr>
          <a:lstStyle/>
          <a:p>
            <a:r>
              <a:rPr lang="zh-CN" altLang="en-US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br>
              <a:rPr lang="en-US" altLang="zh-CN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300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本章只串联里程碑结论，不推导中间过程。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04FA693-82C8-6585-2A31-A15266C119E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53000" y="1825625"/>
            <a:ext cx="6400800" cy="4351338"/>
          </a:xfrm>
        </p:spPr>
        <p:txBody>
          <a:bodyPr>
            <a:normAutofit/>
          </a:bodyPr>
          <a:lstStyle/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思考框架与待解决问题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怎样才能守住仓位：“珍惜”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趋势判定原则 ⇒ 做多与做空的区别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经严密逻辑推导版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_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通过柱体分布，以“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丘必赢”统一各种算法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标准走势图谱 ⇒ 周奏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周波型：主升与震荡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全局筛选流程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主升筛选漏斗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 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主升的运动模式⇒参考专章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endParaRPr lang="zh-CN" altLang="en-US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2DE21D42-2482-B1DD-7E4A-3D0338343AE6}"/>
              </a:ext>
            </a:extLst>
          </p:cNvPr>
          <p:cNvSpPr txBox="1"/>
          <p:nvPr/>
        </p:nvSpPr>
        <p:spPr>
          <a:xfrm>
            <a:off x="1095375" y="1690688"/>
            <a:ext cx="2867025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0" dirty="0">
                <a:solidFill>
                  <a:schemeClr val="tx2">
                    <a:lumMod val="75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大</a:t>
            </a:r>
          </a:p>
        </p:txBody>
      </p:sp>
    </p:spTree>
    <p:extLst>
      <p:ext uri="{BB962C8B-B14F-4D97-AF65-F5344CB8AC3E}">
        <p14:creationId xmlns:p14="http://schemas.microsoft.com/office/powerpoint/2010/main" val="339928713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B144B6-4E51-374B-0556-FB83197560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>
            <a:extLst>
              <a:ext uri="{FF2B5EF4-FFF2-40B4-BE49-F238E27FC236}">
                <a16:creationId xmlns:a16="http://schemas.microsoft.com/office/drawing/2014/main" id="{C2EEBC02-EAFE-A5E8-661F-9FFC784D3574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思考框架与待解决问题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主题：以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为基石，理顺统领整个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的思考框架，串联所涉及问题，理清问题之间的关系与重要性。以此思路为纲，制作此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，并制定筛选与操作规则。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8" name="表格 7">
            <a:extLst>
              <a:ext uri="{FF2B5EF4-FFF2-40B4-BE49-F238E27FC236}">
                <a16:creationId xmlns:a16="http://schemas.microsoft.com/office/drawing/2014/main" id="{E4C60F62-F027-2E89-770C-26939D8D4A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1976690"/>
              </p:ext>
            </p:extLst>
          </p:nvPr>
        </p:nvGraphicFramePr>
        <p:xfrm>
          <a:off x="-5541" y="2468109"/>
          <a:ext cx="12192000" cy="4387143"/>
        </p:xfrm>
        <a:graphic>
          <a:graphicData uri="http://schemas.openxmlformats.org/drawingml/2006/table">
            <a:tbl>
              <a:tblPr firstRow="1" bandRow="1">
                <a:tableStyleId>{22838BEF-8BB2-4498-84A7-C5851F593DF1}</a:tableStyleId>
              </a:tblPr>
              <a:tblGrid>
                <a:gridCol w="1397475">
                  <a:extLst>
                    <a:ext uri="{9D8B030D-6E8A-4147-A177-3AD203B41FA5}">
                      <a16:colId xmlns:a16="http://schemas.microsoft.com/office/drawing/2014/main" val="1633936583"/>
                    </a:ext>
                  </a:extLst>
                </a:gridCol>
                <a:gridCol w="6146325">
                  <a:extLst>
                    <a:ext uri="{9D8B030D-6E8A-4147-A177-3AD203B41FA5}">
                      <a16:colId xmlns:a16="http://schemas.microsoft.com/office/drawing/2014/main" val="1184539394"/>
                    </a:ext>
                  </a:extLst>
                </a:gridCol>
                <a:gridCol w="2924001">
                  <a:extLst>
                    <a:ext uri="{9D8B030D-6E8A-4147-A177-3AD203B41FA5}">
                      <a16:colId xmlns:a16="http://schemas.microsoft.com/office/drawing/2014/main" val="2057521625"/>
                    </a:ext>
                  </a:extLst>
                </a:gridCol>
                <a:gridCol w="1724199">
                  <a:extLst>
                    <a:ext uri="{9D8B030D-6E8A-4147-A177-3AD203B41FA5}">
                      <a16:colId xmlns:a16="http://schemas.microsoft.com/office/drawing/2014/main" val="3743011458"/>
                    </a:ext>
                  </a:extLst>
                </a:gridCol>
              </a:tblGrid>
              <a:tr h="238015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大局观具体分析路径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主要分析内容</a:t>
                      </a:r>
                    </a:p>
                  </a:txBody>
                  <a:tcP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产出物</a:t>
                      </a:r>
                    </a:p>
                  </a:txBody>
                  <a:tcP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待解决问题</a:t>
                      </a:r>
                    </a:p>
                  </a:txBody>
                  <a:tcPr>
                    <a:solidFill>
                      <a:schemeClr val="accent5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7692066"/>
                  </a:ext>
                </a:extLst>
              </a:tr>
              <a:tr h="64604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(S1)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要保证经过最高点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明确在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WJC&amp;WJB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之上是抓主升的必要条件。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lvl="0" indent="-22860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通过横观单票的全时间段走势  ⇒  最高点必在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之上⇒保证持有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之上必能经过最高点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lvl="0" indent="-22860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通过纵观各票的全时间段走势  ⇒  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的时间比例很小⇒要珍惜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的上升趋势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lvl="0" indent="-22860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要利用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作为第一操盘工具：眼中始终要有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护型。 ⇒  以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作为操盘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的辅助工具。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趋势判定原则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1-5》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怎样才能守住仓位：“珍惜”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endParaRPr lang="zh-CN" altLang="en-US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34693526"/>
                  </a:ext>
                </a:extLst>
              </a:tr>
              <a:tr h="51003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(S2.1)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如何预判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丘最高点规模？选择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+mj-ea"/>
                        <a:buNone/>
                      </a:pP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定位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lvl="0" indent="0">
                        <a:buFont typeface="+mj-ea"/>
                        <a:buNone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月势：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WJCDE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划分全时间段的月级别走势⇒参考专页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月势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WJCDE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丘幅度的影响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</a:p>
                    <a:p>
                      <a:pPr marL="228600" lvl="0" indent="-22860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剔除诱多与震荡：要剔除（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下降趋势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底部震荡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顶部震荡）。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衍生主题（谱</a:t>
                      </a:r>
                      <a:r>
                        <a:rPr lang="en-US" altLang="zh-CN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）：利用月势</a:t>
                      </a:r>
                      <a:r>
                        <a:rPr lang="en-US" altLang="zh-CN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WXCDE</a:t>
                      </a:r>
                      <a:r>
                        <a:rPr lang="zh-CN" altLang="en-US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确定准入范围。</a:t>
                      </a:r>
                      <a:endParaRPr lang="en-US" altLang="zh-CN" sz="800" b="1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衍生主题（谱</a:t>
                      </a:r>
                      <a:r>
                        <a:rPr lang="en-US" altLang="zh-CN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</a:t>
                      </a:r>
                      <a:r>
                        <a:rPr lang="en-US" altLang="zh-CN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定位</a:t>
                      </a:r>
                      <a:r>
                        <a:rPr lang="en-US" altLang="zh-CN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92388584"/>
                  </a:ext>
                </a:extLst>
              </a:tr>
              <a:tr h="510033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(S2.2)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如何选取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&lt;WJC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中的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&lt;WJB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要排除最高点规模很小的情况</a:t>
                      </a: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+mj-ea"/>
                        <a:buNone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周奏：根据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WJCBA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划分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丘的不同阶段⇒参考专页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丘弧型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</a:p>
                    <a:p>
                      <a:pPr marL="228600" lvl="0" indent="-22860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根据（周奏），将（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丘）根据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划分为不同的奏。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85800" lvl="1" indent="-22860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对于前期存在大幅拉升的情况，即使后期在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之上，也要谨慎参与。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基础模型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】WJCBA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周层模型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反例：神秘力量。汇总由庄家控制的走势，以及如何再次介入。周层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基础模型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周奏：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丘弧型（左缓右急、左急右缓、左缓右缓、左急右急）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7698319"/>
                  </a:ext>
                </a:extLst>
              </a:tr>
              <a:tr h="374884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ea"/>
                        <a:buNone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周波：将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丘划分为（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震荡），其中（震荡）包含（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回归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WJA(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贯穿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WJA(WTZA=1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-1)/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两柱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两柱）。在能明显识别前期主升的情况下，应避免主动介入震荡（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WTZA=1/WTZA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），但可被动持有。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衍生主题（管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）：区分周波（主升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震荡）。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基础模型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】WJCBA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坐标的主升启动位置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478230"/>
                  </a:ext>
                </a:extLst>
              </a:tr>
              <a:tr h="1054068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(S3)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如何在最高点附近逃离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?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提前退出条件：根据不同环境，将止损线由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优化为各种提前退出条件。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：通用止损线。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：适用于当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呈扩散分布时，作为提前退出条件。（当处于震荡时应以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止损）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：适用于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，以下破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作为提前退出条件。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之上：针对管模式，坚定持有，不需退出。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最后一柱：只当满足“最后一柱”特征时，止盈或提前退出。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以偏离作为左侧提前退出条件：以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作为衡量偏离的基线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衍生主题（谱</a:t>
                      </a:r>
                      <a:r>
                        <a:rPr lang="en-US" altLang="zh-CN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）：穿越</a:t>
                      </a:r>
                      <a:r>
                        <a:rPr lang="en-US" altLang="zh-CN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的典型方式。</a:t>
                      </a:r>
                      <a:endParaRPr lang="en-US" altLang="zh-CN" sz="800" b="1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衍生主题（谱</a:t>
                      </a:r>
                      <a:r>
                        <a:rPr lang="en-US" altLang="zh-CN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劫的典型恢复模式。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反例：下周失败特例汇总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23416283"/>
                  </a:ext>
                </a:extLst>
              </a:tr>
              <a:tr h="1054068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(S4)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算法：龙战法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龙战法：所有操盘方法只针对“主升”波型进行操作。</a:t>
                      </a:r>
                      <a:endParaRPr lang="en-US" altLang="zh-CN" sz="8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龙丘周战法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：按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操作主升趋势。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⇒参考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坐公交理论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endParaRPr lang="en-US" altLang="zh-CN" sz="8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按原旨规则，在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之上必有高点。如果从头到尾精确进出，最后的累计收益为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均线的增幅。</a:t>
                      </a:r>
                      <a:endParaRPr lang="en-US" altLang="zh-CN" sz="8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龙冲周战法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：下周冲高战法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周版。</a:t>
                      </a:r>
                      <a:endParaRPr lang="en-US" altLang="zh-CN" sz="8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在主升区域，必然有回撤但未破趋势的阴柱，如果能只聚焦其中的阳柱，则可只赢不输。利用复利理论，将极大增加收益。⇒参考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下周冲高战法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endParaRPr lang="en-US" altLang="zh-CN" sz="8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龙展日战法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：下周冲高战法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日版</a:t>
                      </a:r>
                      <a:endParaRPr lang="en-US" altLang="zh-CN" sz="8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龙丘周战法</a:t>
                      </a:r>
                      <a:endParaRPr lang="en-US" altLang="zh-CN" sz="8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龙冲周战法</a:t>
                      </a:r>
                      <a:endParaRPr lang="en-US" altLang="zh-CN" sz="8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衍生主题（管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入轨图谱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衍生主题（管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在轨图谱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衍生主题（管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离轨图谱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衍生主题（管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）：关注何时在管中变为垒升。</a:t>
                      </a:r>
                      <a:endParaRPr lang="en-US" altLang="zh-CN" sz="8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龙展日战法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基础模型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叠垒连阳启动结构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35654254"/>
                  </a:ext>
                </a:extLst>
              </a:tr>
            </a:tbl>
          </a:graphicData>
        </a:graphic>
      </p:graphicFrame>
      <p:sp>
        <p:nvSpPr>
          <p:cNvPr id="3" name="矩形 2">
            <a:extLst>
              <a:ext uri="{FF2B5EF4-FFF2-40B4-BE49-F238E27FC236}">
                <a16:creationId xmlns:a16="http://schemas.microsoft.com/office/drawing/2014/main" id="{8774BEF1-8256-C14D-13EC-507027841F55}"/>
              </a:ext>
            </a:extLst>
          </p:cNvPr>
          <p:cNvSpPr/>
          <p:nvPr/>
        </p:nvSpPr>
        <p:spPr>
          <a:xfrm>
            <a:off x="6095999" y="722746"/>
            <a:ext cx="6096001" cy="168634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工具框架：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着眼全局，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护线是最核心工具，管（顶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）是最主要战场。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为准入。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【WJCDE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决定大势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确定月级别大升位置。过滤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底震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顶震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降势。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为唯一权重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作为设定权重的唯一变量，但可参考低阶均线确定介入点。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为丘，划分主升与震荡。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所有可获利上升都在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已得到验证。但要以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为准入。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以梳代堵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能够快速反应趋势的特性，通过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观察阴阳大势的转换。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区分波型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基于顶型、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、柱排，区分主升与震荡。（主升以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止损，震荡逢高退出）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为管，抓住主升。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区分管内运动方向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在管内区分（龙猪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龙落），下破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后等待震荡时逢高退出。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区分垒升与阴阳相间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终极目标是“垒升”。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参考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先周后日，以日类信息为参考，仅用于确定介入点以及观察对应周柱排列类型。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日触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时要考虑卖出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当日触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时，一定要考虑是否卖出。</a:t>
            </a: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D1A6E80C-094F-FA38-603C-A55AC861FA9F}"/>
              </a:ext>
            </a:extLst>
          </p:cNvPr>
          <p:cNvSpPr/>
          <p:nvPr/>
        </p:nvSpPr>
        <p:spPr>
          <a:xfrm>
            <a:off x="-5541" y="726024"/>
            <a:ext cx="6101541" cy="1076399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大局思想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20251115】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总体思路：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删必然不会上升的区域（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之下）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弃可能不会大升的区域（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月顶震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月底震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月降势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周震荡）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盯可能主升的区域（依赖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均线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顶型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柱排）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周范围确定原则：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把原规则（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单独按“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丘必赢”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）扩展为（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为准入；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WXCDE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确定大势，过滤诱多；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周局决定趋势；以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止损，下破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考虑提前退出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zh-CN" altLang="en-US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295F769E-1957-F6F7-C743-01744607CBCA}"/>
              </a:ext>
            </a:extLst>
          </p:cNvPr>
          <p:cNvSpPr txBox="1"/>
          <p:nvPr/>
        </p:nvSpPr>
        <p:spPr>
          <a:xfrm>
            <a:off x="4227095" y="2557269"/>
            <a:ext cx="45974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solidFill>
                  <a:srgbClr val="FF0000"/>
                </a:solidFill>
              </a:rPr>
              <a:t>改为“明确在</a:t>
            </a:r>
            <a:r>
              <a:rPr lang="en-US" altLang="zh-CN" dirty="0">
                <a:solidFill>
                  <a:srgbClr val="FF0000"/>
                </a:solidFill>
              </a:rPr>
              <a:t>WJC</a:t>
            </a:r>
            <a:r>
              <a:rPr lang="zh-CN" altLang="en-US" dirty="0">
                <a:solidFill>
                  <a:srgbClr val="FF0000"/>
                </a:solidFill>
              </a:rPr>
              <a:t>之上是抓主升的必要条件”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BB8A044D-AD13-B73E-AF9C-F4B6161C1380}"/>
              </a:ext>
            </a:extLst>
          </p:cNvPr>
          <p:cNvSpPr txBox="1"/>
          <p:nvPr/>
        </p:nvSpPr>
        <p:spPr>
          <a:xfrm>
            <a:off x="4170948" y="3819419"/>
            <a:ext cx="570842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solidFill>
                  <a:srgbClr val="FF0000"/>
                </a:solidFill>
              </a:rPr>
              <a:t>改为“如何选取</a:t>
            </a:r>
            <a:r>
              <a:rPr lang="en-US" altLang="zh-CN" dirty="0">
                <a:solidFill>
                  <a:srgbClr val="FF0000"/>
                </a:solidFill>
              </a:rPr>
              <a:t>WJC</a:t>
            </a:r>
            <a:r>
              <a:rPr lang="zh-CN" altLang="en-US" dirty="0">
                <a:solidFill>
                  <a:srgbClr val="FF0000"/>
                </a:solidFill>
              </a:rPr>
              <a:t>大丘中的</a:t>
            </a:r>
            <a:r>
              <a:rPr lang="en-US" altLang="zh-CN" dirty="0">
                <a:solidFill>
                  <a:srgbClr val="FF0000"/>
                </a:solidFill>
              </a:rPr>
              <a:t>WXAB</a:t>
            </a:r>
            <a:r>
              <a:rPr lang="zh-CN" altLang="en-US" dirty="0">
                <a:solidFill>
                  <a:srgbClr val="FF0000"/>
                </a:solidFill>
              </a:rPr>
              <a:t>正交”，靠波型主升。</a:t>
            </a:r>
          </a:p>
        </p:txBody>
      </p:sp>
    </p:spTree>
    <p:extLst>
      <p:ext uri="{BB962C8B-B14F-4D97-AF65-F5344CB8AC3E}">
        <p14:creationId xmlns:p14="http://schemas.microsoft.com/office/powerpoint/2010/main" val="267702069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1D65D3-F306-9AA4-EA22-D3C0F9BF45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左大括号 4">
            <a:extLst>
              <a:ext uri="{FF2B5EF4-FFF2-40B4-BE49-F238E27FC236}">
                <a16:creationId xmlns:a16="http://schemas.microsoft.com/office/drawing/2014/main" id="{FC1D9260-7977-E50F-DD19-2420CB655F85}"/>
              </a:ext>
            </a:extLst>
          </p:cNvPr>
          <p:cNvSpPr/>
          <p:nvPr/>
        </p:nvSpPr>
        <p:spPr>
          <a:xfrm rot="16200000">
            <a:off x="5894722" y="-3376012"/>
            <a:ext cx="402557" cy="12192002"/>
          </a:xfrm>
          <a:prstGeom prst="leftBrace">
            <a:avLst>
              <a:gd name="adj1" fmla="val 68977"/>
              <a:gd name="adj2" fmla="val 21941"/>
            </a:avLst>
          </a:prstGeom>
          <a:solidFill>
            <a:schemeClr val="accent1">
              <a:lumMod val="50000"/>
            </a:schemeClr>
          </a:solidFill>
          <a:ln w="12700">
            <a:solidFill>
              <a:schemeClr val="tx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标题 1">
            <a:extLst>
              <a:ext uri="{FF2B5EF4-FFF2-40B4-BE49-F238E27FC236}">
                <a16:creationId xmlns:a16="http://schemas.microsoft.com/office/drawing/2014/main" id="{51C30F8E-44F5-3C04-05AC-629899A7FC4F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经严密逻辑推导版算法→区域划分</a:t>
            </a:r>
            <a:b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本页内容：所有推导步骤必须有数学依据，梳理全局逻辑与所需讨论的主题。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C36DE5B0-442D-E10F-79E1-27CC327A63F4}"/>
              </a:ext>
            </a:extLst>
          </p:cNvPr>
          <p:cNvGraphicFramePr>
            <a:graphicFrameLocks noGrp="1"/>
          </p:cNvGraphicFramePr>
          <p:nvPr/>
        </p:nvGraphicFramePr>
        <p:xfrm>
          <a:off x="0" y="695937"/>
          <a:ext cx="12192000" cy="1828800"/>
        </p:xfrm>
        <a:graphic>
          <a:graphicData uri="http://schemas.openxmlformats.org/drawingml/2006/table">
            <a:tbl>
              <a:tblPr firstRow="1" bandRow="1">
                <a:tableStyleId>{22838BEF-8BB2-4498-84A7-C5851F593DF1}</a:tableStyleId>
              </a:tblPr>
              <a:tblGrid>
                <a:gridCol w="2177294">
                  <a:extLst>
                    <a:ext uri="{9D8B030D-6E8A-4147-A177-3AD203B41FA5}">
                      <a16:colId xmlns:a16="http://schemas.microsoft.com/office/drawing/2014/main" val="3629860500"/>
                    </a:ext>
                  </a:extLst>
                </a:gridCol>
                <a:gridCol w="5069326">
                  <a:extLst>
                    <a:ext uri="{9D8B030D-6E8A-4147-A177-3AD203B41FA5}">
                      <a16:colId xmlns:a16="http://schemas.microsoft.com/office/drawing/2014/main" val="230067098"/>
                    </a:ext>
                  </a:extLst>
                </a:gridCol>
                <a:gridCol w="4945380">
                  <a:extLst>
                    <a:ext uri="{9D8B030D-6E8A-4147-A177-3AD203B41FA5}">
                      <a16:colId xmlns:a16="http://schemas.microsoft.com/office/drawing/2014/main" val="405069826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严密逻辑推导步骤</a:t>
                      </a:r>
                    </a:p>
                  </a:txBody>
                  <a:tcPr>
                    <a:solidFill>
                      <a:srgbClr val="9DC3E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操作要点</a:t>
                      </a:r>
                    </a:p>
                  </a:txBody>
                  <a:tcPr>
                    <a:solidFill>
                      <a:srgbClr val="9DC3E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判断所需的工具</a:t>
                      </a:r>
                    </a:p>
                  </a:txBody>
                  <a:tcPr>
                    <a:solidFill>
                      <a:srgbClr val="9DC3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82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(0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理论基础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)EMA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数学特性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要讨论以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为基础的算法，必须（上均线入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下均线出），如用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不能保证中途介入必胜。如要中途介入，必依赖低阶均线进行辅助（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抓主升不止损）。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1402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(1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原旨算法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)WXZC&gt;0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必胜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【WJCDE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决定大势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利用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WJCDE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确定月级别大升位置。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124999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(2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WXBC&lt;0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WXZC&gt;0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丘为准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用（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丘）止损，依靠（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WXAB+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柱排列），用（顶型）辅助抓取主升。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84787555"/>
                  </a:ext>
                </a:extLst>
              </a:tr>
              <a:tr h="190594">
                <a:tc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(3.1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WXBC&gt;0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</a:t>
                      </a:r>
                      <a:endParaRPr lang="en-US" altLang="zh-CN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WXZB&gt;0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作为提前退出点（提高收益，避免从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至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距离）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应介入。应要求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WXZB&gt;0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存在以下细分方案：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WXZB》WXAB》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》WXZA》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——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按顶型。是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的子集。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WXAB——WXAB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是最主要工具。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WXZA——WJA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与柱的交叉关系。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分柱排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——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针对管内排列。应对频繁贯穿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的情况。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412909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(3.2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WXBC&gt;0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</a:t>
                      </a:r>
                      <a:endParaRPr lang="en-US" altLang="zh-CN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WXZB&lt;0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但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WXZC&gt;0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因仍在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之上，所以在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之上可介入。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需观察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之下柱排列，如（已上破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）或（柱排列失效），则可进行试仓。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用（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丘）止损，依靠反向（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WXZA+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柱排列）。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91606277"/>
                  </a:ext>
                </a:extLst>
              </a:tr>
            </a:tbl>
          </a:graphicData>
        </a:graphic>
      </p:graphicFrame>
      <p:graphicFrame>
        <p:nvGraphicFramePr>
          <p:cNvPr id="9" name="表格 8">
            <a:extLst>
              <a:ext uri="{FF2B5EF4-FFF2-40B4-BE49-F238E27FC236}">
                <a16:creationId xmlns:a16="http://schemas.microsoft.com/office/drawing/2014/main" id="{10D98A2C-62C8-9474-DB6B-6FE78F216E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5993535"/>
              </p:ext>
            </p:extLst>
          </p:nvPr>
        </p:nvGraphicFramePr>
        <p:xfrm>
          <a:off x="0" y="3756658"/>
          <a:ext cx="12192000" cy="3101339"/>
        </p:xfrm>
        <a:graphic>
          <a:graphicData uri="http://schemas.openxmlformats.org/drawingml/2006/table">
            <a:tbl>
              <a:tblPr firstRow="1" bandRow="1">
                <a:tableStyleId>{22838BEF-8BB2-4498-84A7-C5851F593DF1}</a:tableStyleId>
              </a:tblPr>
              <a:tblGrid>
                <a:gridCol w="847725">
                  <a:extLst>
                    <a:ext uri="{9D8B030D-6E8A-4147-A177-3AD203B41FA5}">
                      <a16:colId xmlns:a16="http://schemas.microsoft.com/office/drawing/2014/main" val="3629860500"/>
                    </a:ext>
                  </a:extLst>
                </a:gridCol>
                <a:gridCol w="1453515">
                  <a:extLst>
                    <a:ext uri="{9D8B030D-6E8A-4147-A177-3AD203B41FA5}">
                      <a16:colId xmlns:a16="http://schemas.microsoft.com/office/drawing/2014/main" val="178774234"/>
                    </a:ext>
                  </a:extLst>
                </a:gridCol>
                <a:gridCol w="2996901">
                  <a:extLst>
                    <a:ext uri="{9D8B030D-6E8A-4147-A177-3AD203B41FA5}">
                      <a16:colId xmlns:a16="http://schemas.microsoft.com/office/drawing/2014/main" val="230067098"/>
                    </a:ext>
                  </a:extLst>
                </a:gridCol>
                <a:gridCol w="3864909">
                  <a:extLst>
                    <a:ext uri="{9D8B030D-6E8A-4147-A177-3AD203B41FA5}">
                      <a16:colId xmlns:a16="http://schemas.microsoft.com/office/drawing/2014/main" val="4050698269"/>
                    </a:ext>
                  </a:extLst>
                </a:gridCol>
                <a:gridCol w="3028950">
                  <a:extLst>
                    <a:ext uri="{9D8B030D-6E8A-4147-A177-3AD203B41FA5}">
                      <a16:colId xmlns:a16="http://schemas.microsoft.com/office/drawing/2014/main" val="556160009"/>
                    </a:ext>
                  </a:extLst>
                </a:gridCol>
              </a:tblGrid>
              <a:tr h="229729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区域名称</a:t>
                      </a:r>
                    </a:p>
                  </a:txBody>
                  <a:tcP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“可看”（天时）</a:t>
                      </a: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“可持”（地利）</a:t>
                      </a:r>
                      <a:endParaRPr lang="zh-CN" altLang="en-US" sz="800" dirty="0">
                        <a:highlight>
                          <a:srgbClr val="FFFF00"/>
                        </a:highlight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“可龙”（人和）</a:t>
                      </a: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“可垒”（人和）</a:t>
                      </a: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82725"/>
                  </a:ext>
                </a:extLst>
              </a:tr>
              <a:tr h="213320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</a:t>
                      </a:r>
                    </a:p>
                  </a:txBody>
                  <a:tcP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明确底层必赢逻辑。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圈定范围从而保证经过最高点。区分大置（金银铜）。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划分波型，锁定主升。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择时，选择主升周管内的连升周柱。须参考图谱。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96975842"/>
                  </a:ext>
                </a:extLst>
              </a:tr>
              <a:tr h="213320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适用范围</a:t>
                      </a:r>
                    </a:p>
                  </a:txBody>
                  <a:tcP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涵盖全时域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针对“可看”区域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针对“可持”区域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针对：主升管内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066733"/>
                  </a:ext>
                </a:extLst>
              </a:tr>
              <a:tr h="213320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核心条件</a:t>
                      </a:r>
                      <a:endParaRPr lang="en-US" altLang="zh-CN" sz="7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为核心条件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为核心条件。注意此处不要限制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为核心，要求触顶且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=-1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WXZA+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柱排）区分管内运行方向</a:t>
                      </a:r>
                    </a:p>
                  </a:txBody>
                  <a:tcP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3749127"/>
                  </a:ext>
                </a:extLst>
              </a:tr>
              <a:tr h="443048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核心条件结论</a:t>
                      </a:r>
                      <a:endParaRPr lang="en-US" altLang="zh-CN" sz="7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为唯一止损条件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WJCDE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圈定主升出现的大势范围：核心是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金银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可持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/A7/A3/A1/C7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/A0/C6/C4/C0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）。仅观察，勿操作。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针对（储初主再），区分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龙猪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龙落。主升以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震正芽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震正根。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龙猪），判断是否下柱冲高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1403850"/>
                  </a:ext>
                </a:extLst>
              </a:tr>
              <a:tr h="672777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辅助参考条件</a:t>
                      </a:r>
                    </a:p>
                  </a:txBody>
                  <a:tcP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为何放弃原方案，不再以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作为划分“可持”依据？因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反应较慢，所以在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之上只按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/WJA/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顶型区分。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至尊公理：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正交是最重要的分析依据。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，按周护型区分为（金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银）。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务必珍惜大置（金）。（铜）成功率低。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决定波段：将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层界转换为更基本的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护型：甲乙丙丁戊己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六态：上中下忐忠忑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区分运动方向：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ABILX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指标设计：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WXAB(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六态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)+WTZA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（柱符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贯）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柱型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入管的典型图谱（待梳理归纳）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在管的典型图谱（待梳理归纳）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：典型形态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出管的典型图谱（待梳理归纳）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08097320"/>
                  </a:ext>
                </a:extLst>
              </a:tr>
              <a:tr h="672777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实际观察图形得到的主升出现概率较大的位置</a:t>
                      </a:r>
                    </a:p>
                  </a:txBody>
                  <a:tcP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维度中的位置：（须观察实际图形，勿空想）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渡（初储）：可主升，需触顶。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渡（再）：可主升，需触顶。须防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主：可主升；须防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震荡触顶诱多。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破：可被动持有。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周顶型与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的不同步：此处以（顶型）为优先条件。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（顶型）领先于（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）：顶型为龙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仍为负交。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（顶型）落后于（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）：顶型为非龙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已变为正交。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维度的位置：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WTZA=-1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时，依赖柱排。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主升在柱排维度的位置：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在管柱排：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枝启动。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出管排列：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1402927"/>
                  </a:ext>
                </a:extLst>
              </a:tr>
              <a:tr h="44304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是否参考日类</a:t>
                      </a:r>
                    </a:p>
                  </a:txBody>
                  <a:tcP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可全部映射至日类</a:t>
                      </a:r>
                      <a:endParaRPr lang="en-US" altLang="zh-CN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周类：</a:t>
                      </a: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WJC+WXAB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</a:t>
                      </a:r>
                      <a:endParaRPr lang="en-US" altLang="zh-CN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日类：</a:t>
                      </a: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DJC+DXAB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同“可看”参考日类的方法。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先周后日</a:t>
                      </a:r>
                      <a:endParaRPr lang="en-US" altLang="zh-CN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日漏定义</a:t>
                      </a:r>
                      <a:endParaRPr lang="en-US" altLang="zh-CN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观察如何用（日五柱）组成（周柱）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1249998"/>
                  </a:ext>
                </a:extLst>
              </a:tr>
            </a:tbl>
          </a:graphicData>
        </a:graphic>
      </p:graphicFrame>
      <p:sp>
        <p:nvSpPr>
          <p:cNvPr id="2" name="左大括号 1">
            <a:extLst>
              <a:ext uri="{FF2B5EF4-FFF2-40B4-BE49-F238E27FC236}">
                <a16:creationId xmlns:a16="http://schemas.microsoft.com/office/drawing/2014/main" id="{85CFA5F1-A13C-C695-A28D-2518AF9B9942}"/>
              </a:ext>
            </a:extLst>
          </p:cNvPr>
          <p:cNvSpPr/>
          <p:nvPr/>
        </p:nvSpPr>
        <p:spPr>
          <a:xfrm rot="5400000">
            <a:off x="2835989" y="1388883"/>
            <a:ext cx="377820" cy="4357736"/>
          </a:xfrm>
          <a:prstGeom prst="leftBrace">
            <a:avLst>
              <a:gd name="adj1" fmla="val 111195"/>
              <a:gd name="adj2" fmla="val 57958"/>
            </a:avLst>
          </a:prstGeom>
          <a:solidFill>
            <a:schemeClr val="accent1">
              <a:lumMod val="50000"/>
            </a:schemeClr>
          </a:solidFill>
          <a:ln w="12700">
            <a:solidFill>
              <a:schemeClr val="tx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椭圆 5">
            <a:extLst>
              <a:ext uri="{FF2B5EF4-FFF2-40B4-BE49-F238E27FC236}">
                <a16:creationId xmlns:a16="http://schemas.microsoft.com/office/drawing/2014/main" id="{1C366B45-664E-FA06-133E-A9B072AAC872}"/>
              </a:ext>
            </a:extLst>
          </p:cNvPr>
          <p:cNvSpPr/>
          <p:nvPr/>
        </p:nvSpPr>
        <p:spPr>
          <a:xfrm>
            <a:off x="2464668" y="2937310"/>
            <a:ext cx="434460" cy="434460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菱形 6">
            <a:extLst>
              <a:ext uri="{FF2B5EF4-FFF2-40B4-BE49-F238E27FC236}">
                <a16:creationId xmlns:a16="http://schemas.microsoft.com/office/drawing/2014/main" id="{8A46EC35-2FFE-2420-297F-C5279BEA2F71}"/>
              </a:ext>
            </a:extLst>
          </p:cNvPr>
          <p:cNvSpPr/>
          <p:nvPr/>
        </p:nvSpPr>
        <p:spPr>
          <a:xfrm>
            <a:off x="4636166" y="2825268"/>
            <a:ext cx="1195136" cy="377820"/>
          </a:xfrm>
          <a:prstGeom prst="diamond">
            <a:avLst/>
          </a:prstGeom>
          <a:solidFill>
            <a:schemeClr val="accent5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7216D23A-4E28-13A2-8CD8-820C0C0CA91D}"/>
              </a:ext>
            </a:extLst>
          </p:cNvPr>
          <p:cNvSpPr txBox="1"/>
          <p:nvPr/>
        </p:nvSpPr>
        <p:spPr>
          <a:xfrm>
            <a:off x="4929816" y="2865372"/>
            <a:ext cx="72968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是否“可看”</a:t>
            </a:r>
            <a:r>
              <a:rPr lang="en-US" altLang="zh-CN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?</a:t>
            </a:r>
          </a:p>
          <a:p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限制在</a:t>
            </a:r>
            <a:r>
              <a:rPr lang="en-US" altLang="zh-CN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</a:p>
        </p:txBody>
      </p:sp>
      <p:sp>
        <p:nvSpPr>
          <p:cNvPr id="10" name="菱形 9">
            <a:extLst>
              <a:ext uri="{FF2B5EF4-FFF2-40B4-BE49-F238E27FC236}">
                <a16:creationId xmlns:a16="http://schemas.microsoft.com/office/drawing/2014/main" id="{0FB77002-B765-0568-5B83-80A72ACAC2B8}"/>
              </a:ext>
            </a:extLst>
          </p:cNvPr>
          <p:cNvSpPr/>
          <p:nvPr/>
        </p:nvSpPr>
        <p:spPr>
          <a:xfrm>
            <a:off x="6248398" y="2841310"/>
            <a:ext cx="1195136" cy="377820"/>
          </a:xfrm>
          <a:prstGeom prst="diamond">
            <a:avLst/>
          </a:prstGeom>
          <a:solidFill>
            <a:schemeClr val="accent5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15722B24-E681-025B-877C-964F59934BE4}"/>
              </a:ext>
            </a:extLst>
          </p:cNvPr>
          <p:cNvSpPr txBox="1"/>
          <p:nvPr/>
        </p:nvSpPr>
        <p:spPr>
          <a:xfrm>
            <a:off x="6357565" y="2865372"/>
            <a:ext cx="101181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是否“可持”</a:t>
            </a:r>
            <a:r>
              <a:rPr lang="en-US" altLang="zh-CN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?</a:t>
            </a:r>
          </a:p>
          <a:p>
            <a:pPr algn="ctr"/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限制月势</a:t>
            </a:r>
            <a:r>
              <a:rPr lang="en-US" altLang="zh-CN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/A7/A3/B1/B0</a:t>
            </a:r>
            <a:endParaRPr lang="zh-CN" altLang="en-US" sz="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菱形 11">
            <a:extLst>
              <a:ext uri="{FF2B5EF4-FFF2-40B4-BE49-F238E27FC236}">
                <a16:creationId xmlns:a16="http://schemas.microsoft.com/office/drawing/2014/main" id="{000D25E7-EF19-BDF0-F1C6-D3A412177FF1}"/>
              </a:ext>
            </a:extLst>
          </p:cNvPr>
          <p:cNvSpPr/>
          <p:nvPr/>
        </p:nvSpPr>
        <p:spPr>
          <a:xfrm>
            <a:off x="7802237" y="2841310"/>
            <a:ext cx="1195136" cy="377820"/>
          </a:xfrm>
          <a:prstGeom prst="diamond">
            <a:avLst/>
          </a:prstGeom>
          <a:solidFill>
            <a:schemeClr val="accent5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7B1553FF-874E-1B90-0328-1F47F5029CEB}"/>
              </a:ext>
            </a:extLst>
          </p:cNvPr>
          <p:cNvSpPr txBox="1"/>
          <p:nvPr/>
        </p:nvSpPr>
        <p:spPr>
          <a:xfrm>
            <a:off x="8079845" y="2865372"/>
            <a:ext cx="68320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是否“可龙”</a:t>
            </a:r>
            <a:r>
              <a:rPr lang="en-US" altLang="zh-CN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?</a:t>
            </a:r>
          </a:p>
          <a:p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限制在龙管中</a:t>
            </a:r>
          </a:p>
        </p:txBody>
      </p:sp>
      <p:sp>
        <p:nvSpPr>
          <p:cNvPr id="14" name="菱形 13">
            <a:extLst>
              <a:ext uri="{FF2B5EF4-FFF2-40B4-BE49-F238E27FC236}">
                <a16:creationId xmlns:a16="http://schemas.microsoft.com/office/drawing/2014/main" id="{B304D503-B626-96A1-2141-E2A2B2C3B842}"/>
              </a:ext>
            </a:extLst>
          </p:cNvPr>
          <p:cNvSpPr/>
          <p:nvPr/>
        </p:nvSpPr>
        <p:spPr>
          <a:xfrm>
            <a:off x="9430070" y="2841310"/>
            <a:ext cx="1195136" cy="377820"/>
          </a:xfrm>
          <a:prstGeom prst="diamond">
            <a:avLst/>
          </a:prstGeom>
          <a:solidFill>
            <a:schemeClr val="accent5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CFB60E52-79E1-AFC3-4EBC-D86A41274BED}"/>
              </a:ext>
            </a:extLst>
          </p:cNvPr>
          <p:cNvSpPr txBox="1"/>
          <p:nvPr/>
        </p:nvSpPr>
        <p:spPr>
          <a:xfrm>
            <a:off x="9707678" y="2865372"/>
            <a:ext cx="72327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是否“可垒”</a:t>
            </a:r>
            <a:r>
              <a:rPr lang="en-US" altLang="zh-CN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?</a:t>
            </a:r>
          </a:p>
          <a:p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限制地型、柱排</a:t>
            </a:r>
          </a:p>
        </p:txBody>
      </p:sp>
      <p:sp>
        <p:nvSpPr>
          <p:cNvPr id="16" name="矩形: 圆角 15">
            <a:extLst>
              <a:ext uri="{FF2B5EF4-FFF2-40B4-BE49-F238E27FC236}">
                <a16:creationId xmlns:a16="http://schemas.microsoft.com/office/drawing/2014/main" id="{A4A165B3-0166-6094-3F7B-3AB475096AFA}"/>
              </a:ext>
            </a:extLst>
          </p:cNvPr>
          <p:cNvSpPr/>
          <p:nvPr/>
        </p:nvSpPr>
        <p:spPr>
          <a:xfrm>
            <a:off x="4708355" y="3302014"/>
            <a:ext cx="1042736" cy="188494"/>
          </a:xfrm>
          <a:prstGeom prst="roundRect">
            <a:avLst/>
          </a:prstGeom>
          <a:solidFill>
            <a:schemeClr val="accent4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之下勿看</a:t>
            </a:r>
          </a:p>
        </p:txBody>
      </p:sp>
      <p:sp>
        <p:nvSpPr>
          <p:cNvPr id="17" name="矩形: 圆角 16">
            <a:extLst>
              <a:ext uri="{FF2B5EF4-FFF2-40B4-BE49-F238E27FC236}">
                <a16:creationId xmlns:a16="http://schemas.microsoft.com/office/drawing/2014/main" id="{8C1DDDBC-2BB5-D351-D3BE-4587AEB5FFCB}"/>
              </a:ext>
            </a:extLst>
          </p:cNvPr>
          <p:cNvSpPr/>
          <p:nvPr/>
        </p:nvSpPr>
        <p:spPr>
          <a:xfrm>
            <a:off x="6232356" y="3302014"/>
            <a:ext cx="1251284" cy="188494"/>
          </a:xfrm>
          <a:prstGeom prst="roundRect">
            <a:avLst/>
          </a:prstGeom>
          <a:solidFill>
            <a:schemeClr val="accent4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“可看”月势：</a:t>
            </a:r>
            <a:r>
              <a:rPr lang="en-US" altLang="zh-CN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/C7/C6/C4/C0</a:t>
            </a:r>
            <a:endParaRPr lang="zh-CN" altLang="en-US" sz="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矩形: 圆角 17">
            <a:extLst>
              <a:ext uri="{FF2B5EF4-FFF2-40B4-BE49-F238E27FC236}">
                <a16:creationId xmlns:a16="http://schemas.microsoft.com/office/drawing/2014/main" id="{ECDAAD0A-9D67-B0CE-D8B8-A2389757FB45}"/>
              </a:ext>
            </a:extLst>
          </p:cNvPr>
          <p:cNvSpPr/>
          <p:nvPr/>
        </p:nvSpPr>
        <p:spPr>
          <a:xfrm>
            <a:off x="7774163" y="3302014"/>
            <a:ext cx="1251284" cy="188494"/>
          </a:xfrm>
          <a:prstGeom prst="roundRect">
            <a:avLst/>
          </a:prstGeom>
          <a:solidFill>
            <a:schemeClr val="tx2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属于“可持”震荡：仅可试仓。</a:t>
            </a:r>
          </a:p>
        </p:txBody>
      </p:sp>
      <p:sp>
        <p:nvSpPr>
          <p:cNvPr id="19" name="矩形: 圆角 18">
            <a:extLst>
              <a:ext uri="{FF2B5EF4-FFF2-40B4-BE49-F238E27FC236}">
                <a16:creationId xmlns:a16="http://schemas.microsoft.com/office/drawing/2014/main" id="{59C95FEE-E39A-87BE-7B2C-814C1F3AAEB8}"/>
              </a:ext>
            </a:extLst>
          </p:cNvPr>
          <p:cNvSpPr/>
          <p:nvPr/>
        </p:nvSpPr>
        <p:spPr>
          <a:xfrm>
            <a:off x="9401996" y="3302014"/>
            <a:ext cx="1251284" cy="188494"/>
          </a:xfrm>
          <a:prstGeom prst="roundRect">
            <a:avLst/>
          </a:prstGeom>
          <a:solidFill>
            <a:schemeClr val="accent5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适用于：龙丘周战法</a:t>
            </a:r>
          </a:p>
        </p:txBody>
      </p:sp>
      <p:sp>
        <p:nvSpPr>
          <p:cNvPr id="20" name="矩形: 圆角 19">
            <a:extLst>
              <a:ext uri="{FF2B5EF4-FFF2-40B4-BE49-F238E27FC236}">
                <a16:creationId xmlns:a16="http://schemas.microsoft.com/office/drawing/2014/main" id="{CFD85CA2-1B53-053E-E823-0C28C69A49BA}"/>
              </a:ext>
            </a:extLst>
          </p:cNvPr>
          <p:cNvSpPr/>
          <p:nvPr/>
        </p:nvSpPr>
        <p:spPr>
          <a:xfrm>
            <a:off x="11142565" y="2879294"/>
            <a:ext cx="961200" cy="323794"/>
          </a:xfrm>
          <a:prstGeom prst="roundRect">
            <a:avLst/>
          </a:prstGeom>
          <a:solidFill>
            <a:schemeClr val="accent5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适用于：</a:t>
            </a:r>
            <a:endParaRPr lang="en-US" altLang="zh-CN" sz="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龙冲周战法</a:t>
            </a:r>
            <a:endParaRPr lang="en-US" altLang="zh-CN" sz="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龙展日战法</a:t>
            </a:r>
          </a:p>
        </p:txBody>
      </p:sp>
      <p:cxnSp>
        <p:nvCxnSpPr>
          <p:cNvPr id="22" name="直接箭头连接符 21">
            <a:extLst>
              <a:ext uri="{FF2B5EF4-FFF2-40B4-BE49-F238E27FC236}">
                <a16:creationId xmlns:a16="http://schemas.microsoft.com/office/drawing/2014/main" id="{2B90F99C-8064-1139-2963-2D87E2FDFCDE}"/>
              </a:ext>
            </a:extLst>
          </p:cNvPr>
          <p:cNvCxnSpPr>
            <a:cxnSpLocks/>
            <a:stCxn id="7" idx="3"/>
            <a:endCxn id="10" idx="1"/>
          </p:cNvCxnSpPr>
          <p:nvPr/>
        </p:nvCxnSpPr>
        <p:spPr>
          <a:xfrm>
            <a:off x="5831302" y="3014178"/>
            <a:ext cx="417096" cy="16042"/>
          </a:xfrm>
          <a:prstGeom prst="straightConnector1">
            <a:avLst/>
          </a:prstGeom>
          <a:ln w="12700">
            <a:solidFill>
              <a:srgbClr val="172C5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箭头连接符 22">
            <a:extLst>
              <a:ext uri="{FF2B5EF4-FFF2-40B4-BE49-F238E27FC236}">
                <a16:creationId xmlns:a16="http://schemas.microsoft.com/office/drawing/2014/main" id="{443EC05E-27CC-E0D2-1CD8-52F2881CDE22}"/>
              </a:ext>
            </a:extLst>
          </p:cNvPr>
          <p:cNvCxnSpPr>
            <a:cxnSpLocks/>
            <a:stCxn id="10" idx="3"/>
            <a:endCxn id="12" idx="1"/>
          </p:cNvCxnSpPr>
          <p:nvPr/>
        </p:nvCxnSpPr>
        <p:spPr>
          <a:xfrm>
            <a:off x="7443534" y="3030220"/>
            <a:ext cx="358703" cy="0"/>
          </a:xfrm>
          <a:prstGeom prst="straightConnector1">
            <a:avLst/>
          </a:prstGeom>
          <a:ln w="12700">
            <a:solidFill>
              <a:srgbClr val="172C5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箭头连接符 27">
            <a:extLst>
              <a:ext uri="{FF2B5EF4-FFF2-40B4-BE49-F238E27FC236}">
                <a16:creationId xmlns:a16="http://schemas.microsoft.com/office/drawing/2014/main" id="{2891E6A6-A88E-254F-A255-0E9A4D6A76A5}"/>
              </a:ext>
            </a:extLst>
          </p:cNvPr>
          <p:cNvCxnSpPr>
            <a:cxnSpLocks/>
            <a:stCxn id="12" idx="3"/>
            <a:endCxn id="14" idx="1"/>
          </p:cNvCxnSpPr>
          <p:nvPr/>
        </p:nvCxnSpPr>
        <p:spPr>
          <a:xfrm>
            <a:off x="8997373" y="3030220"/>
            <a:ext cx="432697" cy="0"/>
          </a:xfrm>
          <a:prstGeom prst="straightConnector1">
            <a:avLst/>
          </a:prstGeom>
          <a:ln w="12700">
            <a:solidFill>
              <a:srgbClr val="172C5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箭头连接符 30">
            <a:extLst>
              <a:ext uri="{FF2B5EF4-FFF2-40B4-BE49-F238E27FC236}">
                <a16:creationId xmlns:a16="http://schemas.microsoft.com/office/drawing/2014/main" id="{76ABB56C-0F6A-2517-7842-C8C7684F3286}"/>
              </a:ext>
            </a:extLst>
          </p:cNvPr>
          <p:cNvCxnSpPr>
            <a:cxnSpLocks/>
            <a:stCxn id="14" idx="3"/>
            <a:endCxn id="20" idx="1"/>
          </p:cNvCxnSpPr>
          <p:nvPr/>
        </p:nvCxnSpPr>
        <p:spPr>
          <a:xfrm>
            <a:off x="10625206" y="3030220"/>
            <a:ext cx="517359" cy="10971"/>
          </a:xfrm>
          <a:prstGeom prst="straightConnector1">
            <a:avLst/>
          </a:prstGeom>
          <a:ln w="12700">
            <a:solidFill>
              <a:srgbClr val="172C5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箭头连接符 33">
            <a:extLst>
              <a:ext uri="{FF2B5EF4-FFF2-40B4-BE49-F238E27FC236}">
                <a16:creationId xmlns:a16="http://schemas.microsoft.com/office/drawing/2014/main" id="{8944E4D9-4F31-ACD6-4A13-663D88CA94D2}"/>
              </a:ext>
            </a:extLst>
          </p:cNvPr>
          <p:cNvCxnSpPr>
            <a:cxnSpLocks/>
            <a:stCxn id="7" idx="2"/>
            <a:endCxn id="16" idx="0"/>
          </p:cNvCxnSpPr>
          <p:nvPr/>
        </p:nvCxnSpPr>
        <p:spPr>
          <a:xfrm flipH="1">
            <a:off x="5229723" y="3203088"/>
            <a:ext cx="4011" cy="98926"/>
          </a:xfrm>
          <a:prstGeom prst="straightConnector1">
            <a:avLst/>
          </a:prstGeom>
          <a:ln w="12700">
            <a:solidFill>
              <a:srgbClr val="172C5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箭头连接符 36">
            <a:extLst>
              <a:ext uri="{FF2B5EF4-FFF2-40B4-BE49-F238E27FC236}">
                <a16:creationId xmlns:a16="http://schemas.microsoft.com/office/drawing/2014/main" id="{53C198C4-B942-8669-0C0C-B2ED49CD56AE}"/>
              </a:ext>
            </a:extLst>
          </p:cNvPr>
          <p:cNvCxnSpPr>
            <a:cxnSpLocks/>
            <a:stCxn id="10" idx="2"/>
            <a:endCxn id="17" idx="0"/>
          </p:cNvCxnSpPr>
          <p:nvPr/>
        </p:nvCxnSpPr>
        <p:spPr>
          <a:xfrm>
            <a:off x="6845966" y="3219130"/>
            <a:ext cx="12032" cy="82884"/>
          </a:xfrm>
          <a:prstGeom prst="straightConnector1">
            <a:avLst/>
          </a:prstGeom>
          <a:ln w="12700">
            <a:solidFill>
              <a:srgbClr val="172C5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箭头连接符 39">
            <a:extLst>
              <a:ext uri="{FF2B5EF4-FFF2-40B4-BE49-F238E27FC236}">
                <a16:creationId xmlns:a16="http://schemas.microsoft.com/office/drawing/2014/main" id="{3593B5DB-3144-BB74-6090-EE778F4B1E64}"/>
              </a:ext>
            </a:extLst>
          </p:cNvPr>
          <p:cNvCxnSpPr>
            <a:cxnSpLocks/>
            <a:stCxn id="12" idx="2"/>
            <a:endCxn id="18" idx="0"/>
          </p:cNvCxnSpPr>
          <p:nvPr/>
        </p:nvCxnSpPr>
        <p:spPr>
          <a:xfrm>
            <a:off x="8399805" y="3219130"/>
            <a:ext cx="0" cy="82884"/>
          </a:xfrm>
          <a:prstGeom prst="straightConnector1">
            <a:avLst/>
          </a:prstGeom>
          <a:ln w="12700">
            <a:solidFill>
              <a:srgbClr val="172C5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箭头连接符 42">
            <a:extLst>
              <a:ext uri="{FF2B5EF4-FFF2-40B4-BE49-F238E27FC236}">
                <a16:creationId xmlns:a16="http://schemas.microsoft.com/office/drawing/2014/main" id="{43817B28-1354-DACB-405D-2A03622807E7}"/>
              </a:ext>
            </a:extLst>
          </p:cNvPr>
          <p:cNvCxnSpPr>
            <a:cxnSpLocks/>
            <a:stCxn id="14" idx="2"/>
            <a:endCxn id="19" idx="0"/>
          </p:cNvCxnSpPr>
          <p:nvPr/>
        </p:nvCxnSpPr>
        <p:spPr>
          <a:xfrm>
            <a:off x="10027638" y="3219130"/>
            <a:ext cx="0" cy="82884"/>
          </a:xfrm>
          <a:prstGeom prst="straightConnector1">
            <a:avLst/>
          </a:prstGeom>
          <a:ln w="12700">
            <a:solidFill>
              <a:srgbClr val="172C5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5324703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直接连接符 7">
            <a:extLst>
              <a:ext uri="{FF2B5EF4-FFF2-40B4-BE49-F238E27FC236}">
                <a16:creationId xmlns:a16="http://schemas.microsoft.com/office/drawing/2014/main" id="{1B5C643A-8533-4915-E5EE-2FE1D72A2023}"/>
              </a:ext>
            </a:extLst>
          </p:cNvPr>
          <p:cNvCxnSpPr>
            <a:cxnSpLocks/>
          </p:cNvCxnSpPr>
          <p:nvPr/>
        </p:nvCxnSpPr>
        <p:spPr>
          <a:xfrm>
            <a:off x="7476519" y="907630"/>
            <a:ext cx="0" cy="72102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>
            <a:extLst>
              <a:ext uri="{FF2B5EF4-FFF2-40B4-BE49-F238E27FC236}">
                <a16:creationId xmlns:a16="http://schemas.microsoft.com/office/drawing/2014/main" id="{C67AFBBA-9D97-9A2C-3FB1-14AF952419A2}"/>
              </a:ext>
            </a:extLst>
          </p:cNvPr>
          <p:cNvCxnSpPr>
            <a:cxnSpLocks/>
          </p:cNvCxnSpPr>
          <p:nvPr/>
        </p:nvCxnSpPr>
        <p:spPr>
          <a:xfrm>
            <a:off x="5330311" y="907630"/>
            <a:ext cx="0" cy="72102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直接连接符 198">
            <a:extLst>
              <a:ext uri="{FF2B5EF4-FFF2-40B4-BE49-F238E27FC236}">
                <a16:creationId xmlns:a16="http://schemas.microsoft.com/office/drawing/2014/main" id="{F1136092-5ECD-2107-08F9-277F55185DB3}"/>
              </a:ext>
            </a:extLst>
          </p:cNvPr>
          <p:cNvCxnSpPr>
            <a:cxnSpLocks/>
            <a:endCxn id="148" idx="0"/>
          </p:cNvCxnSpPr>
          <p:nvPr/>
        </p:nvCxnSpPr>
        <p:spPr>
          <a:xfrm flipH="1">
            <a:off x="11674708" y="863912"/>
            <a:ext cx="1175" cy="137899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9" name="直接连接符 188">
            <a:extLst>
              <a:ext uri="{FF2B5EF4-FFF2-40B4-BE49-F238E27FC236}">
                <a16:creationId xmlns:a16="http://schemas.microsoft.com/office/drawing/2014/main" id="{CC73D0A1-4DC0-352C-6A79-414F9BC8DEFB}"/>
              </a:ext>
            </a:extLst>
          </p:cNvPr>
          <p:cNvCxnSpPr>
            <a:cxnSpLocks/>
          </p:cNvCxnSpPr>
          <p:nvPr/>
        </p:nvCxnSpPr>
        <p:spPr>
          <a:xfrm>
            <a:off x="6900996" y="925630"/>
            <a:ext cx="8977" cy="490812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直接连接符 187">
            <a:extLst>
              <a:ext uri="{FF2B5EF4-FFF2-40B4-BE49-F238E27FC236}">
                <a16:creationId xmlns:a16="http://schemas.microsoft.com/office/drawing/2014/main" id="{FFF80C9C-E574-F8F8-2852-AA3454411B9C}"/>
              </a:ext>
            </a:extLst>
          </p:cNvPr>
          <p:cNvCxnSpPr>
            <a:cxnSpLocks/>
          </p:cNvCxnSpPr>
          <p:nvPr/>
        </p:nvCxnSpPr>
        <p:spPr>
          <a:xfrm>
            <a:off x="3480034" y="823310"/>
            <a:ext cx="0" cy="54000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直接连接符 185">
            <a:extLst>
              <a:ext uri="{FF2B5EF4-FFF2-40B4-BE49-F238E27FC236}">
                <a16:creationId xmlns:a16="http://schemas.microsoft.com/office/drawing/2014/main" id="{A72D2739-8D23-8636-72E3-71F60FFBF6A3}"/>
              </a:ext>
            </a:extLst>
          </p:cNvPr>
          <p:cNvCxnSpPr>
            <a:cxnSpLocks/>
          </p:cNvCxnSpPr>
          <p:nvPr/>
        </p:nvCxnSpPr>
        <p:spPr>
          <a:xfrm flipH="1" flipV="1">
            <a:off x="5330428" y="709630"/>
            <a:ext cx="7143" cy="21600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直接连接符 177">
            <a:extLst>
              <a:ext uri="{FF2B5EF4-FFF2-40B4-BE49-F238E27FC236}">
                <a16:creationId xmlns:a16="http://schemas.microsoft.com/office/drawing/2014/main" id="{8C5A373A-AD73-770C-4C16-3FEFD841D56D}"/>
              </a:ext>
            </a:extLst>
          </p:cNvPr>
          <p:cNvCxnSpPr>
            <a:cxnSpLocks/>
          </p:cNvCxnSpPr>
          <p:nvPr/>
        </p:nvCxnSpPr>
        <p:spPr>
          <a:xfrm>
            <a:off x="4586364" y="806065"/>
            <a:ext cx="11852" cy="904353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直接连接符 173">
            <a:extLst>
              <a:ext uri="{FF2B5EF4-FFF2-40B4-BE49-F238E27FC236}">
                <a16:creationId xmlns:a16="http://schemas.microsoft.com/office/drawing/2014/main" id="{8C4D2EE2-7454-1822-5817-C308538540D0}"/>
              </a:ext>
            </a:extLst>
          </p:cNvPr>
          <p:cNvCxnSpPr>
            <a:cxnSpLocks/>
            <a:endCxn id="160" idx="0"/>
          </p:cNvCxnSpPr>
          <p:nvPr/>
        </p:nvCxnSpPr>
        <p:spPr>
          <a:xfrm>
            <a:off x="2785913" y="899510"/>
            <a:ext cx="0" cy="1466557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" name="直接连接符 167">
            <a:extLst>
              <a:ext uri="{FF2B5EF4-FFF2-40B4-BE49-F238E27FC236}">
                <a16:creationId xmlns:a16="http://schemas.microsoft.com/office/drawing/2014/main" id="{8F9935B0-32D9-1C16-C6FE-DC5EFBE651CF}"/>
              </a:ext>
            </a:extLst>
          </p:cNvPr>
          <p:cNvCxnSpPr>
            <a:cxnSpLocks/>
          </p:cNvCxnSpPr>
          <p:nvPr/>
        </p:nvCxnSpPr>
        <p:spPr>
          <a:xfrm>
            <a:off x="1499044" y="863912"/>
            <a:ext cx="12798" cy="2173359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直接连接符 100">
            <a:extLst>
              <a:ext uri="{FF2B5EF4-FFF2-40B4-BE49-F238E27FC236}">
                <a16:creationId xmlns:a16="http://schemas.microsoft.com/office/drawing/2014/main" id="{2DB403B5-1700-ED82-838C-CC3A0AB0FF7F}"/>
              </a:ext>
            </a:extLst>
          </p:cNvPr>
          <p:cNvCxnSpPr>
            <a:cxnSpLocks/>
          </p:cNvCxnSpPr>
          <p:nvPr/>
        </p:nvCxnSpPr>
        <p:spPr>
          <a:xfrm>
            <a:off x="1027402" y="4974890"/>
            <a:ext cx="8918" cy="1699406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直接连接符 102">
            <a:extLst>
              <a:ext uri="{FF2B5EF4-FFF2-40B4-BE49-F238E27FC236}">
                <a16:creationId xmlns:a16="http://schemas.microsoft.com/office/drawing/2014/main" id="{22420314-8430-50ED-B5AE-C859DCFDBF98}"/>
              </a:ext>
            </a:extLst>
          </p:cNvPr>
          <p:cNvCxnSpPr>
            <a:cxnSpLocks/>
          </p:cNvCxnSpPr>
          <p:nvPr/>
        </p:nvCxnSpPr>
        <p:spPr>
          <a:xfrm>
            <a:off x="1531620" y="5594981"/>
            <a:ext cx="0" cy="1078869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直接连接符 107">
            <a:extLst>
              <a:ext uri="{FF2B5EF4-FFF2-40B4-BE49-F238E27FC236}">
                <a16:creationId xmlns:a16="http://schemas.microsoft.com/office/drawing/2014/main" id="{C5EE296C-8BBD-891C-DE14-EAD0B9EC4085}"/>
              </a:ext>
            </a:extLst>
          </p:cNvPr>
          <p:cNvCxnSpPr>
            <a:cxnSpLocks/>
          </p:cNvCxnSpPr>
          <p:nvPr/>
        </p:nvCxnSpPr>
        <p:spPr>
          <a:xfrm>
            <a:off x="2325369" y="5478811"/>
            <a:ext cx="0" cy="1195039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直接连接符 109">
            <a:extLst>
              <a:ext uri="{FF2B5EF4-FFF2-40B4-BE49-F238E27FC236}">
                <a16:creationId xmlns:a16="http://schemas.microsoft.com/office/drawing/2014/main" id="{85369B32-ABB9-A866-2D2D-5280B7285724}"/>
              </a:ext>
            </a:extLst>
          </p:cNvPr>
          <p:cNvCxnSpPr>
            <a:cxnSpLocks/>
          </p:cNvCxnSpPr>
          <p:nvPr/>
        </p:nvCxnSpPr>
        <p:spPr>
          <a:xfrm>
            <a:off x="2883307" y="6058376"/>
            <a:ext cx="0" cy="597098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直接连接符 111">
            <a:extLst>
              <a:ext uri="{FF2B5EF4-FFF2-40B4-BE49-F238E27FC236}">
                <a16:creationId xmlns:a16="http://schemas.microsoft.com/office/drawing/2014/main" id="{B0B4CF22-D405-B858-B195-571B7E29123F}"/>
              </a:ext>
            </a:extLst>
          </p:cNvPr>
          <p:cNvCxnSpPr>
            <a:cxnSpLocks/>
          </p:cNvCxnSpPr>
          <p:nvPr/>
        </p:nvCxnSpPr>
        <p:spPr>
          <a:xfrm flipH="1">
            <a:off x="3705249" y="6066528"/>
            <a:ext cx="2390" cy="739542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直接连接符 123">
            <a:extLst>
              <a:ext uri="{FF2B5EF4-FFF2-40B4-BE49-F238E27FC236}">
                <a16:creationId xmlns:a16="http://schemas.microsoft.com/office/drawing/2014/main" id="{F9B04992-33B1-88A5-2F29-BAC1719A20A5}"/>
              </a:ext>
            </a:extLst>
          </p:cNvPr>
          <p:cNvCxnSpPr>
            <a:cxnSpLocks/>
            <a:endCxn id="152" idx="0"/>
          </p:cNvCxnSpPr>
          <p:nvPr/>
        </p:nvCxnSpPr>
        <p:spPr>
          <a:xfrm>
            <a:off x="2134485" y="815599"/>
            <a:ext cx="0" cy="1371636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趋势判定原则 ⇒ 做多与做空的区别</a:t>
            </a:r>
            <a:b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观点：趋势有逻辑，震荡无厘头，不要混淆做多与做空的边界。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任意多边形: 形状 2">
            <a:extLst>
              <a:ext uri="{FF2B5EF4-FFF2-40B4-BE49-F238E27FC236}">
                <a16:creationId xmlns:a16="http://schemas.microsoft.com/office/drawing/2014/main" id="{AD565E4E-B79C-E624-1736-6E7BEC5487FB}"/>
              </a:ext>
            </a:extLst>
          </p:cNvPr>
          <p:cNvSpPr/>
          <p:nvPr/>
        </p:nvSpPr>
        <p:spPr>
          <a:xfrm>
            <a:off x="304800" y="2273300"/>
            <a:ext cx="11880000" cy="965200"/>
          </a:xfrm>
          <a:custGeom>
            <a:avLst/>
            <a:gdLst>
              <a:gd name="connsiteX0" fmla="*/ 0 w 11569700"/>
              <a:gd name="connsiteY0" fmla="*/ 965200 h 965200"/>
              <a:gd name="connsiteX1" fmla="*/ 11569700 w 11569700"/>
              <a:gd name="connsiteY1" fmla="*/ 0 h 965200"/>
              <a:gd name="connsiteX2" fmla="*/ 11569700 w 11569700"/>
              <a:gd name="connsiteY2" fmla="*/ 0 h 965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569700" h="965200">
                <a:moveTo>
                  <a:pt x="0" y="965200"/>
                </a:moveTo>
                <a:lnTo>
                  <a:pt x="11569700" y="0"/>
                </a:lnTo>
                <a:lnTo>
                  <a:pt x="11569700" y="0"/>
                </a:lnTo>
              </a:path>
            </a:pathLst>
          </a:custGeom>
          <a:noFill/>
          <a:ln w="50800">
            <a:solidFill>
              <a:schemeClr val="bg2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AA1AABAC-964A-D75A-95EE-EF6288A6A5CA}"/>
              </a:ext>
            </a:extLst>
          </p:cNvPr>
          <p:cNvSpPr/>
          <p:nvPr/>
        </p:nvSpPr>
        <p:spPr>
          <a:xfrm>
            <a:off x="304800" y="1854200"/>
            <a:ext cx="11880000" cy="1739900"/>
          </a:xfrm>
          <a:custGeom>
            <a:avLst/>
            <a:gdLst>
              <a:gd name="connsiteX0" fmla="*/ 0 w 11531600"/>
              <a:gd name="connsiteY0" fmla="*/ 1739900 h 1739900"/>
              <a:gd name="connsiteX1" fmla="*/ 1778000 w 11531600"/>
              <a:gd name="connsiteY1" fmla="*/ 1511300 h 1739900"/>
              <a:gd name="connsiteX2" fmla="*/ 4406900 w 11531600"/>
              <a:gd name="connsiteY2" fmla="*/ 533400 h 1739900"/>
              <a:gd name="connsiteX3" fmla="*/ 8242300 w 11531600"/>
              <a:gd name="connsiteY3" fmla="*/ 88900 h 1739900"/>
              <a:gd name="connsiteX4" fmla="*/ 11531600 w 11531600"/>
              <a:gd name="connsiteY4" fmla="*/ 0 h 173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31600" h="1739900">
                <a:moveTo>
                  <a:pt x="0" y="1739900"/>
                </a:moveTo>
                <a:cubicBezTo>
                  <a:pt x="521758" y="1726141"/>
                  <a:pt x="1043517" y="1712383"/>
                  <a:pt x="1778000" y="1511300"/>
                </a:cubicBezTo>
                <a:cubicBezTo>
                  <a:pt x="2512483" y="1310217"/>
                  <a:pt x="3329517" y="770467"/>
                  <a:pt x="4406900" y="533400"/>
                </a:cubicBezTo>
                <a:cubicBezTo>
                  <a:pt x="5484283" y="296333"/>
                  <a:pt x="7054850" y="177800"/>
                  <a:pt x="8242300" y="88900"/>
                </a:cubicBezTo>
                <a:cubicBezTo>
                  <a:pt x="9429750" y="0"/>
                  <a:pt x="10480675" y="0"/>
                  <a:pt x="11531600" y="0"/>
                </a:cubicBezTo>
              </a:path>
            </a:pathLst>
          </a:custGeom>
          <a:noFill/>
          <a:ln w="3810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任意多边形: 形状 31">
            <a:extLst>
              <a:ext uri="{FF2B5EF4-FFF2-40B4-BE49-F238E27FC236}">
                <a16:creationId xmlns:a16="http://schemas.microsoft.com/office/drawing/2014/main" id="{5DD6937F-F3E9-1B78-F29F-42C160234B2C}"/>
              </a:ext>
            </a:extLst>
          </p:cNvPr>
          <p:cNvSpPr/>
          <p:nvPr/>
        </p:nvSpPr>
        <p:spPr>
          <a:xfrm>
            <a:off x="304800" y="1498600"/>
            <a:ext cx="11880000" cy="2331643"/>
          </a:xfrm>
          <a:custGeom>
            <a:avLst/>
            <a:gdLst>
              <a:gd name="connsiteX0" fmla="*/ 0 w 11506200"/>
              <a:gd name="connsiteY0" fmla="*/ 2311400 h 2331643"/>
              <a:gd name="connsiteX1" fmla="*/ 1104900 w 11506200"/>
              <a:gd name="connsiteY1" fmla="*/ 2146300 h 2331643"/>
              <a:gd name="connsiteX2" fmla="*/ 2882900 w 11506200"/>
              <a:gd name="connsiteY2" fmla="*/ 965200 h 2331643"/>
              <a:gd name="connsiteX3" fmla="*/ 5842000 w 11506200"/>
              <a:gd name="connsiteY3" fmla="*/ 241300 h 2331643"/>
              <a:gd name="connsiteX4" fmla="*/ 11506200 w 11506200"/>
              <a:gd name="connsiteY4" fmla="*/ 0 h 2331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06200" h="2331643">
                <a:moveTo>
                  <a:pt x="0" y="2311400"/>
                </a:moveTo>
                <a:cubicBezTo>
                  <a:pt x="312208" y="2341033"/>
                  <a:pt x="624417" y="2370667"/>
                  <a:pt x="1104900" y="2146300"/>
                </a:cubicBezTo>
                <a:cubicBezTo>
                  <a:pt x="1585383" y="1921933"/>
                  <a:pt x="2093383" y="1282700"/>
                  <a:pt x="2882900" y="965200"/>
                </a:cubicBezTo>
                <a:cubicBezTo>
                  <a:pt x="3672417" y="647700"/>
                  <a:pt x="4404783" y="402167"/>
                  <a:pt x="5842000" y="241300"/>
                </a:cubicBezTo>
                <a:cubicBezTo>
                  <a:pt x="7279217" y="80433"/>
                  <a:pt x="9392708" y="40216"/>
                  <a:pt x="11506200" y="0"/>
                </a:cubicBezTo>
              </a:path>
            </a:pathLst>
          </a:custGeom>
          <a:noFill/>
          <a:ln w="3810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任意多边形: 形状 32">
            <a:extLst>
              <a:ext uri="{FF2B5EF4-FFF2-40B4-BE49-F238E27FC236}">
                <a16:creationId xmlns:a16="http://schemas.microsoft.com/office/drawing/2014/main" id="{5385ABA3-4AF8-8BA7-3489-F2FC637A2B18}"/>
              </a:ext>
            </a:extLst>
          </p:cNvPr>
          <p:cNvSpPr/>
          <p:nvPr/>
        </p:nvSpPr>
        <p:spPr>
          <a:xfrm flipH="1">
            <a:off x="298800" y="4829900"/>
            <a:ext cx="11880000" cy="965200"/>
          </a:xfrm>
          <a:custGeom>
            <a:avLst/>
            <a:gdLst>
              <a:gd name="connsiteX0" fmla="*/ 0 w 11569700"/>
              <a:gd name="connsiteY0" fmla="*/ 965200 h 965200"/>
              <a:gd name="connsiteX1" fmla="*/ 11569700 w 11569700"/>
              <a:gd name="connsiteY1" fmla="*/ 0 h 965200"/>
              <a:gd name="connsiteX2" fmla="*/ 11569700 w 11569700"/>
              <a:gd name="connsiteY2" fmla="*/ 0 h 965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569700" h="965200">
                <a:moveTo>
                  <a:pt x="0" y="965200"/>
                </a:moveTo>
                <a:lnTo>
                  <a:pt x="11569700" y="0"/>
                </a:lnTo>
                <a:lnTo>
                  <a:pt x="11569700" y="0"/>
                </a:lnTo>
              </a:path>
            </a:pathLst>
          </a:custGeom>
          <a:noFill/>
          <a:ln w="50800">
            <a:solidFill>
              <a:schemeClr val="bg2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5" name="任意多边形: 形状 34">
            <a:extLst>
              <a:ext uri="{FF2B5EF4-FFF2-40B4-BE49-F238E27FC236}">
                <a16:creationId xmlns:a16="http://schemas.microsoft.com/office/drawing/2014/main" id="{A9E826B5-A345-F3A2-399A-CF24AE6A1898}"/>
              </a:ext>
            </a:extLst>
          </p:cNvPr>
          <p:cNvSpPr/>
          <p:nvPr/>
        </p:nvSpPr>
        <p:spPr>
          <a:xfrm rot="10800000" flipH="1">
            <a:off x="302475" y="4233001"/>
            <a:ext cx="11880000" cy="2331643"/>
          </a:xfrm>
          <a:custGeom>
            <a:avLst/>
            <a:gdLst>
              <a:gd name="connsiteX0" fmla="*/ 0 w 11506200"/>
              <a:gd name="connsiteY0" fmla="*/ 2311400 h 2331643"/>
              <a:gd name="connsiteX1" fmla="*/ 1104900 w 11506200"/>
              <a:gd name="connsiteY1" fmla="*/ 2146300 h 2331643"/>
              <a:gd name="connsiteX2" fmla="*/ 2882900 w 11506200"/>
              <a:gd name="connsiteY2" fmla="*/ 965200 h 2331643"/>
              <a:gd name="connsiteX3" fmla="*/ 5842000 w 11506200"/>
              <a:gd name="connsiteY3" fmla="*/ 241300 h 2331643"/>
              <a:gd name="connsiteX4" fmla="*/ 11506200 w 11506200"/>
              <a:gd name="connsiteY4" fmla="*/ 0 h 2331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06200" h="2331643">
                <a:moveTo>
                  <a:pt x="0" y="2311400"/>
                </a:moveTo>
                <a:cubicBezTo>
                  <a:pt x="312208" y="2341033"/>
                  <a:pt x="624417" y="2370667"/>
                  <a:pt x="1104900" y="2146300"/>
                </a:cubicBezTo>
                <a:cubicBezTo>
                  <a:pt x="1585383" y="1921933"/>
                  <a:pt x="2093383" y="1282700"/>
                  <a:pt x="2882900" y="965200"/>
                </a:cubicBezTo>
                <a:cubicBezTo>
                  <a:pt x="3672417" y="647700"/>
                  <a:pt x="4404783" y="402167"/>
                  <a:pt x="5842000" y="241300"/>
                </a:cubicBezTo>
                <a:cubicBezTo>
                  <a:pt x="7279217" y="80433"/>
                  <a:pt x="9392708" y="40216"/>
                  <a:pt x="11506200" y="0"/>
                </a:cubicBezTo>
              </a:path>
            </a:pathLst>
          </a:custGeom>
          <a:noFill/>
          <a:ln w="3810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任意多边形: 形状 35">
            <a:extLst>
              <a:ext uri="{FF2B5EF4-FFF2-40B4-BE49-F238E27FC236}">
                <a16:creationId xmlns:a16="http://schemas.microsoft.com/office/drawing/2014/main" id="{28824C2E-16FB-1273-C75E-7F5EBE7318AE}"/>
              </a:ext>
            </a:extLst>
          </p:cNvPr>
          <p:cNvSpPr/>
          <p:nvPr/>
        </p:nvSpPr>
        <p:spPr>
          <a:xfrm rot="10800000" flipH="1">
            <a:off x="292950" y="4455250"/>
            <a:ext cx="11880000" cy="1739900"/>
          </a:xfrm>
          <a:custGeom>
            <a:avLst/>
            <a:gdLst>
              <a:gd name="connsiteX0" fmla="*/ 0 w 11531600"/>
              <a:gd name="connsiteY0" fmla="*/ 1739900 h 1739900"/>
              <a:gd name="connsiteX1" fmla="*/ 1778000 w 11531600"/>
              <a:gd name="connsiteY1" fmla="*/ 1511300 h 1739900"/>
              <a:gd name="connsiteX2" fmla="*/ 4406900 w 11531600"/>
              <a:gd name="connsiteY2" fmla="*/ 533400 h 1739900"/>
              <a:gd name="connsiteX3" fmla="*/ 8242300 w 11531600"/>
              <a:gd name="connsiteY3" fmla="*/ 88900 h 1739900"/>
              <a:gd name="connsiteX4" fmla="*/ 11531600 w 11531600"/>
              <a:gd name="connsiteY4" fmla="*/ 0 h 173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31600" h="1739900">
                <a:moveTo>
                  <a:pt x="0" y="1739900"/>
                </a:moveTo>
                <a:cubicBezTo>
                  <a:pt x="521758" y="1726141"/>
                  <a:pt x="1043517" y="1712383"/>
                  <a:pt x="1778000" y="1511300"/>
                </a:cubicBezTo>
                <a:cubicBezTo>
                  <a:pt x="2512483" y="1310217"/>
                  <a:pt x="3329517" y="770467"/>
                  <a:pt x="4406900" y="533400"/>
                </a:cubicBezTo>
                <a:cubicBezTo>
                  <a:pt x="5484283" y="296333"/>
                  <a:pt x="7054850" y="177800"/>
                  <a:pt x="8242300" y="88900"/>
                </a:cubicBezTo>
                <a:cubicBezTo>
                  <a:pt x="9429750" y="0"/>
                  <a:pt x="10480675" y="0"/>
                  <a:pt x="11531600" y="0"/>
                </a:cubicBezTo>
              </a:path>
            </a:pathLst>
          </a:custGeom>
          <a:noFill/>
          <a:ln w="3810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4D42A312-9EB4-2194-2A74-19A413055189}"/>
              </a:ext>
            </a:extLst>
          </p:cNvPr>
          <p:cNvSpPr txBox="1"/>
          <p:nvPr/>
        </p:nvSpPr>
        <p:spPr>
          <a:xfrm>
            <a:off x="-69223" y="3048794"/>
            <a:ext cx="4507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200" b="1" dirty="0"/>
              <a:t>WJC</a:t>
            </a:r>
            <a:endParaRPr lang="zh-CN" altLang="en-US" sz="1200" b="1" dirty="0"/>
          </a:p>
        </p:txBody>
      </p:sp>
      <p:sp>
        <p:nvSpPr>
          <p:cNvPr id="38" name="文本框 37">
            <a:extLst>
              <a:ext uri="{FF2B5EF4-FFF2-40B4-BE49-F238E27FC236}">
                <a16:creationId xmlns:a16="http://schemas.microsoft.com/office/drawing/2014/main" id="{266C32B4-7695-FFFD-08F4-18AD4E2C5301}"/>
              </a:ext>
            </a:extLst>
          </p:cNvPr>
          <p:cNvSpPr txBox="1"/>
          <p:nvPr/>
        </p:nvSpPr>
        <p:spPr>
          <a:xfrm>
            <a:off x="-69223" y="3429301"/>
            <a:ext cx="4694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/>
              <a:t>WJB</a:t>
            </a:r>
            <a:endParaRPr lang="zh-CN" altLang="en-US" sz="1200" b="1" dirty="0"/>
          </a:p>
        </p:txBody>
      </p:sp>
      <p:sp>
        <p:nvSpPr>
          <p:cNvPr id="39" name="文本框 38">
            <a:extLst>
              <a:ext uri="{FF2B5EF4-FFF2-40B4-BE49-F238E27FC236}">
                <a16:creationId xmlns:a16="http://schemas.microsoft.com/office/drawing/2014/main" id="{021FC2F9-F8A5-F985-65DF-62EBA332C1C7}"/>
              </a:ext>
            </a:extLst>
          </p:cNvPr>
          <p:cNvSpPr txBox="1"/>
          <p:nvPr/>
        </p:nvSpPr>
        <p:spPr>
          <a:xfrm>
            <a:off x="-82049" y="4078368"/>
            <a:ext cx="45858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200" b="1" dirty="0"/>
              <a:t>WJA</a:t>
            </a:r>
            <a:endParaRPr lang="zh-CN" altLang="en-US" sz="1200" b="1" dirty="0"/>
          </a:p>
        </p:txBody>
      </p:sp>
      <p:sp>
        <p:nvSpPr>
          <p:cNvPr id="40" name="文本框 39">
            <a:extLst>
              <a:ext uri="{FF2B5EF4-FFF2-40B4-BE49-F238E27FC236}">
                <a16:creationId xmlns:a16="http://schemas.microsoft.com/office/drawing/2014/main" id="{F39811B0-34B0-9253-4183-0E680AFDA6F1}"/>
              </a:ext>
            </a:extLst>
          </p:cNvPr>
          <p:cNvSpPr txBox="1"/>
          <p:nvPr/>
        </p:nvSpPr>
        <p:spPr>
          <a:xfrm>
            <a:off x="-69224" y="4676011"/>
            <a:ext cx="4507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200" b="1" dirty="0"/>
              <a:t>WJC</a:t>
            </a:r>
            <a:endParaRPr lang="zh-CN" altLang="en-US" sz="1200" b="1" dirty="0"/>
          </a:p>
        </p:txBody>
      </p:sp>
      <p:sp>
        <p:nvSpPr>
          <p:cNvPr id="41" name="文本框 40">
            <a:extLst>
              <a:ext uri="{FF2B5EF4-FFF2-40B4-BE49-F238E27FC236}">
                <a16:creationId xmlns:a16="http://schemas.microsoft.com/office/drawing/2014/main" id="{F64D0CEF-D2F6-B92E-73F8-608BC8F00BDD}"/>
              </a:ext>
            </a:extLst>
          </p:cNvPr>
          <p:cNvSpPr txBox="1"/>
          <p:nvPr/>
        </p:nvSpPr>
        <p:spPr>
          <a:xfrm>
            <a:off x="-82049" y="4277352"/>
            <a:ext cx="4694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/>
              <a:t>WJB</a:t>
            </a:r>
            <a:endParaRPr lang="zh-CN" altLang="en-US" sz="1200" b="1" dirty="0"/>
          </a:p>
        </p:txBody>
      </p:sp>
      <p:sp>
        <p:nvSpPr>
          <p:cNvPr id="42" name="文本框 41">
            <a:extLst>
              <a:ext uri="{FF2B5EF4-FFF2-40B4-BE49-F238E27FC236}">
                <a16:creationId xmlns:a16="http://schemas.microsoft.com/office/drawing/2014/main" id="{F972CBEB-1653-70B1-5A92-AD062DDA2830}"/>
              </a:ext>
            </a:extLst>
          </p:cNvPr>
          <p:cNvSpPr txBox="1"/>
          <p:nvPr/>
        </p:nvSpPr>
        <p:spPr>
          <a:xfrm>
            <a:off x="-82049" y="3671844"/>
            <a:ext cx="45858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200" b="1" dirty="0"/>
              <a:t>WJA</a:t>
            </a:r>
            <a:endParaRPr lang="zh-CN" altLang="en-US" sz="1200" b="1" dirty="0"/>
          </a:p>
        </p:txBody>
      </p:sp>
      <p:sp>
        <p:nvSpPr>
          <p:cNvPr id="43" name="任意多边形: 形状 42">
            <a:extLst>
              <a:ext uri="{FF2B5EF4-FFF2-40B4-BE49-F238E27FC236}">
                <a16:creationId xmlns:a16="http://schemas.microsoft.com/office/drawing/2014/main" id="{BB44F3C0-9017-874D-48F3-376D7D7E97B2}"/>
              </a:ext>
            </a:extLst>
          </p:cNvPr>
          <p:cNvSpPr/>
          <p:nvPr/>
        </p:nvSpPr>
        <p:spPr>
          <a:xfrm>
            <a:off x="304800" y="4045059"/>
            <a:ext cx="11811000" cy="2586375"/>
          </a:xfrm>
          <a:custGeom>
            <a:avLst/>
            <a:gdLst>
              <a:gd name="connsiteX0" fmla="*/ 0 w 11811000"/>
              <a:gd name="connsiteY0" fmla="*/ 57041 h 2586375"/>
              <a:gd name="connsiteX1" fmla="*/ 355600 w 11811000"/>
              <a:gd name="connsiteY1" fmla="*/ 145941 h 2586375"/>
              <a:gd name="connsiteX2" fmla="*/ 1130300 w 11811000"/>
              <a:gd name="connsiteY2" fmla="*/ 1314341 h 2586375"/>
              <a:gd name="connsiteX3" fmla="*/ 1930400 w 11811000"/>
              <a:gd name="connsiteY3" fmla="*/ 1085741 h 2586375"/>
              <a:gd name="connsiteX4" fmla="*/ 2527300 w 11811000"/>
              <a:gd name="connsiteY4" fmla="*/ 1796941 h 2586375"/>
              <a:gd name="connsiteX5" fmla="*/ 3238500 w 11811000"/>
              <a:gd name="connsiteY5" fmla="*/ 1708041 h 2586375"/>
              <a:gd name="connsiteX6" fmla="*/ 4013200 w 11811000"/>
              <a:gd name="connsiteY6" fmla="*/ 2228741 h 2586375"/>
              <a:gd name="connsiteX7" fmla="*/ 5156200 w 11811000"/>
              <a:gd name="connsiteY7" fmla="*/ 2050941 h 2586375"/>
              <a:gd name="connsiteX8" fmla="*/ 5918200 w 11811000"/>
              <a:gd name="connsiteY8" fmla="*/ 2495441 h 2586375"/>
              <a:gd name="connsiteX9" fmla="*/ 7213600 w 11811000"/>
              <a:gd name="connsiteY9" fmla="*/ 2203341 h 2586375"/>
              <a:gd name="connsiteX10" fmla="*/ 8382000 w 11811000"/>
              <a:gd name="connsiteY10" fmla="*/ 2584341 h 2586375"/>
              <a:gd name="connsiteX11" fmla="*/ 9271000 w 11811000"/>
              <a:gd name="connsiteY11" fmla="*/ 2000141 h 2586375"/>
              <a:gd name="connsiteX12" fmla="*/ 10020300 w 11811000"/>
              <a:gd name="connsiteY12" fmla="*/ 2393841 h 2586375"/>
              <a:gd name="connsiteX13" fmla="*/ 10909300 w 11811000"/>
              <a:gd name="connsiteY13" fmla="*/ 1492141 h 2586375"/>
              <a:gd name="connsiteX14" fmla="*/ 11404600 w 11811000"/>
              <a:gd name="connsiteY14" fmla="*/ 1860441 h 2586375"/>
              <a:gd name="connsiteX15" fmla="*/ 11811000 w 11811000"/>
              <a:gd name="connsiteY15" fmla="*/ 692041 h 2586375"/>
              <a:gd name="connsiteX16" fmla="*/ 11811000 w 11811000"/>
              <a:gd name="connsiteY16" fmla="*/ 692041 h 2586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811000" h="2586375">
                <a:moveTo>
                  <a:pt x="0" y="57041"/>
                </a:moveTo>
                <a:cubicBezTo>
                  <a:pt x="83608" y="-3284"/>
                  <a:pt x="167217" y="-63609"/>
                  <a:pt x="355600" y="145941"/>
                </a:cubicBezTo>
                <a:cubicBezTo>
                  <a:pt x="543983" y="355491"/>
                  <a:pt x="867833" y="1157708"/>
                  <a:pt x="1130300" y="1314341"/>
                </a:cubicBezTo>
                <a:cubicBezTo>
                  <a:pt x="1392767" y="1470974"/>
                  <a:pt x="1697567" y="1005308"/>
                  <a:pt x="1930400" y="1085741"/>
                </a:cubicBezTo>
                <a:cubicBezTo>
                  <a:pt x="2163233" y="1166174"/>
                  <a:pt x="2309283" y="1693224"/>
                  <a:pt x="2527300" y="1796941"/>
                </a:cubicBezTo>
                <a:cubicBezTo>
                  <a:pt x="2745317" y="1900658"/>
                  <a:pt x="2990850" y="1636074"/>
                  <a:pt x="3238500" y="1708041"/>
                </a:cubicBezTo>
                <a:cubicBezTo>
                  <a:pt x="3486150" y="1780008"/>
                  <a:pt x="3693583" y="2171591"/>
                  <a:pt x="4013200" y="2228741"/>
                </a:cubicBezTo>
                <a:cubicBezTo>
                  <a:pt x="4332817" y="2285891"/>
                  <a:pt x="4838700" y="2006491"/>
                  <a:pt x="5156200" y="2050941"/>
                </a:cubicBezTo>
                <a:cubicBezTo>
                  <a:pt x="5473700" y="2095391"/>
                  <a:pt x="5575300" y="2470041"/>
                  <a:pt x="5918200" y="2495441"/>
                </a:cubicBezTo>
                <a:cubicBezTo>
                  <a:pt x="6261100" y="2520841"/>
                  <a:pt x="6802967" y="2188524"/>
                  <a:pt x="7213600" y="2203341"/>
                </a:cubicBezTo>
                <a:cubicBezTo>
                  <a:pt x="7624233" y="2218158"/>
                  <a:pt x="8039100" y="2618208"/>
                  <a:pt x="8382000" y="2584341"/>
                </a:cubicBezTo>
                <a:cubicBezTo>
                  <a:pt x="8724900" y="2550474"/>
                  <a:pt x="8997950" y="2031891"/>
                  <a:pt x="9271000" y="2000141"/>
                </a:cubicBezTo>
                <a:cubicBezTo>
                  <a:pt x="9544050" y="1968391"/>
                  <a:pt x="9747250" y="2478508"/>
                  <a:pt x="10020300" y="2393841"/>
                </a:cubicBezTo>
                <a:cubicBezTo>
                  <a:pt x="10293350" y="2309174"/>
                  <a:pt x="10678583" y="1581041"/>
                  <a:pt x="10909300" y="1492141"/>
                </a:cubicBezTo>
                <a:cubicBezTo>
                  <a:pt x="11140017" y="1403241"/>
                  <a:pt x="11254317" y="1993791"/>
                  <a:pt x="11404600" y="1860441"/>
                </a:cubicBezTo>
                <a:cubicBezTo>
                  <a:pt x="11554883" y="1727091"/>
                  <a:pt x="11811000" y="692041"/>
                  <a:pt x="11811000" y="692041"/>
                </a:cubicBezTo>
                <a:lnTo>
                  <a:pt x="11811000" y="692041"/>
                </a:lnTo>
              </a:path>
            </a:pathLst>
          </a:custGeom>
          <a:noFill/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任意多边形: 形状 43">
            <a:extLst>
              <a:ext uri="{FF2B5EF4-FFF2-40B4-BE49-F238E27FC236}">
                <a16:creationId xmlns:a16="http://schemas.microsoft.com/office/drawing/2014/main" id="{6BA4CDEA-64AB-4F42-CA8E-8F543152F7D2}"/>
              </a:ext>
            </a:extLst>
          </p:cNvPr>
          <p:cNvSpPr/>
          <p:nvPr/>
        </p:nvSpPr>
        <p:spPr>
          <a:xfrm>
            <a:off x="317500" y="1142960"/>
            <a:ext cx="11709400" cy="2902120"/>
          </a:xfrm>
          <a:custGeom>
            <a:avLst/>
            <a:gdLst>
              <a:gd name="connsiteX0" fmla="*/ 0 w 11709400"/>
              <a:gd name="connsiteY0" fmla="*/ 2844840 h 2902120"/>
              <a:gd name="connsiteX1" fmla="*/ 355600 w 11709400"/>
              <a:gd name="connsiteY1" fmla="*/ 2806740 h 2902120"/>
              <a:gd name="connsiteX2" fmla="*/ 1219200 w 11709400"/>
              <a:gd name="connsiteY2" fmla="*/ 1955840 h 2902120"/>
              <a:gd name="connsiteX3" fmla="*/ 1790700 w 11709400"/>
              <a:gd name="connsiteY3" fmla="*/ 1244640 h 2902120"/>
              <a:gd name="connsiteX4" fmla="*/ 2438400 w 11709400"/>
              <a:gd name="connsiteY4" fmla="*/ 1498640 h 2902120"/>
              <a:gd name="connsiteX5" fmla="*/ 3098800 w 11709400"/>
              <a:gd name="connsiteY5" fmla="*/ 406440 h 2902120"/>
              <a:gd name="connsiteX6" fmla="*/ 4152900 w 11709400"/>
              <a:gd name="connsiteY6" fmla="*/ 838240 h 2902120"/>
              <a:gd name="connsiteX7" fmla="*/ 4991100 w 11709400"/>
              <a:gd name="connsiteY7" fmla="*/ 25440 h 2902120"/>
              <a:gd name="connsiteX8" fmla="*/ 6070600 w 11709400"/>
              <a:gd name="connsiteY8" fmla="*/ 749340 h 2902120"/>
              <a:gd name="connsiteX9" fmla="*/ 7137400 w 11709400"/>
              <a:gd name="connsiteY9" fmla="*/ 40 h 2902120"/>
              <a:gd name="connsiteX10" fmla="*/ 8001000 w 11709400"/>
              <a:gd name="connsiteY10" fmla="*/ 787440 h 2902120"/>
              <a:gd name="connsiteX11" fmla="*/ 9372600 w 11709400"/>
              <a:gd name="connsiteY11" fmla="*/ 114340 h 2902120"/>
              <a:gd name="connsiteX12" fmla="*/ 10223500 w 11709400"/>
              <a:gd name="connsiteY12" fmla="*/ 1066840 h 2902120"/>
              <a:gd name="connsiteX13" fmla="*/ 10883900 w 11709400"/>
              <a:gd name="connsiteY13" fmla="*/ 533440 h 2902120"/>
              <a:gd name="connsiteX14" fmla="*/ 11709400 w 11709400"/>
              <a:gd name="connsiteY14" fmla="*/ 1841540 h 2902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709400" h="2902120">
                <a:moveTo>
                  <a:pt x="0" y="2844840"/>
                </a:moveTo>
                <a:cubicBezTo>
                  <a:pt x="76200" y="2899873"/>
                  <a:pt x="152400" y="2954907"/>
                  <a:pt x="355600" y="2806740"/>
                </a:cubicBezTo>
                <a:cubicBezTo>
                  <a:pt x="558800" y="2658573"/>
                  <a:pt x="980017" y="2216190"/>
                  <a:pt x="1219200" y="1955840"/>
                </a:cubicBezTo>
                <a:cubicBezTo>
                  <a:pt x="1458383" y="1695490"/>
                  <a:pt x="1587500" y="1320840"/>
                  <a:pt x="1790700" y="1244640"/>
                </a:cubicBezTo>
                <a:cubicBezTo>
                  <a:pt x="1993900" y="1168440"/>
                  <a:pt x="2220383" y="1638340"/>
                  <a:pt x="2438400" y="1498640"/>
                </a:cubicBezTo>
                <a:cubicBezTo>
                  <a:pt x="2656417" y="1358940"/>
                  <a:pt x="2813050" y="516507"/>
                  <a:pt x="3098800" y="406440"/>
                </a:cubicBezTo>
                <a:cubicBezTo>
                  <a:pt x="3384550" y="296373"/>
                  <a:pt x="3837517" y="901740"/>
                  <a:pt x="4152900" y="838240"/>
                </a:cubicBezTo>
                <a:cubicBezTo>
                  <a:pt x="4468283" y="774740"/>
                  <a:pt x="4671483" y="40257"/>
                  <a:pt x="4991100" y="25440"/>
                </a:cubicBezTo>
                <a:cubicBezTo>
                  <a:pt x="5310717" y="10623"/>
                  <a:pt x="5712883" y="753573"/>
                  <a:pt x="6070600" y="749340"/>
                </a:cubicBezTo>
                <a:cubicBezTo>
                  <a:pt x="6428317" y="745107"/>
                  <a:pt x="6815667" y="-6310"/>
                  <a:pt x="7137400" y="40"/>
                </a:cubicBezTo>
                <a:cubicBezTo>
                  <a:pt x="7459133" y="6390"/>
                  <a:pt x="7628467" y="768390"/>
                  <a:pt x="8001000" y="787440"/>
                </a:cubicBezTo>
                <a:cubicBezTo>
                  <a:pt x="8373533" y="806490"/>
                  <a:pt x="9002183" y="67773"/>
                  <a:pt x="9372600" y="114340"/>
                </a:cubicBezTo>
                <a:cubicBezTo>
                  <a:pt x="9743017" y="160907"/>
                  <a:pt x="9971617" y="996990"/>
                  <a:pt x="10223500" y="1066840"/>
                </a:cubicBezTo>
                <a:cubicBezTo>
                  <a:pt x="10475383" y="1136690"/>
                  <a:pt x="10636250" y="404323"/>
                  <a:pt x="10883900" y="533440"/>
                </a:cubicBezTo>
                <a:cubicBezTo>
                  <a:pt x="11131550" y="662557"/>
                  <a:pt x="11420475" y="1252048"/>
                  <a:pt x="11709400" y="1841540"/>
                </a:cubicBezTo>
              </a:path>
            </a:pathLst>
          </a:custGeom>
          <a:noFill/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>
            <a:extLst>
              <a:ext uri="{FF2B5EF4-FFF2-40B4-BE49-F238E27FC236}">
                <a16:creationId xmlns:a16="http://schemas.microsoft.com/office/drawing/2014/main" id="{E57D94BF-6A07-9BDF-9C5C-2B554A002DC6}"/>
              </a:ext>
            </a:extLst>
          </p:cNvPr>
          <p:cNvGrpSpPr/>
          <p:nvPr/>
        </p:nvGrpSpPr>
        <p:grpSpPr>
          <a:xfrm>
            <a:off x="1317598" y="5200650"/>
            <a:ext cx="415498" cy="381000"/>
            <a:chOff x="1317598" y="5200650"/>
            <a:chExt cx="415498" cy="381000"/>
          </a:xfrm>
        </p:grpSpPr>
        <p:sp>
          <p:nvSpPr>
            <p:cNvPr id="46" name="椭圆 45">
              <a:extLst>
                <a:ext uri="{FF2B5EF4-FFF2-40B4-BE49-F238E27FC236}">
                  <a16:creationId xmlns:a16="http://schemas.microsoft.com/office/drawing/2014/main" id="{E79A0DDE-B0D1-E54C-F91A-CA9D2C84C650}"/>
                </a:ext>
              </a:extLst>
            </p:cNvPr>
            <p:cNvSpPr/>
            <p:nvPr/>
          </p:nvSpPr>
          <p:spPr>
            <a:xfrm>
              <a:off x="1333500" y="5200650"/>
              <a:ext cx="381000" cy="381000"/>
            </a:xfrm>
            <a:prstGeom prst="ellipse">
              <a:avLst/>
            </a:prstGeom>
            <a:solidFill>
              <a:srgbClr val="FF0000">
                <a:alpha val="50000"/>
              </a:srgb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100" dirty="0">
                <a:solidFill>
                  <a:srgbClr val="FF0000"/>
                </a:solidFill>
              </a:endParaRPr>
            </a:p>
          </p:txBody>
        </p:sp>
        <p:sp>
          <p:nvSpPr>
            <p:cNvPr id="47" name="文本框 46">
              <a:extLst>
                <a:ext uri="{FF2B5EF4-FFF2-40B4-BE49-F238E27FC236}">
                  <a16:creationId xmlns:a16="http://schemas.microsoft.com/office/drawing/2014/main" id="{1774091F-39C9-3A5E-620C-4B22C1E3E69F}"/>
                </a:ext>
              </a:extLst>
            </p:cNvPr>
            <p:cNvSpPr txBox="1"/>
            <p:nvPr/>
          </p:nvSpPr>
          <p:spPr>
            <a:xfrm>
              <a:off x="1317598" y="5200650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900" dirty="0">
                  <a:solidFill>
                    <a:srgbClr val="FF0000"/>
                  </a:solidFill>
                </a:rPr>
                <a:t>止盈</a:t>
              </a:r>
              <a:endParaRPr lang="en-US" altLang="zh-CN" sz="900" dirty="0">
                <a:solidFill>
                  <a:srgbClr val="FF0000"/>
                </a:solidFill>
              </a:endParaRPr>
            </a:p>
            <a:p>
              <a:r>
                <a:rPr lang="zh-CN" altLang="en-US" sz="900" dirty="0">
                  <a:solidFill>
                    <a:srgbClr val="FF0000"/>
                  </a:solidFill>
                </a:rPr>
                <a:t>舍底</a:t>
              </a:r>
            </a:p>
          </p:txBody>
        </p:sp>
      </p:grpSp>
      <p:grpSp>
        <p:nvGrpSpPr>
          <p:cNvPr id="73" name="组合 72">
            <a:extLst>
              <a:ext uri="{FF2B5EF4-FFF2-40B4-BE49-F238E27FC236}">
                <a16:creationId xmlns:a16="http://schemas.microsoft.com/office/drawing/2014/main" id="{5D9A214E-635B-19A5-C840-297F21FF68CA}"/>
              </a:ext>
            </a:extLst>
          </p:cNvPr>
          <p:cNvGrpSpPr/>
          <p:nvPr/>
        </p:nvGrpSpPr>
        <p:grpSpPr>
          <a:xfrm>
            <a:off x="2117620" y="5093049"/>
            <a:ext cx="415498" cy="381000"/>
            <a:chOff x="1985486" y="4980688"/>
            <a:chExt cx="415498" cy="381000"/>
          </a:xfrm>
        </p:grpSpPr>
        <p:sp>
          <p:nvSpPr>
            <p:cNvPr id="48" name="椭圆 47">
              <a:extLst>
                <a:ext uri="{FF2B5EF4-FFF2-40B4-BE49-F238E27FC236}">
                  <a16:creationId xmlns:a16="http://schemas.microsoft.com/office/drawing/2014/main" id="{39377441-A034-7560-615B-A2F77C4BFB3A}"/>
                </a:ext>
              </a:extLst>
            </p:cNvPr>
            <p:cNvSpPr/>
            <p:nvPr/>
          </p:nvSpPr>
          <p:spPr>
            <a:xfrm>
              <a:off x="2002735" y="4980688"/>
              <a:ext cx="381000" cy="381000"/>
            </a:xfrm>
            <a:prstGeom prst="ellipse">
              <a:avLst/>
            </a:prstGeom>
            <a:solidFill>
              <a:schemeClr val="accent6">
                <a:alpha val="50000"/>
              </a:schemeClr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100" dirty="0">
                <a:solidFill>
                  <a:srgbClr val="00B050"/>
                </a:solidFill>
              </a:endParaRPr>
            </a:p>
          </p:txBody>
        </p:sp>
        <p:sp>
          <p:nvSpPr>
            <p:cNvPr id="49" name="文本框 48">
              <a:extLst>
                <a:ext uri="{FF2B5EF4-FFF2-40B4-BE49-F238E27FC236}">
                  <a16:creationId xmlns:a16="http://schemas.microsoft.com/office/drawing/2014/main" id="{03DA85DA-44A7-FBD0-EE34-CA839B51FF89}"/>
                </a:ext>
              </a:extLst>
            </p:cNvPr>
            <p:cNvSpPr txBox="1"/>
            <p:nvPr/>
          </p:nvSpPr>
          <p:spPr>
            <a:xfrm>
              <a:off x="1985486" y="5048835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900" dirty="0">
                  <a:solidFill>
                    <a:srgbClr val="00B050"/>
                  </a:solidFill>
                </a:rPr>
                <a:t>日机</a:t>
              </a:r>
            </a:p>
          </p:txBody>
        </p:sp>
      </p:grpSp>
      <p:grpSp>
        <p:nvGrpSpPr>
          <p:cNvPr id="54" name="组合 53">
            <a:extLst>
              <a:ext uri="{FF2B5EF4-FFF2-40B4-BE49-F238E27FC236}">
                <a16:creationId xmlns:a16="http://schemas.microsoft.com/office/drawing/2014/main" id="{45E774AE-FA75-6088-F928-F3FE18FFB849}"/>
              </a:ext>
            </a:extLst>
          </p:cNvPr>
          <p:cNvGrpSpPr/>
          <p:nvPr/>
        </p:nvGrpSpPr>
        <p:grpSpPr>
          <a:xfrm>
            <a:off x="4175098" y="6093329"/>
            <a:ext cx="415498" cy="381000"/>
            <a:chOff x="1317598" y="5200650"/>
            <a:chExt cx="415498" cy="381000"/>
          </a:xfrm>
        </p:grpSpPr>
        <p:sp>
          <p:nvSpPr>
            <p:cNvPr id="55" name="椭圆 54">
              <a:extLst>
                <a:ext uri="{FF2B5EF4-FFF2-40B4-BE49-F238E27FC236}">
                  <a16:creationId xmlns:a16="http://schemas.microsoft.com/office/drawing/2014/main" id="{80C6A453-C72C-3143-2F62-BE8B63520BA8}"/>
                </a:ext>
              </a:extLst>
            </p:cNvPr>
            <p:cNvSpPr/>
            <p:nvPr/>
          </p:nvSpPr>
          <p:spPr>
            <a:xfrm>
              <a:off x="1333500" y="5200650"/>
              <a:ext cx="381000" cy="381000"/>
            </a:xfrm>
            <a:prstGeom prst="ellipse">
              <a:avLst/>
            </a:prstGeom>
            <a:solidFill>
              <a:srgbClr val="FF0000">
                <a:alpha val="50000"/>
              </a:srgb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100" dirty="0">
                <a:solidFill>
                  <a:srgbClr val="FF0000"/>
                </a:solidFill>
              </a:endParaRPr>
            </a:p>
          </p:txBody>
        </p:sp>
        <p:sp>
          <p:nvSpPr>
            <p:cNvPr id="56" name="文本框 55">
              <a:extLst>
                <a:ext uri="{FF2B5EF4-FFF2-40B4-BE49-F238E27FC236}">
                  <a16:creationId xmlns:a16="http://schemas.microsoft.com/office/drawing/2014/main" id="{1ED5BE16-7E8C-E3D7-41A5-0A0EF7AA2EB5}"/>
                </a:ext>
              </a:extLst>
            </p:cNvPr>
            <p:cNvSpPr txBox="1"/>
            <p:nvPr/>
          </p:nvSpPr>
          <p:spPr>
            <a:xfrm>
              <a:off x="1317598" y="5200650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900" dirty="0">
                  <a:solidFill>
                    <a:srgbClr val="FF0000"/>
                  </a:solidFill>
                </a:rPr>
                <a:t>止盈</a:t>
              </a:r>
              <a:endParaRPr lang="en-US" altLang="zh-CN" sz="900" dirty="0">
                <a:solidFill>
                  <a:srgbClr val="FF0000"/>
                </a:solidFill>
              </a:endParaRPr>
            </a:p>
            <a:p>
              <a:r>
                <a:rPr lang="zh-CN" altLang="en-US" sz="900" dirty="0">
                  <a:solidFill>
                    <a:srgbClr val="FF0000"/>
                  </a:solidFill>
                </a:rPr>
                <a:t>舍底</a:t>
              </a:r>
            </a:p>
          </p:txBody>
        </p:sp>
      </p:grpSp>
      <p:grpSp>
        <p:nvGrpSpPr>
          <p:cNvPr id="57" name="组合 56">
            <a:extLst>
              <a:ext uri="{FF2B5EF4-FFF2-40B4-BE49-F238E27FC236}">
                <a16:creationId xmlns:a16="http://schemas.microsoft.com/office/drawing/2014/main" id="{F7FCE372-32F7-EAFD-6BC5-5EC46744A34C}"/>
              </a:ext>
            </a:extLst>
          </p:cNvPr>
          <p:cNvGrpSpPr/>
          <p:nvPr/>
        </p:nvGrpSpPr>
        <p:grpSpPr>
          <a:xfrm>
            <a:off x="2676905" y="5672614"/>
            <a:ext cx="415498" cy="381000"/>
            <a:chOff x="1317598" y="5200650"/>
            <a:chExt cx="415498" cy="381000"/>
          </a:xfrm>
        </p:grpSpPr>
        <p:sp>
          <p:nvSpPr>
            <p:cNvPr id="58" name="椭圆 57">
              <a:extLst>
                <a:ext uri="{FF2B5EF4-FFF2-40B4-BE49-F238E27FC236}">
                  <a16:creationId xmlns:a16="http://schemas.microsoft.com/office/drawing/2014/main" id="{9BAD6712-5147-A0B0-31B3-1267D39DE2A6}"/>
                </a:ext>
              </a:extLst>
            </p:cNvPr>
            <p:cNvSpPr/>
            <p:nvPr/>
          </p:nvSpPr>
          <p:spPr>
            <a:xfrm>
              <a:off x="1333500" y="5200650"/>
              <a:ext cx="381000" cy="381000"/>
            </a:xfrm>
            <a:prstGeom prst="ellipse">
              <a:avLst/>
            </a:prstGeom>
            <a:solidFill>
              <a:srgbClr val="FF0000">
                <a:alpha val="50000"/>
              </a:srgb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100" dirty="0">
                <a:solidFill>
                  <a:srgbClr val="FF0000"/>
                </a:solidFill>
              </a:endParaRPr>
            </a:p>
          </p:txBody>
        </p:sp>
        <p:sp>
          <p:nvSpPr>
            <p:cNvPr id="59" name="文本框 58">
              <a:extLst>
                <a:ext uri="{FF2B5EF4-FFF2-40B4-BE49-F238E27FC236}">
                  <a16:creationId xmlns:a16="http://schemas.microsoft.com/office/drawing/2014/main" id="{8F66DCE8-EAB6-CA3C-AC0E-A6292BEFFA0F}"/>
                </a:ext>
              </a:extLst>
            </p:cNvPr>
            <p:cNvSpPr txBox="1"/>
            <p:nvPr/>
          </p:nvSpPr>
          <p:spPr>
            <a:xfrm>
              <a:off x="1317598" y="5200650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900" dirty="0">
                  <a:solidFill>
                    <a:srgbClr val="FF0000"/>
                  </a:solidFill>
                </a:rPr>
                <a:t>止盈</a:t>
              </a:r>
              <a:endParaRPr lang="en-US" altLang="zh-CN" sz="900" dirty="0">
                <a:solidFill>
                  <a:srgbClr val="FF0000"/>
                </a:solidFill>
              </a:endParaRPr>
            </a:p>
            <a:p>
              <a:r>
                <a:rPr lang="zh-CN" altLang="en-US" sz="900" dirty="0">
                  <a:solidFill>
                    <a:srgbClr val="FF0000"/>
                  </a:solidFill>
                </a:rPr>
                <a:t>舍底</a:t>
              </a:r>
            </a:p>
          </p:txBody>
        </p:sp>
      </p:grpSp>
      <p:grpSp>
        <p:nvGrpSpPr>
          <p:cNvPr id="74" name="组合 73">
            <a:extLst>
              <a:ext uri="{FF2B5EF4-FFF2-40B4-BE49-F238E27FC236}">
                <a16:creationId xmlns:a16="http://schemas.microsoft.com/office/drawing/2014/main" id="{FC5B9AF9-C3BD-050C-F309-DE994D862A53}"/>
              </a:ext>
            </a:extLst>
          </p:cNvPr>
          <p:cNvGrpSpPr/>
          <p:nvPr/>
        </p:nvGrpSpPr>
        <p:grpSpPr>
          <a:xfrm>
            <a:off x="3481381" y="5678003"/>
            <a:ext cx="415498" cy="381000"/>
            <a:chOff x="1985486" y="4980688"/>
            <a:chExt cx="415498" cy="381000"/>
          </a:xfrm>
        </p:grpSpPr>
        <p:sp>
          <p:nvSpPr>
            <p:cNvPr id="75" name="椭圆 74">
              <a:extLst>
                <a:ext uri="{FF2B5EF4-FFF2-40B4-BE49-F238E27FC236}">
                  <a16:creationId xmlns:a16="http://schemas.microsoft.com/office/drawing/2014/main" id="{F0FEE383-B856-A84B-03EB-894368F6DE81}"/>
                </a:ext>
              </a:extLst>
            </p:cNvPr>
            <p:cNvSpPr/>
            <p:nvPr/>
          </p:nvSpPr>
          <p:spPr>
            <a:xfrm>
              <a:off x="2002735" y="4980688"/>
              <a:ext cx="381000" cy="381000"/>
            </a:xfrm>
            <a:prstGeom prst="ellipse">
              <a:avLst/>
            </a:prstGeom>
            <a:solidFill>
              <a:schemeClr val="accent6">
                <a:alpha val="50000"/>
              </a:schemeClr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100" dirty="0">
                <a:solidFill>
                  <a:srgbClr val="00B050"/>
                </a:solidFill>
              </a:endParaRPr>
            </a:p>
          </p:txBody>
        </p:sp>
        <p:sp>
          <p:nvSpPr>
            <p:cNvPr id="76" name="文本框 75">
              <a:extLst>
                <a:ext uri="{FF2B5EF4-FFF2-40B4-BE49-F238E27FC236}">
                  <a16:creationId xmlns:a16="http://schemas.microsoft.com/office/drawing/2014/main" id="{8A1E12BB-E072-2E72-0FFA-5C21F575C4EC}"/>
                </a:ext>
              </a:extLst>
            </p:cNvPr>
            <p:cNvSpPr txBox="1"/>
            <p:nvPr/>
          </p:nvSpPr>
          <p:spPr>
            <a:xfrm>
              <a:off x="1985486" y="5048835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900" dirty="0">
                  <a:solidFill>
                    <a:srgbClr val="00B050"/>
                  </a:solidFill>
                </a:rPr>
                <a:t>日机</a:t>
              </a:r>
            </a:p>
          </p:txBody>
        </p:sp>
      </p:grpSp>
      <p:sp>
        <p:nvSpPr>
          <p:cNvPr id="80" name="文本框 79">
            <a:extLst>
              <a:ext uri="{FF2B5EF4-FFF2-40B4-BE49-F238E27FC236}">
                <a16:creationId xmlns:a16="http://schemas.microsoft.com/office/drawing/2014/main" id="{5FC90B25-AE09-2E6B-3138-DC6A0A06D64A}"/>
              </a:ext>
            </a:extLst>
          </p:cNvPr>
          <p:cNvSpPr txBox="1"/>
          <p:nvPr/>
        </p:nvSpPr>
        <p:spPr>
          <a:xfrm>
            <a:off x="4784087" y="5857280"/>
            <a:ext cx="143020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900" dirty="0"/>
              <a:t>弃</a:t>
            </a:r>
            <a:r>
              <a:rPr lang="en-US" altLang="zh-CN" sz="900" dirty="0"/>
              <a:t>WJA</a:t>
            </a:r>
            <a:r>
              <a:rPr lang="zh-CN" altLang="en-US" sz="900" dirty="0"/>
              <a:t>上：随时可能转跌</a:t>
            </a:r>
          </a:p>
        </p:txBody>
      </p:sp>
      <p:sp>
        <p:nvSpPr>
          <p:cNvPr id="85" name="椭圆 84">
            <a:extLst>
              <a:ext uri="{FF2B5EF4-FFF2-40B4-BE49-F238E27FC236}">
                <a16:creationId xmlns:a16="http://schemas.microsoft.com/office/drawing/2014/main" id="{6DBCD030-A44E-2EB4-F673-D6D609EC5A97}"/>
              </a:ext>
            </a:extLst>
          </p:cNvPr>
          <p:cNvSpPr>
            <a:spLocks noChangeAspect="1"/>
          </p:cNvSpPr>
          <p:nvPr/>
        </p:nvSpPr>
        <p:spPr>
          <a:xfrm>
            <a:off x="946115" y="4782135"/>
            <a:ext cx="180000" cy="180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文本框 85">
            <a:extLst>
              <a:ext uri="{FF2B5EF4-FFF2-40B4-BE49-F238E27FC236}">
                <a16:creationId xmlns:a16="http://schemas.microsoft.com/office/drawing/2014/main" id="{95829CFD-148C-F203-CA93-F22556E13FF6}"/>
              </a:ext>
            </a:extLst>
          </p:cNvPr>
          <p:cNvSpPr txBox="1"/>
          <p:nvPr/>
        </p:nvSpPr>
        <p:spPr>
          <a:xfrm>
            <a:off x="873514" y="4970128"/>
            <a:ext cx="353943" cy="969176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r>
              <a:rPr lang="en-US" altLang="zh-CN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开始做空</a:t>
            </a:r>
          </a:p>
        </p:txBody>
      </p:sp>
      <p:sp>
        <p:nvSpPr>
          <p:cNvPr id="87" name="椭圆 86">
            <a:extLst>
              <a:ext uri="{FF2B5EF4-FFF2-40B4-BE49-F238E27FC236}">
                <a16:creationId xmlns:a16="http://schemas.microsoft.com/office/drawing/2014/main" id="{9D0169D9-5EA8-7987-FBAF-EDC9EB5BE5BC}"/>
              </a:ext>
            </a:extLst>
          </p:cNvPr>
          <p:cNvSpPr>
            <a:spLocks noChangeAspect="1"/>
          </p:cNvSpPr>
          <p:nvPr/>
        </p:nvSpPr>
        <p:spPr>
          <a:xfrm>
            <a:off x="1416653" y="3046494"/>
            <a:ext cx="180000" cy="180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8" name="文本框 87">
            <a:extLst>
              <a:ext uri="{FF2B5EF4-FFF2-40B4-BE49-F238E27FC236}">
                <a16:creationId xmlns:a16="http://schemas.microsoft.com/office/drawing/2014/main" id="{C0E2ABBD-292D-6985-BC27-B271E18EE36D}"/>
              </a:ext>
            </a:extLst>
          </p:cNvPr>
          <p:cNvSpPr txBox="1"/>
          <p:nvPr/>
        </p:nvSpPr>
        <p:spPr>
          <a:xfrm>
            <a:off x="1352765" y="1911215"/>
            <a:ext cx="353943" cy="1160736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en-US" altLang="zh-CN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开始做多</a:t>
            </a:r>
          </a:p>
        </p:txBody>
      </p:sp>
      <p:sp>
        <p:nvSpPr>
          <p:cNvPr id="97" name="文本框 96">
            <a:extLst>
              <a:ext uri="{FF2B5EF4-FFF2-40B4-BE49-F238E27FC236}">
                <a16:creationId xmlns:a16="http://schemas.microsoft.com/office/drawing/2014/main" id="{B5C4D9B1-3BFB-8493-3400-8B50BAD2B0DC}"/>
              </a:ext>
            </a:extLst>
          </p:cNvPr>
          <p:cNvSpPr txBox="1"/>
          <p:nvPr/>
        </p:nvSpPr>
        <p:spPr>
          <a:xfrm>
            <a:off x="6722507" y="5995409"/>
            <a:ext cx="143020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900" dirty="0"/>
              <a:t>弃</a:t>
            </a:r>
            <a:r>
              <a:rPr lang="en-US" altLang="zh-CN" sz="900" dirty="0"/>
              <a:t>WJA</a:t>
            </a:r>
            <a:r>
              <a:rPr lang="zh-CN" altLang="en-US" sz="900" dirty="0"/>
              <a:t>上：随时可能转跌</a:t>
            </a:r>
          </a:p>
        </p:txBody>
      </p:sp>
      <p:sp>
        <p:nvSpPr>
          <p:cNvPr id="98" name="文本框 97">
            <a:extLst>
              <a:ext uri="{FF2B5EF4-FFF2-40B4-BE49-F238E27FC236}">
                <a16:creationId xmlns:a16="http://schemas.microsoft.com/office/drawing/2014/main" id="{2E271E53-D60E-9FD8-8016-8C6890ACF982}"/>
              </a:ext>
            </a:extLst>
          </p:cNvPr>
          <p:cNvSpPr txBox="1"/>
          <p:nvPr/>
        </p:nvSpPr>
        <p:spPr>
          <a:xfrm>
            <a:off x="9100077" y="5800570"/>
            <a:ext cx="1425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900" dirty="0"/>
              <a:t>弃</a:t>
            </a:r>
            <a:r>
              <a:rPr lang="en-US" altLang="zh-CN" sz="900" dirty="0"/>
              <a:t>WJB</a:t>
            </a:r>
            <a:r>
              <a:rPr lang="zh-CN" altLang="en-US" sz="900" dirty="0"/>
              <a:t>上：随时可能转跌</a:t>
            </a:r>
          </a:p>
        </p:txBody>
      </p:sp>
      <p:sp>
        <p:nvSpPr>
          <p:cNvPr id="99" name="矩形 98">
            <a:extLst>
              <a:ext uri="{FF2B5EF4-FFF2-40B4-BE49-F238E27FC236}">
                <a16:creationId xmlns:a16="http://schemas.microsoft.com/office/drawing/2014/main" id="{86E4C30F-B011-3112-0B50-0E475B652A42}"/>
              </a:ext>
            </a:extLst>
          </p:cNvPr>
          <p:cNvSpPr/>
          <p:nvPr/>
        </p:nvSpPr>
        <p:spPr>
          <a:xfrm>
            <a:off x="3176" y="6677777"/>
            <a:ext cx="12172950" cy="180000"/>
          </a:xfrm>
          <a:prstGeom prst="rect">
            <a:avLst/>
          </a:prstGeom>
          <a:solidFill>
            <a:schemeClr val="bg1">
              <a:lumMod val="50000"/>
            </a:schemeClr>
          </a:solidFill>
          <a:ln w="254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5" name="矩形 104">
            <a:extLst>
              <a:ext uri="{FF2B5EF4-FFF2-40B4-BE49-F238E27FC236}">
                <a16:creationId xmlns:a16="http://schemas.microsoft.com/office/drawing/2014/main" id="{75AEB96D-CF4C-8A60-91D3-17934D9DB19C}"/>
              </a:ext>
            </a:extLst>
          </p:cNvPr>
          <p:cNvSpPr/>
          <p:nvPr/>
        </p:nvSpPr>
        <p:spPr>
          <a:xfrm>
            <a:off x="1036926" y="6673321"/>
            <a:ext cx="504218" cy="188912"/>
          </a:xfrm>
          <a:prstGeom prst="rect">
            <a:avLst/>
          </a:prstGeom>
          <a:solidFill>
            <a:srgbClr val="00B050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做空</a:t>
            </a:r>
          </a:p>
        </p:txBody>
      </p:sp>
      <p:sp>
        <p:nvSpPr>
          <p:cNvPr id="107" name="矩形 106">
            <a:extLst>
              <a:ext uri="{FF2B5EF4-FFF2-40B4-BE49-F238E27FC236}">
                <a16:creationId xmlns:a16="http://schemas.microsoft.com/office/drawing/2014/main" id="{AFFF96FB-F690-FE97-EDB2-DDF93948C3E1}"/>
              </a:ext>
            </a:extLst>
          </p:cNvPr>
          <p:cNvSpPr/>
          <p:nvPr/>
        </p:nvSpPr>
        <p:spPr>
          <a:xfrm>
            <a:off x="1533524" y="6673321"/>
            <a:ext cx="792448" cy="188912"/>
          </a:xfrm>
          <a:prstGeom prst="rect">
            <a:avLst/>
          </a:prstGeom>
          <a:solidFill>
            <a:schemeClr val="bg1">
              <a:lumMod val="50000"/>
            </a:schemeClr>
          </a:solidFill>
          <a:ln w="254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观望</a:t>
            </a:r>
          </a:p>
        </p:txBody>
      </p:sp>
      <p:cxnSp>
        <p:nvCxnSpPr>
          <p:cNvPr id="113" name="直接连接符 112">
            <a:extLst>
              <a:ext uri="{FF2B5EF4-FFF2-40B4-BE49-F238E27FC236}">
                <a16:creationId xmlns:a16="http://schemas.microsoft.com/office/drawing/2014/main" id="{826E6BB1-D1E5-5088-CFB8-1C0F7CCF7816}"/>
              </a:ext>
            </a:extLst>
          </p:cNvPr>
          <p:cNvCxnSpPr>
            <a:cxnSpLocks/>
          </p:cNvCxnSpPr>
          <p:nvPr/>
        </p:nvCxnSpPr>
        <p:spPr>
          <a:xfrm>
            <a:off x="4390467" y="6486272"/>
            <a:ext cx="0" cy="338404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" name="矩形 119">
            <a:extLst>
              <a:ext uri="{FF2B5EF4-FFF2-40B4-BE49-F238E27FC236}">
                <a16:creationId xmlns:a16="http://schemas.microsoft.com/office/drawing/2014/main" id="{CA01B15F-2940-3A23-0006-68D984A47E52}"/>
              </a:ext>
            </a:extLst>
          </p:cNvPr>
          <p:cNvSpPr/>
          <p:nvPr/>
        </p:nvSpPr>
        <p:spPr>
          <a:xfrm>
            <a:off x="2878263" y="6673321"/>
            <a:ext cx="824596" cy="188912"/>
          </a:xfrm>
          <a:prstGeom prst="rect">
            <a:avLst/>
          </a:prstGeom>
          <a:solidFill>
            <a:schemeClr val="bg1">
              <a:lumMod val="50000"/>
            </a:schemeClr>
          </a:solidFill>
          <a:ln w="254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观望</a:t>
            </a:r>
          </a:p>
        </p:txBody>
      </p:sp>
      <p:sp>
        <p:nvSpPr>
          <p:cNvPr id="121" name="矩形 120">
            <a:extLst>
              <a:ext uri="{FF2B5EF4-FFF2-40B4-BE49-F238E27FC236}">
                <a16:creationId xmlns:a16="http://schemas.microsoft.com/office/drawing/2014/main" id="{C1E8FFF8-CA72-A581-4818-DDCD13DCFB9C}"/>
              </a:ext>
            </a:extLst>
          </p:cNvPr>
          <p:cNvSpPr/>
          <p:nvPr/>
        </p:nvSpPr>
        <p:spPr>
          <a:xfrm>
            <a:off x="2324670" y="6673321"/>
            <a:ext cx="558635" cy="188912"/>
          </a:xfrm>
          <a:prstGeom prst="rect">
            <a:avLst/>
          </a:prstGeom>
          <a:solidFill>
            <a:srgbClr val="00B050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做空</a:t>
            </a:r>
          </a:p>
        </p:txBody>
      </p:sp>
      <p:sp>
        <p:nvSpPr>
          <p:cNvPr id="122" name="矩形 121">
            <a:extLst>
              <a:ext uri="{FF2B5EF4-FFF2-40B4-BE49-F238E27FC236}">
                <a16:creationId xmlns:a16="http://schemas.microsoft.com/office/drawing/2014/main" id="{01FCE646-B650-35B4-0F7F-6D1BCF5BE6DB}"/>
              </a:ext>
            </a:extLst>
          </p:cNvPr>
          <p:cNvSpPr/>
          <p:nvPr/>
        </p:nvSpPr>
        <p:spPr>
          <a:xfrm>
            <a:off x="3705240" y="6673321"/>
            <a:ext cx="685763" cy="188912"/>
          </a:xfrm>
          <a:prstGeom prst="rect">
            <a:avLst/>
          </a:prstGeom>
          <a:solidFill>
            <a:srgbClr val="00B050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做空</a:t>
            </a:r>
          </a:p>
        </p:txBody>
      </p:sp>
      <p:sp>
        <p:nvSpPr>
          <p:cNvPr id="123" name="矩形 122">
            <a:extLst>
              <a:ext uri="{FF2B5EF4-FFF2-40B4-BE49-F238E27FC236}">
                <a16:creationId xmlns:a16="http://schemas.microsoft.com/office/drawing/2014/main" id="{C987C7ED-E031-634A-D5C9-915F2F1EF493}"/>
              </a:ext>
            </a:extLst>
          </p:cNvPr>
          <p:cNvSpPr/>
          <p:nvPr/>
        </p:nvSpPr>
        <p:spPr>
          <a:xfrm>
            <a:off x="4391882" y="6673321"/>
            <a:ext cx="6634257" cy="188912"/>
          </a:xfrm>
          <a:prstGeom prst="rect">
            <a:avLst/>
          </a:prstGeom>
          <a:solidFill>
            <a:schemeClr val="bg1">
              <a:lumMod val="50000"/>
            </a:schemeClr>
          </a:solidFill>
          <a:ln w="254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随时可能转跌：超跌失败的原因 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⇒ 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不应做多</a:t>
            </a:r>
          </a:p>
        </p:txBody>
      </p:sp>
      <p:sp>
        <p:nvSpPr>
          <p:cNvPr id="136" name="矩形 135">
            <a:extLst>
              <a:ext uri="{FF2B5EF4-FFF2-40B4-BE49-F238E27FC236}">
                <a16:creationId xmlns:a16="http://schemas.microsoft.com/office/drawing/2014/main" id="{68B39C2F-A7DC-8470-E06A-BA42B9A29246}"/>
              </a:ext>
            </a:extLst>
          </p:cNvPr>
          <p:cNvSpPr/>
          <p:nvPr/>
        </p:nvSpPr>
        <p:spPr>
          <a:xfrm>
            <a:off x="11025968" y="6673321"/>
            <a:ext cx="1146982" cy="188912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做多</a:t>
            </a:r>
          </a:p>
        </p:txBody>
      </p:sp>
      <p:sp>
        <p:nvSpPr>
          <p:cNvPr id="140" name="矩形 139">
            <a:extLst>
              <a:ext uri="{FF2B5EF4-FFF2-40B4-BE49-F238E27FC236}">
                <a16:creationId xmlns:a16="http://schemas.microsoft.com/office/drawing/2014/main" id="{CE199976-7789-62A5-5739-FECCB37DFACD}"/>
              </a:ext>
            </a:extLst>
          </p:cNvPr>
          <p:cNvSpPr/>
          <p:nvPr/>
        </p:nvSpPr>
        <p:spPr>
          <a:xfrm>
            <a:off x="3176" y="727630"/>
            <a:ext cx="12172950" cy="180000"/>
          </a:xfrm>
          <a:prstGeom prst="rect">
            <a:avLst/>
          </a:prstGeom>
          <a:solidFill>
            <a:schemeClr val="bg1">
              <a:lumMod val="50000"/>
            </a:schemeClr>
          </a:solidFill>
          <a:ln w="254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1" name="矩形 140">
            <a:extLst>
              <a:ext uri="{FF2B5EF4-FFF2-40B4-BE49-F238E27FC236}">
                <a16:creationId xmlns:a16="http://schemas.microsoft.com/office/drawing/2014/main" id="{960F2D52-4606-4B70-E287-3F83B109A835}"/>
              </a:ext>
            </a:extLst>
          </p:cNvPr>
          <p:cNvSpPr/>
          <p:nvPr/>
        </p:nvSpPr>
        <p:spPr>
          <a:xfrm>
            <a:off x="1501746" y="723174"/>
            <a:ext cx="631038" cy="188912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做多</a:t>
            </a:r>
          </a:p>
        </p:txBody>
      </p:sp>
      <p:sp>
        <p:nvSpPr>
          <p:cNvPr id="142" name="矩形 141">
            <a:extLst>
              <a:ext uri="{FF2B5EF4-FFF2-40B4-BE49-F238E27FC236}">
                <a16:creationId xmlns:a16="http://schemas.microsoft.com/office/drawing/2014/main" id="{F2EC42D0-1A40-10A2-7226-BD1D7FAA4C1A}"/>
              </a:ext>
            </a:extLst>
          </p:cNvPr>
          <p:cNvSpPr/>
          <p:nvPr/>
        </p:nvSpPr>
        <p:spPr>
          <a:xfrm>
            <a:off x="2137662" y="723174"/>
            <a:ext cx="653130" cy="188912"/>
          </a:xfrm>
          <a:prstGeom prst="rect">
            <a:avLst/>
          </a:prstGeom>
          <a:solidFill>
            <a:schemeClr val="bg1">
              <a:lumMod val="50000"/>
            </a:schemeClr>
          </a:solidFill>
          <a:ln w="254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观望</a:t>
            </a:r>
          </a:p>
        </p:txBody>
      </p:sp>
      <p:sp>
        <p:nvSpPr>
          <p:cNvPr id="143" name="矩形 142">
            <a:extLst>
              <a:ext uri="{FF2B5EF4-FFF2-40B4-BE49-F238E27FC236}">
                <a16:creationId xmlns:a16="http://schemas.microsoft.com/office/drawing/2014/main" id="{0059062E-6E7A-0283-F8E0-6880137A5AC8}"/>
              </a:ext>
            </a:extLst>
          </p:cNvPr>
          <p:cNvSpPr/>
          <p:nvPr/>
        </p:nvSpPr>
        <p:spPr>
          <a:xfrm>
            <a:off x="3481915" y="723174"/>
            <a:ext cx="1099570" cy="188912"/>
          </a:xfrm>
          <a:prstGeom prst="rect">
            <a:avLst/>
          </a:prstGeom>
          <a:solidFill>
            <a:schemeClr val="bg1">
              <a:lumMod val="50000"/>
            </a:schemeClr>
          </a:solidFill>
          <a:ln w="254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观望</a:t>
            </a:r>
          </a:p>
        </p:txBody>
      </p:sp>
      <p:sp>
        <p:nvSpPr>
          <p:cNvPr id="144" name="矩形 143">
            <a:extLst>
              <a:ext uri="{FF2B5EF4-FFF2-40B4-BE49-F238E27FC236}">
                <a16:creationId xmlns:a16="http://schemas.microsoft.com/office/drawing/2014/main" id="{4D7C12F3-C79E-4ED7-B18F-6B5BE668CDEF}"/>
              </a:ext>
            </a:extLst>
          </p:cNvPr>
          <p:cNvSpPr/>
          <p:nvPr/>
        </p:nvSpPr>
        <p:spPr>
          <a:xfrm>
            <a:off x="2789490" y="723174"/>
            <a:ext cx="685666" cy="188912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做多</a:t>
            </a:r>
          </a:p>
        </p:txBody>
      </p:sp>
      <p:sp>
        <p:nvSpPr>
          <p:cNvPr id="146" name="矩形 145">
            <a:extLst>
              <a:ext uri="{FF2B5EF4-FFF2-40B4-BE49-F238E27FC236}">
                <a16:creationId xmlns:a16="http://schemas.microsoft.com/office/drawing/2014/main" id="{323DFD74-72BC-6B30-C0AF-F6B87079D467}"/>
              </a:ext>
            </a:extLst>
          </p:cNvPr>
          <p:cNvSpPr/>
          <p:nvPr/>
        </p:nvSpPr>
        <p:spPr>
          <a:xfrm>
            <a:off x="7482839" y="723174"/>
            <a:ext cx="4180205" cy="134215"/>
          </a:xfrm>
          <a:prstGeom prst="rect">
            <a:avLst/>
          </a:prstGeom>
          <a:solidFill>
            <a:schemeClr val="bg1">
              <a:lumMod val="50000"/>
            </a:schemeClr>
          </a:solidFill>
          <a:ln w="254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随时可能转跌：尾部被诱多的原因 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⇒ 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不应做多</a:t>
            </a:r>
          </a:p>
        </p:txBody>
      </p:sp>
      <p:sp>
        <p:nvSpPr>
          <p:cNvPr id="147" name="矩形 146">
            <a:extLst>
              <a:ext uri="{FF2B5EF4-FFF2-40B4-BE49-F238E27FC236}">
                <a16:creationId xmlns:a16="http://schemas.microsoft.com/office/drawing/2014/main" id="{2DD82A60-16B8-4353-0B11-D44C3137F505}"/>
              </a:ext>
            </a:extLst>
          </p:cNvPr>
          <p:cNvSpPr/>
          <p:nvPr/>
        </p:nvSpPr>
        <p:spPr>
          <a:xfrm>
            <a:off x="11666220" y="723174"/>
            <a:ext cx="506730" cy="188912"/>
          </a:xfrm>
          <a:prstGeom prst="rect">
            <a:avLst/>
          </a:prstGeom>
          <a:solidFill>
            <a:srgbClr val="00B050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做空</a:t>
            </a:r>
          </a:p>
        </p:txBody>
      </p:sp>
      <p:sp>
        <p:nvSpPr>
          <p:cNvPr id="148" name="椭圆 147">
            <a:extLst>
              <a:ext uri="{FF2B5EF4-FFF2-40B4-BE49-F238E27FC236}">
                <a16:creationId xmlns:a16="http://schemas.microsoft.com/office/drawing/2014/main" id="{796329ED-7090-E34E-16E3-2131610FB414}"/>
              </a:ext>
            </a:extLst>
          </p:cNvPr>
          <p:cNvSpPr>
            <a:spLocks noChangeAspect="1"/>
          </p:cNvSpPr>
          <p:nvPr/>
        </p:nvSpPr>
        <p:spPr>
          <a:xfrm>
            <a:off x="11584708" y="2242902"/>
            <a:ext cx="180000" cy="180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accent1"/>
              </a:solidFill>
            </a:endParaRPr>
          </a:p>
        </p:txBody>
      </p:sp>
      <p:sp>
        <p:nvSpPr>
          <p:cNvPr id="149" name="文本框 148">
            <a:extLst>
              <a:ext uri="{FF2B5EF4-FFF2-40B4-BE49-F238E27FC236}">
                <a16:creationId xmlns:a16="http://schemas.microsoft.com/office/drawing/2014/main" id="{1C8D982C-0452-C261-6927-139A472706A6}"/>
              </a:ext>
            </a:extLst>
          </p:cNvPr>
          <p:cNvSpPr txBox="1"/>
          <p:nvPr/>
        </p:nvSpPr>
        <p:spPr>
          <a:xfrm>
            <a:off x="11219355" y="2411638"/>
            <a:ext cx="1021433" cy="253916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zh-CN" sz="1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开始做空</a:t>
            </a:r>
          </a:p>
        </p:txBody>
      </p:sp>
      <p:grpSp>
        <p:nvGrpSpPr>
          <p:cNvPr id="150" name="组合 149">
            <a:extLst>
              <a:ext uri="{FF2B5EF4-FFF2-40B4-BE49-F238E27FC236}">
                <a16:creationId xmlns:a16="http://schemas.microsoft.com/office/drawing/2014/main" id="{696DF3BC-F6FE-8E26-7CFE-9565ED8E20FC}"/>
              </a:ext>
            </a:extLst>
          </p:cNvPr>
          <p:cNvGrpSpPr/>
          <p:nvPr/>
        </p:nvGrpSpPr>
        <p:grpSpPr>
          <a:xfrm>
            <a:off x="1926736" y="2187235"/>
            <a:ext cx="415498" cy="381000"/>
            <a:chOff x="1317598" y="5200650"/>
            <a:chExt cx="415498" cy="381000"/>
          </a:xfrm>
        </p:grpSpPr>
        <p:sp>
          <p:nvSpPr>
            <p:cNvPr id="151" name="椭圆 150">
              <a:extLst>
                <a:ext uri="{FF2B5EF4-FFF2-40B4-BE49-F238E27FC236}">
                  <a16:creationId xmlns:a16="http://schemas.microsoft.com/office/drawing/2014/main" id="{201D04A1-C74F-9112-A6CB-5ADFD8C4410E}"/>
                </a:ext>
              </a:extLst>
            </p:cNvPr>
            <p:cNvSpPr/>
            <p:nvPr/>
          </p:nvSpPr>
          <p:spPr>
            <a:xfrm>
              <a:off x="1333500" y="5200650"/>
              <a:ext cx="381000" cy="381000"/>
            </a:xfrm>
            <a:prstGeom prst="ellipse">
              <a:avLst/>
            </a:prstGeom>
            <a:solidFill>
              <a:srgbClr val="FF0000">
                <a:alpha val="50000"/>
              </a:srgb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100" dirty="0">
                <a:solidFill>
                  <a:srgbClr val="FF0000"/>
                </a:solidFill>
              </a:endParaRPr>
            </a:p>
          </p:txBody>
        </p:sp>
        <p:sp>
          <p:nvSpPr>
            <p:cNvPr id="152" name="文本框 151">
              <a:extLst>
                <a:ext uri="{FF2B5EF4-FFF2-40B4-BE49-F238E27FC236}">
                  <a16:creationId xmlns:a16="http://schemas.microsoft.com/office/drawing/2014/main" id="{4A68D774-D0D4-09BD-1E07-50E1FEEA2631}"/>
                </a:ext>
              </a:extLst>
            </p:cNvPr>
            <p:cNvSpPr txBox="1"/>
            <p:nvPr/>
          </p:nvSpPr>
          <p:spPr>
            <a:xfrm>
              <a:off x="1317598" y="5200650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900" dirty="0">
                  <a:solidFill>
                    <a:srgbClr val="FF0000"/>
                  </a:solidFill>
                </a:rPr>
                <a:t>止盈</a:t>
              </a:r>
              <a:endParaRPr lang="en-US" altLang="zh-CN" sz="900" dirty="0">
                <a:solidFill>
                  <a:srgbClr val="FF0000"/>
                </a:solidFill>
              </a:endParaRPr>
            </a:p>
            <a:p>
              <a:r>
                <a:rPr lang="zh-CN" altLang="en-US" sz="900" dirty="0">
                  <a:solidFill>
                    <a:srgbClr val="FF0000"/>
                  </a:solidFill>
                </a:rPr>
                <a:t>舍顶</a:t>
              </a:r>
            </a:p>
          </p:txBody>
        </p:sp>
      </p:grpSp>
      <p:grpSp>
        <p:nvGrpSpPr>
          <p:cNvPr id="153" name="组合 152">
            <a:extLst>
              <a:ext uri="{FF2B5EF4-FFF2-40B4-BE49-F238E27FC236}">
                <a16:creationId xmlns:a16="http://schemas.microsoft.com/office/drawing/2014/main" id="{B860F21F-AF46-031A-C9E6-7DDB8F64A366}"/>
              </a:ext>
            </a:extLst>
          </p:cNvPr>
          <p:cNvGrpSpPr/>
          <p:nvPr/>
        </p:nvGrpSpPr>
        <p:grpSpPr>
          <a:xfrm>
            <a:off x="3273632" y="1364524"/>
            <a:ext cx="415498" cy="381000"/>
            <a:chOff x="1317598" y="5200650"/>
            <a:chExt cx="415498" cy="381000"/>
          </a:xfrm>
        </p:grpSpPr>
        <p:sp>
          <p:nvSpPr>
            <p:cNvPr id="154" name="椭圆 153">
              <a:extLst>
                <a:ext uri="{FF2B5EF4-FFF2-40B4-BE49-F238E27FC236}">
                  <a16:creationId xmlns:a16="http://schemas.microsoft.com/office/drawing/2014/main" id="{8CA48A47-F505-7E43-2427-09655FE61F4F}"/>
                </a:ext>
              </a:extLst>
            </p:cNvPr>
            <p:cNvSpPr/>
            <p:nvPr/>
          </p:nvSpPr>
          <p:spPr>
            <a:xfrm>
              <a:off x="1333500" y="5200650"/>
              <a:ext cx="381000" cy="381000"/>
            </a:xfrm>
            <a:prstGeom prst="ellipse">
              <a:avLst/>
            </a:prstGeom>
            <a:solidFill>
              <a:srgbClr val="FF0000">
                <a:alpha val="50000"/>
              </a:srgb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100" dirty="0">
                <a:solidFill>
                  <a:srgbClr val="FF0000"/>
                </a:solidFill>
              </a:endParaRPr>
            </a:p>
          </p:txBody>
        </p:sp>
        <p:sp>
          <p:nvSpPr>
            <p:cNvPr id="155" name="文本框 154">
              <a:extLst>
                <a:ext uri="{FF2B5EF4-FFF2-40B4-BE49-F238E27FC236}">
                  <a16:creationId xmlns:a16="http://schemas.microsoft.com/office/drawing/2014/main" id="{37390FEF-3996-EBF7-DC95-F51023DBEBC8}"/>
                </a:ext>
              </a:extLst>
            </p:cNvPr>
            <p:cNvSpPr txBox="1"/>
            <p:nvPr/>
          </p:nvSpPr>
          <p:spPr>
            <a:xfrm>
              <a:off x="1317598" y="5200650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900" dirty="0">
                  <a:solidFill>
                    <a:srgbClr val="FF0000"/>
                  </a:solidFill>
                </a:rPr>
                <a:t>止盈</a:t>
              </a:r>
              <a:endParaRPr lang="en-US" altLang="zh-CN" sz="900" dirty="0">
                <a:solidFill>
                  <a:srgbClr val="FF0000"/>
                </a:solidFill>
              </a:endParaRPr>
            </a:p>
            <a:p>
              <a:r>
                <a:rPr lang="zh-CN" altLang="en-US" sz="900" dirty="0">
                  <a:solidFill>
                    <a:srgbClr val="FF0000"/>
                  </a:solidFill>
                </a:rPr>
                <a:t>舍顶</a:t>
              </a:r>
            </a:p>
          </p:txBody>
        </p:sp>
      </p:grpSp>
      <p:grpSp>
        <p:nvGrpSpPr>
          <p:cNvPr id="156" name="组合 155">
            <a:extLst>
              <a:ext uri="{FF2B5EF4-FFF2-40B4-BE49-F238E27FC236}">
                <a16:creationId xmlns:a16="http://schemas.microsoft.com/office/drawing/2014/main" id="{696DF3BC-F6FE-8E26-7CFE-9565ED8E20FC}"/>
              </a:ext>
            </a:extLst>
          </p:cNvPr>
          <p:cNvGrpSpPr/>
          <p:nvPr/>
        </p:nvGrpSpPr>
        <p:grpSpPr>
          <a:xfrm>
            <a:off x="5126251" y="975008"/>
            <a:ext cx="415498" cy="381000"/>
            <a:chOff x="1317598" y="5200650"/>
            <a:chExt cx="415498" cy="381000"/>
          </a:xfrm>
        </p:grpSpPr>
        <p:sp>
          <p:nvSpPr>
            <p:cNvPr id="157" name="椭圆 156">
              <a:extLst>
                <a:ext uri="{FF2B5EF4-FFF2-40B4-BE49-F238E27FC236}">
                  <a16:creationId xmlns:a16="http://schemas.microsoft.com/office/drawing/2014/main" id="{201D04A1-C74F-9112-A6CB-5ADFD8C4410E}"/>
                </a:ext>
              </a:extLst>
            </p:cNvPr>
            <p:cNvSpPr/>
            <p:nvPr/>
          </p:nvSpPr>
          <p:spPr>
            <a:xfrm>
              <a:off x="1333500" y="5200650"/>
              <a:ext cx="381000" cy="381000"/>
            </a:xfrm>
            <a:prstGeom prst="ellipse">
              <a:avLst/>
            </a:prstGeom>
            <a:solidFill>
              <a:srgbClr val="FF0000">
                <a:alpha val="50000"/>
              </a:srgb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en-US" sz="1100" dirty="0">
                <a:solidFill>
                  <a:srgbClr val="FF0000"/>
                </a:solidFill>
              </a:endParaRPr>
            </a:p>
          </p:txBody>
        </p:sp>
        <p:sp>
          <p:nvSpPr>
            <p:cNvPr id="158" name="文本框 151">
              <a:extLst>
                <a:ext uri="{FF2B5EF4-FFF2-40B4-BE49-F238E27FC236}">
                  <a16:creationId xmlns:a16="http://schemas.microsoft.com/office/drawing/2014/main" id="{4A68D774-D0D4-09BD-1E07-50E1FEEA2631}"/>
                </a:ext>
              </a:extLst>
            </p:cNvPr>
            <p:cNvSpPr txBox="1"/>
            <p:nvPr/>
          </p:nvSpPr>
          <p:spPr>
            <a:xfrm>
              <a:off x="1317598" y="5200650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zh-CN" altLang="en-US" sz="900" dirty="0">
                  <a:solidFill>
                    <a:srgbClr val="FF0000"/>
                  </a:solidFill>
                </a:rPr>
                <a:t>止盈</a:t>
              </a:r>
              <a:endParaRPr lang="en-US" altLang="zh-CN" sz="900" dirty="0">
                <a:solidFill>
                  <a:srgbClr val="FF0000"/>
                </a:solidFill>
              </a:endParaRPr>
            </a:p>
            <a:p>
              <a:r>
                <a:rPr lang="zh-CN" altLang="en-US" sz="900" dirty="0">
                  <a:solidFill>
                    <a:srgbClr val="FF0000"/>
                  </a:solidFill>
                </a:rPr>
                <a:t>舍顶</a:t>
              </a:r>
            </a:p>
          </p:txBody>
        </p:sp>
      </p:grpSp>
      <p:grpSp>
        <p:nvGrpSpPr>
          <p:cNvPr id="159" name="组合 158">
            <a:extLst>
              <a:ext uri="{FF2B5EF4-FFF2-40B4-BE49-F238E27FC236}">
                <a16:creationId xmlns:a16="http://schemas.microsoft.com/office/drawing/2014/main" id="{7CCED75C-419A-9E8A-3D29-6B7A89C8B16D}"/>
              </a:ext>
            </a:extLst>
          </p:cNvPr>
          <p:cNvGrpSpPr/>
          <p:nvPr/>
        </p:nvGrpSpPr>
        <p:grpSpPr>
          <a:xfrm>
            <a:off x="2578164" y="2366067"/>
            <a:ext cx="415498" cy="381000"/>
            <a:chOff x="1985486" y="4980688"/>
            <a:chExt cx="415498" cy="381000"/>
          </a:xfrm>
          <a:solidFill>
            <a:schemeClr val="accent1">
              <a:alpha val="50000"/>
            </a:schemeClr>
          </a:solidFill>
        </p:grpSpPr>
        <p:sp>
          <p:nvSpPr>
            <p:cNvPr id="160" name="椭圆 159">
              <a:extLst>
                <a:ext uri="{FF2B5EF4-FFF2-40B4-BE49-F238E27FC236}">
                  <a16:creationId xmlns:a16="http://schemas.microsoft.com/office/drawing/2014/main" id="{8D76DD2B-82F6-FB98-70F6-E2C96D8CDA62}"/>
                </a:ext>
              </a:extLst>
            </p:cNvPr>
            <p:cNvSpPr/>
            <p:nvPr/>
          </p:nvSpPr>
          <p:spPr>
            <a:xfrm>
              <a:off x="2002735" y="4980688"/>
              <a:ext cx="381000" cy="381000"/>
            </a:xfrm>
            <a:prstGeom prst="ellipse">
              <a:avLst/>
            </a:prstGeom>
            <a:grp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100" dirty="0">
                <a:solidFill>
                  <a:srgbClr val="00B050"/>
                </a:solidFill>
              </a:endParaRPr>
            </a:p>
          </p:txBody>
        </p:sp>
        <p:sp>
          <p:nvSpPr>
            <p:cNvPr id="161" name="文本框 160">
              <a:extLst>
                <a:ext uri="{FF2B5EF4-FFF2-40B4-BE49-F238E27FC236}">
                  <a16:creationId xmlns:a16="http://schemas.microsoft.com/office/drawing/2014/main" id="{AE2E2F14-1016-8A4A-FBAC-F4441FEF2C9A}"/>
                </a:ext>
              </a:extLst>
            </p:cNvPr>
            <p:cNvSpPr txBox="1"/>
            <p:nvPr/>
          </p:nvSpPr>
          <p:spPr>
            <a:xfrm>
              <a:off x="1985486" y="5048835"/>
              <a:ext cx="415498" cy="230832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zh-CN" altLang="en-US" sz="900" dirty="0">
                  <a:solidFill>
                    <a:schemeClr val="accent1"/>
                  </a:solidFill>
                </a:rPr>
                <a:t>日机</a:t>
              </a:r>
            </a:p>
          </p:txBody>
        </p:sp>
      </p:grpSp>
      <p:sp>
        <p:nvSpPr>
          <p:cNvPr id="190" name="矩形 189">
            <a:extLst>
              <a:ext uri="{FF2B5EF4-FFF2-40B4-BE49-F238E27FC236}">
                <a16:creationId xmlns:a16="http://schemas.microsoft.com/office/drawing/2014/main" id="{8FA68E7E-C79B-4C9B-0065-A83AFFB736D1}"/>
              </a:ext>
            </a:extLst>
          </p:cNvPr>
          <p:cNvSpPr/>
          <p:nvPr/>
        </p:nvSpPr>
        <p:spPr>
          <a:xfrm>
            <a:off x="4588243" y="723174"/>
            <a:ext cx="749327" cy="188912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做多</a:t>
            </a:r>
          </a:p>
        </p:txBody>
      </p:sp>
      <p:sp>
        <p:nvSpPr>
          <p:cNvPr id="191" name="矩形 190">
            <a:extLst>
              <a:ext uri="{FF2B5EF4-FFF2-40B4-BE49-F238E27FC236}">
                <a16:creationId xmlns:a16="http://schemas.microsoft.com/office/drawing/2014/main" id="{1BCEE7F8-5C5B-2767-A858-496017CA16E4}"/>
              </a:ext>
            </a:extLst>
          </p:cNvPr>
          <p:cNvSpPr/>
          <p:nvPr/>
        </p:nvSpPr>
        <p:spPr>
          <a:xfrm>
            <a:off x="5344327" y="723174"/>
            <a:ext cx="1544215" cy="188912"/>
          </a:xfrm>
          <a:prstGeom prst="rect">
            <a:avLst/>
          </a:prstGeom>
          <a:solidFill>
            <a:schemeClr val="bg1">
              <a:lumMod val="50000"/>
            </a:schemeClr>
          </a:solidFill>
          <a:ln w="254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观望</a:t>
            </a:r>
          </a:p>
        </p:txBody>
      </p:sp>
      <p:grpSp>
        <p:nvGrpSpPr>
          <p:cNvPr id="195" name="组合 194">
            <a:extLst>
              <a:ext uri="{FF2B5EF4-FFF2-40B4-BE49-F238E27FC236}">
                <a16:creationId xmlns:a16="http://schemas.microsoft.com/office/drawing/2014/main" id="{C4D95D89-4938-226F-EFA7-C3CB519723B1}"/>
              </a:ext>
            </a:extLst>
          </p:cNvPr>
          <p:cNvGrpSpPr/>
          <p:nvPr/>
        </p:nvGrpSpPr>
        <p:grpSpPr>
          <a:xfrm>
            <a:off x="7280950" y="966653"/>
            <a:ext cx="415498" cy="381000"/>
            <a:chOff x="1317598" y="5200650"/>
            <a:chExt cx="415498" cy="381000"/>
          </a:xfrm>
        </p:grpSpPr>
        <p:sp>
          <p:nvSpPr>
            <p:cNvPr id="196" name="椭圆 195">
              <a:extLst>
                <a:ext uri="{FF2B5EF4-FFF2-40B4-BE49-F238E27FC236}">
                  <a16:creationId xmlns:a16="http://schemas.microsoft.com/office/drawing/2014/main" id="{4C903B51-8A6B-8042-E59A-23379765BC5A}"/>
                </a:ext>
              </a:extLst>
            </p:cNvPr>
            <p:cNvSpPr/>
            <p:nvPr/>
          </p:nvSpPr>
          <p:spPr>
            <a:xfrm>
              <a:off x="1333500" y="5200650"/>
              <a:ext cx="381000" cy="381000"/>
            </a:xfrm>
            <a:prstGeom prst="ellipse">
              <a:avLst/>
            </a:prstGeom>
            <a:solidFill>
              <a:srgbClr val="FF0000">
                <a:alpha val="50000"/>
              </a:srgb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en-US" sz="1100" dirty="0">
                <a:solidFill>
                  <a:srgbClr val="FF0000"/>
                </a:solidFill>
              </a:endParaRPr>
            </a:p>
          </p:txBody>
        </p:sp>
        <p:sp>
          <p:nvSpPr>
            <p:cNvPr id="197" name="文本框 151">
              <a:extLst>
                <a:ext uri="{FF2B5EF4-FFF2-40B4-BE49-F238E27FC236}">
                  <a16:creationId xmlns:a16="http://schemas.microsoft.com/office/drawing/2014/main" id="{B28DAB82-3A86-2EEA-7A55-FC914A4E9904}"/>
                </a:ext>
              </a:extLst>
            </p:cNvPr>
            <p:cNvSpPr txBox="1"/>
            <p:nvPr/>
          </p:nvSpPr>
          <p:spPr>
            <a:xfrm>
              <a:off x="1317598" y="5200650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zh-CN" altLang="en-US" sz="900" dirty="0">
                  <a:solidFill>
                    <a:srgbClr val="FF0000"/>
                  </a:solidFill>
                </a:rPr>
                <a:t>止盈</a:t>
              </a:r>
              <a:endParaRPr lang="en-US" altLang="zh-CN" sz="900" dirty="0">
                <a:solidFill>
                  <a:srgbClr val="FF0000"/>
                </a:solidFill>
              </a:endParaRPr>
            </a:p>
            <a:p>
              <a:r>
                <a:rPr lang="zh-CN" altLang="en-US" sz="900" dirty="0">
                  <a:solidFill>
                    <a:srgbClr val="FF0000"/>
                  </a:solidFill>
                </a:rPr>
                <a:t>舍顶</a:t>
              </a:r>
            </a:p>
          </p:txBody>
        </p:sp>
      </p:grpSp>
      <p:sp>
        <p:nvSpPr>
          <p:cNvPr id="198" name="矩形 197">
            <a:extLst>
              <a:ext uri="{FF2B5EF4-FFF2-40B4-BE49-F238E27FC236}">
                <a16:creationId xmlns:a16="http://schemas.microsoft.com/office/drawing/2014/main" id="{346FB781-6A73-2D19-4BD2-ED6C4C3563A0}"/>
              </a:ext>
            </a:extLst>
          </p:cNvPr>
          <p:cNvSpPr/>
          <p:nvPr/>
        </p:nvSpPr>
        <p:spPr>
          <a:xfrm>
            <a:off x="6904243" y="723174"/>
            <a:ext cx="575420" cy="188912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做多</a:t>
            </a:r>
          </a:p>
        </p:txBody>
      </p:sp>
      <p:sp>
        <p:nvSpPr>
          <p:cNvPr id="201" name="椭圆 200">
            <a:extLst>
              <a:ext uri="{FF2B5EF4-FFF2-40B4-BE49-F238E27FC236}">
                <a16:creationId xmlns:a16="http://schemas.microsoft.com/office/drawing/2014/main" id="{4495E8DC-B7FE-5C3B-7397-41D3CAD66748}"/>
              </a:ext>
            </a:extLst>
          </p:cNvPr>
          <p:cNvSpPr>
            <a:spLocks noChangeAspect="1"/>
          </p:cNvSpPr>
          <p:nvPr/>
        </p:nvSpPr>
        <p:spPr>
          <a:xfrm>
            <a:off x="10928556" y="5615100"/>
            <a:ext cx="180000" cy="180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2" name="文本框 201">
            <a:extLst>
              <a:ext uri="{FF2B5EF4-FFF2-40B4-BE49-F238E27FC236}">
                <a16:creationId xmlns:a16="http://schemas.microsoft.com/office/drawing/2014/main" id="{31F07A4F-04A2-D58B-BDFB-2469C2A28E1A}"/>
              </a:ext>
            </a:extLst>
          </p:cNvPr>
          <p:cNvSpPr txBox="1"/>
          <p:nvPr/>
        </p:nvSpPr>
        <p:spPr>
          <a:xfrm>
            <a:off x="10774530" y="5382640"/>
            <a:ext cx="1231280" cy="246221"/>
          </a:xfrm>
          <a:prstGeom prst="rect">
            <a:avLst/>
          </a:prstGeom>
          <a:noFill/>
        </p:spPr>
        <p:txBody>
          <a:bodyPr vert="horz" wrap="square" rtlCol="0">
            <a:spAutoFit/>
          </a:bodyPr>
          <a:lstStyle/>
          <a:p>
            <a:r>
              <a:rPr lang="en-US" altLang="zh-CN" sz="1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开始做多</a:t>
            </a:r>
          </a:p>
        </p:txBody>
      </p:sp>
      <p:grpSp>
        <p:nvGrpSpPr>
          <p:cNvPr id="203" name="组合 202">
            <a:extLst>
              <a:ext uri="{FF2B5EF4-FFF2-40B4-BE49-F238E27FC236}">
                <a16:creationId xmlns:a16="http://schemas.microsoft.com/office/drawing/2014/main" id="{519CA3F0-B4AC-1094-ECAD-F5048441AE31}"/>
              </a:ext>
            </a:extLst>
          </p:cNvPr>
          <p:cNvGrpSpPr/>
          <p:nvPr/>
        </p:nvGrpSpPr>
        <p:grpSpPr>
          <a:xfrm>
            <a:off x="4381500" y="1696225"/>
            <a:ext cx="415498" cy="381000"/>
            <a:chOff x="1985486" y="4980688"/>
            <a:chExt cx="415498" cy="381000"/>
          </a:xfrm>
          <a:solidFill>
            <a:schemeClr val="accent1">
              <a:alpha val="50000"/>
            </a:schemeClr>
          </a:solidFill>
        </p:grpSpPr>
        <p:sp>
          <p:nvSpPr>
            <p:cNvPr id="204" name="椭圆 203">
              <a:extLst>
                <a:ext uri="{FF2B5EF4-FFF2-40B4-BE49-F238E27FC236}">
                  <a16:creationId xmlns:a16="http://schemas.microsoft.com/office/drawing/2014/main" id="{90B56B17-4F6E-871F-9D7F-AC86D53DBA67}"/>
                </a:ext>
              </a:extLst>
            </p:cNvPr>
            <p:cNvSpPr/>
            <p:nvPr/>
          </p:nvSpPr>
          <p:spPr>
            <a:xfrm>
              <a:off x="2002735" y="4980688"/>
              <a:ext cx="381000" cy="381000"/>
            </a:xfrm>
            <a:prstGeom prst="ellipse">
              <a:avLst/>
            </a:prstGeom>
            <a:grp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100" dirty="0">
                <a:solidFill>
                  <a:srgbClr val="00B050"/>
                </a:solidFill>
              </a:endParaRPr>
            </a:p>
          </p:txBody>
        </p:sp>
        <p:sp>
          <p:nvSpPr>
            <p:cNvPr id="205" name="文本框 204">
              <a:extLst>
                <a:ext uri="{FF2B5EF4-FFF2-40B4-BE49-F238E27FC236}">
                  <a16:creationId xmlns:a16="http://schemas.microsoft.com/office/drawing/2014/main" id="{84F884A5-0D82-5B49-B719-70310089CCB5}"/>
                </a:ext>
              </a:extLst>
            </p:cNvPr>
            <p:cNvSpPr txBox="1"/>
            <p:nvPr/>
          </p:nvSpPr>
          <p:spPr>
            <a:xfrm>
              <a:off x="1985486" y="5048835"/>
              <a:ext cx="415498" cy="230832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zh-CN" altLang="en-US" sz="900" dirty="0">
                  <a:solidFill>
                    <a:schemeClr val="accent1"/>
                  </a:solidFill>
                </a:rPr>
                <a:t>日机</a:t>
              </a:r>
            </a:p>
          </p:txBody>
        </p:sp>
      </p:grpSp>
      <p:grpSp>
        <p:nvGrpSpPr>
          <p:cNvPr id="206" name="组合 205">
            <a:extLst>
              <a:ext uri="{FF2B5EF4-FFF2-40B4-BE49-F238E27FC236}">
                <a16:creationId xmlns:a16="http://schemas.microsoft.com/office/drawing/2014/main" id="{7CCED75C-419A-9E8A-3D29-6B7A89C8B16D}"/>
              </a:ext>
            </a:extLst>
          </p:cNvPr>
          <p:cNvGrpSpPr/>
          <p:nvPr/>
        </p:nvGrpSpPr>
        <p:grpSpPr>
          <a:xfrm>
            <a:off x="6702515" y="1417832"/>
            <a:ext cx="415498" cy="381000"/>
            <a:chOff x="1985486" y="4980688"/>
            <a:chExt cx="415498" cy="381000"/>
          </a:xfrm>
          <a:solidFill>
            <a:schemeClr val="accent1">
              <a:alpha val="50000"/>
            </a:schemeClr>
          </a:solidFill>
        </p:grpSpPr>
        <p:sp>
          <p:nvSpPr>
            <p:cNvPr id="207" name="椭圆 206">
              <a:extLst>
                <a:ext uri="{FF2B5EF4-FFF2-40B4-BE49-F238E27FC236}">
                  <a16:creationId xmlns:a16="http://schemas.microsoft.com/office/drawing/2014/main" id="{8D76DD2B-82F6-FB98-70F6-E2C96D8CDA62}"/>
                </a:ext>
              </a:extLst>
            </p:cNvPr>
            <p:cNvSpPr/>
            <p:nvPr/>
          </p:nvSpPr>
          <p:spPr>
            <a:xfrm>
              <a:off x="2002735" y="4980688"/>
              <a:ext cx="381000" cy="381000"/>
            </a:xfrm>
            <a:prstGeom prst="ellipse">
              <a:avLst/>
            </a:prstGeom>
            <a:grp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en-US" sz="1100" dirty="0">
                <a:solidFill>
                  <a:srgbClr val="00B050"/>
                </a:solidFill>
              </a:endParaRPr>
            </a:p>
          </p:txBody>
        </p:sp>
        <p:sp>
          <p:nvSpPr>
            <p:cNvPr id="208" name="文本框 160">
              <a:extLst>
                <a:ext uri="{FF2B5EF4-FFF2-40B4-BE49-F238E27FC236}">
                  <a16:creationId xmlns:a16="http://schemas.microsoft.com/office/drawing/2014/main" id="{AE2E2F14-1016-8A4A-FBAC-F4441FEF2C9A}"/>
                </a:ext>
              </a:extLst>
            </p:cNvPr>
            <p:cNvSpPr txBox="1"/>
            <p:nvPr/>
          </p:nvSpPr>
          <p:spPr>
            <a:xfrm>
              <a:off x="1985486" y="5048835"/>
              <a:ext cx="415498" cy="230832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zh-CN" altLang="en-US" sz="900" dirty="0">
                  <a:solidFill>
                    <a:schemeClr val="accent1"/>
                  </a:solidFill>
                </a:rPr>
                <a:t>日机</a:t>
              </a:r>
            </a:p>
          </p:txBody>
        </p:sp>
      </p:grpSp>
      <p:sp>
        <p:nvSpPr>
          <p:cNvPr id="20" name="矩形: 圆角 19">
            <a:extLst>
              <a:ext uri="{FF2B5EF4-FFF2-40B4-BE49-F238E27FC236}">
                <a16:creationId xmlns:a16="http://schemas.microsoft.com/office/drawing/2014/main" id="{CBCE036C-95A3-C1C3-5D79-C7C38082B1DD}"/>
              </a:ext>
            </a:extLst>
          </p:cNvPr>
          <p:cNvSpPr/>
          <p:nvPr/>
        </p:nvSpPr>
        <p:spPr>
          <a:xfrm>
            <a:off x="4195985" y="3046494"/>
            <a:ext cx="8230464" cy="1800000"/>
          </a:xfrm>
          <a:prstGeom prst="roundRect">
            <a:avLst>
              <a:gd name="adj" fmla="val 8261"/>
            </a:avLst>
          </a:prstGeom>
          <a:solidFill>
            <a:schemeClr val="tx1">
              <a:lumMod val="95000"/>
              <a:lumOff val="5000"/>
            </a:schemeClr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趋势判定原则：</a:t>
            </a:r>
            <a:endParaRPr lang="en-US" altLang="zh-CN" sz="1200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</a:t>
            </a:r>
            <a:r>
              <a:rPr lang="en-US" altLang="zh-CN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1[</a:t>
            </a:r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原旨教义</a:t>
            </a:r>
            <a:r>
              <a:rPr lang="en-US" altLang="zh-CN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：必要条件是在</a:t>
            </a:r>
            <a:r>
              <a:rPr lang="en-US" altLang="zh-CN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1200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</a:t>
            </a:r>
            <a:r>
              <a:rPr lang="en-US" altLang="zh-CN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2[</a:t>
            </a:r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跨期扩展</a:t>
            </a:r>
            <a:r>
              <a:rPr lang="en-US" altLang="zh-CN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：利用</a:t>
            </a:r>
            <a:r>
              <a:rPr lang="en-US" altLang="zh-CN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确定月级别大势。</a:t>
            </a:r>
            <a:endParaRPr lang="en-US" altLang="zh-CN" sz="1200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</a:t>
            </a:r>
            <a:r>
              <a:rPr lang="en-US" altLang="zh-CN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3[</a:t>
            </a:r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核心工具</a:t>
            </a:r>
            <a:r>
              <a:rPr lang="en-US" altLang="zh-CN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：要疏勿堵，用</a:t>
            </a:r>
            <a:r>
              <a:rPr lang="en-US" altLang="zh-CN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观察阴阳大势的演化。</a:t>
            </a:r>
            <a:endParaRPr lang="en-US" altLang="zh-CN" sz="1200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</a:t>
            </a:r>
            <a:r>
              <a:rPr lang="en-US" altLang="zh-CN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4[</a:t>
            </a:r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负向扩展</a:t>
            </a:r>
            <a:r>
              <a:rPr lang="en-US" altLang="zh-CN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：基于对称原则，确定下降趋势的判定原则。</a:t>
            </a:r>
            <a:endParaRPr lang="en-US" altLang="zh-CN" sz="1200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1200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（注：每条原则的具体论述参考</a:t>
            </a:r>
            <a:r>
              <a:rPr lang="en-US" altLang="zh-CN" sz="8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</a:t>
            </a:r>
            <a:r>
              <a:rPr lang="en-US" altLang="zh-CN" sz="8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</a:t>
            </a:r>
            <a:r>
              <a:rPr lang="en-US" altLang="zh-CN" sz="8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大局观附注</a:t>
            </a:r>
            <a:r>
              <a:rPr lang="en-US" altLang="zh-CN" sz="8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】》</a:t>
            </a:r>
            <a:r>
              <a:rPr lang="zh-CN" altLang="en-US" sz="8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zh-CN" altLang="en-US" sz="800" dirty="0">
              <a:solidFill>
                <a:schemeClr val="accent4"/>
              </a:solidFill>
            </a:endParaRPr>
          </a:p>
        </p:txBody>
      </p:sp>
      <p:sp>
        <p:nvSpPr>
          <p:cNvPr id="5" name="矩形: 圆角 4">
            <a:extLst>
              <a:ext uri="{FF2B5EF4-FFF2-40B4-BE49-F238E27FC236}">
                <a16:creationId xmlns:a16="http://schemas.microsoft.com/office/drawing/2014/main" id="{71B493A8-5166-6BB5-7D7A-EFF324D9E1CF}"/>
              </a:ext>
            </a:extLst>
          </p:cNvPr>
          <p:cNvSpPr/>
          <p:nvPr/>
        </p:nvSpPr>
        <p:spPr>
          <a:xfrm>
            <a:off x="8726211" y="3194409"/>
            <a:ext cx="3172839" cy="1517269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38100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/>
          </a:p>
        </p:txBody>
      </p:sp>
      <p:sp>
        <p:nvSpPr>
          <p:cNvPr id="9" name="矩形: 圆角 8">
            <a:extLst>
              <a:ext uri="{FF2B5EF4-FFF2-40B4-BE49-F238E27FC236}">
                <a16:creationId xmlns:a16="http://schemas.microsoft.com/office/drawing/2014/main" id="{99795212-86B2-DF6B-0539-D9FFEB61B1F4}"/>
              </a:ext>
            </a:extLst>
          </p:cNvPr>
          <p:cNvSpPr/>
          <p:nvPr/>
        </p:nvSpPr>
        <p:spPr>
          <a:xfrm>
            <a:off x="8937718" y="3738757"/>
            <a:ext cx="864000" cy="342900"/>
          </a:xfrm>
          <a:prstGeom prst="roundRect">
            <a:avLst/>
          </a:prstGeom>
          <a:solidFill>
            <a:schemeClr val="accent1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</a:t>
            </a:r>
            <a:r>
              <a:rPr lang="en-US" altLang="zh-CN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</a:p>
          <a:p>
            <a:pPr algn="ctr"/>
            <a:r>
              <a:rPr lang="zh-CN" altLang="en-US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</a:p>
        </p:txBody>
      </p:sp>
      <p:sp>
        <p:nvSpPr>
          <p:cNvPr id="11" name="矩形: 圆角 10">
            <a:extLst>
              <a:ext uri="{FF2B5EF4-FFF2-40B4-BE49-F238E27FC236}">
                <a16:creationId xmlns:a16="http://schemas.microsoft.com/office/drawing/2014/main" id="{DBEE8596-CBEE-E91F-12C5-1605EB6E28A9}"/>
              </a:ext>
            </a:extLst>
          </p:cNvPr>
          <p:cNvSpPr/>
          <p:nvPr/>
        </p:nvSpPr>
        <p:spPr>
          <a:xfrm>
            <a:off x="8937718" y="3272871"/>
            <a:ext cx="864000" cy="342900"/>
          </a:xfrm>
          <a:prstGeom prst="roundRect">
            <a:avLst/>
          </a:prstGeom>
          <a:solidFill>
            <a:schemeClr val="accent1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</a:t>
            </a:r>
            <a:r>
              <a:rPr lang="en-US" altLang="zh-CN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</a:p>
          <a:p>
            <a:pPr algn="ctr"/>
            <a:r>
              <a:rPr lang="zh-CN" altLang="en-US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</a:p>
        </p:txBody>
      </p:sp>
      <p:sp>
        <p:nvSpPr>
          <p:cNvPr id="12" name="矩形: 圆角 11">
            <a:extLst>
              <a:ext uri="{FF2B5EF4-FFF2-40B4-BE49-F238E27FC236}">
                <a16:creationId xmlns:a16="http://schemas.microsoft.com/office/drawing/2014/main" id="{46C42684-2077-17BB-1A0E-F8AE9BDF917C}"/>
              </a:ext>
            </a:extLst>
          </p:cNvPr>
          <p:cNvSpPr/>
          <p:nvPr/>
        </p:nvSpPr>
        <p:spPr>
          <a:xfrm>
            <a:off x="10772916" y="3738757"/>
            <a:ext cx="864000" cy="342900"/>
          </a:xfrm>
          <a:prstGeom prst="roundRect">
            <a:avLst/>
          </a:prstGeom>
          <a:solidFill>
            <a:schemeClr val="accent1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</a:t>
            </a:r>
            <a:r>
              <a:rPr lang="en-US" altLang="zh-CN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</a:p>
          <a:p>
            <a:pPr algn="ctr"/>
            <a:r>
              <a:rPr lang="zh-CN" altLang="en-US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</a:p>
        </p:txBody>
      </p:sp>
      <p:sp>
        <p:nvSpPr>
          <p:cNvPr id="13" name="矩形: 圆角 12">
            <a:extLst>
              <a:ext uri="{FF2B5EF4-FFF2-40B4-BE49-F238E27FC236}">
                <a16:creationId xmlns:a16="http://schemas.microsoft.com/office/drawing/2014/main" id="{561CA8F9-B450-C870-9713-4BCAD265F96E}"/>
              </a:ext>
            </a:extLst>
          </p:cNvPr>
          <p:cNvSpPr/>
          <p:nvPr/>
        </p:nvSpPr>
        <p:spPr>
          <a:xfrm>
            <a:off x="8726211" y="4172453"/>
            <a:ext cx="3172839" cy="540000"/>
          </a:xfrm>
          <a:prstGeom prst="roundRect">
            <a:avLst/>
          </a:prstGeom>
          <a:solidFill>
            <a:schemeClr val="accent4">
              <a:lumMod val="50000"/>
            </a:schemeClr>
          </a:solidFill>
          <a:ln w="38100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solidFill>
                <a:schemeClr val="accent1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14" name="矩形: 圆角 13">
            <a:extLst>
              <a:ext uri="{FF2B5EF4-FFF2-40B4-BE49-F238E27FC236}">
                <a16:creationId xmlns:a16="http://schemas.microsoft.com/office/drawing/2014/main" id="{E3C184E4-F8F1-082D-F92B-B2623287B677}"/>
              </a:ext>
            </a:extLst>
          </p:cNvPr>
          <p:cNvSpPr/>
          <p:nvPr/>
        </p:nvSpPr>
        <p:spPr>
          <a:xfrm>
            <a:off x="8937719" y="4256506"/>
            <a:ext cx="2699197" cy="342900"/>
          </a:xfrm>
          <a:prstGeom prst="roundRect">
            <a:avLst/>
          </a:prstGeom>
          <a:solidFill>
            <a:schemeClr val="accent1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</a:t>
            </a:r>
            <a:r>
              <a:rPr lang="en-US" altLang="zh-CN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900" b="1" dirty="0">
                <a:solidFill>
                  <a:schemeClr val="accent1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（负向扩展）</a:t>
            </a:r>
          </a:p>
        </p:txBody>
      </p:sp>
      <p:cxnSp>
        <p:nvCxnSpPr>
          <p:cNvPr id="16" name="直接箭头连接符 15">
            <a:extLst>
              <a:ext uri="{FF2B5EF4-FFF2-40B4-BE49-F238E27FC236}">
                <a16:creationId xmlns:a16="http://schemas.microsoft.com/office/drawing/2014/main" id="{B53F4BE0-444F-F992-E940-088D3434664C}"/>
              </a:ext>
            </a:extLst>
          </p:cNvPr>
          <p:cNvCxnSpPr>
            <a:cxnSpLocks/>
            <a:stCxn id="9" idx="3"/>
            <a:endCxn id="12" idx="1"/>
          </p:cNvCxnSpPr>
          <p:nvPr/>
        </p:nvCxnSpPr>
        <p:spPr>
          <a:xfrm>
            <a:off x="9801718" y="3910207"/>
            <a:ext cx="971198" cy="0"/>
          </a:xfrm>
          <a:prstGeom prst="straightConnector1">
            <a:avLst/>
          </a:prstGeom>
          <a:ln w="25400">
            <a:solidFill>
              <a:schemeClr val="tx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箭头连接符 16">
            <a:extLst>
              <a:ext uri="{FF2B5EF4-FFF2-40B4-BE49-F238E27FC236}">
                <a16:creationId xmlns:a16="http://schemas.microsoft.com/office/drawing/2014/main" id="{99373037-934C-E474-9CAB-DBB1239A2B6B}"/>
              </a:ext>
            </a:extLst>
          </p:cNvPr>
          <p:cNvCxnSpPr>
            <a:cxnSpLocks/>
            <a:stCxn id="9" idx="0"/>
            <a:endCxn id="11" idx="2"/>
          </p:cNvCxnSpPr>
          <p:nvPr/>
        </p:nvCxnSpPr>
        <p:spPr>
          <a:xfrm flipV="1">
            <a:off x="9369718" y="3615771"/>
            <a:ext cx="0" cy="122986"/>
          </a:xfrm>
          <a:prstGeom prst="straightConnector1">
            <a:avLst/>
          </a:prstGeom>
          <a:ln w="25400">
            <a:solidFill>
              <a:schemeClr val="tx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9820259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FD9199-1F1F-1F56-0526-9142557CAC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>
            <a:extLst>
              <a:ext uri="{FF2B5EF4-FFF2-40B4-BE49-F238E27FC236}">
                <a16:creationId xmlns:a16="http://schemas.microsoft.com/office/drawing/2014/main" id="{F73A93F8-BA90-E320-D9A3-02F5F16DAA04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怎样才能守住仓位：“珍惜”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主题：该主题是作为种种“筛选”的反向力量，是为了保证在上升过程中保留仓位，从而经过最高点。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5D888368-A6BA-85E0-A48A-374D01D734E0}"/>
              </a:ext>
            </a:extLst>
          </p:cNvPr>
          <p:cNvSpPr/>
          <p:nvPr/>
        </p:nvSpPr>
        <p:spPr>
          <a:xfrm>
            <a:off x="-1" y="722746"/>
            <a:ext cx="6096000" cy="3825191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珍惜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该主题是作为种种“筛选”的反向力量，是为了保证在上升过程中保留仓位，从而经过最高点。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“珍惜”的意义？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“好时光”代表出现阳柱的可能性大。（可在刚突破均线时使用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，从而保证必胜）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不代表要始终持有。要有理由会继续上升，如确认必跌可“反向做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”或“提前退出”。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如何保证经过最高点？用于定义不同级别的“漏”：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+mj-ea"/>
              <a:buAutoNum type="circleNumDbPlain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之上要珍惜。限制月势，从而锁定主升浪可能出现的大区域。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+mj-ea"/>
              <a:buAutoNum type="circleNumDbPlain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之上要珍惜。已得到验证，所有可获利上升都在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之上，任意状态都要思考如何向上。⇒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各种劫的典型恢复模式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</a:p>
          <a:p>
            <a:pPr marL="685800" lvl="1" indent="-228600">
              <a:buFont typeface="+mj-ea"/>
              <a:buAutoNum type="circleNumDbPlain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之上要珍惜。主升阶段很少下破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，但下破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可被动持有，等待震荡时逢高退出。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+mj-ea"/>
              <a:buAutoNum type="circleNumDbPlain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之上必持：但下破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可被动持有。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不要单独依赖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⇒要“先周后日”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在管（顶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）内执行“高抛低吸”策略：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600200" lvl="3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在碰管上沿时减仓。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600200" lvl="3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在碰管下沿且柱排为升排时加满仓位。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+mj-ea"/>
              <a:buAutoNum type="circleNumDbPlain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DJB/DJA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之上要珍惜：但下破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DJB/WJA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可被动持有。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参与日触顶相关机会：触顶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、触顶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（会继续触顶）、触哼（将触顶）。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卖出：在触顶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时，首先考虑是否需要卖出止盈。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珍惜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WXZC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中的“好时光”：核心结论是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最重要（严重一定要有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；用好龙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限制月势：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/B0/B1/A3/A7/C7/C6.</a:t>
            </a: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为准入。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(WXCD&gt;0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WXZC&gt;0)&amp; (WXCD&lt;0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WXZD&gt;0)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护：所有可获利上升都在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日级别将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展开为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：选好不避坏；好可止盈。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之上：穿越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不经常发生，特别是在周主升阶段。务必珍惜。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周触顶：总结在管的典型形态。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常识：周触顶必是日触顶。选股时要选择日触顶或即将日触顶，并处于周触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状态。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之上：大部分日柱启涨点都在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注意：应在日触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时，首先考虑是否需要卖出止盈。</a:t>
            </a:r>
          </a:p>
        </p:txBody>
      </p: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E65D8A8A-B8E0-16E3-87C1-97D23889BB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4256673"/>
              </p:ext>
            </p:extLst>
          </p:nvPr>
        </p:nvGraphicFramePr>
        <p:xfrm>
          <a:off x="6120272" y="4752134"/>
          <a:ext cx="6071727" cy="2103120"/>
        </p:xfrm>
        <a:graphic>
          <a:graphicData uri="http://schemas.openxmlformats.org/drawingml/2006/table">
            <a:tbl>
              <a:tblPr firstRow="1" bandRow="1">
                <a:tableStyleId>{74C1A8A3-306A-4EB7-A6B1-4F7E0EB9C5D6}</a:tableStyleId>
              </a:tblPr>
              <a:tblGrid>
                <a:gridCol w="1071766">
                  <a:extLst>
                    <a:ext uri="{9D8B030D-6E8A-4147-A177-3AD203B41FA5}">
                      <a16:colId xmlns:a16="http://schemas.microsoft.com/office/drawing/2014/main" val="1295335834"/>
                    </a:ext>
                  </a:extLst>
                </a:gridCol>
                <a:gridCol w="4999961">
                  <a:extLst>
                    <a:ext uri="{9D8B030D-6E8A-4147-A177-3AD203B41FA5}">
                      <a16:colId xmlns:a16="http://schemas.microsoft.com/office/drawing/2014/main" val="273758508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卖出算法类别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对卖出条件进行主题讨论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注：要明确赚钱方法是（顺大势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有容乃大）。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18844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左侧卖出算法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（包含均线之上的卖出策略）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28600" indent="-228600">
                        <a:buFont typeface="+mj-ea"/>
                        <a:buAutoNum type="circleNumDbPlain"/>
                      </a:pP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下周冲高战法（仅针对下周冲高止盈）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85800" lvl="1" indent="-228600">
                        <a:buFont typeface="+mj-ea"/>
                        <a:buAutoNum type="circleNumDbPlain"/>
                      </a:pP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下周赚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5%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止盈；未赚到则以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止损长期持有。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indent="-228600">
                        <a:buFont typeface="+mj-ea"/>
                        <a:buAutoNum type="circleNumDbPlain"/>
                      </a:pP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根据累计涨幅止盈：按本波段冲高幅度，达到一定幅度就分批止盈。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indent="-228600">
                        <a:buFont typeface="+mj-ea"/>
                        <a:buAutoNum type="circleNumDbPlain"/>
                      </a:pP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最后一柱（针对连阳）：针对主升（管内触顶），按柱特征制定逃顶策略。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indent="-228600">
                        <a:buFont typeface="+mj-ea"/>
                        <a:buAutoNum type="circleNumDbPlain"/>
                      </a:pP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管内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之上回落：包含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阴阳阴，针对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已完整弧。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8137612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右侧卖出算法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（包含下破均线的卖出策略）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强制止损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止损：特别适用于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WJCBA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放射排列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提前退出：为保证仓位，必须下破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才可卖出。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特殊弧形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已整弧：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两柱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特殊弧形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以奏为依据退出：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/WXZA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后第二波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/M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头（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劫）震荡逢高卖出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48558406"/>
                  </a:ext>
                </a:extLst>
              </a:tr>
            </a:tbl>
          </a:graphicData>
        </a:graphic>
      </p:graphicFrame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44BD0A60-CCF2-5851-A0B6-6A648C25C8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7147779"/>
              </p:ext>
            </p:extLst>
          </p:nvPr>
        </p:nvGraphicFramePr>
        <p:xfrm>
          <a:off x="6095999" y="722746"/>
          <a:ext cx="6096000" cy="2757827"/>
        </p:xfrm>
        <a:graphic>
          <a:graphicData uri="http://schemas.openxmlformats.org/drawingml/2006/table">
            <a:tbl>
              <a:tblPr firstRow="1" bandRow="1">
                <a:tableStyleId>{72833802-FEF1-4C79-8D5D-14CF1EAF98D9}</a:tableStyleId>
              </a:tblPr>
              <a:tblGrid>
                <a:gridCol w="6096000">
                  <a:extLst>
                    <a:ext uri="{9D8B030D-6E8A-4147-A177-3AD203B41FA5}">
                      <a16:colId xmlns:a16="http://schemas.microsoft.com/office/drawing/2014/main" val="257139708"/>
                    </a:ext>
                  </a:extLst>
                </a:gridCol>
              </a:tblGrid>
              <a:tr h="22798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错误的卖出理由汇总：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4650077"/>
                  </a:ext>
                </a:extLst>
              </a:tr>
              <a:tr h="430990"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错误卖出理由：因害怕“得而复失”而卖出。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日内很可能无序波动。大涨后有所回撤，即使卖了，仍有可能再升。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大盘的影响。大盘不好可能导致个股下跌，但大盘只应控制总体仓位，而不应控制短期交易。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涨停的难题。当发现封涨停手数急剧减少，这时面临选择：卖出可能仍然涨停，不卖可能会下跌。最正确的处理方式是，减至底仓，按照周级别进行操作。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13190411"/>
                  </a:ext>
                </a:extLst>
              </a:tr>
              <a:tr h="227987"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错误卖出理由：均线之上的异常柱排。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如“跌连”“阴阳阴”等破坏管内排列的柱排。</a:t>
                      </a:r>
                      <a:endParaRPr lang="en-US" altLang="zh-CN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不是退出理由。只有当前面已经历长时间完整弧后，才应在异常柱排后退出。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0374576"/>
                  </a:ext>
                </a:extLst>
              </a:tr>
              <a:tr h="281080"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错误卖出理由：下破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/DJA/DJB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等低阶均线。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只有当下破低阶均线后，短期内不会站回才是卖出理由。但当均线多头排列时，很容易站回。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按照大级别均线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设置止损；其余情况只等待冲高时止盈（如果未在该止盈处退出，应及时在后续逢高退出）。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10222629"/>
                  </a:ext>
                </a:extLst>
              </a:tr>
              <a:tr h="430990"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错误卖出理由：止损是为了截断亏损。以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作为准入与止损，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之上都可参与，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之下不主动参与。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。不能在下破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后就立刻退出，因为很容易恢复。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多柱后，且沿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形成稳定下跌趋势后可提前退出。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。可在下破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后退出，因为所有可获利上升都在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之上，最好已沿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形成跌排。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后必须退出。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0518211"/>
                  </a:ext>
                </a:extLst>
              </a:tr>
              <a:tr h="227987"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月级别趋势的结构：通常包含（周级别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WJCBA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回踩）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（月级别长时间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主升）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教训：不要在初期押重仓，在周级别回踩时不要被震荡出局。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169213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6397792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9A1F19-4380-FABA-89AB-B0123AB303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>
            <a:extLst>
              <a:ext uri="{FF2B5EF4-FFF2-40B4-BE49-F238E27FC236}">
                <a16:creationId xmlns:a16="http://schemas.microsoft.com/office/drawing/2014/main" id="{B89F33F5-FE78-4A11-BF30-B7BF9FF2D489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通过柱体分布，以“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丘必赢”统一各种算法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主题：该主题是将各种算法（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丘、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护型、日类算法），统一纳入“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丘”，明确选择必赢区域中的主升区域。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EF6803D8-1787-4DDB-68AB-AB01F192D1D5}"/>
              </a:ext>
            </a:extLst>
          </p:cNvPr>
          <p:cNvSpPr/>
          <p:nvPr/>
        </p:nvSpPr>
        <p:spPr>
          <a:xfrm>
            <a:off x="-2" y="722746"/>
            <a:ext cx="6096002" cy="3639703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思路内容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要明确选择必赢区域的主升区域。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步骤一：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丘重要性。基于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数学性质，得到：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向上扩展，从而确定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大势。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步骤二：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以上柱体的分布情况。通过观察图形中柱体分布，可以发现以下规律：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已知在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上为升势，但柱体并非均匀分布于（顶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,WJC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）之内的空间。而是可以利用次级均线进行分层。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之上的上升区域）大部分在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之上⇒（在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之上的上升区域）大部分在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之上⇒以此类推⇒（在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之上的上升区域）大部分在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DJB/DJA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重要启示：根据以上推理，在保证在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之上的基础前提后，优先选择其中的主升区域。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步骤三：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的重要性。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基于“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丘必赢”，兼具考虑“①截断亏损：当失去冲高可能后先退出。”“②有容乃大：容忍主升过程中可能存在的较大波动。”。可以得到，以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丘为准进行止损，可以比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丘提高收益。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要明确主要目标区域是（顶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），周管是（顶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）中最靠近顶的区域，特别是同时满足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且触顶的区域。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要将周管（顶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）纳入（顶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）的整体视野中，明确此区域已是最珍贵的区域，以此来坚定持仓信心。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时，特别是已长时间在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之上运行的情况，下破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代表脱离顶，从而可减仓。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的兜底角色。要明确可容忍少数主升过程中途下破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后快速站回的情况。以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止损，就是为了防止意外下破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；而非严格按照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丘进出。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前退出的情况。针对已冲高、已整弧等，可在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上连跌、下破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时，提前退出。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在上破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后不入的情况。放弃围绕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震荡、频繁贯穿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的情况。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至此得到，可执行周级别算法：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重要作用：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将（顶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）纳入（顶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）整体视野。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持仓策略：在周管内保证底仓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5000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退出策略：针对已冲高、已整弧，在下破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时退出；已进入震荡，等站上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逢高退出；其余以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15C85028-B235-0E13-A102-D718C99ABF62}"/>
              </a:ext>
            </a:extLst>
          </p:cNvPr>
          <p:cNvSpPr/>
          <p:nvPr/>
        </p:nvSpPr>
        <p:spPr>
          <a:xfrm>
            <a:off x="6733602" y="3479507"/>
            <a:ext cx="5457822" cy="2030922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日类细化的尝试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首先，重申周类算法：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将（顶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）纳入（顶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）整体视野，在周管内保证底仓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5000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其次，日类细化的契机与误区：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契机：即使长久在周管（顶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）内运行，在将周范围（顶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）展开为日线级别（顶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）后，可将“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以上柱体分布”延展至日级别“柱体在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之上大部分在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DJB/DJA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之上”。且存在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DJCBA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级别反复波动情况，从而存在“高抛低吸”进行仓位管理的可能。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误区：防止沉迷于日线维度，特别是在出现日级别下降信号时丢失底仓，从而踏空。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最后，日类细化的暂定方案：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何时减为底仓：在靠近周顶的位置减仓。注意，要关注“周顶”而非“日顶”。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针对日管（顶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）：当日管宽较大时，在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之上冲高过程减仓，当日管宽较小时，在下破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时减仓，或等待下破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后减仓。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减仓后，注意仓位不要低于周级别底仓，且在下破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前保持不变。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何时加仓：根据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分情况讨论。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之上，可在出现升排或止跌阳柱后加仓。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之下，需要参考周柱排列。⇒参考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日柱五合一图谱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4" name="组合 23">
            <a:extLst>
              <a:ext uri="{FF2B5EF4-FFF2-40B4-BE49-F238E27FC236}">
                <a16:creationId xmlns:a16="http://schemas.microsoft.com/office/drawing/2014/main" id="{E95100CE-401E-0763-AC5C-19CC88546693}"/>
              </a:ext>
            </a:extLst>
          </p:cNvPr>
          <p:cNvGrpSpPr/>
          <p:nvPr/>
        </p:nvGrpSpPr>
        <p:grpSpPr>
          <a:xfrm>
            <a:off x="6500877" y="5510429"/>
            <a:ext cx="4652899" cy="1379163"/>
            <a:chOff x="6607791" y="4166800"/>
            <a:chExt cx="5471914" cy="1660885"/>
          </a:xfrm>
        </p:grpSpPr>
        <p:cxnSp>
          <p:nvCxnSpPr>
            <p:cNvPr id="9" name="直接连接符 8">
              <a:extLst>
                <a:ext uri="{FF2B5EF4-FFF2-40B4-BE49-F238E27FC236}">
                  <a16:creationId xmlns:a16="http://schemas.microsoft.com/office/drawing/2014/main" id="{78581A4B-4C38-B63C-98A4-83A6B7EB54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11453" y="4166800"/>
              <a:ext cx="4371473" cy="681790"/>
            </a:xfrm>
            <a:prstGeom prst="line">
              <a:avLst/>
            </a:prstGeom>
            <a:ln w="254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任意多边形: 形状 10">
              <a:extLst>
                <a:ext uri="{FF2B5EF4-FFF2-40B4-BE49-F238E27FC236}">
                  <a16:creationId xmlns:a16="http://schemas.microsoft.com/office/drawing/2014/main" id="{5B60619B-B408-4340-E5D6-6233AAF64928}"/>
                </a:ext>
              </a:extLst>
            </p:cNvPr>
            <p:cNvSpPr/>
            <p:nvPr/>
          </p:nvSpPr>
          <p:spPr>
            <a:xfrm>
              <a:off x="7411453" y="4255030"/>
              <a:ext cx="4668252" cy="1415854"/>
            </a:xfrm>
            <a:custGeom>
              <a:avLst/>
              <a:gdLst>
                <a:gd name="connsiteX0" fmla="*/ 0 w 4668252"/>
                <a:gd name="connsiteY0" fmla="*/ 1415854 h 1415854"/>
                <a:gd name="connsiteX1" fmla="*/ 344905 w 4668252"/>
                <a:gd name="connsiteY1" fmla="*/ 1207307 h 1415854"/>
                <a:gd name="connsiteX2" fmla="*/ 649705 w 4668252"/>
                <a:gd name="connsiteY2" fmla="*/ 573644 h 1415854"/>
                <a:gd name="connsiteX3" fmla="*/ 946484 w 4668252"/>
                <a:gd name="connsiteY3" fmla="*/ 525517 h 1415854"/>
                <a:gd name="connsiteX4" fmla="*/ 1339515 w 4668252"/>
                <a:gd name="connsiteY4" fmla="*/ 1175223 h 1415854"/>
                <a:gd name="connsiteX5" fmla="*/ 1724526 w 4668252"/>
                <a:gd name="connsiteY5" fmla="*/ 1159181 h 1415854"/>
                <a:gd name="connsiteX6" fmla="*/ 1965158 w 4668252"/>
                <a:gd name="connsiteY6" fmla="*/ 573644 h 1415854"/>
                <a:gd name="connsiteX7" fmla="*/ 2382252 w 4668252"/>
                <a:gd name="connsiteY7" fmla="*/ 252802 h 1415854"/>
                <a:gd name="connsiteX8" fmla="*/ 2879558 w 4668252"/>
                <a:gd name="connsiteY8" fmla="*/ 798233 h 1415854"/>
                <a:gd name="connsiteX9" fmla="*/ 3529263 w 4668252"/>
                <a:gd name="connsiteY9" fmla="*/ 693959 h 1415854"/>
                <a:gd name="connsiteX10" fmla="*/ 3842084 w 4668252"/>
                <a:gd name="connsiteY10" fmla="*/ 84359 h 1415854"/>
                <a:gd name="connsiteX11" fmla="*/ 4154905 w 4668252"/>
                <a:gd name="connsiteY11" fmla="*/ 92381 h 1415854"/>
                <a:gd name="connsiteX12" fmla="*/ 4572000 w 4668252"/>
                <a:gd name="connsiteY12" fmla="*/ 894486 h 1415854"/>
                <a:gd name="connsiteX13" fmla="*/ 4668252 w 4668252"/>
                <a:gd name="connsiteY13" fmla="*/ 1046886 h 14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68252" h="1415854">
                  <a:moveTo>
                    <a:pt x="0" y="1415854"/>
                  </a:moveTo>
                  <a:cubicBezTo>
                    <a:pt x="118310" y="1381764"/>
                    <a:pt x="236621" y="1347675"/>
                    <a:pt x="344905" y="1207307"/>
                  </a:cubicBezTo>
                  <a:cubicBezTo>
                    <a:pt x="453189" y="1066939"/>
                    <a:pt x="549442" y="687276"/>
                    <a:pt x="649705" y="573644"/>
                  </a:cubicBezTo>
                  <a:cubicBezTo>
                    <a:pt x="749968" y="460012"/>
                    <a:pt x="831516" y="425254"/>
                    <a:pt x="946484" y="525517"/>
                  </a:cubicBezTo>
                  <a:cubicBezTo>
                    <a:pt x="1061452" y="625780"/>
                    <a:pt x="1209841" y="1069612"/>
                    <a:pt x="1339515" y="1175223"/>
                  </a:cubicBezTo>
                  <a:cubicBezTo>
                    <a:pt x="1469189" y="1280834"/>
                    <a:pt x="1620252" y="1259444"/>
                    <a:pt x="1724526" y="1159181"/>
                  </a:cubicBezTo>
                  <a:cubicBezTo>
                    <a:pt x="1828800" y="1058918"/>
                    <a:pt x="1855537" y="724707"/>
                    <a:pt x="1965158" y="573644"/>
                  </a:cubicBezTo>
                  <a:cubicBezTo>
                    <a:pt x="2074779" y="422581"/>
                    <a:pt x="2229852" y="215371"/>
                    <a:pt x="2382252" y="252802"/>
                  </a:cubicBezTo>
                  <a:cubicBezTo>
                    <a:pt x="2534652" y="290233"/>
                    <a:pt x="2688390" y="724707"/>
                    <a:pt x="2879558" y="798233"/>
                  </a:cubicBezTo>
                  <a:cubicBezTo>
                    <a:pt x="3070727" y="871759"/>
                    <a:pt x="3368842" y="812938"/>
                    <a:pt x="3529263" y="693959"/>
                  </a:cubicBezTo>
                  <a:cubicBezTo>
                    <a:pt x="3689684" y="574980"/>
                    <a:pt x="3737810" y="184622"/>
                    <a:pt x="3842084" y="84359"/>
                  </a:cubicBezTo>
                  <a:cubicBezTo>
                    <a:pt x="3946358" y="-15904"/>
                    <a:pt x="4033252" y="-42640"/>
                    <a:pt x="4154905" y="92381"/>
                  </a:cubicBezTo>
                  <a:cubicBezTo>
                    <a:pt x="4276558" y="227402"/>
                    <a:pt x="4486442" y="735402"/>
                    <a:pt x="4572000" y="894486"/>
                  </a:cubicBezTo>
                  <a:cubicBezTo>
                    <a:pt x="4657558" y="1053570"/>
                    <a:pt x="4662905" y="1050228"/>
                    <a:pt x="4668252" y="1046886"/>
                  </a:cubicBezTo>
                </a:path>
              </a:pathLst>
            </a:custGeom>
            <a:noFill/>
            <a:ln w="190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3" name="直接连接符 12">
              <a:extLst>
                <a:ext uri="{FF2B5EF4-FFF2-40B4-BE49-F238E27FC236}">
                  <a16:creationId xmlns:a16="http://schemas.microsoft.com/office/drawing/2014/main" id="{F99A34EE-7B00-EB34-DB57-D362AC8E88F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11453" y="4989094"/>
              <a:ext cx="4371473" cy="681790"/>
            </a:xfrm>
            <a:prstGeom prst="line">
              <a:avLst/>
            </a:prstGeom>
            <a:ln w="254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文本框 13">
              <a:extLst>
                <a:ext uri="{FF2B5EF4-FFF2-40B4-BE49-F238E27FC236}">
                  <a16:creationId xmlns:a16="http://schemas.microsoft.com/office/drawing/2014/main" id="{4B029BE1-9A5C-E3C4-4A5E-ECD16E7AEBEF}"/>
                </a:ext>
              </a:extLst>
            </p:cNvPr>
            <p:cNvSpPr txBox="1"/>
            <p:nvPr/>
          </p:nvSpPr>
          <p:spPr>
            <a:xfrm>
              <a:off x="6994172" y="4691952"/>
              <a:ext cx="49244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200" b="1" dirty="0"/>
                <a:t>周顶</a:t>
              </a:r>
            </a:p>
          </p:txBody>
        </p:sp>
        <p:sp>
          <p:nvSpPr>
            <p:cNvPr id="15" name="文本框 14">
              <a:extLst>
                <a:ext uri="{FF2B5EF4-FFF2-40B4-BE49-F238E27FC236}">
                  <a16:creationId xmlns:a16="http://schemas.microsoft.com/office/drawing/2014/main" id="{62583023-F9A8-583E-F2CA-360B3FF92496}"/>
                </a:ext>
              </a:extLst>
            </p:cNvPr>
            <p:cNvSpPr txBox="1"/>
            <p:nvPr/>
          </p:nvSpPr>
          <p:spPr>
            <a:xfrm>
              <a:off x="6607791" y="5494103"/>
              <a:ext cx="921771" cy="3335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/>
                <a:t>WJA(DJC)</a:t>
              </a:r>
              <a:endParaRPr lang="zh-CN" altLang="en-US" sz="1200" b="1" dirty="0"/>
            </a:p>
          </p:txBody>
        </p:sp>
        <p:sp>
          <p:nvSpPr>
            <p:cNvPr id="16" name="右大括号 15">
              <a:extLst>
                <a:ext uri="{FF2B5EF4-FFF2-40B4-BE49-F238E27FC236}">
                  <a16:creationId xmlns:a16="http://schemas.microsoft.com/office/drawing/2014/main" id="{8B0961D5-4149-E965-8F81-A8E9D1F067A8}"/>
                </a:ext>
              </a:extLst>
            </p:cNvPr>
            <p:cNvSpPr/>
            <p:nvPr/>
          </p:nvSpPr>
          <p:spPr>
            <a:xfrm rot="16200000">
              <a:off x="8022651" y="4473876"/>
              <a:ext cx="369330" cy="368923"/>
            </a:xfrm>
            <a:prstGeom prst="rightBrace">
              <a:avLst>
                <a:gd name="adj1" fmla="val 48873"/>
                <a:gd name="adj2" fmla="val 50000"/>
              </a:avLst>
            </a:prstGeom>
            <a:solidFill>
              <a:srgbClr val="FF0000">
                <a:alpha val="50000"/>
              </a:srgbClr>
            </a:solidFill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17" name="文本框 16">
              <a:extLst>
                <a:ext uri="{FF2B5EF4-FFF2-40B4-BE49-F238E27FC236}">
                  <a16:creationId xmlns:a16="http://schemas.microsoft.com/office/drawing/2014/main" id="{E4413CF4-2FE5-F01D-9AE7-880C976DD4F4}"/>
                </a:ext>
              </a:extLst>
            </p:cNvPr>
            <p:cNvSpPr txBox="1"/>
            <p:nvPr/>
          </p:nvSpPr>
          <p:spPr>
            <a:xfrm>
              <a:off x="7515018" y="4221739"/>
              <a:ext cx="131318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800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在靠近顶的位置减为底仓</a:t>
              </a:r>
              <a:endPara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zh-CN" altLang="en-US" sz="800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此后不再减仓</a:t>
              </a:r>
            </a:p>
          </p:txBody>
        </p: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B0AC9424-D2D0-3EC1-4627-015D769614D4}"/>
                </a:ext>
              </a:extLst>
            </p:cNvPr>
            <p:cNvSpPr/>
            <p:nvPr/>
          </p:nvSpPr>
          <p:spPr>
            <a:xfrm>
              <a:off x="8589556" y="5170069"/>
              <a:ext cx="64169" cy="64169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椭圆 19">
              <a:extLst>
                <a:ext uri="{FF2B5EF4-FFF2-40B4-BE49-F238E27FC236}">
                  <a16:creationId xmlns:a16="http://schemas.microsoft.com/office/drawing/2014/main" id="{FEE84914-414F-D98F-4154-F00404ACD5EC}"/>
                </a:ext>
              </a:extLst>
            </p:cNvPr>
            <p:cNvSpPr/>
            <p:nvPr/>
          </p:nvSpPr>
          <p:spPr>
            <a:xfrm>
              <a:off x="8690315" y="5341572"/>
              <a:ext cx="64169" cy="64169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" name="椭圆 20">
              <a:extLst>
                <a:ext uri="{FF2B5EF4-FFF2-40B4-BE49-F238E27FC236}">
                  <a16:creationId xmlns:a16="http://schemas.microsoft.com/office/drawing/2014/main" id="{F05B470C-4339-D9C8-2512-8059AA5CFA1D}"/>
                </a:ext>
              </a:extLst>
            </p:cNvPr>
            <p:cNvSpPr/>
            <p:nvPr/>
          </p:nvSpPr>
          <p:spPr>
            <a:xfrm>
              <a:off x="8922925" y="5466121"/>
              <a:ext cx="64169" cy="64169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" name="椭圆 21">
              <a:extLst>
                <a:ext uri="{FF2B5EF4-FFF2-40B4-BE49-F238E27FC236}">
                  <a16:creationId xmlns:a16="http://schemas.microsoft.com/office/drawing/2014/main" id="{AB7E5465-87AF-2AA3-D48A-8C893E62AA85}"/>
                </a:ext>
              </a:extLst>
            </p:cNvPr>
            <p:cNvSpPr/>
            <p:nvPr/>
          </p:nvSpPr>
          <p:spPr>
            <a:xfrm>
              <a:off x="9103399" y="5401952"/>
              <a:ext cx="64169" cy="64169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文本框 22">
              <a:extLst>
                <a:ext uri="{FF2B5EF4-FFF2-40B4-BE49-F238E27FC236}">
                  <a16:creationId xmlns:a16="http://schemas.microsoft.com/office/drawing/2014/main" id="{420E7576-F97B-1784-9326-00F8D1062654}"/>
                </a:ext>
              </a:extLst>
            </p:cNvPr>
            <p:cNvSpPr txBox="1"/>
            <p:nvPr/>
          </p:nvSpPr>
          <p:spPr>
            <a:xfrm>
              <a:off x="8333224" y="5505183"/>
              <a:ext cx="2006196" cy="2594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800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</a:t>
              </a:r>
              <a:r>
                <a:rPr lang="en-US" altLang="zh-CN" sz="800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DJC</a:t>
              </a:r>
              <a:r>
                <a:rPr lang="zh-CN" altLang="en-US" sz="800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之上可能转向上的位置加仓</a:t>
              </a:r>
              <a:endPara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5" name="矩形 24">
            <a:extLst>
              <a:ext uri="{FF2B5EF4-FFF2-40B4-BE49-F238E27FC236}">
                <a16:creationId xmlns:a16="http://schemas.microsoft.com/office/drawing/2014/main" id="{1EF37149-7E44-08C5-4031-FFEFBE99165D}"/>
              </a:ext>
            </a:extLst>
          </p:cNvPr>
          <p:cNvSpPr/>
          <p:nvPr/>
        </p:nvSpPr>
        <p:spPr>
          <a:xfrm>
            <a:off x="6734176" y="722747"/>
            <a:ext cx="5457822" cy="161087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“柱体分布”思路的意义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要明确选择必赢区域的主升区域。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此思路统一了周类算法，包括“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丘必赢”、“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护型”、“利用波型区分主升” 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针对算法“利用波型区分主升”。针对主升区域，虽然关注点在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之上，但基于此思路，明确底层依赖的是“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丘必赢”，周管只是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之上最靠近顶的区域。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原来总是担心下破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，且将范围放宽至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，希望在下破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后使其变好；现在将（顶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）纳入（顶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）整体视野，从而可以冷眼旁边，若在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之上就安心持有，若经过冲高后下破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就退出。此思路的最大贡献是，安心持有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之上。（选择“龙”主升区域，放弃“头”“震”震荡区域）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针对算法“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丘必赢”。以前是用“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丘必赢”替代“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丘必赢”，将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之下区域舍弃。现在始终是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丘，只不过重点关注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之上。进而，聚焦至⇒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之上⇒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之上⇒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之上⇒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之上。从而，关注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之上最具有上升动力的区域。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箭头: 右 25">
            <a:extLst>
              <a:ext uri="{FF2B5EF4-FFF2-40B4-BE49-F238E27FC236}">
                <a16:creationId xmlns:a16="http://schemas.microsoft.com/office/drawing/2014/main" id="{15E3E273-3C7F-8EA9-316F-63195D057DA7}"/>
              </a:ext>
            </a:extLst>
          </p:cNvPr>
          <p:cNvSpPr/>
          <p:nvPr/>
        </p:nvSpPr>
        <p:spPr>
          <a:xfrm>
            <a:off x="6281736" y="1377736"/>
            <a:ext cx="342900" cy="720000"/>
          </a:xfrm>
          <a:prstGeom prst="rightArrow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箭头: 右 26">
            <a:extLst>
              <a:ext uri="{FF2B5EF4-FFF2-40B4-BE49-F238E27FC236}">
                <a16:creationId xmlns:a16="http://schemas.microsoft.com/office/drawing/2014/main" id="{F683E1CD-DE8F-C705-D278-189570DEBD82}"/>
              </a:ext>
            </a:extLst>
          </p:cNvPr>
          <p:cNvSpPr/>
          <p:nvPr/>
        </p:nvSpPr>
        <p:spPr>
          <a:xfrm>
            <a:off x="6281736" y="2958886"/>
            <a:ext cx="342900" cy="720000"/>
          </a:xfrm>
          <a:prstGeom prst="rightArrow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22436F08-3408-8E10-61E2-6A072ACD1B51}"/>
              </a:ext>
            </a:extLst>
          </p:cNvPr>
          <p:cNvSpPr/>
          <p:nvPr/>
        </p:nvSpPr>
        <p:spPr>
          <a:xfrm>
            <a:off x="1" y="5685424"/>
            <a:ext cx="6095999" cy="117569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8" name="文本框 27">
            <a:extLst>
              <a:ext uri="{FF2B5EF4-FFF2-40B4-BE49-F238E27FC236}">
                <a16:creationId xmlns:a16="http://schemas.microsoft.com/office/drawing/2014/main" id="{F53A6EE1-CCA6-E5DB-61A2-43E62EA4A5FE}"/>
              </a:ext>
            </a:extLst>
          </p:cNvPr>
          <p:cNvSpPr txBox="1"/>
          <p:nvPr/>
        </p:nvSpPr>
        <p:spPr>
          <a:xfrm>
            <a:off x="-34925" y="5805488"/>
            <a:ext cx="16595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月级多头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</a:p>
        </p:txBody>
      </p:sp>
      <p:sp>
        <p:nvSpPr>
          <p:cNvPr id="30" name="文本框 29">
            <a:extLst>
              <a:ext uri="{FF2B5EF4-FFF2-40B4-BE49-F238E27FC236}">
                <a16:creationId xmlns:a16="http://schemas.microsoft.com/office/drawing/2014/main" id="{C940EB2D-BEDE-5496-9DA8-1F48792AB3E6}"/>
              </a:ext>
            </a:extLst>
          </p:cNvPr>
          <p:cNvSpPr txBox="1"/>
          <p:nvPr/>
        </p:nvSpPr>
        <p:spPr>
          <a:xfrm>
            <a:off x="1936750" y="5805488"/>
            <a:ext cx="1659557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周级多头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周级多头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</a:t>
            </a:r>
          </a:p>
          <a:p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周级非头</a:t>
            </a:r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39D7A47C-B984-7E55-197A-B6AC1DBCBA18}"/>
              </a:ext>
            </a:extLst>
          </p:cNvPr>
          <p:cNvSpPr txBox="1"/>
          <p:nvPr/>
        </p:nvSpPr>
        <p:spPr>
          <a:xfrm>
            <a:off x="3981956" y="5805488"/>
            <a:ext cx="1659557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日级多头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日级多头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</a:t>
            </a:r>
          </a:p>
          <a:p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日级非头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D6521F59-A92C-80FE-B62F-8D137CE13999}"/>
              </a:ext>
            </a:extLst>
          </p:cNvPr>
          <p:cNvSpPr/>
          <p:nvPr/>
        </p:nvSpPr>
        <p:spPr>
          <a:xfrm>
            <a:off x="6733602" y="2429571"/>
            <a:ext cx="5458398" cy="1069047"/>
          </a:xfrm>
          <a:prstGeom prst="rect">
            <a:avLst/>
          </a:prstGeom>
          <a:solidFill>
            <a:schemeClr val="accent6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日类柱型分布定理如下，详细推理过程参考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日类柱型分布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</a:p>
          <a:p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日类柱型分布定理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1】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要明确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在分离（升排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跌排）的作用。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日类柱型分布定理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2】 DJB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之上都“可买”，虽然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之上也存在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跌吞。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要将“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之上”放入（顶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）整体视野，观察图形可知所有阳柱基本都在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之上，可见此区域的重要性。</a:t>
            </a:r>
          </a:p>
          <a:p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日类柱型分布定理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3】 DJA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之上无“阴柱止损点”，在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之上阴加阳减不清仓。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要将“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之上”放入（顶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）整体视野， 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之上所有升幅”都靠“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之上的阳柱”进行实现。所以，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之上无需考虑止损，要选择“已站上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DJA”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或“将站上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DJA”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左大括号 3">
            <a:extLst>
              <a:ext uri="{FF2B5EF4-FFF2-40B4-BE49-F238E27FC236}">
                <a16:creationId xmlns:a16="http://schemas.microsoft.com/office/drawing/2014/main" id="{2FCD6D7A-628B-70D1-9216-1DC41F927737}"/>
              </a:ext>
            </a:extLst>
          </p:cNvPr>
          <p:cNvSpPr/>
          <p:nvPr/>
        </p:nvSpPr>
        <p:spPr>
          <a:xfrm>
            <a:off x="1615640" y="5805488"/>
            <a:ext cx="326882" cy="915615"/>
          </a:xfrm>
          <a:prstGeom prst="leftBrace">
            <a:avLst>
              <a:gd name="adj1" fmla="val 27632"/>
              <a:gd name="adj2" fmla="val 29194"/>
            </a:avLst>
          </a:prstGeom>
          <a:ln w="25400">
            <a:solidFill>
              <a:schemeClr val="accent4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sz="16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左大括号 6">
            <a:extLst>
              <a:ext uri="{FF2B5EF4-FFF2-40B4-BE49-F238E27FC236}">
                <a16:creationId xmlns:a16="http://schemas.microsoft.com/office/drawing/2014/main" id="{22662FE1-F54A-03E4-0E38-264ECFA4B3F9}"/>
              </a:ext>
            </a:extLst>
          </p:cNvPr>
          <p:cNvSpPr/>
          <p:nvPr/>
        </p:nvSpPr>
        <p:spPr>
          <a:xfrm>
            <a:off x="3616975" y="5805488"/>
            <a:ext cx="326882" cy="915615"/>
          </a:xfrm>
          <a:prstGeom prst="leftBrace">
            <a:avLst>
              <a:gd name="adj1" fmla="val 27632"/>
              <a:gd name="adj2" fmla="val 29194"/>
            </a:avLst>
          </a:prstGeom>
          <a:ln w="25400">
            <a:solidFill>
              <a:schemeClr val="accent4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sz="16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91115190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2386DC-3AEC-F154-B823-334E59F846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 17">
            <a:extLst>
              <a:ext uri="{FF2B5EF4-FFF2-40B4-BE49-F238E27FC236}">
                <a16:creationId xmlns:a16="http://schemas.microsoft.com/office/drawing/2014/main" id="{3E0F0E56-2EB8-1D23-6259-61C0DE023EAB}"/>
              </a:ext>
            </a:extLst>
          </p:cNvPr>
          <p:cNvSpPr/>
          <p:nvPr/>
        </p:nvSpPr>
        <p:spPr>
          <a:xfrm>
            <a:off x="0" y="722746"/>
            <a:ext cx="12192000" cy="358754"/>
          </a:xfrm>
          <a:prstGeom prst="rect">
            <a:avLst/>
          </a:prstGeom>
          <a:solidFill>
            <a:schemeClr val="tx1">
              <a:alpha val="2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742950" lvl="1" indent="-285750">
              <a:buFont typeface="Arial" panose="020B0604020202020204" pitchFamily="34" charset="0"/>
              <a:buChar char="•"/>
            </a:pP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286AF1EE-A30C-1134-D599-37186D1AED68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标准走势图谱 ⇒ 周奏</a:t>
            </a:r>
            <a:br>
              <a:rPr lang="en-US" altLang="zh-CN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主题：总结月、周、日标准走势。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丘的结构与形状，核心是将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丘拆分为不同的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丘片段（但不要继续细分）。研究路径：遍历⇒寻找规律⇒验证。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8F21F74B-6E3B-52AB-60FE-61A7FB7DBF3E}"/>
              </a:ext>
            </a:extLst>
          </p:cNvPr>
          <p:cNvSpPr/>
          <p:nvPr/>
        </p:nvSpPr>
        <p:spPr>
          <a:xfrm>
            <a:off x="0" y="722746"/>
            <a:ext cx="2486826" cy="6141243"/>
          </a:xfrm>
          <a:prstGeom prst="rect">
            <a:avLst/>
          </a:prstGeom>
          <a:solidFill>
            <a:schemeClr val="accent4">
              <a:alpha val="2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月走势</a:t>
            </a:r>
            <a:endParaRPr lang="en-US" altLang="zh-CN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葛兰比法则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月势：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划分全时间段的月级别走势。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剔顶部震荡：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/C7/C6</a:t>
            </a:r>
            <a:endParaRPr lang="zh-CN" altLang="en-US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剔底部震荡：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/X0/B0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剔下降趋势：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/X6/X4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月势重要性：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以月为准，找周主升突破点。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月蓄势典型形态：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MXAB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收敛，再上破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例：云图控股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2019-2020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62287FD7-8F11-F221-E8AE-AC51C0A8BAFB}"/>
              </a:ext>
            </a:extLst>
          </p:cNvPr>
          <p:cNvSpPr/>
          <p:nvPr/>
        </p:nvSpPr>
        <p:spPr>
          <a:xfrm>
            <a:off x="2486826" y="722746"/>
            <a:ext cx="7905174" cy="6141243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周走势：周奏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周波</a:t>
            </a:r>
            <a:endParaRPr lang="en-US" altLang="zh-CN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专题地图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丘拆分为不同的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丘片段，以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周层作为划分趋势的基础。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周奏：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丘片段如何连接？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丘的组合结构：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单个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丘组成的单弧（特例）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以多个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丘连接的多弧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单个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丘的典型形状：左右区别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周奏的分布规律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升维视角：在更高维进行观察，在月级别进行观察。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周波：单个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丘的内部结构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周波型：区分主升与震荡。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丘作为形态分析的基本元件的理由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退出点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为止损线的退出条件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介入点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主要依赖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作为介入点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捡漏点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不构成退出条件的调整情况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2D43127B-4F2F-B8AA-245D-CC7C247E7C9D}"/>
              </a:ext>
            </a:extLst>
          </p:cNvPr>
          <p:cNvSpPr/>
          <p:nvPr/>
        </p:nvSpPr>
        <p:spPr>
          <a:xfrm>
            <a:off x="10393680" y="722746"/>
            <a:ext cx="1800000" cy="6141243"/>
          </a:xfrm>
          <a:prstGeom prst="rect">
            <a:avLst/>
          </a:prstGeom>
          <a:solidFill>
            <a:schemeClr val="accent6">
              <a:alpha val="2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日走势</a:t>
            </a:r>
            <a:endParaRPr lang="en-US" altLang="zh-CN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五日合周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升柱分布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箭头: 右 41">
            <a:extLst>
              <a:ext uri="{FF2B5EF4-FFF2-40B4-BE49-F238E27FC236}">
                <a16:creationId xmlns:a16="http://schemas.microsoft.com/office/drawing/2014/main" id="{8058373D-A1C3-A916-271C-FDE6CD105650}"/>
              </a:ext>
            </a:extLst>
          </p:cNvPr>
          <p:cNvSpPr/>
          <p:nvPr/>
        </p:nvSpPr>
        <p:spPr>
          <a:xfrm>
            <a:off x="2346947" y="774393"/>
            <a:ext cx="307649" cy="282011"/>
          </a:xfrm>
          <a:prstGeom prst="rightArrow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箭头: 右 42">
            <a:extLst>
              <a:ext uri="{FF2B5EF4-FFF2-40B4-BE49-F238E27FC236}">
                <a16:creationId xmlns:a16="http://schemas.microsoft.com/office/drawing/2014/main" id="{0DB26644-35CF-27C5-E19B-F34EE96295BD}"/>
              </a:ext>
            </a:extLst>
          </p:cNvPr>
          <p:cNvSpPr/>
          <p:nvPr/>
        </p:nvSpPr>
        <p:spPr>
          <a:xfrm>
            <a:off x="10290511" y="774393"/>
            <a:ext cx="307649" cy="282011"/>
          </a:xfrm>
          <a:prstGeom prst="rightArrow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6" name="图片 5">
            <a:extLst>
              <a:ext uri="{FF2B5EF4-FFF2-40B4-BE49-F238E27FC236}">
                <a16:creationId xmlns:a16="http://schemas.microsoft.com/office/drawing/2014/main" id="{2B5FA36E-C0DF-6611-1B3E-246D50BFEF8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669" y="2685755"/>
            <a:ext cx="2361488" cy="1357856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D9CE10FF-B883-AB20-396E-2DE8DD6CD1E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089" y="4103198"/>
            <a:ext cx="2367068" cy="1170854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C1A9BB02-BE9C-D2AF-0DE2-1866528CD214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669" y="5333639"/>
            <a:ext cx="1937047" cy="1452785"/>
          </a:xfrm>
          <a:prstGeom prst="rect">
            <a:avLst/>
          </a:prstGeom>
        </p:spPr>
      </p:pic>
      <p:graphicFrame>
        <p:nvGraphicFramePr>
          <p:cNvPr id="24" name="表格 23">
            <a:extLst>
              <a:ext uri="{FF2B5EF4-FFF2-40B4-BE49-F238E27FC236}">
                <a16:creationId xmlns:a16="http://schemas.microsoft.com/office/drawing/2014/main" id="{ED0D0620-4041-65DB-79B4-5FAB9D864E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2269135"/>
              </p:ext>
            </p:extLst>
          </p:nvPr>
        </p:nvGraphicFramePr>
        <p:xfrm>
          <a:off x="2973936" y="3674773"/>
          <a:ext cx="5150208" cy="2956560"/>
        </p:xfrm>
        <a:graphic>
          <a:graphicData uri="http://schemas.openxmlformats.org/drawingml/2006/table">
            <a:tbl>
              <a:tblPr firstRow="1" bandRow="1">
                <a:tableStyleId>{BC89EF96-8CEA-46FF-86C4-4CE0E7609802}</a:tableStyleId>
              </a:tblPr>
              <a:tblGrid>
                <a:gridCol w="1504422">
                  <a:extLst>
                    <a:ext uri="{9D8B030D-6E8A-4147-A177-3AD203B41FA5}">
                      <a16:colId xmlns:a16="http://schemas.microsoft.com/office/drawing/2014/main" val="174949292"/>
                    </a:ext>
                  </a:extLst>
                </a:gridCol>
                <a:gridCol w="1215262">
                  <a:extLst>
                    <a:ext uri="{9D8B030D-6E8A-4147-A177-3AD203B41FA5}">
                      <a16:colId xmlns:a16="http://schemas.microsoft.com/office/drawing/2014/main" val="1217500009"/>
                    </a:ext>
                  </a:extLst>
                </a:gridCol>
                <a:gridCol w="1215262">
                  <a:extLst>
                    <a:ext uri="{9D8B030D-6E8A-4147-A177-3AD203B41FA5}">
                      <a16:colId xmlns:a16="http://schemas.microsoft.com/office/drawing/2014/main" val="2306647001"/>
                    </a:ext>
                  </a:extLst>
                </a:gridCol>
                <a:gridCol w="1215262">
                  <a:extLst>
                    <a:ext uri="{9D8B030D-6E8A-4147-A177-3AD203B41FA5}">
                      <a16:colId xmlns:a16="http://schemas.microsoft.com/office/drawing/2014/main" val="2594142238"/>
                    </a:ext>
                  </a:extLst>
                </a:gridCol>
              </a:tblGrid>
              <a:tr h="191488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专题展开</a:t>
                      </a:r>
                      <a:r>
                        <a:rPr lang="en-US" altLang="zh-CN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周奏：</a:t>
                      </a:r>
                      <a:r>
                        <a:rPr lang="en-US" altLang="zh-CN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</a:t>
                      </a:r>
                      <a:r>
                        <a:rPr lang="en-US" altLang="zh-CN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丘片段如何连接？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纵一轴：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周层作为划分周奏的基础，包含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两个入口。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针对“初储”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：主要看是否包含突破后回踩。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针对“再”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：主要看是否形成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针对“主升”：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主要看是否形成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冲高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顶部结构。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针对“主震”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：已包含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震荡上行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震荡下行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震荡中继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纵二轴：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针对周奏图谱分类，只看柱排，不区分顶型。针对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初储再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，对“头”“震”也区分柱型。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横轴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：在每个分类区域，按照柱型判断其后续走向，以及对应的机与阱。</a:t>
                      </a: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01324"/>
                  </a:ext>
                </a:extLst>
              </a:tr>
              <a:tr h="19148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周奏型</a:t>
                      </a: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</a:t>
                      </a:r>
                    </a:p>
                  </a:txBody>
                  <a:tcP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汇总周机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按柱型</a:t>
                      </a:r>
                    </a:p>
                  </a:txBody>
                  <a:tcP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汇总周阱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按柱型</a:t>
                      </a:r>
                    </a:p>
                  </a:txBody>
                  <a:tcPr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1863259"/>
                  </a:ext>
                </a:extLst>
              </a:tr>
              <a:tr h="191488">
                <a:tc rowSpan="3"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3449871"/>
                  </a:ext>
                </a:extLst>
              </a:tr>
              <a:tr h="191488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。。。</a:t>
                      </a: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1877202"/>
                  </a:ext>
                </a:extLst>
              </a:tr>
              <a:tr h="191488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含破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329585"/>
                  </a:ext>
                </a:extLst>
              </a:tr>
              <a:tr h="191488">
                <a:tc rowSpan="3"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0437076"/>
                  </a:ext>
                </a:extLst>
              </a:tr>
              <a:tr h="191488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。。。</a:t>
                      </a: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1692302"/>
                  </a:ext>
                </a:extLst>
              </a:tr>
              <a:tr h="191488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含破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1475542"/>
                  </a:ext>
                </a:extLst>
              </a:tr>
            </a:tbl>
          </a:graphicData>
        </a:graphic>
      </p:graphicFrame>
      <p:sp>
        <p:nvSpPr>
          <p:cNvPr id="2" name="矩形 1">
            <a:extLst>
              <a:ext uri="{FF2B5EF4-FFF2-40B4-BE49-F238E27FC236}">
                <a16:creationId xmlns:a16="http://schemas.microsoft.com/office/drawing/2014/main" id="{8F1F6F7C-8049-6C50-62C1-10F4A6B7AEE1}"/>
              </a:ext>
            </a:extLst>
          </p:cNvPr>
          <p:cNvSpPr/>
          <p:nvPr/>
        </p:nvSpPr>
        <p:spPr>
          <a:xfrm>
            <a:off x="5685866" y="5396182"/>
            <a:ext cx="2438278" cy="1140083"/>
          </a:xfrm>
          <a:prstGeom prst="rect">
            <a:avLst/>
          </a:prstGeom>
          <a:solidFill>
            <a:schemeClr val="accent4">
              <a:alpha val="4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11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针对每个单元格：</a:t>
            </a:r>
            <a:endParaRPr lang="en-US" altLang="zh-CN" sz="11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需要思考在主升遇到各种情况应如何处理？</a:t>
            </a:r>
            <a:endParaRPr lang="en-US" altLang="zh-CN" sz="11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每个单元格都可能包含各种柱型</a:t>
            </a:r>
            <a:endParaRPr lang="en-US" altLang="zh-CN" sz="11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需要判断其后续方向：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向上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向平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向下</a:t>
            </a:r>
          </a:p>
        </p:txBody>
      </p:sp>
    </p:spTree>
    <p:extLst>
      <p:ext uri="{BB962C8B-B14F-4D97-AF65-F5344CB8AC3E}">
        <p14:creationId xmlns:p14="http://schemas.microsoft.com/office/powerpoint/2010/main" val="355800730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FAB7E7-E416-31B7-81E0-28CD250DAA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矩形 77">
            <a:extLst>
              <a:ext uri="{FF2B5EF4-FFF2-40B4-BE49-F238E27FC236}">
                <a16:creationId xmlns:a16="http://schemas.microsoft.com/office/drawing/2014/main" id="{E2D1B87C-F385-B239-87D7-E0343E76E0E6}"/>
              </a:ext>
            </a:extLst>
          </p:cNvPr>
          <p:cNvSpPr/>
          <p:nvPr/>
        </p:nvSpPr>
        <p:spPr>
          <a:xfrm>
            <a:off x="8243632" y="717030"/>
            <a:ext cx="3948367" cy="2535024"/>
          </a:xfrm>
          <a:prstGeom prst="rect">
            <a:avLst/>
          </a:prstGeom>
          <a:solidFill>
            <a:schemeClr val="accent4">
              <a:lumMod val="20000"/>
              <a:lumOff val="80000"/>
              <a:alpha val="50000"/>
            </a:schemeClr>
          </a:solidFill>
          <a:ln w="12700">
            <a:solidFill>
              <a:schemeClr val="accent4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“龙战法”盈利来源：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总体来源：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观察上升波段，全部涨幅包含两部分。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增幅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of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管宽：从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至顶。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增幅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of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顶增：合顶状态时，顶的累计增幅。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“龙战法”盈利策略：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牢牢抓住主升。为防止失去仓位，在主升阶段以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吃顶增：从周触顶介入，吃顶增。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吃管宽：在主升阶段，吃未下破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的回撤。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6A31E2F4-CE38-A22D-148A-A7C9D49A59E1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“龙战法”专页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主题：所有操盘方法只针对“主升”波型进行操作。醒悟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20251108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：要顺从大势，有容乃大，保护仓位。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" name="图示 5">
            <a:extLst>
              <a:ext uri="{FF2B5EF4-FFF2-40B4-BE49-F238E27FC236}">
                <a16:creationId xmlns:a16="http://schemas.microsoft.com/office/drawing/2014/main" id="{269F78DD-9A56-D761-7507-C09B864E2F06}"/>
              </a:ext>
            </a:extLst>
          </p:cNvPr>
          <p:cNvGraphicFramePr/>
          <p:nvPr/>
        </p:nvGraphicFramePr>
        <p:xfrm>
          <a:off x="12648131" y="1199514"/>
          <a:ext cx="4680187" cy="31602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7" name="文本框 6">
            <a:extLst>
              <a:ext uri="{FF2B5EF4-FFF2-40B4-BE49-F238E27FC236}">
                <a16:creationId xmlns:a16="http://schemas.microsoft.com/office/drawing/2014/main" id="{95EC4717-4315-A839-4DE2-DFF21215739F}"/>
              </a:ext>
            </a:extLst>
          </p:cNvPr>
          <p:cNvSpPr txBox="1"/>
          <p:nvPr/>
        </p:nvSpPr>
        <p:spPr>
          <a:xfrm>
            <a:off x="12575803" y="891737"/>
            <a:ext cx="251863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/>
              <a:t>判断是否应持有的漏斗流程：</a:t>
            </a:r>
            <a:endParaRPr lang="en-US" altLang="zh-CN" sz="1400" b="1" dirty="0"/>
          </a:p>
        </p:txBody>
      </p:sp>
      <p:sp>
        <p:nvSpPr>
          <p:cNvPr id="2" name="矩形: 圆角 1">
            <a:extLst>
              <a:ext uri="{FF2B5EF4-FFF2-40B4-BE49-F238E27FC236}">
                <a16:creationId xmlns:a16="http://schemas.microsoft.com/office/drawing/2014/main" id="{EAD26FB4-4A33-9FA9-C3DE-939F7CB94DFF}"/>
              </a:ext>
            </a:extLst>
          </p:cNvPr>
          <p:cNvSpPr/>
          <p:nvPr/>
        </p:nvSpPr>
        <p:spPr>
          <a:xfrm>
            <a:off x="338895" y="1185236"/>
            <a:ext cx="2165363" cy="590204"/>
          </a:xfrm>
          <a:prstGeom prst="roundRect">
            <a:avLst/>
          </a:prstGeom>
          <a:solidFill>
            <a:schemeClr val="accent5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1400" b="1" dirty="0">
                <a:solidFill>
                  <a:schemeClr val="accent4">
                    <a:lumMod val="40000"/>
                    <a:lumOff val="6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“龙战法”基本条件</a:t>
            </a:r>
            <a:endParaRPr lang="en-US" altLang="zh-CN" sz="1400" b="1" dirty="0">
              <a:solidFill>
                <a:schemeClr val="accent4">
                  <a:lumMod val="40000"/>
                  <a:lumOff val="6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包含：基本范围</a:t>
            </a:r>
            <a:endParaRPr lang="en-US" altLang="zh-CN" sz="800" dirty="0">
              <a:solidFill>
                <a:schemeClr val="bg1">
                  <a:lumMod val="7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作用：</a:t>
            </a:r>
            <a:r>
              <a:rPr lang="en-US" altLang="zh-CN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原理</a:t>
            </a:r>
            <a:r>
              <a:rPr lang="en-US" altLang="zh-CN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剔除高危大势</a:t>
            </a:r>
          </a:p>
        </p:txBody>
      </p:sp>
      <p:sp>
        <p:nvSpPr>
          <p:cNvPr id="8" name="矩形: 圆角 7">
            <a:extLst>
              <a:ext uri="{FF2B5EF4-FFF2-40B4-BE49-F238E27FC236}">
                <a16:creationId xmlns:a16="http://schemas.microsoft.com/office/drawing/2014/main" id="{635A5EFD-84A4-1872-61EF-2BDE98727BD8}"/>
              </a:ext>
            </a:extLst>
          </p:cNvPr>
          <p:cNvSpPr/>
          <p:nvPr/>
        </p:nvSpPr>
        <p:spPr>
          <a:xfrm>
            <a:off x="338895" y="1873589"/>
            <a:ext cx="2165363" cy="590204"/>
          </a:xfrm>
          <a:prstGeom prst="roundRect">
            <a:avLst/>
          </a:prstGeom>
          <a:solidFill>
            <a:schemeClr val="accent5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1400" b="1" dirty="0">
                <a:solidFill>
                  <a:schemeClr val="accent4">
                    <a:lumMod val="40000"/>
                    <a:lumOff val="6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“龙战法”附加条件</a:t>
            </a:r>
            <a:endParaRPr lang="en-US" altLang="zh-CN" sz="1400" b="1" dirty="0">
              <a:solidFill>
                <a:schemeClr val="accent4">
                  <a:lumMod val="40000"/>
                  <a:lumOff val="6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包含：波形划分（主升与震荡）</a:t>
            </a:r>
            <a:endParaRPr lang="en-US" altLang="zh-CN" sz="800" dirty="0">
              <a:solidFill>
                <a:schemeClr val="bg1">
                  <a:lumMod val="7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作用：剔除不确定情况</a:t>
            </a:r>
          </a:p>
        </p:txBody>
      </p:sp>
      <p:sp>
        <p:nvSpPr>
          <p:cNvPr id="9" name="矩形: 圆角 8">
            <a:extLst>
              <a:ext uri="{FF2B5EF4-FFF2-40B4-BE49-F238E27FC236}">
                <a16:creationId xmlns:a16="http://schemas.microsoft.com/office/drawing/2014/main" id="{BD465DAE-70A4-A5ED-9ABC-216383CD172E}"/>
              </a:ext>
            </a:extLst>
          </p:cNvPr>
          <p:cNvSpPr/>
          <p:nvPr/>
        </p:nvSpPr>
        <p:spPr>
          <a:xfrm>
            <a:off x="3092707" y="1408231"/>
            <a:ext cx="1532091" cy="861169"/>
          </a:xfrm>
          <a:prstGeom prst="roundRect">
            <a:avLst/>
          </a:prstGeom>
          <a:solidFill>
            <a:schemeClr val="accent5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1400" b="1" dirty="0">
                <a:solidFill>
                  <a:schemeClr val="accent4">
                    <a:lumMod val="40000"/>
                    <a:lumOff val="6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周波型：</a:t>
            </a:r>
            <a:endParaRPr lang="en-US" altLang="zh-CN" sz="1400" b="1" dirty="0">
              <a:solidFill>
                <a:schemeClr val="accent4">
                  <a:lumMod val="40000"/>
                  <a:lumOff val="6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accent4">
                    <a:lumMod val="40000"/>
                    <a:lumOff val="6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“龙”</a:t>
            </a:r>
            <a:endParaRPr lang="en-US" altLang="zh-CN" sz="1000" dirty="0">
              <a:solidFill>
                <a:schemeClr val="accent4">
                  <a:lumMod val="40000"/>
                  <a:lumOff val="6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accent4">
                    <a:lumMod val="40000"/>
                    <a:lumOff val="6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将变为“龙”</a:t>
            </a:r>
            <a:endParaRPr lang="en-US" altLang="zh-CN" sz="1000" dirty="0">
              <a:solidFill>
                <a:schemeClr val="accent4">
                  <a:lumMod val="40000"/>
                  <a:lumOff val="6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dirty="0">
              <a:solidFill>
                <a:schemeClr val="bg1">
                  <a:lumMod val="8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盈利来源：</a:t>
            </a:r>
            <a:r>
              <a:rPr lang="en-US" altLang="zh-CN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吃管宽</a:t>
            </a:r>
            <a:r>
              <a:rPr lang="en-US" altLang="zh-CN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吃顶增</a:t>
            </a:r>
            <a:endParaRPr lang="en-US" altLang="zh-CN" sz="1000" dirty="0">
              <a:solidFill>
                <a:schemeClr val="bg1">
                  <a:lumMod val="7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1" name="连接符: 肘形 10">
            <a:extLst>
              <a:ext uri="{FF2B5EF4-FFF2-40B4-BE49-F238E27FC236}">
                <a16:creationId xmlns:a16="http://schemas.microsoft.com/office/drawing/2014/main" id="{D8097B93-09AD-5206-4ED6-88D9223EAB6C}"/>
              </a:ext>
            </a:extLst>
          </p:cNvPr>
          <p:cNvCxnSpPr>
            <a:cxnSpLocks/>
            <a:stCxn id="2" idx="3"/>
            <a:endCxn id="9" idx="1"/>
          </p:cNvCxnSpPr>
          <p:nvPr/>
        </p:nvCxnSpPr>
        <p:spPr>
          <a:xfrm>
            <a:off x="2504258" y="1480338"/>
            <a:ext cx="588449" cy="358478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连接符: 肘形 11">
            <a:extLst>
              <a:ext uri="{FF2B5EF4-FFF2-40B4-BE49-F238E27FC236}">
                <a16:creationId xmlns:a16="http://schemas.microsoft.com/office/drawing/2014/main" id="{43040924-CD70-0F1F-75F1-0F1F2509467D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504258" y="1838816"/>
            <a:ext cx="588449" cy="329875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矩形: 圆角 36">
            <a:extLst>
              <a:ext uri="{FF2B5EF4-FFF2-40B4-BE49-F238E27FC236}">
                <a16:creationId xmlns:a16="http://schemas.microsoft.com/office/drawing/2014/main" id="{3ACF7136-4ACF-9412-3CD2-EAC9469826D7}"/>
              </a:ext>
            </a:extLst>
          </p:cNvPr>
          <p:cNvSpPr/>
          <p:nvPr/>
        </p:nvSpPr>
        <p:spPr>
          <a:xfrm>
            <a:off x="5238929" y="1020895"/>
            <a:ext cx="2429765" cy="480449"/>
          </a:xfrm>
          <a:prstGeom prst="roundRect">
            <a:avLst/>
          </a:prstGeom>
          <a:solidFill>
            <a:schemeClr val="accent5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1400" b="1" dirty="0">
                <a:solidFill>
                  <a:schemeClr val="accent4">
                    <a:lumMod val="40000"/>
                    <a:lumOff val="6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龙丘周战法：</a:t>
            </a:r>
            <a:r>
              <a:rPr lang="en-US" altLang="zh-CN" sz="1400" b="1" dirty="0">
                <a:solidFill>
                  <a:schemeClr val="accent4">
                    <a:lumMod val="40000"/>
                    <a:lumOff val="6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400" b="1" dirty="0">
                <a:solidFill>
                  <a:schemeClr val="accent4">
                    <a:lumMod val="40000"/>
                    <a:lumOff val="6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持仓法</a:t>
            </a:r>
            <a:endParaRPr lang="en-US" altLang="zh-CN" sz="1400" b="1" dirty="0">
              <a:solidFill>
                <a:schemeClr val="accent4">
                  <a:lumMod val="40000"/>
                  <a:lumOff val="6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依赖：坚守仓位</a:t>
            </a:r>
          </a:p>
        </p:txBody>
      </p:sp>
      <p:sp>
        <p:nvSpPr>
          <p:cNvPr id="38" name="矩形: 圆角 37">
            <a:extLst>
              <a:ext uri="{FF2B5EF4-FFF2-40B4-BE49-F238E27FC236}">
                <a16:creationId xmlns:a16="http://schemas.microsoft.com/office/drawing/2014/main" id="{708D0442-A7E1-ACE8-E800-E46700372DB8}"/>
              </a:ext>
            </a:extLst>
          </p:cNvPr>
          <p:cNvSpPr/>
          <p:nvPr/>
        </p:nvSpPr>
        <p:spPr>
          <a:xfrm>
            <a:off x="5238929" y="1594607"/>
            <a:ext cx="2429765" cy="480449"/>
          </a:xfrm>
          <a:prstGeom prst="roundRect">
            <a:avLst/>
          </a:prstGeom>
          <a:solidFill>
            <a:schemeClr val="accent5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1400" b="1" dirty="0">
                <a:solidFill>
                  <a:schemeClr val="accent4">
                    <a:lumMod val="40000"/>
                    <a:lumOff val="6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龙冲周战法：是否下周冲高？</a:t>
            </a:r>
          </a:p>
          <a:p>
            <a:r>
              <a:rPr lang="zh-CN" altLang="en-US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依赖：</a:t>
            </a:r>
            <a:r>
              <a:rPr lang="en-US" altLang="zh-CN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endParaRPr lang="zh-CN" altLang="en-US" sz="800" dirty="0">
              <a:solidFill>
                <a:schemeClr val="bg1">
                  <a:lumMod val="7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矩形: 圆角 38">
            <a:extLst>
              <a:ext uri="{FF2B5EF4-FFF2-40B4-BE49-F238E27FC236}">
                <a16:creationId xmlns:a16="http://schemas.microsoft.com/office/drawing/2014/main" id="{2BDFC5CB-AF12-9104-E6B5-55AD1DE160B3}"/>
              </a:ext>
            </a:extLst>
          </p:cNvPr>
          <p:cNvSpPr/>
          <p:nvPr/>
        </p:nvSpPr>
        <p:spPr>
          <a:xfrm>
            <a:off x="5238929" y="2185646"/>
            <a:ext cx="2429765" cy="480449"/>
          </a:xfrm>
          <a:prstGeom prst="roundRect">
            <a:avLst/>
          </a:prstGeom>
          <a:solidFill>
            <a:schemeClr val="accent5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1400" b="1" dirty="0">
                <a:solidFill>
                  <a:schemeClr val="accent4">
                    <a:lumMod val="40000"/>
                    <a:lumOff val="6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龙展日战法：是否日类捡漏？</a:t>
            </a:r>
          </a:p>
          <a:p>
            <a:r>
              <a:rPr lang="zh-CN" altLang="en-US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依赖：</a:t>
            </a:r>
            <a:r>
              <a:rPr lang="en-US" altLang="zh-CN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日展开图谱</a:t>
            </a:r>
            <a:r>
              <a:rPr lang="en-US" altLang="zh-CN" sz="800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endParaRPr lang="zh-CN" altLang="en-US" sz="800" dirty="0">
              <a:solidFill>
                <a:schemeClr val="bg1">
                  <a:lumMod val="7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40" name="连接符: 肘形 39">
            <a:extLst>
              <a:ext uri="{FF2B5EF4-FFF2-40B4-BE49-F238E27FC236}">
                <a16:creationId xmlns:a16="http://schemas.microsoft.com/office/drawing/2014/main" id="{4A1168AC-F879-C6D4-D6DA-EF5DF5C0C69E}"/>
              </a:ext>
            </a:extLst>
          </p:cNvPr>
          <p:cNvCxnSpPr>
            <a:cxnSpLocks/>
            <a:stCxn id="9" idx="3"/>
            <a:endCxn id="37" idx="1"/>
          </p:cNvCxnSpPr>
          <p:nvPr/>
        </p:nvCxnSpPr>
        <p:spPr>
          <a:xfrm flipV="1">
            <a:off x="4624798" y="1261120"/>
            <a:ext cx="614131" cy="577696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连接符: 肘形 42">
            <a:extLst>
              <a:ext uri="{FF2B5EF4-FFF2-40B4-BE49-F238E27FC236}">
                <a16:creationId xmlns:a16="http://schemas.microsoft.com/office/drawing/2014/main" id="{519BA7B2-B752-F684-BEC6-7B0F6049E043}"/>
              </a:ext>
            </a:extLst>
          </p:cNvPr>
          <p:cNvCxnSpPr>
            <a:cxnSpLocks/>
            <a:stCxn id="9" idx="3"/>
            <a:endCxn id="39" idx="1"/>
          </p:cNvCxnSpPr>
          <p:nvPr/>
        </p:nvCxnSpPr>
        <p:spPr>
          <a:xfrm>
            <a:off x="4624798" y="1838816"/>
            <a:ext cx="614131" cy="587055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连接符: 肘形 43">
            <a:extLst>
              <a:ext uri="{FF2B5EF4-FFF2-40B4-BE49-F238E27FC236}">
                <a16:creationId xmlns:a16="http://schemas.microsoft.com/office/drawing/2014/main" id="{8CF35047-01BD-9CB2-631F-03C91EF25A0E}"/>
              </a:ext>
            </a:extLst>
          </p:cNvPr>
          <p:cNvCxnSpPr>
            <a:cxnSpLocks/>
            <a:stCxn id="9" idx="3"/>
            <a:endCxn id="38" idx="1"/>
          </p:cNvCxnSpPr>
          <p:nvPr/>
        </p:nvCxnSpPr>
        <p:spPr>
          <a:xfrm flipV="1">
            <a:off x="4624798" y="1834832"/>
            <a:ext cx="614131" cy="3984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文本框 73">
            <a:extLst>
              <a:ext uri="{FF2B5EF4-FFF2-40B4-BE49-F238E27FC236}">
                <a16:creationId xmlns:a16="http://schemas.microsoft.com/office/drawing/2014/main" id="{5142471C-01D0-0B53-885A-F13BB04B132C}"/>
              </a:ext>
            </a:extLst>
          </p:cNvPr>
          <p:cNvSpPr txBox="1"/>
          <p:nvPr/>
        </p:nvSpPr>
        <p:spPr>
          <a:xfrm>
            <a:off x="279844" y="860072"/>
            <a:ext cx="195438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/>
              <a:t>“龙战法”的执行流程：</a:t>
            </a:r>
            <a:endParaRPr lang="en-US" altLang="zh-CN" sz="1400" b="1" dirty="0"/>
          </a:p>
        </p:txBody>
      </p:sp>
      <p:graphicFrame>
        <p:nvGraphicFramePr>
          <p:cNvPr id="75" name="表格 74">
            <a:extLst>
              <a:ext uri="{FF2B5EF4-FFF2-40B4-BE49-F238E27FC236}">
                <a16:creationId xmlns:a16="http://schemas.microsoft.com/office/drawing/2014/main" id="{90B3884B-9D2B-A6F0-9937-216C623E91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6138712"/>
              </p:ext>
            </p:extLst>
          </p:nvPr>
        </p:nvGraphicFramePr>
        <p:xfrm>
          <a:off x="0" y="3578468"/>
          <a:ext cx="6849207" cy="3287419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659422">
                  <a:extLst>
                    <a:ext uri="{9D8B030D-6E8A-4147-A177-3AD203B41FA5}">
                      <a16:colId xmlns:a16="http://schemas.microsoft.com/office/drawing/2014/main" val="2706042394"/>
                    </a:ext>
                  </a:extLst>
                </a:gridCol>
                <a:gridCol w="6189785">
                  <a:extLst>
                    <a:ext uri="{9D8B030D-6E8A-4147-A177-3AD203B41FA5}">
                      <a16:colId xmlns:a16="http://schemas.microsoft.com/office/drawing/2014/main" val="2262410055"/>
                    </a:ext>
                  </a:extLst>
                </a:gridCol>
              </a:tblGrid>
              <a:tr h="524378"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上涨动力来源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228600" lvl="0" indent="-228600">
                        <a:buFont typeface="+mj-ea"/>
                        <a:buAutoNum type="circleNumDbPlain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【EMA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赐予的动力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之上阳柱多。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	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⇒在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之上应维持底仓。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lvl="0" indent="-228600">
                        <a:buFont typeface="+mj-ea"/>
                        <a:buAutoNum type="circleNumDbPlain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下周冲高赐予的动力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自然波动赐予下周冲高。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	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⇒在周末应进行周级别做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，冲高后退出。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lvl="0" indent="-228600">
                        <a:buFont typeface="+mj-ea"/>
                        <a:buAutoNum type="circleNumDbPlain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日级别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丘赐予的动力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之上阳柱多，但日柱排不可信。⇒作为下周冲高介入参考信息，或周中快进快出。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0524247"/>
                  </a:ext>
                </a:extLst>
              </a:tr>
              <a:tr h="464802">
                <a:tc rowSpan="2">
                  <a:txBody>
                    <a:bodyPr/>
                    <a:lstStyle/>
                    <a:p>
                      <a:r>
                        <a:rPr lang="zh-CN" altLang="en-US" sz="10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龙丘周战法</a:t>
                      </a:r>
                      <a:endParaRPr lang="zh-CN" altLang="en-US" sz="10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龙丘周战法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A】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以均线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为核心。当上破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时买入，在下破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时卖出。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少数情况可允许提前退出（冲高或下破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两柱）。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4617910"/>
                  </a:ext>
                </a:extLst>
              </a:tr>
              <a:tr h="804047">
                <a:tc vMerge="1">
                  <a:txBody>
                    <a:bodyPr/>
                    <a:lstStyle/>
                    <a:p>
                      <a:endParaRPr lang="zh-CN" altLang="en-US" sz="10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龙丘周战法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B】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以均线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为核心。当上破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时买入，在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之上只卖（在阳柱）不买。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在突破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时介入，包含底仓与浮仓。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针对浮仓，上升一些就卖一些。卖点可选为：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巨阳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单阳。可不破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不卖出。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中途介入，只能选在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，其余情况不应介入。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针对底仓，应从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入从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出。少数情况可允许提前退出（冲高或下破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两柱）。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5126789"/>
                  </a:ext>
                </a:extLst>
              </a:tr>
              <a:tr h="865306"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龙冲周战法</a:t>
                      </a:r>
                      <a:endParaRPr lang="zh-CN" altLang="en-US" sz="10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龙冲周战法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以下周冲高为目标，需依赖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主升图谱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根据动力②在每周周末进行下柱冲高介入，参考日级别动力③作为介入参考。注意，需要将动力①与②配对使用，不要在周中再掺和动力③，从而简化操作并保证策略稳定运行。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具体执行策略：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计划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：攻式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——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（如预期）下周冲高：止盈至底仓，或完全退出。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计划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：守式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——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（未如预期）下周未冲高或未及时退出：按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作为止损线，根据坐公交理论，在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之上必定还会有高点。等待下次冲高，进行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回本退出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冲高止盈。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9730832"/>
                  </a:ext>
                </a:extLst>
              </a:tr>
              <a:tr h="549312"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龙展日战法</a:t>
                      </a:r>
                      <a:endParaRPr lang="zh-CN" altLang="en-US" sz="10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5381610"/>
                  </a:ext>
                </a:extLst>
              </a:tr>
            </a:tbl>
          </a:graphicData>
        </a:graphic>
      </p:graphicFrame>
      <p:grpSp>
        <p:nvGrpSpPr>
          <p:cNvPr id="83" name="组合 82">
            <a:extLst>
              <a:ext uri="{FF2B5EF4-FFF2-40B4-BE49-F238E27FC236}">
                <a16:creationId xmlns:a16="http://schemas.microsoft.com/office/drawing/2014/main" id="{96C4978E-E341-BC38-90DE-E8ACDA5371D6}"/>
              </a:ext>
            </a:extLst>
          </p:cNvPr>
          <p:cNvGrpSpPr/>
          <p:nvPr/>
        </p:nvGrpSpPr>
        <p:grpSpPr>
          <a:xfrm>
            <a:off x="8282825" y="1549120"/>
            <a:ext cx="3798608" cy="1767957"/>
            <a:chOff x="8282825" y="1549120"/>
            <a:chExt cx="3798608" cy="1767957"/>
          </a:xfrm>
        </p:grpSpPr>
        <p:cxnSp>
          <p:nvCxnSpPr>
            <p:cNvPr id="20" name="直接连接符 19">
              <a:extLst>
                <a:ext uri="{FF2B5EF4-FFF2-40B4-BE49-F238E27FC236}">
                  <a16:creationId xmlns:a16="http://schemas.microsoft.com/office/drawing/2014/main" id="{55AB9FA9-4C11-DBC7-C75F-E330429A58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90" y="2337655"/>
              <a:ext cx="3361940" cy="656706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接连接符 21">
              <a:extLst>
                <a:ext uri="{FF2B5EF4-FFF2-40B4-BE49-F238E27FC236}">
                  <a16:creationId xmlns:a16="http://schemas.microsoft.com/office/drawing/2014/main" id="{39F1B243-B2AB-E568-8AAE-9321CC3717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90" y="2605166"/>
              <a:ext cx="3424843" cy="588529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文本框 23">
              <a:extLst>
                <a:ext uri="{FF2B5EF4-FFF2-40B4-BE49-F238E27FC236}">
                  <a16:creationId xmlns:a16="http://schemas.microsoft.com/office/drawing/2014/main" id="{B23AB0A9-2075-3A95-9D61-86E1BD31D789}"/>
                </a:ext>
              </a:extLst>
            </p:cNvPr>
            <p:cNvSpPr txBox="1"/>
            <p:nvPr/>
          </p:nvSpPr>
          <p:spPr>
            <a:xfrm>
              <a:off x="8292443" y="3070856"/>
              <a:ext cx="44595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zh-CN" sz="1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WJB</a:t>
              </a:r>
            </a:p>
          </p:txBody>
        </p:sp>
        <p:sp>
          <p:nvSpPr>
            <p:cNvPr id="28" name="任意多边形: 形状 27">
              <a:extLst>
                <a:ext uri="{FF2B5EF4-FFF2-40B4-BE49-F238E27FC236}">
                  <a16:creationId xmlns:a16="http://schemas.microsoft.com/office/drawing/2014/main" id="{4A50F1D7-E3B7-C200-2835-976B6346E288}"/>
                </a:ext>
              </a:extLst>
            </p:cNvPr>
            <p:cNvSpPr/>
            <p:nvPr/>
          </p:nvSpPr>
          <p:spPr>
            <a:xfrm>
              <a:off x="8714779" y="1872142"/>
              <a:ext cx="3192087" cy="1379912"/>
            </a:xfrm>
            <a:custGeom>
              <a:avLst/>
              <a:gdLst>
                <a:gd name="connsiteX0" fmla="*/ 0 w 3192087"/>
                <a:gd name="connsiteY0" fmla="*/ 1379912 h 1379912"/>
                <a:gd name="connsiteX1" fmla="*/ 241069 w 3192087"/>
                <a:gd name="connsiteY1" fmla="*/ 756458 h 1379912"/>
                <a:gd name="connsiteX2" fmla="*/ 756458 w 3192087"/>
                <a:gd name="connsiteY2" fmla="*/ 515389 h 1379912"/>
                <a:gd name="connsiteX3" fmla="*/ 931025 w 3192087"/>
                <a:gd name="connsiteY3" fmla="*/ 906087 h 1379912"/>
                <a:gd name="connsiteX4" fmla="*/ 1105593 w 3192087"/>
                <a:gd name="connsiteY4" fmla="*/ 523701 h 1379912"/>
                <a:gd name="connsiteX5" fmla="*/ 1313411 w 3192087"/>
                <a:gd name="connsiteY5" fmla="*/ 340821 h 1379912"/>
                <a:gd name="connsiteX6" fmla="*/ 1463040 w 3192087"/>
                <a:gd name="connsiteY6" fmla="*/ 1022465 h 1379912"/>
                <a:gd name="connsiteX7" fmla="*/ 1612669 w 3192087"/>
                <a:gd name="connsiteY7" fmla="*/ 349134 h 1379912"/>
                <a:gd name="connsiteX8" fmla="*/ 1945178 w 3192087"/>
                <a:gd name="connsiteY8" fmla="*/ 174567 h 1379912"/>
                <a:gd name="connsiteX9" fmla="*/ 2094807 w 3192087"/>
                <a:gd name="connsiteY9" fmla="*/ 631767 h 1379912"/>
                <a:gd name="connsiteX10" fmla="*/ 2294313 w 3192087"/>
                <a:gd name="connsiteY10" fmla="*/ 182880 h 1379912"/>
                <a:gd name="connsiteX11" fmla="*/ 2909454 w 3192087"/>
                <a:gd name="connsiteY11" fmla="*/ 0 h 1379912"/>
                <a:gd name="connsiteX12" fmla="*/ 3192087 w 3192087"/>
                <a:gd name="connsiteY12" fmla="*/ 324196 h 1379912"/>
                <a:gd name="connsiteX13" fmla="*/ 3192087 w 3192087"/>
                <a:gd name="connsiteY13" fmla="*/ 324196 h 137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2087" h="1379912">
                  <a:moveTo>
                    <a:pt x="0" y="1379912"/>
                  </a:moveTo>
                  <a:lnTo>
                    <a:pt x="241069" y="756458"/>
                  </a:lnTo>
                  <a:lnTo>
                    <a:pt x="756458" y="515389"/>
                  </a:lnTo>
                  <a:lnTo>
                    <a:pt x="931025" y="906087"/>
                  </a:lnTo>
                  <a:lnTo>
                    <a:pt x="1105593" y="523701"/>
                  </a:lnTo>
                  <a:lnTo>
                    <a:pt x="1313411" y="340821"/>
                  </a:lnTo>
                  <a:lnTo>
                    <a:pt x="1463040" y="1022465"/>
                  </a:lnTo>
                  <a:lnTo>
                    <a:pt x="1612669" y="349134"/>
                  </a:lnTo>
                  <a:lnTo>
                    <a:pt x="1945178" y="174567"/>
                  </a:lnTo>
                  <a:lnTo>
                    <a:pt x="2094807" y="631767"/>
                  </a:lnTo>
                  <a:lnTo>
                    <a:pt x="2294313" y="182880"/>
                  </a:lnTo>
                  <a:lnTo>
                    <a:pt x="2909454" y="0"/>
                  </a:lnTo>
                  <a:lnTo>
                    <a:pt x="3192087" y="324196"/>
                  </a:lnTo>
                  <a:lnTo>
                    <a:pt x="3192087" y="324196"/>
                  </a:lnTo>
                </a:path>
              </a:pathLst>
            </a:custGeom>
            <a:noFill/>
            <a:ln w="2540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27" name="任意多边形: 形状 26">
              <a:extLst>
                <a:ext uri="{FF2B5EF4-FFF2-40B4-BE49-F238E27FC236}">
                  <a16:creationId xmlns:a16="http://schemas.microsoft.com/office/drawing/2014/main" id="{C2112A74-2A12-0AC1-3BEC-0E0469136B5D}"/>
                </a:ext>
              </a:extLst>
            </p:cNvPr>
            <p:cNvSpPr/>
            <p:nvPr/>
          </p:nvSpPr>
          <p:spPr>
            <a:xfrm>
              <a:off x="8673215" y="1838891"/>
              <a:ext cx="2959331" cy="889461"/>
            </a:xfrm>
            <a:custGeom>
              <a:avLst/>
              <a:gdLst>
                <a:gd name="connsiteX0" fmla="*/ 0 w 2959331"/>
                <a:gd name="connsiteY0" fmla="*/ 889461 h 889461"/>
                <a:gd name="connsiteX1" fmla="*/ 224444 w 2959331"/>
                <a:gd name="connsiteY1" fmla="*/ 889461 h 889461"/>
                <a:gd name="connsiteX2" fmla="*/ 274320 w 2959331"/>
                <a:gd name="connsiteY2" fmla="*/ 764771 h 889461"/>
                <a:gd name="connsiteX3" fmla="*/ 789709 w 2959331"/>
                <a:gd name="connsiteY3" fmla="*/ 523701 h 889461"/>
                <a:gd name="connsiteX4" fmla="*/ 1163782 w 2959331"/>
                <a:gd name="connsiteY4" fmla="*/ 523701 h 889461"/>
                <a:gd name="connsiteX5" fmla="*/ 1354975 w 2959331"/>
                <a:gd name="connsiteY5" fmla="*/ 357447 h 889461"/>
                <a:gd name="connsiteX6" fmla="*/ 1645920 w 2959331"/>
                <a:gd name="connsiteY6" fmla="*/ 357447 h 889461"/>
                <a:gd name="connsiteX7" fmla="*/ 1961804 w 2959331"/>
                <a:gd name="connsiteY7" fmla="*/ 191192 h 889461"/>
                <a:gd name="connsiteX8" fmla="*/ 2327564 w 2959331"/>
                <a:gd name="connsiteY8" fmla="*/ 191192 h 889461"/>
                <a:gd name="connsiteX9" fmla="*/ 2959331 w 2959331"/>
                <a:gd name="connsiteY9" fmla="*/ 0 h 889461"/>
                <a:gd name="connsiteX10" fmla="*/ 2959331 w 2959331"/>
                <a:gd name="connsiteY10" fmla="*/ 0 h 88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9331" h="889461">
                  <a:moveTo>
                    <a:pt x="0" y="889461"/>
                  </a:moveTo>
                  <a:lnTo>
                    <a:pt x="224444" y="889461"/>
                  </a:lnTo>
                  <a:lnTo>
                    <a:pt x="274320" y="764771"/>
                  </a:lnTo>
                  <a:lnTo>
                    <a:pt x="789709" y="523701"/>
                  </a:lnTo>
                  <a:lnTo>
                    <a:pt x="1163782" y="523701"/>
                  </a:lnTo>
                  <a:lnTo>
                    <a:pt x="1354975" y="357447"/>
                  </a:lnTo>
                  <a:lnTo>
                    <a:pt x="1645920" y="357447"/>
                  </a:lnTo>
                  <a:lnTo>
                    <a:pt x="1961804" y="191192"/>
                  </a:lnTo>
                  <a:lnTo>
                    <a:pt x="2327564" y="191192"/>
                  </a:lnTo>
                  <a:lnTo>
                    <a:pt x="2959331" y="0"/>
                  </a:lnTo>
                  <a:lnTo>
                    <a:pt x="2959331" y="0"/>
                  </a:lnTo>
                </a:path>
              </a:pathLst>
            </a:custGeom>
            <a:noFill/>
            <a:ln w="50800">
              <a:solidFill>
                <a:srgbClr val="D6009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9" name="文本框 28">
              <a:extLst>
                <a:ext uri="{FF2B5EF4-FFF2-40B4-BE49-F238E27FC236}">
                  <a16:creationId xmlns:a16="http://schemas.microsoft.com/office/drawing/2014/main" id="{4BCD69E1-8013-3CE4-D44B-EA034A2E2B4C}"/>
                </a:ext>
              </a:extLst>
            </p:cNvPr>
            <p:cNvSpPr txBox="1"/>
            <p:nvPr/>
          </p:nvSpPr>
          <p:spPr>
            <a:xfrm>
              <a:off x="9019122" y="2014096"/>
              <a:ext cx="323165" cy="437585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zh-CN" altLang="en-US" sz="900" dirty="0"/>
                <a:t>吃顶增</a:t>
              </a:r>
            </a:p>
          </p:txBody>
        </p:sp>
        <p:sp>
          <p:nvSpPr>
            <p:cNvPr id="30" name="文本框 29">
              <a:extLst>
                <a:ext uri="{FF2B5EF4-FFF2-40B4-BE49-F238E27FC236}">
                  <a16:creationId xmlns:a16="http://schemas.microsoft.com/office/drawing/2014/main" id="{50329288-76EE-320E-FDCC-FD2D373DEFD7}"/>
                </a:ext>
              </a:extLst>
            </p:cNvPr>
            <p:cNvSpPr txBox="1"/>
            <p:nvPr/>
          </p:nvSpPr>
          <p:spPr>
            <a:xfrm>
              <a:off x="9489100" y="1902079"/>
              <a:ext cx="323165" cy="438582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/>
            <a:p>
              <a:r>
                <a:rPr lang="zh-CN" altLang="en-US" sz="900" dirty="0"/>
                <a:t>吃管宽</a:t>
              </a:r>
            </a:p>
          </p:txBody>
        </p:sp>
        <p:sp>
          <p:nvSpPr>
            <p:cNvPr id="31" name="文本框 30">
              <a:extLst>
                <a:ext uri="{FF2B5EF4-FFF2-40B4-BE49-F238E27FC236}">
                  <a16:creationId xmlns:a16="http://schemas.microsoft.com/office/drawing/2014/main" id="{EAA83131-C06B-CD64-507F-B647664F5265}"/>
                </a:ext>
              </a:extLst>
            </p:cNvPr>
            <p:cNvSpPr txBox="1"/>
            <p:nvPr/>
          </p:nvSpPr>
          <p:spPr>
            <a:xfrm>
              <a:off x="9771160" y="1810006"/>
              <a:ext cx="323165" cy="437585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zh-CN" altLang="en-US" sz="900" dirty="0"/>
                <a:t>吃顶增</a:t>
              </a:r>
            </a:p>
          </p:txBody>
        </p:sp>
        <p:sp>
          <p:nvSpPr>
            <p:cNvPr id="32" name="文本框 31">
              <a:extLst>
                <a:ext uri="{FF2B5EF4-FFF2-40B4-BE49-F238E27FC236}">
                  <a16:creationId xmlns:a16="http://schemas.microsoft.com/office/drawing/2014/main" id="{8FCE0FE0-A573-93C8-21D8-FEA87606B862}"/>
                </a:ext>
              </a:extLst>
            </p:cNvPr>
            <p:cNvSpPr txBox="1"/>
            <p:nvPr/>
          </p:nvSpPr>
          <p:spPr>
            <a:xfrm>
              <a:off x="10012332" y="1719922"/>
              <a:ext cx="323165" cy="438582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/>
            <a:p>
              <a:r>
                <a:rPr lang="zh-CN" altLang="en-US" sz="900" dirty="0"/>
                <a:t>吃管宽</a:t>
              </a:r>
            </a:p>
          </p:txBody>
        </p:sp>
        <p:sp>
          <p:nvSpPr>
            <p:cNvPr id="33" name="文本框 32">
              <a:extLst>
                <a:ext uri="{FF2B5EF4-FFF2-40B4-BE49-F238E27FC236}">
                  <a16:creationId xmlns:a16="http://schemas.microsoft.com/office/drawing/2014/main" id="{11BFA102-35B4-4FEF-40A6-D05741F35319}"/>
                </a:ext>
              </a:extLst>
            </p:cNvPr>
            <p:cNvSpPr txBox="1"/>
            <p:nvPr/>
          </p:nvSpPr>
          <p:spPr>
            <a:xfrm>
              <a:off x="10681404" y="1571852"/>
              <a:ext cx="323165" cy="438582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/>
            <a:p>
              <a:r>
                <a:rPr lang="zh-CN" altLang="en-US" sz="900" dirty="0"/>
                <a:t>吃管宽</a:t>
              </a:r>
            </a:p>
          </p:txBody>
        </p:sp>
        <p:sp>
          <p:nvSpPr>
            <p:cNvPr id="34" name="文本框 33">
              <a:extLst>
                <a:ext uri="{FF2B5EF4-FFF2-40B4-BE49-F238E27FC236}">
                  <a16:creationId xmlns:a16="http://schemas.microsoft.com/office/drawing/2014/main" id="{5526C2BE-C4B3-C6B6-49A0-AC9919FD25D5}"/>
                </a:ext>
              </a:extLst>
            </p:cNvPr>
            <p:cNvSpPr txBox="1"/>
            <p:nvPr/>
          </p:nvSpPr>
          <p:spPr>
            <a:xfrm>
              <a:off x="10303381" y="1672589"/>
              <a:ext cx="323165" cy="437585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zh-CN" altLang="en-US" sz="900" dirty="0"/>
                <a:t>吃顶增</a:t>
              </a:r>
            </a:p>
          </p:txBody>
        </p:sp>
        <p:sp>
          <p:nvSpPr>
            <p:cNvPr id="35" name="文本框 34">
              <a:extLst>
                <a:ext uri="{FF2B5EF4-FFF2-40B4-BE49-F238E27FC236}">
                  <a16:creationId xmlns:a16="http://schemas.microsoft.com/office/drawing/2014/main" id="{314A0AB0-15F4-0C8F-0EB8-4A0CBACB75E4}"/>
                </a:ext>
              </a:extLst>
            </p:cNvPr>
            <p:cNvSpPr txBox="1"/>
            <p:nvPr/>
          </p:nvSpPr>
          <p:spPr>
            <a:xfrm>
              <a:off x="11129454" y="1549120"/>
              <a:ext cx="323165" cy="437585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zh-CN" altLang="en-US" sz="900" dirty="0"/>
                <a:t>吃顶增</a:t>
              </a:r>
            </a:p>
          </p:txBody>
        </p:sp>
        <p:sp>
          <p:nvSpPr>
            <p:cNvPr id="80" name="文本框 79">
              <a:extLst>
                <a:ext uri="{FF2B5EF4-FFF2-40B4-BE49-F238E27FC236}">
                  <a16:creationId xmlns:a16="http://schemas.microsoft.com/office/drawing/2014/main" id="{5FD07BBD-7913-AF7C-9467-221EC6A63FD6}"/>
                </a:ext>
              </a:extLst>
            </p:cNvPr>
            <p:cNvSpPr txBox="1"/>
            <p:nvPr/>
          </p:nvSpPr>
          <p:spPr>
            <a:xfrm>
              <a:off x="8282825" y="2868289"/>
              <a:ext cx="45557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zh-CN" sz="1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WJA</a:t>
              </a:r>
            </a:p>
          </p:txBody>
        </p:sp>
        <p:sp>
          <p:nvSpPr>
            <p:cNvPr id="81" name="文本框 80">
              <a:extLst>
                <a:ext uri="{FF2B5EF4-FFF2-40B4-BE49-F238E27FC236}">
                  <a16:creationId xmlns:a16="http://schemas.microsoft.com/office/drawing/2014/main" id="{2B6551DC-3222-3BB9-0B4D-7509F3B43D43}"/>
                </a:ext>
              </a:extLst>
            </p:cNvPr>
            <p:cNvSpPr txBox="1"/>
            <p:nvPr/>
          </p:nvSpPr>
          <p:spPr>
            <a:xfrm>
              <a:off x="8328780" y="2622336"/>
              <a:ext cx="31290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顶</a:t>
              </a:r>
              <a:endPara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aphicFrame>
        <p:nvGraphicFramePr>
          <p:cNvPr id="84" name="表格 83">
            <a:extLst>
              <a:ext uri="{FF2B5EF4-FFF2-40B4-BE49-F238E27FC236}">
                <a16:creationId xmlns:a16="http://schemas.microsoft.com/office/drawing/2014/main" id="{3F989406-7FF8-75EC-0606-A60CF76B0A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5865515"/>
              </p:ext>
            </p:extLst>
          </p:nvPr>
        </p:nvGraphicFramePr>
        <p:xfrm>
          <a:off x="6921534" y="3596640"/>
          <a:ext cx="5270465" cy="3261360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753166">
                  <a:extLst>
                    <a:ext uri="{9D8B030D-6E8A-4147-A177-3AD203B41FA5}">
                      <a16:colId xmlns:a16="http://schemas.microsoft.com/office/drawing/2014/main" val="2706042394"/>
                    </a:ext>
                  </a:extLst>
                </a:gridCol>
                <a:gridCol w="4517299">
                  <a:extLst>
                    <a:ext uri="{9D8B030D-6E8A-4147-A177-3AD203B41FA5}">
                      <a16:colId xmlns:a16="http://schemas.microsoft.com/office/drawing/2014/main" val="226241005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战法名称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+mj-ea"/>
                        <a:buNone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现阶段具体执行策略（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20260217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0524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仓位管理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SOP</a:t>
                      </a:r>
                      <a:endParaRPr lang="zh-CN" altLang="en-US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每周四周五，筛选下周冲高备选，并进行仓位管理。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总体仓位控制：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上证下破</a:t>
                      </a:r>
                      <a:r>
                        <a:rPr lang="en-US" altLang="zh-CN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，必须控制总体仓位为</a:t>
                      </a:r>
                      <a:r>
                        <a:rPr lang="en-US" altLang="zh-CN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25%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以下。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50%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仓位用于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龙冲周战法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50%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仓位用于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龙丘周战法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1567910"/>
                  </a:ext>
                </a:extLst>
              </a:tr>
              <a:tr h="185403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龙丘周战法</a:t>
                      </a:r>
                      <a:endParaRPr lang="zh-CN" altLang="en-US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策略：在龙管内，吃顶增。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入点：在龙管内，“随时”以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5000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出点：可在冲高时止盈，对周管宽＞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警示；或按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底仓退出程序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4617910"/>
                  </a:ext>
                </a:extLst>
              </a:tr>
              <a:tr h="482049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龙冲周战法</a:t>
                      </a:r>
                      <a:endParaRPr lang="zh-CN" altLang="en-US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策略：在龙管内，吃下周冲高的涨幅。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标的需要符合以下条件：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优先选择股性活跃（具有下周冲高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10%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期望；且至少下周冲高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3%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以上）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处于主升模式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买入后看下周反应：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如已冲高：减至底仓。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如未冲高：说明判断失误，以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进行止损。→转为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龙丘周战法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9730832"/>
                  </a:ext>
                </a:extLst>
              </a:tr>
              <a:tr h="432608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龙展日战法</a:t>
                      </a:r>
                      <a:endParaRPr lang="zh-CN" altLang="en-US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策略：在龙管内，寻找日类介入点，积攒较多收益，从而抵抗主升过程的波动。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入点：先以底仓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5000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介入，跟随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龙丘周战法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；若出现日机，做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增加收益，做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后减至底仓，然后按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龙丘周战法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操作。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日机出现时点包括：介入初期、持有期、清仓前、始终无日机。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日机出现位置包括：上破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、上破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。尽量不选择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之上中途介入。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介入后上升，减仓点包括：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介入后立刻转跌，要对全部仓位按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止损，不要按次级均线止损。 ⇒所以一定要选好介入时机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53816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2670854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00466BD-7C80-7718-E6D8-FD36BB7AC8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53000" y="365125"/>
            <a:ext cx="6400800" cy="1325563"/>
          </a:xfrm>
        </p:spPr>
        <p:txBody>
          <a:bodyPr>
            <a:normAutofit/>
          </a:bodyPr>
          <a:lstStyle/>
          <a:p>
            <a:r>
              <a:rPr lang="zh-CN" altLang="en-US" sz="4000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龙战法</a:t>
            </a:r>
            <a:br>
              <a:rPr lang="en-US" altLang="zh-CN" sz="4000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br>
              <a:rPr lang="en-US" altLang="zh-CN" sz="1400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600" b="1" u="sng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周级别下柱冲高最靠谱，按周为周期进行操作，映射到日级进行细化。</a:t>
            </a:r>
            <a:br>
              <a:rPr lang="en-US" altLang="zh-CN" sz="1600" b="1" u="sng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600" b="1" u="sng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在周末按照下周冲高配置股票仓位，在周中利用</a:t>
            </a:r>
            <a:r>
              <a:rPr lang="en-US" altLang="zh-CN" sz="1600" b="1" u="sng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ETF</a:t>
            </a:r>
            <a:r>
              <a:rPr lang="zh-CN" altLang="en-US" sz="1600" b="1" u="sng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进行临时操作。</a:t>
            </a:r>
            <a:endParaRPr lang="zh-CN" altLang="en-US" sz="1600" dirty="0">
              <a:solidFill>
                <a:schemeClr val="tx2">
                  <a:lumMod val="20000"/>
                  <a:lumOff val="8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A657A548-CD22-C17E-BF3B-58FF0DC2EB5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53000" y="1825625"/>
            <a:ext cx="6400800" cy="4351338"/>
          </a:xfrm>
        </p:spPr>
        <p:txBody>
          <a:bodyPr>
            <a:normAutofit/>
          </a:bodyPr>
          <a:lstStyle/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“龙战法”适用条件 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 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盯盘观察指标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底仓退出程序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龙战法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周版战法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龙丘周战法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龙战法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周版战法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龙冲周战法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龙战法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日版战法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龙展日战法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br>
              <a:rPr lang="zh-CN" altLang="en-US" sz="16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b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endParaRPr lang="zh-CN" altLang="en-US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C796D953-A609-6E5D-1227-F6C8E0659667}"/>
              </a:ext>
            </a:extLst>
          </p:cNvPr>
          <p:cNvSpPr txBox="1"/>
          <p:nvPr/>
        </p:nvSpPr>
        <p:spPr>
          <a:xfrm>
            <a:off x="1095375" y="1690688"/>
            <a:ext cx="2867025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0" dirty="0">
                <a:solidFill>
                  <a:schemeClr val="tx2">
                    <a:lumMod val="75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战</a:t>
            </a:r>
          </a:p>
        </p:txBody>
      </p:sp>
    </p:spTree>
    <p:extLst>
      <p:ext uri="{BB962C8B-B14F-4D97-AF65-F5344CB8AC3E}">
        <p14:creationId xmlns:p14="http://schemas.microsoft.com/office/powerpoint/2010/main" val="277392079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B40154-A6D5-12BA-6423-6312761747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D51FF4C8-408C-E2EB-4B1E-EECC36082F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1775357"/>
              </p:ext>
            </p:extLst>
          </p:nvPr>
        </p:nvGraphicFramePr>
        <p:xfrm>
          <a:off x="-1" y="720000"/>
          <a:ext cx="6104827" cy="4800584"/>
        </p:xfrm>
        <a:graphic>
          <a:graphicData uri="http://schemas.openxmlformats.org/drawingml/2006/table">
            <a:tbl>
              <a:tblPr firstRow="1" bandRow="1">
                <a:tableStyleId>{5FD0F851-EC5A-4D38-B0AD-8093EC10F338}</a:tableStyleId>
              </a:tblPr>
              <a:tblGrid>
                <a:gridCol w="821008">
                  <a:extLst>
                    <a:ext uri="{9D8B030D-6E8A-4147-A177-3AD203B41FA5}">
                      <a16:colId xmlns:a16="http://schemas.microsoft.com/office/drawing/2014/main" val="1722765241"/>
                    </a:ext>
                  </a:extLst>
                </a:gridCol>
                <a:gridCol w="5283819">
                  <a:extLst>
                    <a:ext uri="{9D8B030D-6E8A-4147-A177-3AD203B41FA5}">
                      <a16:colId xmlns:a16="http://schemas.microsoft.com/office/drawing/2014/main" val="2171241879"/>
                    </a:ext>
                  </a:extLst>
                </a:gridCol>
              </a:tblGrid>
              <a:tr h="216800"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“龙战法”基本条件：</a:t>
                      </a:r>
                      <a:endParaRPr lang="en-US" altLang="zh-CN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“可持”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基本理念：“龙战法”，一切以是否有冲高可能作为持仓依据。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3785850"/>
                  </a:ext>
                </a:extLst>
              </a:tr>
              <a:tr h="712345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推导过程：基石（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丘必赢）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核心理念（要保证仓位经过最高点）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全时域所有高点都在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当确认已经过最高点后（不会继续推高）可退出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退出点：参考专页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底仓退出程序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再入点：站上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后再次获得冲高可能。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6986649"/>
                  </a:ext>
                </a:extLst>
              </a:tr>
              <a:tr h="960117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基本条件（在此范围内冲高可能性较大）：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月限制：利用月势下跌趋势与顶底诱多（弃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/C6/C4/C0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；防顶诱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/C7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；防底诱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/A0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周限制：在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之上：基本条件。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之上：因为所有阶段高点都在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慎重介入（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WXBC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/WXAC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劫）与（潜在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头：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劫）。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不应要求必须在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87765"/>
                  </a:ext>
                </a:extLst>
              </a:tr>
              <a:tr h="464573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“龙战法”附加条件：</a:t>
                      </a:r>
                      <a:endParaRPr lang="en-US" altLang="zh-CN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“可龙”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周主升的基本特征：区分“主升”与“震荡”。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护型条件：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（已正交或将正交）且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顶型条件：合顶（推高顶）  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1138253"/>
                  </a:ext>
                </a:extLst>
              </a:tr>
              <a:tr h="2446749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核心结论：“下周冲高”机会在周管（顶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,WJA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）内。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要确定在管内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：已在管（龙猪）、仍在管（ 龙落、震正〇）；少数将入管。勿介入其它无序震荡。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周主升应在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WTZA=-1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。（周主升不会下破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两柱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（剔除）已经历阶段高点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待完成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可以通过“偏离</a:t>
                      </a:r>
                      <a:r>
                        <a:rPr lang="en-US" altLang="zh-CN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”（偏离</a:t>
                      </a:r>
                      <a:r>
                        <a:rPr lang="en-US" altLang="zh-CN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超过</a:t>
                      </a:r>
                      <a:r>
                        <a:rPr lang="en-US" altLang="zh-CN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20%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）作为已冲高的量化标准。</a:t>
                      </a:r>
                      <a:endParaRPr lang="en-US" altLang="zh-CN" sz="800" b="1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管内柱排：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要容忍管内波动。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⇒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待完成：总结管内典型柱排图谱。</a:t>
                      </a:r>
                      <a:endParaRPr lang="en-US" altLang="zh-CN" sz="800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（剔除）“最后一柱”：参考专页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最后一柱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待完成：“如何判定最后一柱”应转化为量化标准。</a:t>
                      </a:r>
                      <a:endParaRPr lang="en-US" altLang="zh-CN" sz="800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初始介入：枝启。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积极向上：梯、栏。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待定：栅、杂。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（剔）下降标志：阴阳阴、下破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日类配合：虽然周线符合大趋势，但日线不支持，很难拿得住。所以需借助日线配合，辅助判断介入点。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先周后日，要明确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持仓法的有效性。尽量选择“日支持”；要明白即使“日不支持”，也不是卖出理由。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“五日合周”：将当周五日柱当做一个整体嵌入周柱，从而可以在周线基础上衔接日柱。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已知所有阶段高点都在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之上。⇒ 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不能因为讨厌回调就放弃主升。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勿主动介入“不喜欢区域”：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/DXBC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首上破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诱多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频繁贯穿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优先选择：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之上无论何种柱排都可取。对于跌排，仍尚有可取之处。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单独列示：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至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之间，需要借助周柱排进行一事一议甄别。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6005445"/>
                  </a:ext>
                </a:extLst>
              </a:tr>
            </a:tbl>
          </a:graphicData>
        </a:graphic>
      </p:graphicFrame>
      <p:sp>
        <p:nvSpPr>
          <p:cNvPr id="2" name="标题 1">
            <a:extLst>
              <a:ext uri="{FF2B5EF4-FFF2-40B4-BE49-F238E27FC236}">
                <a16:creationId xmlns:a16="http://schemas.microsoft.com/office/drawing/2014/main" id="{512E5692-81DC-F2CA-1678-57795BC1BF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龙战法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“龙战法”适用条件 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 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盯盘观察指标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本页主题：总结龙战法共用的前提条件。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56720B84-EEDC-5532-83E7-2673E9957B83}"/>
              </a:ext>
            </a:extLst>
          </p:cNvPr>
          <p:cNvSpPr/>
          <p:nvPr/>
        </p:nvSpPr>
        <p:spPr>
          <a:xfrm>
            <a:off x="6807120" y="3136310"/>
            <a:ext cx="5384879" cy="2401475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辅助参考信息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是否止盈：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日版算法都属于可操作情况，在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之上都可持有，所以可以遇阳则卖，遇阴则买。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日类信息只负责止盈，不要依赖日类信息进行止损。 ⇒ 只依赖周类信息止损。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日类信息的观察时点：止盈可以在任何日柱收盘，止损需要在当周收盘。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周柱排：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优选升排，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柱组不要是震荡并排平移形态：不要冲高之后走平。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周顶型：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优先选择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日类信息：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在周范围内，前周中符为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情况，利用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配合周柱形态进行筛选。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日类中符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：作用主要为配合（周柱涨幅预期），寻找日类介入点。只用来止盈，不用来止损。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ABD(C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继鼎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：优先选择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DTZA=-1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：次选能够站稳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EF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：只在能够配合周柱回踩情况下使用。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护线</a:t>
            </a:r>
            <a:r>
              <a:rPr lang="en-US" altLang="zh-CN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DXBC</a:t>
            </a:r>
            <a:r>
              <a:rPr lang="zh-CN" altLang="en-US" sz="8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的作用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：日类算法可以利用增强操盘信心，不能用于止损。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DXCD&gt;0,DXBC&gt;0,DXZB&gt;0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：增强信心，可参考日类中符寻找时机。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 defTabSz="914400">
              <a:buFont typeface="Arial" panose="020B0604020202020204" pitchFamily="34" charset="0"/>
              <a:buChar char="•"/>
              <a:defRPr/>
            </a:pP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DXCD&gt;0,DXBC&gt;0,DXZB&lt;0,DXZC&gt;0 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：被动持有，不止损。结合周柱排列寻找周级别机会。</a:t>
            </a:r>
          </a:p>
          <a:p>
            <a:pPr marL="1085850" lvl="2" indent="-171450" defTabSz="914400">
              <a:buFont typeface="Arial" panose="020B0604020202020204" pitchFamily="34" charset="0"/>
              <a:buChar char="•"/>
              <a:defRPr/>
            </a:pP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DXCD&gt;0,DXBC&gt;0,DXZC&lt;0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：底仓可按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止损；浮仓应止损。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 defTabSz="914400">
              <a:buFont typeface="Arial" panose="020B0604020202020204" pitchFamily="34" charset="0"/>
              <a:buChar char="•"/>
              <a:defRPr/>
            </a:pP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DXCD&gt;0,DXBC&lt;0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：不可能存在于周主升过程，谨慎介入。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 defTabSz="914400">
              <a:buFont typeface="Arial" panose="020B0604020202020204" pitchFamily="34" charset="0"/>
              <a:buChar char="•"/>
              <a:defRPr/>
            </a:pP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DXCD&lt;0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：按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止损。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 defTabSz="914400">
              <a:buFont typeface="Arial" panose="020B0604020202020204" pitchFamily="34" charset="0"/>
              <a:buChar char="•"/>
              <a:defRPr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护线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的作用：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利用日类护型，优选上升趋势，但反交或下破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不作为清仓条件。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矩形 32">
            <a:extLst>
              <a:ext uri="{FF2B5EF4-FFF2-40B4-BE49-F238E27FC236}">
                <a16:creationId xmlns:a16="http://schemas.microsoft.com/office/drawing/2014/main" id="{BA7440AF-9CF7-23D5-2DC3-0BABEB160095}"/>
              </a:ext>
            </a:extLst>
          </p:cNvPr>
          <p:cNvSpPr/>
          <p:nvPr/>
        </p:nvSpPr>
        <p:spPr>
          <a:xfrm>
            <a:off x="6807120" y="720000"/>
            <a:ext cx="5384879" cy="2023201"/>
          </a:xfrm>
          <a:prstGeom prst="rect">
            <a:avLst/>
          </a:prstGeom>
          <a:solidFill>
            <a:schemeClr val="bg1">
              <a:lumMod val="75000"/>
            </a:schemeClr>
          </a:solidFill>
          <a:ln w="2540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盯盘观察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时刻关注以下指标：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周趋势：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是否符合周范围：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WXZC&gt;0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WXZB&gt;0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柱中符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ABCDEF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分类。对（前中符是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EF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）进行警报。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周柱排：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之上。不是强制要求，仅供参考。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---------------------------------------------------------------------------------------------------------------------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以下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针对（前周中符是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ABCD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）提供日类信息。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周日联合判断走势：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：映射护型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日管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,DJC)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映射周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之上柱排。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是否捡漏：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本周临涨幅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前周柱排是否延续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是否冲高：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宽高偏连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日参考信息：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所有可获利上升都在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日层类：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主初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；层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是否延续：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日柱排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500F8BFF-EFEE-AD2A-3805-2ABB1ED47B86}"/>
              </a:ext>
            </a:extLst>
          </p:cNvPr>
          <p:cNvSpPr/>
          <p:nvPr/>
        </p:nvSpPr>
        <p:spPr>
          <a:xfrm>
            <a:off x="820396" y="5529130"/>
            <a:ext cx="5266779" cy="133200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2540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不要删除该结论</a:t>
            </a:r>
            <a:r>
              <a:rPr lang="en-US" altLang="zh-CN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@20250522 </a:t>
            </a:r>
          </a:p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依赖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的核心理念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是：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相信神秘力量：柱运行在周管（顶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）内。允许围绕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正常波动。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保证替代完整性：利用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替代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周柱排的应用场景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（在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单边两柱以后）再参考柱排，其余情况不需要参考柱排。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解决均线与柱排之间的层次：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只在单边两柱以后再参考柱排。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明确应用场景的重要性：只在特定情况使用周柱排作为指标，明确了指标的优先级。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实际情况：主升都是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之上的柱排，并不涉及下破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以后。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在图形上直观发现，要聚焦在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之上的蜿蜒曲折，不需要关注在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要聚焦于主升：只有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才可能进入主升；意外下破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WTZA=-1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右大括号 4">
            <a:extLst>
              <a:ext uri="{FF2B5EF4-FFF2-40B4-BE49-F238E27FC236}">
                <a16:creationId xmlns:a16="http://schemas.microsoft.com/office/drawing/2014/main" id="{A97D82B2-6702-707E-AC43-6FDE70E0FAE2}"/>
              </a:ext>
            </a:extLst>
          </p:cNvPr>
          <p:cNvSpPr/>
          <p:nvPr/>
        </p:nvSpPr>
        <p:spPr>
          <a:xfrm>
            <a:off x="6104825" y="2606468"/>
            <a:ext cx="702291" cy="2914116"/>
          </a:xfrm>
          <a:prstGeom prst="rightBrace">
            <a:avLst>
              <a:gd name="adj1" fmla="val 109390"/>
              <a:gd name="adj2" fmla="val 50000"/>
            </a:avLst>
          </a:prstGeom>
          <a:solidFill>
            <a:schemeClr val="tx2">
              <a:lumMod val="20000"/>
              <a:lumOff val="80000"/>
            </a:schemeClr>
          </a:solidFill>
          <a:ln w="25400">
            <a:solidFill>
              <a:schemeClr val="accent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右大括号 5">
            <a:extLst>
              <a:ext uri="{FF2B5EF4-FFF2-40B4-BE49-F238E27FC236}">
                <a16:creationId xmlns:a16="http://schemas.microsoft.com/office/drawing/2014/main" id="{19600A5C-A8AE-0DF6-C43F-DEDAB2E42020}"/>
              </a:ext>
            </a:extLst>
          </p:cNvPr>
          <p:cNvSpPr/>
          <p:nvPr/>
        </p:nvSpPr>
        <p:spPr>
          <a:xfrm rot="5400000">
            <a:off x="9311257" y="240630"/>
            <a:ext cx="376601" cy="5384878"/>
          </a:xfrm>
          <a:prstGeom prst="rightBrace">
            <a:avLst>
              <a:gd name="adj1" fmla="val 109390"/>
              <a:gd name="adj2" fmla="val 50000"/>
            </a:avLst>
          </a:prstGeom>
          <a:solidFill>
            <a:schemeClr val="tx2">
              <a:lumMod val="20000"/>
              <a:lumOff val="80000"/>
            </a:schemeClr>
          </a:solidFill>
          <a:ln w="25400">
            <a:solidFill>
              <a:schemeClr val="accent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1107591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E54711-9A2A-2F90-F996-468B570429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0C2A02C-889D-0611-B2C3-83C7027682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龙战法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底仓退出程序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操盘方法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：总结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龙丘周战法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各种情况下的退出策略，汇总为底仓退出程序。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C8E8EE0A-6B87-81CC-5365-C29D47EA84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3458100"/>
              </p:ext>
            </p:extLst>
          </p:nvPr>
        </p:nvGraphicFramePr>
        <p:xfrm>
          <a:off x="0" y="4084320"/>
          <a:ext cx="12188952" cy="2773680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648607">
                  <a:extLst>
                    <a:ext uri="{9D8B030D-6E8A-4147-A177-3AD203B41FA5}">
                      <a16:colId xmlns:a16="http://schemas.microsoft.com/office/drawing/2014/main" val="4050012384"/>
                    </a:ext>
                  </a:extLst>
                </a:gridCol>
                <a:gridCol w="1920219">
                  <a:extLst>
                    <a:ext uri="{9D8B030D-6E8A-4147-A177-3AD203B41FA5}">
                      <a16:colId xmlns:a16="http://schemas.microsoft.com/office/drawing/2014/main" val="826259775"/>
                    </a:ext>
                  </a:extLst>
                </a:gridCol>
                <a:gridCol w="2602230">
                  <a:extLst>
                    <a:ext uri="{9D8B030D-6E8A-4147-A177-3AD203B41FA5}">
                      <a16:colId xmlns:a16="http://schemas.microsoft.com/office/drawing/2014/main" val="4047293283"/>
                    </a:ext>
                  </a:extLst>
                </a:gridCol>
                <a:gridCol w="2783643">
                  <a:extLst>
                    <a:ext uri="{9D8B030D-6E8A-4147-A177-3AD203B41FA5}">
                      <a16:colId xmlns:a16="http://schemas.microsoft.com/office/drawing/2014/main" val="2646147756"/>
                    </a:ext>
                  </a:extLst>
                </a:gridCol>
                <a:gridCol w="2083323">
                  <a:extLst>
                    <a:ext uri="{9D8B030D-6E8A-4147-A177-3AD203B41FA5}">
                      <a16:colId xmlns:a16="http://schemas.microsoft.com/office/drawing/2014/main" val="2011437586"/>
                    </a:ext>
                  </a:extLst>
                </a:gridCol>
                <a:gridCol w="2150930">
                  <a:extLst>
                    <a:ext uri="{9D8B030D-6E8A-4147-A177-3AD203B41FA5}">
                      <a16:colId xmlns:a16="http://schemas.microsoft.com/office/drawing/2014/main" val="2074107786"/>
                    </a:ext>
                  </a:extLst>
                </a:gridCol>
              </a:tblGrid>
              <a:tr h="144994">
                <a:tc gridSpan="6">
                  <a:txBody>
                    <a:bodyPr/>
                    <a:lstStyle/>
                    <a:p>
                      <a:pPr lvl="0"/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制定退出程序的方法：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不要试图只总结一套通用规则，而要把各种情况下（有仓且立刻卖的理由）（有仓且延迟卖的理由）（无仓且立刻买的理由）（无仓且观望的理由）通盘考虑，综合决策。</a:t>
                      </a:r>
                      <a:endParaRPr lang="en-US" altLang="zh-CN" sz="9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lvl="0"/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日线指标的作用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日类指标只能用于冲高止盈不能用于止损：不要把日类指标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当做趋势性指标，只能把周类指标当做趋势性指标。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DXBC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护型：对于（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DXBC&gt;0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DXZB&gt;0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）增强主动操作的信心，其余情况以周类止损为依据被动持有。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护型：对于（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DXAB&lt;0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）或（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DXAB&gt;0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DXZB&lt;0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）给与提示，综合判断是否捡漏，但不应据此止损。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神秘力量：当周柱回调时，日线连跌到某位置，很可能就是为形成周柱而必须走到该位置，不能作为趋势性判断依据，也不需要等待日线转为多头排列再介入。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神秘力量：当周柱冲高时，日线连涨到某位置，很可能就是为形成周柱而必须走到该位置，不能作为趋势性判断依据，也不需要等待日线转为空头排列再卖出。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013055"/>
                  </a:ext>
                </a:extLst>
              </a:tr>
              <a:tr h="144994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accent4">
                              <a:lumMod val="20000"/>
                              <a:lumOff val="8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退出方式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accent4">
                              <a:lumMod val="20000"/>
                              <a:lumOff val="8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可能导致卖出的情况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accent5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有仓且立刻卖的理由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accent5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有仓且延迟卖的理由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accent5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无仓且立刻买的理由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accent5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无仓且观望的理由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633564"/>
                  </a:ext>
                </a:extLst>
              </a:tr>
              <a:tr h="144994">
                <a:tc rowSpan="2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止盈退出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满足冲高情况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可止盈减仓。但应保留底仓。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。可赌继续冲高。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无。至多持有底仓，不要重仓。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无。偏离较大，不应重仓。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546119"/>
                  </a:ext>
                </a:extLst>
              </a:tr>
              <a:tr h="144994"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周首上破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针对震荡情况，应逢高提前退出。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若未下破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可继续持有，等待后续高点。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无。应等待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站稳后再介入。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等待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再介入。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6201718"/>
                  </a:ext>
                </a:extLst>
              </a:tr>
              <a:tr h="144994">
                <a:tc rowSpan="6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止损退出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之上跌连或跌吞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代表原上升趋势停止。若已冲高应止盈。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，所以不一定会破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若未冲高，且刚突破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可买入。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不是向上状态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510295"/>
                  </a:ext>
                </a:extLst>
              </a:tr>
              <a:tr h="144994"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周中下破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日柱已下破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，会受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压制，且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空头排列。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周中下破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，很可能周末站回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之上，形成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无。不应捡漏。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不是向上状态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8119593"/>
                  </a:ext>
                </a:extLst>
              </a:tr>
              <a:tr h="144994"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周末下破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）形成周中符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日柱已下破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，且周柱下破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。很可能立刻站回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，开启下一个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无。不应捡漏。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若下周站上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，可再介入。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070813"/>
                  </a:ext>
                </a:extLst>
              </a:tr>
              <a:tr h="144994"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周两柱下破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未下破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EF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最危险情况，很可能下破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，可先退出。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，不应强制止损。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若下周站上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，也需要等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再介入。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854798"/>
                  </a:ext>
                </a:extLst>
              </a:tr>
              <a:tr h="144994">
                <a:tc vMerge="1">
                  <a:txBody>
                    <a:bodyPr/>
                    <a:lstStyle/>
                    <a:p>
                      <a:endParaRPr lang="en-US" altLang="zh-CN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周下破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，必须立刻清仓。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必须立刻清仓。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0659195"/>
                  </a:ext>
                </a:extLst>
              </a:tr>
              <a:tr h="144994">
                <a:tc vMerge="1">
                  <a:txBody>
                    <a:bodyPr/>
                    <a:lstStyle/>
                    <a:p>
                      <a:endParaRPr lang="en-US" altLang="zh-CN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周下破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必须立刻清仓。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必须立刻清仓。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9709913"/>
                  </a:ext>
                </a:extLst>
              </a:tr>
            </a:tbl>
          </a:graphicData>
        </a:graphic>
      </p:graphicFrame>
      <p:graphicFrame>
        <p:nvGraphicFramePr>
          <p:cNvPr id="10" name="表格 9">
            <a:extLst>
              <a:ext uri="{FF2B5EF4-FFF2-40B4-BE49-F238E27FC236}">
                <a16:creationId xmlns:a16="http://schemas.microsoft.com/office/drawing/2014/main" id="{4BAF646E-A981-7EFE-5BC4-20F798D578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1181767"/>
              </p:ext>
            </p:extLst>
          </p:nvPr>
        </p:nvGraphicFramePr>
        <p:xfrm>
          <a:off x="0" y="720000"/>
          <a:ext cx="6096000" cy="2103120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1049867">
                  <a:extLst>
                    <a:ext uri="{9D8B030D-6E8A-4147-A177-3AD203B41FA5}">
                      <a16:colId xmlns:a16="http://schemas.microsoft.com/office/drawing/2014/main" val="1462560541"/>
                    </a:ext>
                  </a:extLst>
                </a:gridCol>
                <a:gridCol w="736600">
                  <a:extLst>
                    <a:ext uri="{9D8B030D-6E8A-4147-A177-3AD203B41FA5}">
                      <a16:colId xmlns:a16="http://schemas.microsoft.com/office/drawing/2014/main" val="1597621292"/>
                    </a:ext>
                  </a:extLst>
                </a:gridCol>
                <a:gridCol w="4309533">
                  <a:extLst>
                    <a:ext uri="{9D8B030D-6E8A-4147-A177-3AD203B41FA5}">
                      <a16:colId xmlns:a16="http://schemas.microsoft.com/office/drawing/2014/main" val="2358674616"/>
                    </a:ext>
                  </a:extLst>
                </a:gridCol>
              </a:tblGrid>
              <a:tr h="161480"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周类走势分类</a:t>
                      </a:r>
                    </a:p>
                  </a:txBody>
                  <a:tcPr>
                    <a:lnL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退出方式</a:t>
                      </a:r>
                    </a:p>
                  </a:txBody>
                  <a:tcPr>
                    <a:lnL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底仓退出程序</a:t>
                      </a:r>
                      <a:endParaRPr lang="en-US" altLang="zh-CN" sz="10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7873721"/>
                  </a:ext>
                </a:extLst>
              </a:tr>
              <a:tr h="161480"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通用情况</a:t>
                      </a:r>
                    </a:p>
                  </a:txBody>
                  <a:tcPr>
                    <a:lnL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止损退出</a:t>
                      </a:r>
                    </a:p>
                  </a:txBody>
                  <a:tcPr>
                    <a:lnL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9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周类操盘基本原则：一定以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为界，选取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已经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即将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9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5901760"/>
                  </a:ext>
                </a:extLst>
              </a:tr>
              <a:tr h="172541">
                <a:tc rowSpan="2"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</a:t>
                      </a:r>
                      <a:endParaRPr lang="en-US" altLang="zh-CN" sz="10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呈放射状）</a:t>
                      </a:r>
                    </a:p>
                  </a:txBody>
                  <a:tcPr>
                    <a:lnL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10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止盈退出</a:t>
                      </a:r>
                    </a:p>
                  </a:txBody>
                  <a:tcPr>
                    <a:lnL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按丘宽（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偏离）</a:t>
                      </a:r>
                      <a:endParaRPr lang="en-US" altLang="zh-CN" sz="9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按管宽（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偏离）</a:t>
                      </a:r>
                    </a:p>
                  </a:txBody>
                  <a:tcPr>
                    <a:lnL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4731650"/>
                  </a:ext>
                </a:extLst>
              </a:tr>
              <a:tr h="30526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10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止损退出</a:t>
                      </a:r>
                    </a:p>
                  </a:txBody>
                  <a:tcPr>
                    <a:lnL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若已冲高：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/WJA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之上连跌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/WJA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之上跌排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阴阳阴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&gt;/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如何判定已冲高？是否以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WJA*1.2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作为判断依据。</a:t>
                      </a:r>
                      <a:endParaRPr lang="en-US" altLang="zh-CN" sz="9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若已整弧：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（可能存在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之上跌连后反弹）</a:t>
                      </a:r>
                      <a:endParaRPr lang="en-US" altLang="zh-CN" sz="9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其他：下破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强制止损</a:t>
                      </a:r>
                    </a:p>
                  </a:txBody>
                  <a:tcPr>
                    <a:lnL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4324399"/>
                  </a:ext>
                </a:extLst>
              </a:tr>
              <a:tr h="161480">
                <a:tc rowSpan="2"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</a:t>
                      </a:r>
                    </a:p>
                  </a:txBody>
                  <a:tcPr>
                    <a:lnL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止盈退出</a:t>
                      </a:r>
                    </a:p>
                  </a:txBody>
                  <a:tcPr>
                    <a:lnL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震荡过程，上破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后（震芽），逢高提前退出。</a:t>
                      </a:r>
                    </a:p>
                  </a:txBody>
                  <a:tcPr>
                    <a:lnL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5409744"/>
                  </a:ext>
                </a:extLst>
              </a:tr>
              <a:tr h="161480">
                <a:tc vMerge="1">
                  <a:txBody>
                    <a:bodyPr/>
                    <a:lstStyle/>
                    <a:p>
                      <a:endParaRPr lang="zh-CN" altLang="en-US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10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止损退出</a:t>
                      </a:r>
                    </a:p>
                  </a:txBody>
                  <a:tcPr>
                    <a:lnL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强制止损</a:t>
                      </a:r>
                    </a:p>
                  </a:txBody>
                  <a:tcPr>
                    <a:lnL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793032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3880376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4BF52D-FE17-D6F3-121F-8F9C8DFB53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标题 1">
            <a:extLst>
              <a:ext uri="{FF2B5EF4-FFF2-40B4-BE49-F238E27FC236}">
                <a16:creationId xmlns:a16="http://schemas.microsoft.com/office/drawing/2014/main" id="{AC9100A0-F977-EC4B-BD31-1A57C54B31A5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龙战法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周版战法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龙丘周战法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b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本页内容：划分“下周冲高战法”的基本条件与附加条件，并推导周版算法。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表格 1">
            <a:extLst>
              <a:ext uri="{FF2B5EF4-FFF2-40B4-BE49-F238E27FC236}">
                <a16:creationId xmlns:a16="http://schemas.microsoft.com/office/drawing/2014/main" id="{BC23A529-898D-1650-53FF-4F3740F3FE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8257789"/>
              </p:ext>
            </p:extLst>
          </p:nvPr>
        </p:nvGraphicFramePr>
        <p:xfrm>
          <a:off x="0" y="720000"/>
          <a:ext cx="6828090" cy="2987040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959226">
                  <a:extLst>
                    <a:ext uri="{9D8B030D-6E8A-4147-A177-3AD203B41FA5}">
                      <a16:colId xmlns:a16="http://schemas.microsoft.com/office/drawing/2014/main" val="2881190370"/>
                    </a:ext>
                  </a:extLst>
                </a:gridCol>
                <a:gridCol w="5868864">
                  <a:extLst>
                    <a:ext uri="{9D8B030D-6E8A-4147-A177-3AD203B41FA5}">
                      <a16:colId xmlns:a16="http://schemas.microsoft.com/office/drawing/2014/main" val="692245005"/>
                    </a:ext>
                  </a:extLst>
                </a:gridCol>
              </a:tblGrid>
              <a:tr h="181330"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龙丘周战法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持仓法，从一而终。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09608123"/>
                  </a:ext>
                </a:extLst>
              </a:tr>
              <a:tr h="27199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适用场景</a:t>
                      </a:r>
                      <a:endParaRPr lang="zh-CN" altLang="en-US" sz="10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在龙管内：在大级别主升中，合顶是主升浪标志。⇒ 触顶入管后以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（衍生情况）针对不在龙管内，仅符合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之上：也可使用此战法。⇒ 严格按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进出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8977748"/>
                  </a:ext>
                </a:extLst>
              </a:tr>
              <a:tr h="81518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出入点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入点：当周触顶时介入（要求在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之上且未经历大升）。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出点：包含（活仓）与（底仓）。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活仓退出条件：在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之上任意点退出一半。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在主升时以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止损（盈利到一定比例后减仓至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5000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），“之后底仓不再卖出“。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应保留至少底仓（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&gt;5000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）；且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”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退出后中途不再加仓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”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底仓退出条件：按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底仓退出程序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207708"/>
                  </a:ext>
                </a:extLst>
              </a:tr>
              <a:tr h="1087980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操作流程</a:t>
                      </a:r>
                      <a:endParaRPr lang="en-US" altLang="zh-CN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（入点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）（确定性不高）当上破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时关注，此时策略为吃管宽。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最好要求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；可接受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储初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：上破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，必在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之上，在触顶前吃管宽。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WXZB&gt;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：上破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，等待上破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时吃管宽，直到触顶。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WXAB&gt;&lt;WXAC&gt;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：上破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，开始吃管宽，直到触顶。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（确定性高）上触顶后进入管（顶，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），为防止失去仓位，在主升阶段以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9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（入点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）吃顶增：从周初触顶介入，吃顶增。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（入点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）吃管宽：在主升阶段吃（顶，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）管内回撤的波动。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若下破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：理论上应在管内波动，但为防止错杀失去仓位，应以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如前已冲高，代表失去冲高可能，应提前退出。</a:t>
                      </a:r>
                      <a:endParaRPr lang="en-US" altLang="zh-CN" sz="9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（出点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）若下破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：代表失去冲高可能，应全部退出。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98649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0960308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302A39-AFA0-B05D-DE8D-B3E7E646A9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格 6">
            <a:extLst>
              <a:ext uri="{FF2B5EF4-FFF2-40B4-BE49-F238E27FC236}">
                <a16:creationId xmlns:a16="http://schemas.microsoft.com/office/drawing/2014/main" id="{648D3F25-329D-18C6-E5A9-EB30D2B791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1992513"/>
              </p:ext>
            </p:extLst>
          </p:nvPr>
        </p:nvGraphicFramePr>
        <p:xfrm>
          <a:off x="-3587" y="713485"/>
          <a:ext cx="6090160" cy="4114800"/>
        </p:xfrm>
        <a:graphic>
          <a:graphicData uri="http://schemas.openxmlformats.org/drawingml/2006/table">
            <a:tbl>
              <a:tblPr firstRow="1" bandRow="1">
                <a:tableStyleId>{22838BEF-8BB2-4498-84A7-C5851F593DF1}</a:tableStyleId>
              </a:tblPr>
              <a:tblGrid>
                <a:gridCol w="1076628">
                  <a:extLst>
                    <a:ext uri="{9D8B030D-6E8A-4147-A177-3AD203B41FA5}">
                      <a16:colId xmlns:a16="http://schemas.microsoft.com/office/drawing/2014/main" val="1692996056"/>
                    </a:ext>
                  </a:extLst>
                </a:gridCol>
                <a:gridCol w="5013532">
                  <a:extLst>
                    <a:ext uri="{9D8B030D-6E8A-4147-A177-3AD203B41FA5}">
                      <a16:colId xmlns:a16="http://schemas.microsoft.com/office/drawing/2014/main" val="4163129620"/>
                    </a:ext>
                  </a:extLst>
                </a:gridCol>
              </a:tblGrid>
              <a:tr h="236957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12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龙冲周战法</a:t>
                      </a:r>
                      <a:r>
                        <a:rPr lang="en-US" altLang="zh-CN" sz="12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12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主升的运动模式⇒参考专章</a:t>
                      </a:r>
                      <a:r>
                        <a:rPr lang="en-US" altLang="zh-CN" sz="12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12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主升图谱</a:t>
                      </a:r>
                      <a:r>
                        <a:rPr lang="en-US" altLang="zh-CN" sz="12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endParaRPr lang="zh-CN" altLang="en-US" sz="12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62146703"/>
                  </a:ext>
                </a:extLst>
              </a:tr>
              <a:tr h="74951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周管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中柱体运行的基本规律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符合物理弹射原理，要搞清周管内柱体的弹射路径，要让柱运动起来。。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规律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：当柱沿周管下壁多柱后，启动上冲触顶，通常会沿顶延续多柱。</a:t>
                      </a:r>
                      <a:endParaRPr lang="en-US" altLang="zh-CN" sz="9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基于此，研究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》《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规律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：当柱从顶回落至下壁后，面临方向选择。</a:t>
                      </a:r>
                      <a:endParaRPr lang="en-US" altLang="zh-CN" sz="9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方向选择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：快速反弹，冲高后触顶。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方向选择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：沿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走稳后，进入震荡状态。后续可能再次入轨。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方向选择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后，进入震荡状态。通常不会立刻再次触顶。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00702713"/>
                  </a:ext>
                </a:extLst>
              </a:tr>
              <a:tr h="1336089">
                <a:tc>
                  <a:txBody>
                    <a:bodyPr/>
                    <a:lstStyle/>
                    <a:p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周管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中柱体运行的典型形态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冲高：偏离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越来越远</a:t>
                      </a:r>
                      <a:endParaRPr lang="en-US" altLang="zh-CN" sz="9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单巨阳：随后逐步回归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沿顶垒升：连阳柱逐步放大。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在管（顶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,WJA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）内运动：</a:t>
                      </a:r>
                      <a:endParaRPr lang="en-US" altLang="zh-CN" sz="9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沿顶垒升：连阳，且保持固定管宽。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阴阳交错排列，且保持固定管宽。（其间可短暂下破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WJA1-2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柱）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在管（顶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,WJA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）内运动：在上下沿之间反弹波动</a:t>
                      </a:r>
                      <a:endParaRPr lang="en-US" altLang="zh-CN" sz="9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后，快速站回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，且再次向顶运动。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沿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平移：</a:t>
                      </a:r>
                      <a:endParaRPr lang="en-US" altLang="zh-CN" sz="9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由顶回落至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：凤还巢等形态</a:t>
                      </a:r>
                      <a:endParaRPr lang="en-US" altLang="zh-CN" sz="9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围绕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贯穿：围绕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贯穿波动</a:t>
                      </a:r>
                      <a:endParaRPr lang="en-US" altLang="zh-CN" sz="9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维持光滑波浪，下破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后会继续上破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穿越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后确认突破：随后不再站回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80148281"/>
                  </a:ext>
                </a:extLst>
              </a:tr>
              <a:tr h="651751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周管整体的典型形态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喇忽然变大：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巨柱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连升。多数为冲高要止盈。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均匀连续触顶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均匀阴阳交错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喇变小平震：哼走平（也许会触哼）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喇变小连跌：冲高后小柱下跌回归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频繁贯穿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：不会形成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之上柱排，无参考价值。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34726979"/>
                  </a:ext>
                </a:extLst>
              </a:tr>
            </a:tbl>
          </a:graphicData>
        </a:graphic>
      </p:graphicFrame>
      <p:sp>
        <p:nvSpPr>
          <p:cNvPr id="2" name="标题 1">
            <a:extLst>
              <a:ext uri="{FF2B5EF4-FFF2-40B4-BE49-F238E27FC236}">
                <a16:creationId xmlns:a16="http://schemas.microsoft.com/office/drawing/2014/main" id="{306267AD-F585-3208-9705-982967BA64A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龙战法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周版战法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龙冲周战法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本页主题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：当处于主升时，要把主升前后衔接情况进行分类，对每种典型模式进行罗列，形成图谱。基于此图谱，针对下周“可冲”，可以适用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龙冲周战法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4" name="组合 33">
            <a:extLst>
              <a:ext uri="{FF2B5EF4-FFF2-40B4-BE49-F238E27FC236}">
                <a16:creationId xmlns:a16="http://schemas.microsoft.com/office/drawing/2014/main" id="{FC8F96F4-DEA9-12D4-AF56-EBB151C08342}"/>
              </a:ext>
            </a:extLst>
          </p:cNvPr>
          <p:cNvGrpSpPr/>
          <p:nvPr/>
        </p:nvGrpSpPr>
        <p:grpSpPr>
          <a:xfrm>
            <a:off x="4665188" y="2754209"/>
            <a:ext cx="1297323" cy="1036321"/>
            <a:chOff x="12287250" y="3867202"/>
            <a:chExt cx="1628775" cy="1238198"/>
          </a:xfrm>
        </p:grpSpPr>
        <p:cxnSp>
          <p:nvCxnSpPr>
            <p:cNvPr id="8" name="直接连接符 7">
              <a:extLst>
                <a:ext uri="{FF2B5EF4-FFF2-40B4-BE49-F238E27FC236}">
                  <a16:creationId xmlns:a16="http://schemas.microsoft.com/office/drawing/2014/main" id="{14E57471-29C2-6FF7-619A-F4AC6ABD35E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287250" y="3867202"/>
              <a:ext cx="1524000" cy="714323"/>
            </a:xfrm>
            <a:prstGeom prst="line">
              <a:avLst/>
            </a:prstGeom>
            <a:ln w="635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接连接符 9">
              <a:extLst>
                <a:ext uri="{FF2B5EF4-FFF2-40B4-BE49-F238E27FC236}">
                  <a16:creationId xmlns:a16="http://schemas.microsoft.com/office/drawing/2014/main" id="{299585D0-10B1-8E6B-821C-74C41C5AD86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287250" y="4648200"/>
              <a:ext cx="1524000" cy="457200"/>
            </a:xfrm>
            <a:prstGeom prst="line">
              <a:avLst/>
            </a:prstGeom>
            <a:ln w="635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任意多边形: 形状 19">
              <a:extLst>
                <a:ext uri="{FF2B5EF4-FFF2-40B4-BE49-F238E27FC236}">
                  <a16:creationId xmlns:a16="http://schemas.microsoft.com/office/drawing/2014/main" id="{B7C6425B-B845-DE3A-6E14-690ACE3F3FC0}"/>
                </a:ext>
              </a:extLst>
            </p:cNvPr>
            <p:cNvSpPr/>
            <p:nvPr/>
          </p:nvSpPr>
          <p:spPr>
            <a:xfrm>
              <a:off x="12334875" y="4010025"/>
              <a:ext cx="1371600" cy="809625"/>
            </a:xfrm>
            <a:custGeom>
              <a:avLst/>
              <a:gdLst>
                <a:gd name="connsiteX0" fmla="*/ 0 w 1371600"/>
                <a:gd name="connsiteY0" fmla="*/ 809625 h 809625"/>
                <a:gd name="connsiteX1" fmla="*/ 771525 w 1371600"/>
                <a:gd name="connsiteY1" fmla="*/ 285750 h 809625"/>
                <a:gd name="connsiteX2" fmla="*/ 1371600 w 1371600"/>
                <a:gd name="connsiteY2" fmla="*/ 0 h 809625"/>
                <a:gd name="connsiteX3" fmla="*/ 1371600 w 1371600"/>
                <a:gd name="connsiteY3" fmla="*/ 0 h 80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1600" h="809625">
                  <a:moveTo>
                    <a:pt x="0" y="809625"/>
                  </a:moveTo>
                  <a:cubicBezTo>
                    <a:pt x="271462" y="615156"/>
                    <a:pt x="542925" y="420687"/>
                    <a:pt x="771525" y="285750"/>
                  </a:cubicBezTo>
                  <a:cubicBezTo>
                    <a:pt x="1000125" y="150813"/>
                    <a:pt x="1371600" y="0"/>
                    <a:pt x="1371600" y="0"/>
                  </a:cubicBezTo>
                  <a:lnTo>
                    <a:pt x="1371600" y="0"/>
                  </a:lnTo>
                </a:path>
              </a:pathLst>
            </a:custGeom>
            <a:noFill/>
            <a:ln w="38100">
              <a:solidFill>
                <a:schemeClr val="accent5">
                  <a:lumMod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2" name="任意多边形: 形状 31">
              <a:extLst>
                <a:ext uri="{FF2B5EF4-FFF2-40B4-BE49-F238E27FC236}">
                  <a16:creationId xmlns:a16="http://schemas.microsoft.com/office/drawing/2014/main" id="{D2BCA787-C306-8A04-AAF1-C6DC8E0F3609}"/>
                </a:ext>
              </a:extLst>
            </p:cNvPr>
            <p:cNvSpPr/>
            <p:nvPr/>
          </p:nvSpPr>
          <p:spPr>
            <a:xfrm>
              <a:off x="12353925" y="4657725"/>
              <a:ext cx="1352550" cy="180975"/>
            </a:xfrm>
            <a:custGeom>
              <a:avLst/>
              <a:gdLst>
                <a:gd name="connsiteX0" fmla="*/ 0 w 1352550"/>
                <a:gd name="connsiteY0" fmla="*/ 180975 h 180975"/>
                <a:gd name="connsiteX1" fmla="*/ 847725 w 1352550"/>
                <a:gd name="connsiteY1" fmla="*/ 123825 h 180975"/>
                <a:gd name="connsiteX2" fmla="*/ 1352550 w 1352550"/>
                <a:gd name="connsiteY2" fmla="*/ 0 h 180975"/>
                <a:gd name="connsiteX3" fmla="*/ 1352550 w 1352550"/>
                <a:gd name="connsiteY3" fmla="*/ 0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2550" h="180975">
                  <a:moveTo>
                    <a:pt x="0" y="180975"/>
                  </a:moveTo>
                  <a:cubicBezTo>
                    <a:pt x="311150" y="167481"/>
                    <a:pt x="622300" y="153987"/>
                    <a:pt x="847725" y="123825"/>
                  </a:cubicBezTo>
                  <a:cubicBezTo>
                    <a:pt x="1073150" y="93663"/>
                    <a:pt x="1352550" y="0"/>
                    <a:pt x="1352550" y="0"/>
                  </a:cubicBezTo>
                  <a:lnTo>
                    <a:pt x="135255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3" name="任意多边形: 形状 32">
              <a:extLst>
                <a:ext uri="{FF2B5EF4-FFF2-40B4-BE49-F238E27FC236}">
                  <a16:creationId xmlns:a16="http://schemas.microsoft.com/office/drawing/2014/main" id="{63EFA953-26C9-671B-7690-14DFEFA21CDD}"/>
                </a:ext>
              </a:extLst>
            </p:cNvPr>
            <p:cNvSpPr/>
            <p:nvPr/>
          </p:nvSpPr>
          <p:spPr>
            <a:xfrm>
              <a:off x="12344400" y="4034941"/>
              <a:ext cx="1571625" cy="803759"/>
            </a:xfrm>
            <a:custGeom>
              <a:avLst/>
              <a:gdLst>
                <a:gd name="connsiteX0" fmla="*/ 0 w 1571625"/>
                <a:gd name="connsiteY0" fmla="*/ 803759 h 803759"/>
                <a:gd name="connsiteX1" fmla="*/ 371475 w 1571625"/>
                <a:gd name="connsiteY1" fmla="*/ 394184 h 803759"/>
                <a:gd name="connsiteX2" fmla="*/ 885825 w 1571625"/>
                <a:gd name="connsiteY2" fmla="*/ 737084 h 803759"/>
                <a:gd name="connsiteX3" fmla="*/ 1247775 w 1571625"/>
                <a:gd name="connsiteY3" fmla="*/ 32234 h 803759"/>
                <a:gd name="connsiteX4" fmla="*/ 1571625 w 1571625"/>
                <a:gd name="connsiteY4" fmla="*/ 184634 h 80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1625" h="803759">
                  <a:moveTo>
                    <a:pt x="0" y="803759"/>
                  </a:moveTo>
                  <a:cubicBezTo>
                    <a:pt x="111919" y="604527"/>
                    <a:pt x="223838" y="405296"/>
                    <a:pt x="371475" y="394184"/>
                  </a:cubicBezTo>
                  <a:cubicBezTo>
                    <a:pt x="519112" y="383072"/>
                    <a:pt x="739775" y="797409"/>
                    <a:pt x="885825" y="737084"/>
                  </a:cubicBezTo>
                  <a:cubicBezTo>
                    <a:pt x="1031875" y="676759"/>
                    <a:pt x="1133475" y="124309"/>
                    <a:pt x="1247775" y="32234"/>
                  </a:cubicBezTo>
                  <a:cubicBezTo>
                    <a:pt x="1362075" y="-59841"/>
                    <a:pt x="1466850" y="62396"/>
                    <a:pt x="1571625" y="184634"/>
                  </a:cubicBezTo>
                </a:path>
              </a:pathLst>
            </a:custGeom>
            <a:noFill/>
            <a:ln w="38100">
              <a:solidFill>
                <a:schemeClr val="accent4">
                  <a:lumMod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6" name="矩形 5">
            <a:extLst>
              <a:ext uri="{FF2B5EF4-FFF2-40B4-BE49-F238E27FC236}">
                <a16:creationId xmlns:a16="http://schemas.microsoft.com/office/drawing/2014/main" id="{304323F2-FD04-4C82-3DE6-897DC927A025}"/>
              </a:ext>
            </a:extLst>
          </p:cNvPr>
          <p:cNvSpPr/>
          <p:nvPr/>
        </p:nvSpPr>
        <p:spPr>
          <a:xfrm>
            <a:off x="0" y="5296713"/>
            <a:ext cx="6098400" cy="156128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总体框架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主升过程，操盘中会遇到以下问题如何应对？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：遇到天劫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跌孕如何处理？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跌孕可能触顶，也可能不触顶。除非已经历长久主升，一般认为会继续主升。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：遇到天劫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跌吞如何处理？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遇到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跌吞后第二柱很关键，如果第二柱为跌孕，后续可重新变为连阳。特别是在突破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初期。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：遇到天劫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跌连如何处理？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要注意所处的位置，应在突破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初期。很可能是日级别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头；后续可能震荡站稳后再次主升。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在调整过程中，可能拖延至（龙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）之后。须辨别是否仍有主升动力。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：遇到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劫如何处理？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区分情况为：下破一柱、下破两柱、下破多柱。可能快速转好的是前两种，参考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《WXZA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劫恢复的典型模式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：下破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如何处理？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退出。已失去冲高可能，等待下次主升机会。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箭头: 下 2">
            <a:extLst>
              <a:ext uri="{FF2B5EF4-FFF2-40B4-BE49-F238E27FC236}">
                <a16:creationId xmlns:a16="http://schemas.microsoft.com/office/drawing/2014/main" id="{3E8F4928-6444-5BBA-CCC7-C8C96638BE4A}"/>
              </a:ext>
            </a:extLst>
          </p:cNvPr>
          <p:cNvSpPr/>
          <p:nvPr/>
        </p:nvSpPr>
        <p:spPr>
          <a:xfrm rot="10800000">
            <a:off x="2474535" y="4951554"/>
            <a:ext cx="688156" cy="244265"/>
          </a:xfrm>
          <a:prstGeom prst="downArrow">
            <a:avLst/>
          </a:pr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右大括号 3">
            <a:extLst>
              <a:ext uri="{FF2B5EF4-FFF2-40B4-BE49-F238E27FC236}">
                <a16:creationId xmlns:a16="http://schemas.microsoft.com/office/drawing/2014/main" id="{AEC2F2AB-CED4-E031-F00A-1CD6E5A4B3D9}"/>
              </a:ext>
            </a:extLst>
          </p:cNvPr>
          <p:cNvSpPr/>
          <p:nvPr/>
        </p:nvSpPr>
        <p:spPr>
          <a:xfrm>
            <a:off x="6086573" y="720000"/>
            <a:ext cx="370788" cy="4108285"/>
          </a:xfrm>
          <a:prstGeom prst="rightBrace">
            <a:avLst>
              <a:gd name="adj1" fmla="val 178436"/>
              <a:gd name="adj2" fmla="val 22006"/>
            </a:avLst>
          </a:prstGeom>
          <a:solidFill>
            <a:srgbClr val="222A35"/>
          </a:solidFill>
          <a:ln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51E8948F-2B7B-4905-8108-E2F74556CDAC}"/>
              </a:ext>
            </a:extLst>
          </p:cNvPr>
          <p:cNvSpPr/>
          <p:nvPr/>
        </p:nvSpPr>
        <p:spPr>
          <a:xfrm>
            <a:off x="7952919" y="6524867"/>
            <a:ext cx="5412507" cy="965232"/>
          </a:xfrm>
          <a:prstGeom prst="rect">
            <a:avLst/>
          </a:prstGeom>
          <a:solidFill>
            <a:srgbClr val="C00000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待完成任务：结合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进行判断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要根据各种条件的组合，判定（在何种情况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进行何种判断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用于确定何种结论）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周冲机会提示：对“冲”“待”等按具体情况与典型模式分析，是否会形成下周冲高。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/>
              <a:buChar char="•"/>
            </a:pP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箭头: 下 10">
            <a:extLst>
              <a:ext uri="{FF2B5EF4-FFF2-40B4-BE49-F238E27FC236}">
                <a16:creationId xmlns:a16="http://schemas.microsoft.com/office/drawing/2014/main" id="{1E56C2AF-C95C-99B3-1F8C-91ECE5C6CF76}"/>
              </a:ext>
            </a:extLst>
          </p:cNvPr>
          <p:cNvSpPr/>
          <p:nvPr/>
        </p:nvSpPr>
        <p:spPr>
          <a:xfrm>
            <a:off x="8451130" y="3737191"/>
            <a:ext cx="688156" cy="244265"/>
          </a:xfrm>
          <a:prstGeom prst="downArrow">
            <a:avLst/>
          </a:pr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aphicFrame>
        <p:nvGraphicFramePr>
          <p:cNvPr id="12" name="表格 11">
            <a:extLst>
              <a:ext uri="{FF2B5EF4-FFF2-40B4-BE49-F238E27FC236}">
                <a16:creationId xmlns:a16="http://schemas.microsoft.com/office/drawing/2014/main" id="{6E358789-4FA9-EF84-4790-41E7D4C90F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2332051"/>
              </p:ext>
            </p:extLst>
          </p:nvPr>
        </p:nvGraphicFramePr>
        <p:xfrm>
          <a:off x="6489008" y="4262567"/>
          <a:ext cx="5300557" cy="3023460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1068033">
                  <a:extLst>
                    <a:ext uri="{9D8B030D-6E8A-4147-A177-3AD203B41FA5}">
                      <a16:colId xmlns:a16="http://schemas.microsoft.com/office/drawing/2014/main" val="2881190370"/>
                    </a:ext>
                  </a:extLst>
                </a:gridCol>
                <a:gridCol w="4232524">
                  <a:extLst>
                    <a:ext uri="{9D8B030D-6E8A-4147-A177-3AD203B41FA5}">
                      <a16:colId xmlns:a16="http://schemas.microsoft.com/office/drawing/2014/main" val="692245005"/>
                    </a:ext>
                  </a:extLst>
                </a:gridCol>
              </a:tblGrid>
              <a:tr h="181330"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龙冲周战法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在主升阶段，周级别做</a:t>
                      </a:r>
                      <a:r>
                        <a:rPr lang="en-US" altLang="zh-CN" sz="10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10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zh-CN" altLang="en-US" sz="1000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09608123"/>
                  </a:ext>
                </a:extLst>
              </a:tr>
              <a:tr h="27199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适用场景</a:t>
                      </a:r>
                      <a:endParaRPr lang="zh-CN" altLang="en-US" sz="10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在龙管内：在大级别主升中，合顶是主升浪标志。⇒ 触顶入管后以</a:t>
                      </a:r>
                      <a:r>
                        <a:rPr lang="en-US" altLang="zh-CN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900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股性统计：统计下周冲高概率与幅度。</a:t>
                      </a:r>
                    </a:p>
                    <a:p>
                      <a:pPr marL="685800" marR="0" lvl="1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适合下周冲高战法的股票应满足：高幅，</a:t>
                      </a:r>
                      <a:r>
                        <a:rPr lang="en-US" altLang="zh-CN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3%</a:t>
                      </a: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保底，</a:t>
                      </a:r>
                      <a:r>
                        <a:rPr lang="en-US" altLang="zh-CN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10%</a:t>
                      </a: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期望。</a:t>
                      </a:r>
                    </a:p>
                    <a:p>
                      <a:pPr marL="685800" marR="0" lvl="1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过滤不活跃周线股票：过去十周平均高幅≤</a:t>
                      </a:r>
                      <a:r>
                        <a:rPr lang="en-US" altLang="zh-CN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3%</a:t>
                      </a: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  <a:p>
                      <a:pPr marL="685800" marR="0" lvl="1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优先选择周线活跃股票：过去十周（高幅≥</a:t>
                      </a:r>
                      <a:r>
                        <a:rPr lang="en-US" altLang="zh-CN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5%</a:t>
                      </a: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）的概率大于</a:t>
                      </a:r>
                      <a:r>
                        <a:rPr lang="en-US" altLang="zh-CN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80%</a:t>
                      </a: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8977748"/>
                  </a:ext>
                </a:extLst>
              </a:tr>
              <a:tr h="81518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出入点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入点：在上周末，根据</a:t>
                      </a:r>
                      <a:r>
                        <a:rPr lang="en-US" altLang="zh-CN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主升图谱</a:t>
                      </a:r>
                      <a:r>
                        <a:rPr lang="en-US" altLang="zh-CN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买入活仓，在下周逢高卖出。</a:t>
                      </a:r>
                      <a:endParaRPr lang="en-US" altLang="zh-CN" sz="900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周级别因素：根据</a:t>
                      </a:r>
                      <a:r>
                        <a:rPr lang="en-US" altLang="zh-CN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主升图谱</a:t>
                      </a:r>
                      <a:r>
                        <a:rPr lang="en-US" altLang="zh-CN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判断，下周回冲高。</a:t>
                      </a:r>
                      <a:endParaRPr lang="en-US" altLang="zh-CN" sz="900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日级别因素：未冲高，最好在</a:t>
                      </a:r>
                      <a:r>
                        <a:rPr lang="en-US" altLang="zh-CN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</a:t>
                      </a: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900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出点：包含（活仓）与（底仓）。</a:t>
                      </a:r>
                      <a:endParaRPr lang="en-US" altLang="zh-CN" sz="900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活仓退出条件：下周冲高后逐批减仓。</a:t>
                      </a:r>
                      <a:endParaRPr lang="en-US" altLang="zh-CN" sz="900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底仓退出条件：按</a:t>
                      </a:r>
                      <a:r>
                        <a:rPr lang="en-US" altLang="zh-CN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底仓退出程序</a:t>
                      </a:r>
                      <a:r>
                        <a:rPr lang="en-US" altLang="zh-CN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9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207708"/>
                  </a:ext>
                </a:extLst>
              </a:tr>
              <a:tr h="1087980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操作流程</a:t>
                      </a:r>
                      <a:endParaRPr lang="en-US" altLang="zh-CN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900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9864957"/>
                  </a:ext>
                </a:extLst>
              </a:tr>
            </a:tbl>
          </a:graphicData>
        </a:graphic>
      </p:graphicFrame>
      <p:sp>
        <p:nvSpPr>
          <p:cNvPr id="13" name="文本框 12">
            <a:extLst>
              <a:ext uri="{FF2B5EF4-FFF2-40B4-BE49-F238E27FC236}">
                <a16:creationId xmlns:a16="http://schemas.microsoft.com/office/drawing/2014/main" id="{375F5565-4BDD-97E4-3249-A56912BA87D2}"/>
              </a:ext>
            </a:extLst>
          </p:cNvPr>
          <p:cNvSpPr txBox="1"/>
          <p:nvPr/>
        </p:nvSpPr>
        <p:spPr>
          <a:xfrm>
            <a:off x="7164371" y="3944610"/>
            <a:ext cx="272382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solidFill>
                  <a:srgbClr val="FF0000"/>
                </a:solidFill>
              </a:rPr>
              <a:t>以下内容，需进行修改。</a:t>
            </a:r>
          </a:p>
        </p:txBody>
      </p:sp>
      <p:graphicFrame>
        <p:nvGraphicFramePr>
          <p:cNvPr id="14" name="表格 13">
            <a:extLst>
              <a:ext uri="{FF2B5EF4-FFF2-40B4-BE49-F238E27FC236}">
                <a16:creationId xmlns:a16="http://schemas.microsoft.com/office/drawing/2014/main" id="{E9B5DFD4-5562-EDA5-4799-F54CF878EB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1552698"/>
              </p:ext>
            </p:extLst>
          </p:nvPr>
        </p:nvGraphicFramePr>
        <p:xfrm>
          <a:off x="6476885" y="720000"/>
          <a:ext cx="5722702" cy="2865120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2031409">
                  <a:extLst>
                    <a:ext uri="{9D8B030D-6E8A-4147-A177-3AD203B41FA5}">
                      <a16:colId xmlns:a16="http://schemas.microsoft.com/office/drawing/2014/main" val="3308986666"/>
                    </a:ext>
                  </a:extLst>
                </a:gridCol>
                <a:gridCol w="3691293">
                  <a:extLst>
                    <a:ext uri="{9D8B030D-6E8A-4147-A177-3AD203B41FA5}">
                      <a16:colId xmlns:a16="http://schemas.microsoft.com/office/drawing/2014/main" val="3252392824"/>
                    </a:ext>
                  </a:extLst>
                </a:gridCol>
              </a:tblGrid>
              <a:tr h="496523">
                <a:tc gridSpan="2">
                  <a:txBody>
                    <a:bodyPr/>
                    <a:lstStyle/>
                    <a:p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主升图谱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</a:p>
                    <a:p>
                      <a:pPr marL="342900" indent="-342900">
                        <a:buFont typeface="+mj-ea"/>
                        <a:buAutoNum type="circleNumDbPlain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把主升图谱按照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进行分类，归入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《notion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图谱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342900" indent="-342900">
                        <a:buFont typeface="+mj-ea"/>
                        <a:buAutoNum type="circleNumDbPlain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按主升中需应对的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，对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PPT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章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主升图谱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进行排序。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342900" indent="-342900">
                        <a:buFont typeface="+mj-ea"/>
                        <a:buAutoNum type="circleNumDbPlain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在每页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PPT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中，按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分为不同情况，进行分类。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29677348"/>
                  </a:ext>
                </a:extLst>
              </a:tr>
              <a:tr h="391992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应对主升中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无异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主升图谱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在轨图谱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垒升启动结构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endParaRPr lang="zh-CN" altLang="en-US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主升图谱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反例：“最后一柱”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主升图谱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反例：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失势情况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endParaRPr lang="zh-CN" altLang="en-US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rgbClr val="FF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453065"/>
                  </a:ext>
                </a:extLst>
              </a:tr>
              <a:tr h="18292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应对主升中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含跌吞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含跌连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主升图谱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在轨图谱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调整结构（栏栅）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endParaRPr lang="zh-CN" altLang="en-US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rgbClr val="FF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2077006"/>
                  </a:ext>
                </a:extLst>
              </a:tr>
              <a:tr h="182929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应对主升中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余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待整理：专页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逃顶标志：阴阳阴、栅后大阳柱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待整理：专页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主升中的陷阱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待合并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主升中的陷阱汇总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、待合并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《【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大局观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反例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如何躲避“柱排为升排”陷阱？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、待合并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《【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大局观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反例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如何躲避“触顶”陷阱？甄别“龙猪”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rgbClr val="FF66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243888"/>
                  </a:ext>
                </a:extLst>
              </a:tr>
              <a:tr h="601054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应对主升中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含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主升图谱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脱轨图谱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&gt;.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穿越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的典型模式 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：针对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二柱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经典恢复模式。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待整理：将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，按镜面原理，仿照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进行整理。总结以下四种情况：单柱突破、连柱突破、回踩（可能反向诱多）、启动结构。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rgbClr val="FF66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3310897"/>
                  </a:ext>
                </a:extLst>
              </a:tr>
              <a:tr h="287461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WJC&gt;&lt;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WJB&gt;&lt;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多柱后上破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渡中突破的判定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判定是否为真假突破：启动？诱多？</a:t>
                      </a:r>
                    </a:p>
                  </a:txBody>
                  <a:tcPr>
                    <a:solidFill>
                      <a:srgbClr val="FF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62099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3766749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F85AAD-4DFC-CFF6-8981-79D4CCC0BA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标题 1">
            <a:extLst>
              <a:ext uri="{FF2B5EF4-FFF2-40B4-BE49-F238E27FC236}">
                <a16:creationId xmlns:a16="http://schemas.microsoft.com/office/drawing/2014/main" id="{EE7B6EDA-B29D-3AB7-5356-9C3047D3CBB8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龙战法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日版战法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龙展日战法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b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日类核心原则：看长做短，防止陷阱，少赚胜亏。龙展日战法，需要依赖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日柱展开图谱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EBD373FA-DCC1-8E9E-BD4C-6114D8CD8D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9812032"/>
              </p:ext>
            </p:extLst>
          </p:nvPr>
        </p:nvGraphicFramePr>
        <p:xfrm>
          <a:off x="1" y="720000"/>
          <a:ext cx="8969432" cy="6138000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780261">
                  <a:extLst>
                    <a:ext uri="{9D8B030D-6E8A-4147-A177-3AD203B41FA5}">
                      <a16:colId xmlns:a16="http://schemas.microsoft.com/office/drawing/2014/main" val="492836790"/>
                    </a:ext>
                  </a:extLst>
                </a:gridCol>
                <a:gridCol w="821143">
                  <a:extLst>
                    <a:ext uri="{9D8B030D-6E8A-4147-A177-3AD203B41FA5}">
                      <a16:colId xmlns:a16="http://schemas.microsoft.com/office/drawing/2014/main" val="1404483181"/>
                    </a:ext>
                  </a:extLst>
                </a:gridCol>
                <a:gridCol w="7368028">
                  <a:extLst>
                    <a:ext uri="{9D8B030D-6E8A-4147-A177-3AD203B41FA5}">
                      <a16:colId xmlns:a16="http://schemas.microsoft.com/office/drawing/2014/main" val="2367155456"/>
                    </a:ext>
                  </a:extLst>
                </a:gridCol>
              </a:tblGrid>
              <a:tr h="592668">
                <a:tc rowSpan="2"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龙展日战法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的适用条件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综合条件汇总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日版算法是将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《WJB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持仓法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映射到日级别，并利用日类信息辅助判断，但不是颠覆周级别算法。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“龙战法”使用条件。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持仓法：按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展开的日级别版本。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跨周期衔接：日五柱合为周柱。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7910275"/>
                  </a:ext>
                </a:extLst>
              </a:tr>
              <a:tr h="1341301">
                <a:tc vMerge="1">
                  <a:txBody>
                    <a:bodyPr/>
                    <a:lstStyle/>
                    <a:p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日线信息的作用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一定要牢记周版盈利来源，借助日线信息进行辅助判断。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吃周管宽：通过（周在主升）与（日在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之上）来判定，是否可以吃（从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至周顶）的机会。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在管内：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周管内阴柱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周管内阴柱后小阳柱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意外下破管（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WTZA=-1/-2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刚上破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：要求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，并期望第二柱仍在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吃周顶增：通过（周在主升：触顶）与（日五柱合为周柱）来判定，是否可以吃（周顶增）的机会。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日走势的重要作用：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当周为主升触顶时，下周周初，若仅看周线，会因为柱体较小而担心下跌（因为周柱还未走完，所以不应参考周类，但实际盯盘过程中很难避免不看周类）。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但利用日走势在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之上，特别是日柱排与顶型，可以通过判定日在主升过程，从而坚守住周级别持仓。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周与日触顶共振：周触顶时，日可能（缓慢持续触顶）或（剧烈波动间歇式触顶）。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315921"/>
                  </a:ext>
                </a:extLst>
              </a:tr>
              <a:tr h="218351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龙展日战法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方案一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思想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持仓法在日级别的展开。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3174469"/>
                  </a:ext>
                </a:extLst>
              </a:tr>
              <a:tr h="1341301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方案详情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入点：当周触顶时介入（要求在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之上且未经历大升，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已正交或将正交）。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出点：包含（活仓）与（底仓）。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活仓退出条件：在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之上任意点退出一半。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在主升时以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止损（盈利到一定比例后减仓至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5000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），“之后不再卖出“。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应保留至少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5000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；且退出后中途不再加仓。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（活仓）退出点的选择：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之上逢高卖出；但为保证经过最高点，可在下破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时精确退出。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后第二柱时，若未站上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，可退出。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时退出活仓，因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之下已转为跌势。但此时回撤已较大。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底仓退出条件：冲高止盈；或按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底仓退出程序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3664607"/>
                  </a:ext>
                </a:extLst>
              </a:tr>
              <a:tr h="343123">
                <a:tc rowSpan="2"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龙展日战法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方案二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@20260125</a:t>
                      </a:r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思想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“只做周主升；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上恒仓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遇捡漏作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T”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只在（周主升）介入。牢记有容乃大：当日正常波动不变仓位；当可捡漏时进行作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。按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88458219"/>
                  </a:ext>
                </a:extLst>
              </a:tr>
              <a:tr h="966984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方案详情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入点：当周触顶且可能进入主升时介入。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持有：在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之上恒仓；如确定会再次周触顶，则捡漏加仓作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之上恒仓：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属于推高周顶的正常波动，不属于捡漏情况，恒仓保持不变，或减仓。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如回撤下破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捡漏作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如确定会再次周触顶。等出现上升信号时，在上破低阶均线（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/DJC/DJB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）时加仓，等周触顶时减仓至底仓。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提前退出：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若出现（已冲高）（已整弧）后，提前退出。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出点：冲高止盈；或按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底仓退出程序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4909573"/>
                  </a:ext>
                </a:extLst>
              </a:tr>
              <a:tr h="842212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龙展日战法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方案三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@20260125</a:t>
                      </a:r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思想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日中途捡漏方案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捡漏的强制条件：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周级别为主升，最好要求“连阳”。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WTZA=-1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）应用捡漏。其他情况不考虑捡漏。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日线条件：当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时，处于（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之下）且（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之上）可以捡漏。通常以，站上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且出现升排或止跌阳柱，作为向上信号介入并捡漏。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6708624"/>
                  </a:ext>
                </a:extLst>
              </a:tr>
              <a:tr h="492060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方案详情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入点：如在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之上中途介入，一定要在管（顶，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）内，按次级均线（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DJC/DJB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）上入下出。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卖出策略：盈利超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5%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出一半；剩余下破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卖出。要明确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EMA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才具有数学基础，不要中途介入。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5911146"/>
                  </a:ext>
                </a:extLst>
              </a:tr>
            </a:tbl>
          </a:graphicData>
        </a:graphic>
      </p:graphicFrame>
      <p:sp>
        <p:nvSpPr>
          <p:cNvPr id="7" name="文本框 6">
            <a:extLst>
              <a:ext uri="{FF2B5EF4-FFF2-40B4-BE49-F238E27FC236}">
                <a16:creationId xmlns:a16="http://schemas.microsoft.com/office/drawing/2014/main" id="{C94B4D83-080A-C764-AEB8-6D7391C2D95D}"/>
              </a:ext>
            </a:extLst>
          </p:cNvPr>
          <p:cNvSpPr txBox="1"/>
          <p:nvPr/>
        </p:nvSpPr>
        <p:spPr>
          <a:xfrm>
            <a:off x="9111980" y="3244334"/>
            <a:ext cx="4542905" cy="36933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txBody>
          <a:bodyPr wrap="square">
            <a:spAutoFit/>
          </a:bodyPr>
          <a:lstStyle/>
          <a:p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详见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《【</a:t>
            </a: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龙展日战法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日周联动聚焦日机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17927344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>
            <a:lumMod val="5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5A919A6-B14C-C660-6772-C88B1C280E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0EF630F2-D8C8-AE0A-5352-707B9681A8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53000" y="365126"/>
            <a:ext cx="6400800" cy="1150166"/>
          </a:xfrm>
        </p:spPr>
        <p:txBody>
          <a:bodyPr/>
          <a:lstStyle/>
          <a:p>
            <a:r>
              <a:rPr lang="zh-CN" altLang="en-US" sz="4000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br>
              <a:rPr lang="en-US" altLang="zh-CN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endParaRPr lang="zh-CN" altLang="en-US" sz="2000" dirty="0">
              <a:solidFill>
                <a:schemeClr val="tx2">
                  <a:lumMod val="20000"/>
                  <a:lumOff val="8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3C009481-12F1-CC3A-CB05-B9C8F8C03E5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53000" y="1825625"/>
            <a:ext cx="6400800" cy="4351338"/>
          </a:xfrm>
        </p:spPr>
        <p:txBody>
          <a:bodyPr/>
          <a:lstStyle/>
          <a:p>
            <a:r>
              <a:rPr lang="en-US" altLang="zh-CN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入轨图谱</a:t>
            </a:r>
            <a:r>
              <a:rPr lang="en-US" altLang="zh-CN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主升在</a:t>
            </a:r>
            <a:r>
              <a:rPr lang="en-US" altLang="zh-CN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坐标系的启动位置</a:t>
            </a:r>
          </a:p>
          <a:p>
            <a:r>
              <a:rPr lang="en-US" altLang="zh-CN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在轨图谱</a:t>
            </a:r>
            <a:r>
              <a:rPr lang="en-US" altLang="zh-CN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主升的柱排模式</a:t>
            </a:r>
          </a:p>
          <a:p>
            <a:r>
              <a:rPr lang="en-US" altLang="zh-CN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在轨图谱</a:t>
            </a:r>
            <a:r>
              <a:rPr lang="en-US" altLang="zh-CN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垒阳启动结构</a:t>
            </a:r>
          </a:p>
          <a:p>
            <a:r>
              <a:rPr lang="en-US" altLang="zh-CN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在轨图谱</a:t>
            </a:r>
            <a:r>
              <a:rPr lang="en-US" altLang="zh-CN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调整结构（栏栅）</a:t>
            </a:r>
          </a:p>
          <a:p>
            <a:r>
              <a:rPr lang="zh-CN" altLang="en-US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主升中的陷阱汇总</a:t>
            </a:r>
            <a:endParaRPr lang="en-US" altLang="zh-CN" sz="18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脱轨图谱</a:t>
            </a:r>
            <a:r>
              <a:rPr lang="en-US" altLang="zh-CN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</a:p>
          <a:p>
            <a:r>
              <a:rPr lang="zh-CN" altLang="en-US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穿越</a:t>
            </a:r>
            <a:r>
              <a:rPr lang="en-US" altLang="zh-CN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8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的典型模式图谱</a:t>
            </a:r>
            <a:endParaRPr lang="en-US" altLang="zh-CN" sz="18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A8FD2FC8-4B70-787F-B548-BA8FDCAD8B59}"/>
              </a:ext>
            </a:extLst>
          </p:cNvPr>
          <p:cNvSpPr txBox="1"/>
          <p:nvPr/>
        </p:nvSpPr>
        <p:spPr>
          <a:xfrm>
            <a:off x="1063291" y="1843950"/>
            <a:ext cx="2867025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0" dirty="0">
                <a:solidFill>
                  <a:schemeClr val="tx2">
                    <a:lumMod val="75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谱</a:t>
            </a:r>
          </a:p>
        </p:txBody>
      </p:sp>
    </p:spTree>
    <p:extLst>
      <p:ext uri="{BB962C8B-B14F-4D97-AF65-F5344CB8AC3E}">
        <p14:creationId xmlns:p14="http://schemas.microsoft.com/office/powerpoint/2010/main" val="220422477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DFCCD3-3CD7-7E19-C634-970CAAB2B6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>
            <a:extLst>
              <a:ext uri="{FF2B5EF4-FFF2-40B4-BE49-F238E27FC236}">
                <a16:creationId xmlns:a16="http://schemas.microsoft.com/office/drawing/2014/main" id="{C2484920-DF58-ED6A-96EA-05BF528D5F45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公理：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至尊公理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&amp;WJA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至尊公理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主题：最重要公理，将操作标的聚焦于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之上，紧跟热点。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14" name="表格 13">
            <a:extLst>
              <a:ext uri="{FF2B5EF4-FFF2-40B4-BE49-F238E27FC236}">
                <a16:creationId xmlns:a16="http://schemas.microsoft.com/office/drawing/2014/main" id="{6147432B-EE4B-CEA0-C300-F31C063710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9326264"/>
              </p:ext>
            </p:extLst>
          </p:nvPr>
        </p:nvGraphicFramePr>
        <p:xfrm>
          <a:off x="0" y="710093"/>
          <a:ext cx="6094234" cy="2438400"/>
        </p:xfrm>
        <a:graphic>
          <a:graphicData uri="http://schemas.openxmlformats.org/drawingml/2006/table">
            <a:tbl>
              <a:tblPr firstRow="1" bandRow="1">
                <a:tableStyleId>{793D81CF-94F2-401A-BA57-92F5A7B2D0C5}</a:tableStyleId>
              </a:tblPr>
              <a:tblGrid>
                <a:gridCol w="6094234">
                  <a:extLst>
                    <a:ext uri="{9D8B030D-6E8A-4147-A177-3AD203B41FA5}">
                      <a16:colId xmlns:a16="http://schemas.microsoft.com/office/drawing/2014/main" val="1299384028"/>
                    </a:ext>
                  </a:extLst>
                </a:gridCol>
              </a:tblGrid>
              <a:tr h="203015">
                <a:tc>
                  <a:txBody>
                    <a:bodyPr/>
                    <a:lstStyle/>
                    <a:p>
                      <a:pPr marL="0" lvl="0" indent="0" algn="ctr">
                        <a:buFont typeface="Arial" panose="020B0604020202020204" pitchFamily="34" charset="0"/>
                        <a:buNone/>
                      </a:pPr>
                      <a:r>
                        <a:rPr lang="en-US" altLang="zh-CN" sz="10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10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至尊公理</a:t>
                      </a:r>
                      <a:endParaRPr lang="en-US" altLang="zh-CN" sz="10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20260604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最重要且应铭记于心的公理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&amp;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勿改勿删）</a:t>
                      </a:r>
                      <a:endParaRPr lang="en-US" altLang="zh-CN" sz="7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地位：以此为基础设置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周护型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，向上衔接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月护型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，向下衔接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66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6224372"/>
                  </a:ext>
                </a:extLst>
              </a:tr>
              <a:tr h="320494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【WXAB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至尊公理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】WXAB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正交是上升的必要条件。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，层段可分为六类：</a:t>
                      </a:r>
                      <a:endParaRPr lang="en-US" altLang="zh-CN" sz="8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(a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乙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可主动持有，因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正交且不会导致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负交。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(r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己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仅提示，试仓或等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正交再介入。有可能是诱多。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(c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丙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被动持有。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(z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丁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y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戊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被动持有或清仓，勿主动介入。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66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1198258"/>
                  </a:ext>
                </a:extLst>
              </a:tr>
              <a:tr h="326429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铭记此句原意，不要修改不要删除，这是驾驭主升浪的必赢心法。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基于此公理，周级别持有条件为（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基于此公理，日级别持有条件为（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基于此公理，日级别退出条件为（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）。相当于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，可退出，或等下破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基于此公理，最佳介入条件为：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周级别：（甲乙）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刚正交。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marR="0" lvl="3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替代条件：（己）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将正交。应站上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两柱以上，排除诱多情况。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日级别：须先满足周级别持有条件，再满足日级别持有条件。要以周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先正交为准。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marR="0" lvl="3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时，按日级别持有条件（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）介入。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marR="0" lvl="3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时，即使满足日级别持有条件也不介入。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70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68341"/>
                  </a:ext>
                </a:extLst>
              </a:tr>
            </a:tbl>
          </a:graphicData>
        </a:graphic>
      </p:graphicFrame>
      <p:sp>
        <p:nvSpPr>
          <p:cNvPr id="6" name="矩形 5">
            <a:extLst>
              <a:ext uri="{FF2B5EF4-FFF2-40B4-BE49-F238E27FC236}">
                <a16:creationId xmlns:a16="http://schemas.microsoft.com/office/drawing/2014/main" id="{8F819886-4755-665A-F2B5-301A5469736A}"/>
              </a:ext>
            </a:extLst>
          </p:cNvPr>
          <p:cNvSpPr/>
          <p:nvPr/>
        </p:nvSpPr>
        <p:spPr>
          <a:xfrm>
            <a:off x="6922389" y="5246533"/>
            <a:ext cx="4437924" cy="1864833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至尊公理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之上都应上升或冲高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不应要求触顶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应要求得到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支持，应要求周前柱在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之上，应要求柱排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之上出现阴柱，分两种情况：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错杀情况：随后会恢复上升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后回踩→随后上冲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（顶，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）管内回落→随后形成“帐篷”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→随后暂上破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确杀情况：开启真正下跌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后下跌→实际是诱多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（顶，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）管内回落→已冲高后转跌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→随后开启跌势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之上，少数会下破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然后由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兜底。根据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至尊公理，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之上大部分会冲高，少部分会下破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然后由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兜底。下破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时止损。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7" name="表格 6">
            <a:extLst>
              <a:ext uri="{FF2B5EF4-FFF2-40B4-BE49-F238E27FC236}">
                <a16:creationId xmlns:a16="http://schemas.microsoft.com/office/drawing/2014/main" id="{CB6E91AD-831B-992F-4314-588F64F112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5314071"/>
              </p:ext>
            </p:extLst>
          </p:nvPr>
        </p:nvGraphicFramePr>
        <p:xfrm>
          <a:off x="6094234" y="710093"/>
          <a:ext cx="6094235" cy="4617720"/>
        </p:xfrm>
        <a:graphic>
          <a:graphicData uri="http://schemas.openxmlformats.org/drawingml/2006/table">
            <a:tbl>
              <a:tblPr firstRow="1" bandRow="1">
                <a:tableStyleId>{793D81CF-94F2-401A-BA57-92F5A7B2D0C5}</a:tableStyleId>
              </a:tblPr>
              <a:tblGrid>
                <a:gridCol w="916166">
                  <a:extLst>
                    <a:ext uri="{9D8B030D-6E8A-4147-A177-3AD203B41FA5}">
                      <a16:colId xmlns:a16="http://schemas.microsoft.com/office/drawing/2014/main" val="1299384028"/>
                    </a:ext>
                  </a:extLst>
                </a:gridCol>
                <a:gridCol w="869950">
                  <a:extLst>
                    <a:ext uri="{9D8B030D-6E8A-4147-A177-3AD203B41FA5}">
                      <a16:colId xmlns:a16="http://schemas.microsoft.com/office/drawing/2014/main" val="174462236"/>
                    </a:ext>
                  </a:extLst>
                </a:gridCol>
                <a:gridCol w="4308119">
                  <a:extLst>
                    <a:ext uri="{9D8B030D-6E8A-4147-A177-3AD203B41FA5}">
                      <a16:colId xmlns:a16="http://schemas.microsoft.com/office/drawing/2014/main" val="2230545645"/>
                    </a:ext>
                  </a:extLst>
                </a:gridCol>
              </a:tblGrid>
              <a:tr h="189063">
                <a:tc gridSpan="3">
                  <a:txBody>
                    <a:bodyPr/>
                    <a:lstStyle/>
                    <a:p>
                      <a:pPr marL="0" lvl="0" indent="0" algn="ctr">
                        <a:buFont typeface="Arial" panose="020B0604020202020204" pitchFamily="34" charset="0"/>
                        <a:buNone/>
                      </a:pPr>
                      <a:r>
                        <a:rPr lang="en-US" altLang="zh-CN" sz="10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10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至尊公理</a:t>
                      </a:r>
                      <a:endParaRPr lang="en-US" altLang="zh-CN" sz="10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20260520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最重要且应铭记于心的公理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&amp;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勿改勿删）</a:t>
                      </a:r>
                      <a:endParaRPr lang="en-US" altLang="zh-CN" sz="7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地位：以此为基础设置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，向上衔接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&lt;WXAB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周护型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，向下衔接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周柱型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66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06224372"/>
                  </a:ext>
                </a:extLst>
              </a:tr>
              <a:tr h="443887">
                <a:tc gridSpan="3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【WJA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至尊公理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之上是上升的充分必要条件。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当在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之上时，</a:t>
                      </a:r>
                      <a:endParaRPr lang="en-US" altLang="zh-CN" sz="8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出现阳柱或下柱冲高是常态；</a:t>
                      </a:r>
                      <a:endParaRPr lang="en-US" altLang="zh-CN" sz="8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出现阴柱是异常，是少数现象。要将其视为异类导致的方向选择点，初期是机，顶部是阱。不要因为想躲避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之上的波动或下跌而失去仓位。</a:t>
                      </a:r>
                      <a:endParaRPr lang="en-US" altLang="zh-CN" sz="8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endParaRPr lang="zh-CN" altLang="en-US" sz="8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66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71198258"/>
                  </a:ext>
                </a:extLst>
              </a:tr>
              <a:tr h="452107">
                <a:tc gridSpan="3"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铭记此句原意，不要修改不要删除，这是驾驭主升浪的必赢心法。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基于此公理，可得，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之上（特别是满足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WXCD&amp;WXAB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条件），都有下周冲高的可能。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基于此公理，可在阳柱之后介入，博下柱冲高。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基于此公理，可在（初期）上破回踩后阴柱介入，博下柱冲高。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基于此公理，可在（初期）阴柱后出现阳柱后介入，特别是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暂等恢复结构，博下柱冲高。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基于此公理，可进行日类捡漏（前周在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上，本周临时下跌）。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基于此公理，“上升都发生在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附近“，要么在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之上，要么刚下破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又站上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700">
                        <a:alpha val="50196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95168341"/>
                  </a:ext>
                </a:extLst>
              </a:tr>
              <a:tr h="682270">
                <a:tc rowSpan="4"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至尊公理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  <a:p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修正案：需要审慎判定的特别情况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之上是上涨的充要条件。但可对以下情况保持谨慎。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龙猪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排除冲高情况：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最后一柱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冲高后开启下跌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排除主升后的在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之上震荡情况：面临方向选择。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：“帐篷”，方向向上。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2[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升排失势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：失去上升动力后蓄势下破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，可能转为震荡或转跌。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之上排列，预示转跌，如阴阳阴（回踩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未得到支撑）。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震正芽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排除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劫后的诱多典型形态：面临方向选择。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：“帐篷”。</a:t>
                      </a: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之上多柱，仍属于诱多。→汇总诱多的典型形态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1374142"/>
                  </a:ext>
                </a:extLst>
              </a:tr>
              <a:tr h="16440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（首上破）针对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WTZA=1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要小碎步，不要单柱。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面临方向选择：是否确认站稳？是否诱多？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5624289"/>
                  </a:ext>
                </a:extLst>
              </a:tr>
              <a:tr h="16440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（首下破）针对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WTZA=-1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可以单柱急跌，不要小碎步下跌。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面临方向选择：是否确认跌破？是否诱空？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695549"/>
                  </a:ext>
                </a:extLst>
              </a:tr>
              <a:tr h="337025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WTZA≤-2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有价值的特殊情况：（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之下，价上破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不利情况：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后，形成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跌排。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，开始考虑沿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下跌柱排。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：强制退出。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727432"/>
                  </a:ext>
                </a:extLst>
              </a:tr>
            </a:tbl>
          </a:graphicData>
        </a:graphic>
      </p:graphicFrame>
      <p:cxnSp>
        <p:nvCxnSpPr>
          <p:cNvPr id="8" name="直接连接符 7">
            <a:extLst>
              <a:ext uri="{FF2B5EF4-FFF2-40B4-BE49-F238E27FC236}">
                <a16:creationId xmlns:a16="http://schemas.microsoft.com/office/drawing/2014/main" id="{6665815F-857D-C238-D718-FC45CB4CAF1B}"/>
              </a:ext>
            </a:extLst>
          </p:cNvPr>
          <p:cNvCxnSpPr>
            <a:cxnSpLocks/>
          </p:cNvCxnSpPr>
          <p:nvPr/>
        </p:nvCxnSpPr>
        <p:spPr>
          <a:xfrm>
            <a:off x="6087464" y="681496"/>
            <a:ext cx="0" cy="6165737"/>
          </a:xfrm>
          <a:prstGeom prst="line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401396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11FCE3-A0F9-6ED5-7507-46939201FC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59E3BF0-1C4A-4CE1-5D82-66C5A084F4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护型专页</a:t>
            </a:r>
            <a:b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主题：利用护型捕捉短线上升区域，增强冲高阶段的信心。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17AF2FAE-C00C-275E-FD03-BED7062E67E9}"/>
              </a:ext>
            </a:extLst>
          </p:cNvPr>
          <p:cNvSpPr/>
          <p:nvPr/>
        </p:nvSpPr>
        <p:spPr>
          <a:xfrm>
            <a:off x="8297316" y="900926"/>
            <a:ext cx="3894683" cy="1815378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护型的构成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通用模型由三条均线构成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JCBA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代表趋势线，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快线与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慢线，根据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正交或反交作为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的护线。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护型的作用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护型的主要目的是在主升阶段能够保住仓位，而非止盈或止损。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护型捕捉了上升阶段。当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正交时，只要不跌破下线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，两线就不会相交。注意，不能以跌破上线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作为标准，那样仅仅是依赖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数学特性，而非护线的特性。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护型提供了冲高空间。依据护线不进行反交，可以获得创新高的空间。从而可以将趋势性均线不断向低阶推进：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DJC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之后不再具有趋势性作用，不再进行推进。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护型提供了止损依据。以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正交时的下线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作为止损依据，只要不同时在两线之下就可持有，从而将止损线由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提高至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护型提供了判断依据。在由（未正交状态）变为（符合状态）的过程中，由上升柱排起推动作用；而当护型一旦变为正交状态，就能对后续状态的预测给与辅助判断依据。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F81CC4FE-5D46-3392-0786-A7980F7E554E}"/>
              </a:ext>
            </a:extLst>
          </p:cNvPr>
          <p:cNvSpPr/>
          <p:nvPr/>
        </p:nvSpPr>
        <p:spPr>
          <a:xfrm>
            <a:off x="-3" y="7340139"/>
            <a:ext cx="12192002" cy="27432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日类护型的适用条件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护型的局限性在于，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护型适用于已正交（即层类为主），最好拉开距离（宽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DS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最适用的情况：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JBA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呈放射状，是最适用的情况，一般需要完全从劫恢复。当最初始粘合在一起时不适用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；随着上升趋势逐渐形成放射状，最适合使用护型。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各劫的情况分析：根据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是否呈放射状为原则（依赖于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正交维持的时间），对于层类（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破）以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为止损线，对于层类（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主）以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作为止损线。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/DXBC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劫：最适合利用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护型应对。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/DXAC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劫：等待转为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层类为主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，可以利用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护型应对。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/DXZB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/DXZA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劫：也可以参考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护型，但要在确保站稳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后介入。避免进入围绕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震荡区域，尽量不要在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丘中间介入，选择继鼎或上破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时介入。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护型的局限性：只可用于向上找机会冲高止盈。反交或下破两线不代表趋势结束，需要依赖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判断趋势。但可在下破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时先退出，等待形成新的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JXAB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护型后再介入。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日类护型的使用方法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正交时，以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双均线为参考线。在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之上可以主动进入（偏大则止盈，否则就持有）。根据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是否呈放射状为原则，分别指定止损点。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持有状态：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之上出现升排可以主动介入。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丘介入情况：参考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《DJA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丘专页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★</a:t>
            </a:r>
            <a:r>
              <a:rPr lang="zh-CN" altLang="en-US" sz="10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重要方法是，找出哪些</a:t>
            </a:r>
            <a:r>
              <a:rPr lang="en-US" altLang="zh-CN" sz="10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丘是不应介入的情况，排除这些情况之外的所有</a:t>
            </a:r>
            <a:r>
              <a:rPr lang="en-US" altLang="zh-CN" sz="10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丘都应介入。</a:t>
            </a:r>
            <a:endParaRPr lang="en-US" altLang="zh-CN" sz="1000" b="1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止盈点：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如何判断超升，可以将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DSHA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DSAB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比较，与判断冲高的标准（宽偏连）实际上是统一的。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冲高偏离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连升时长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止损点：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通用情况：下破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后强制退出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已完成拉升情况（针对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已完整弧）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后退出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两柱后退出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2A3F8F5E-AEDA-8406-518A-A0E18DEBE8B1}"/>
              </a:ext>
            </a:extLst>
          </p:cNvPr>
          <p:cNvSpPr/>
          <p:nvPr/>
        </p:nvSpPr>
        <p:spPr>
          <a:xfrm>
            <a:off x="2468881" y="900926"/>
            <a:ext cx="2191923" cy="1815378"/>
          </a:xfrm>
          <a:prstGeom prst="rect">
            <a:avLst/>
          </a:prstGeom>
          <a:solidFill>
            <a:srgbClr val="FFD7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设计护型的“初心”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通过观察周级别与日级别走势，通常一个波段走势符合以下规律：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上破阶段：上破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后会形成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主升阶段：有连续主升，此阶段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保持正交，且不与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交叉或较少交叉。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震荡阶段：此阶段频繁与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交叉，无序震荡。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下破阶段：经过震荡，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逐渐由正交转为负交，且下破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>
            <a:extLst>
              <a:ext uri="{FF2B5EF4-FFF2-40B4-BE49-F238E27FC236}">
                <a16:creationId xmlns:a16="http://schemas.microsoft.com/office/drawing/2014/main" id="{ACA3A5C8-80C4-FBF9-6E39-B13DC9CF2731}"/>
              </a:ext>
            </a:extLst>
          </p:cNvPr>
          <p:cNvGrpSpPr/>
          <p:nvPr/>
        </p:nvGrpSpPr>
        <p:grpSpPr>
          <a:xfrm>
            <a:off x="1" y="1017307"/>
            <a:ext cx="2468880" cy="1559638"/>
            <a:chOff x="0" y="1341504"/>
            <a:chExt cx="2593571" cy="1559638"/>
          </a:xfrm>
        </p:grpSpPr>
        <p:sp>
          <p:nvSpPr>
            <p:cNvPr id="5" name="任意多边形: 形状 4">
              <a:extLst>
                <a:ext uri="{FF2B5EF4-FFF2-40B4-BE49-F238E27FC236}">
                  <a16:creationId xmlns:a16="http://schemas.microsoft.com/office/drawing/2014/main" id="{E2BCC360-1993-D48F-E302-F35C2E9167EE}"/>
                </a:ext>
              </a:extLst>
            </p:cNvPr>
            <p:cNvSpPr/>
            <p:nvPr/>
          </p:nvSpPr>
          <p:spPr>
            <a:xfrm>
              <a:off x="0" y="2011680"/>
              <a:ext cx="2593571" cy="847898"/>
            </a:xfrm>
            <a:custGeom>
              <a:avLst/>
              <a:gdLst>
                <a:gd name="connsiteX0" fmla="*/ 0 w 2161309"/>
                <a:gd name="connsiteY0" fmla="*/ 847898 h 847898"/>
                <a:gd name="connsiteX1" fmla="*/ 1172095 w 2161309"/>
                <a:gd name="connsiteY1" fmla="*/ 216131 h 847898"/>
                <a:gd name="connsiteX2" fmla="*/ 2161309 w 2161309"/>
                <a:gd name="connsiteY2" fmla="*/ 0 h 847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1309" h="847898">
                  <a:moveTo>
                    <a:pt x="0" y="847898"/>
                  </a:moveTo>
                  <a:cubicBezTo>
                    <a:pt x="405938" y="602672"/>
                    <a:pt x="811877" y="357447"/>
                    <a:pt x="1172095" y="216131"/>
                  </a:cubicBezTo>
                  <a:cubicBezTo>
                    <a:pt x="1532313" y="74815"/>
                    <a:pt x="1846811" y="37407"/>
                    <a:pt x="2161309" y="0"/>
                  </a:cubicBezTo>
                </a:path>
              </a:pathLst>
            </a:custGeom>
            <a:noFill/>
            <a:ln w="508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6" name="任意多边形: 形状 5">
              <a:extLst>
                <a:ext uri="{FF2B5EF4-FFF2-40B4-BE49-F238E27FC236}">
                  <a16:creationId xmlns:a16="http://schemas.microsoft.com/office/drawing/2014/main" id="{312481E2-8049-0292-DE72-A5740C40EAD5}"/>
                </a:ext>
              </a:extLst>
            </p:cNvPr>
            <p:cNvSpPr/>
            <p:nvPr/>
          </p:nvSpPr>
          <p:spPr>
            <a:xfrm>
              <a:off x="232756" y="1341504"/>
              <a:ext cx="2302626" cy="1559638"/>
            </a:xfrm>
            <a:custGeom>
              <a:avLst/>
              <a:gdLst>
                <a:gd name="connsiteX0" fmla="*/ 0 w 2302626"/>
                <a:gd name="connsiteY0" fmla="*/ 1559638 h 1559638"/>
                <a:gd name="connsiteX1" fmla="*/ 648393 w 2302626"/>
                <a:gd name="connsiteY1" fmla="*/ 96598 h 1559638"/>
                <a:gd name="connsiteX2" fmla="*/ 1088968 w 2302626"/>
                <a:gd name="connsiteY2" fmla="*/ 129849 h 1559638"/>
                <a:gd name="connsiteX3" fmla="*/ 1271848 w 2302626"/>
                <a:gd name="connsiteY3" fmla="*/ 55034 h 1559638"/>
                <a:gd name="connsiteX4" fmla="*/ 1429789 w 2302626"/>
                <a:gd name="connsiteY4" fmla="*/ 113223 h 1559638"/>
                <a:gd name="connsiteX5" fmla="*/ 1579419 w 2302626"/>
                <a:gd name="connsiteY5" fmla="*/ 88285 h 1559638"/>
                <a:gd name="connsiteX6" fmla="*/ 1654233 w 2302626"/>
                <a:gd name="connsiteY6" fmla="*/ 154787 h 1559638"/>
                <a:gd name="connsiteX7" fmla="*/ 1812175 w 2302626"/>
                <a:gd name="connsiteY7" fmla="*/ 171412 h 1559638"/>
                <a:gd name="connsiteX8" fmla="*/ 1978429 w 2302626"/>
                <a:gd name="connsiteY8" fmla="*/ 578736 h 1559638"/>
                <a:gd name="connsiteX9" fmla="*/ 2094808 w 2302626"/>
                <a:gd name="connsiteY9" fmla="*/ 853056 h 1559638"/>
                <a:gd name="connsiteX10" fmla="*/ 2186248 w 2302626"/>
                <a:gd name="connsiteY10" fmla="*/ 678489 h 1559638"/>
                <a:gd name="connsiteX11" fmla="*/ 2302626 w 2302626"/>
                <a:gd name="connsiteY11" fmla="*/ 1293631 h 155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2626" h="1559638">
                  <a:moveTo>
                    <a:pt x="0" y="1559638"/>
                  </a:moveTo>
                  <a:cubicBezTo>
                    <a:pt x="233449" y="947267"/>
                    <a:pt x="466898" y="334896"/>
                    <a:pt x="648393" y="96598"/>
                  </a:cubicBezTo>
                  <a:cubicBezTo>
                    <a:pt x="829888" y="-141700"/>
                    <a:pt x="985059" y="136776"/>
                    <a:pt x="1088968" y="129849"/>
                  </a:cubicBezTo>
                  <a:cubicBezTo>
                    <a:pt x="1192877" y="122922"/>
                    <a:pt x="1215045" y="57805"/>
                    <a:pt x="1271848" y="55034"/>
                  </a:cubicBezTo>
                  <a:cubicBezTo>
                    <a:pt x="1328651" y="52263"/>
                    <a:pt x="1378527" y="107681"/>
                    <a:pt x="1429789" y="113223"/>
                  </a:cubicBezTo>
                  <a:cubicBezTo>
                    <a:pt x="1481051" y="118765"/>
                    <a:pt x="1542012" y="81358"/>
                    <a:pt x="1579419" y="88285"/>
                  </a:cubicBezTo>
                  <a:cubicBezTo>
                    <a:pt x="1616826" y="95212"/>
                    <a:pt x="1615440" y="140932"/>
                    <a:pt x="1654233" y="154787"/>
                  </a:cubicBezTo>
                  <a:cubicBezTo>
                    <a:pt x="1693026" y="168641"/>
                    <a:pt x="1758142" y="100754"/>
                    <a:pt x="1812175" y="171412"/>
                  </a:cubicBezTo>
                  <a:cubicBezTo>
                    <a:pt x="1866208" y="242070"/>
                    <a:pt x="1931324" y="465129"/>
                    <a:pt x="1978429" y="578736"/>
                  </a:cubicBezTo>
                  <a:cubicBezTo>
                    <a:pt x="2025535" y="692343"/>
                    <a:pt x="2060171" y="836430"/>
                    <a:pt x="2094808" y="853056"/>
                  </a:cubicBezTo>
                  <a:cubicBezTo>
                    <a:pt x="2129445" y="869682"/>
                    <a:pt x="2151612" y="605060"/>
                    <a:pt x="2186248" y="678489"/>
                  </a:cubicBezTo>
                  <a:cubicBezTo>
                    <a:pt x="2220884" y="751918"/>
                    <a:pt x="2261755" y="1022774"/>
                    <a:pt x="2302626" y="1293631"/>
                  </a:cubicBezTo>
                </a:path>
              </a:pathLst>
            </a:custGeom>
            <a:noFill/>
            <a:ln w="222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aphicFrame>
        <p:nvGraphicFramePr>
          <p:cNvPr id="10" name="表格 9">
            <a:extLst>
              <a:ext uri="{FF2B5EF4-FFF2-40B4-BE49-F238E27FC236}">
                <a16:creationId xmlns:a16="http://schemas.microsoft.com/office/drawing/2014/main" id="{B2BC4750-DFE9-2D55-3907-0B3463AB5E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8406709"/>
              </p:ext>
            </p:extLst>
          </p:nvPr>
        </p:nvGraphicFramePr>
        <p:xfrm>
          <a:off x="5203193" y="900926"/>
          <a:ext cx="2502131" cy="181537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3616">
                  <a:extLst>
                    <a:ext uri="{9D8B030D-6E8A-4147-A177-3AD203B41FA5}">
                      <a16:colId xmlns:a16="http://schemas.microsoft.com/office/drawing/2014/main" val="557093270"/>
                    </a:ext>
                  </a:extLst>
                </a:gridCol>
                <a:gridCol w="1260807">
                  <a:extLst>
                    <a:ext uri="{9D8B030D-6E8A-4147-A177-3AD203B41FA5}">
                      <a16:colId xmlns:a16="http://schemas.microsoft.com/office/drawing/2014/main" val="4040610350"/>
                    </a:ext>
                  </a:extLst>
                </a:gridCol>
                <a:gridCol w="687708">
                  <a:extLst>
                    <a:ext uri="{9D8B030D-6E8A-4147-A177-3AD203B41FA5}">
                      <a16:colId xmlns:a16="http://schemas.microsoft.com/office/drawing/2014/main" val="3719841511"/>
                    </a:ext>
                  </a:extLst>
                </a:gridCol>
              </a:tblGrid>
              <a:tr h="22476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护型特征</a:t>
                      </a: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1469423"/>
                  </a:ext>
                </a:extLst>
              </a:tr>
              <a:tr h="224761"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正一段：（导致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正交）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</a:t>
                      </a: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5666580"/>
                  </a:ext>
                </a:extLst>
              </a:tr>
              <a:tr h="345786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正二段：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WXZB&gt;0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WTAB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buFont typeface="Arial" panose="020B0604020202020204" pitchFamily="34" charset="0"/>
                        <a:buNone/>
                      </a:pPr>
                      <a:r>
                        <a:rPr lang="en-US" altLang="zh-CN" sz="700" b="1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b</a:t>
                      </a:r>
                      <a:r>
                        <a:rPr lang="zh-CN" altLang="en-US" sz="700" b="1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乙</a:t>
                      </a:r>
                      <a:endParaRPr lang="en-US" altLang="zh-CN" sz="700" b="1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3222331"/>
                  </a:ext>
                </a:extLst>
              </a:tr>
              <a:tr h="22476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正三段：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Font typeface="Arial" panose="020B0604020202020204" pitchFamily="34" charset="0"/>
                        <a:buNone/>
                      </a:pPr>
                      <a:r>
                        <a:rPr lang="en-US" altLang="zh-CN" sz="700" b="1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c</a:t>
                      </a:r>
                      <a:r>
                        <a:rPr lang="zh-CN" altLang="en-US" sz="700" b="1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丙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552284"/>
                  </a:ext>
                </a:extLst>
              </a:tr>
              <a:tr h="224761"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WXAB&lt;0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负一段：（导致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负交）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Font typeface="Arial" panose="020B0604020202020204" pitchFamily="34" charset="0"/>
                        <a:buNone/>
                      </a:pPr>
                      <a:r>
                        <a:rPr lang="en-US" altLang="zh-CN" sz="700" b="1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z</a:t>
                      </a:r>
                      <a:r>
                        <a:rPr lang="zh-CN" altLang="en-US" sz="700" b="1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丁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3624355"/>
                  </a:ext>
                </a:extLst>
              </a:tr>
              <a:tr h="345786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负二段：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WXZB&lt;0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WTAB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Font typeface="Arial" panose="020B0604020202020204" pitchFamily="34" charset="0"/>
                        <a:buNone/>
                      </a:pPr>
                      <a:r>
                        <a:rPr lang="en-US" altLang="zh-CN" sz="700" b="1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y</a:t>
                      </a:r>
                      <a:r>
                        <a:rPr lang="zh-CN" altLang="en-US" sz="700" b="1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戊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9827470"/>
                  </a:ext>
                </a:extLst>
              </a:tr>
              <a:tr h="22476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负三段：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Font typeface="Arial" panose="020B0604020202020204" pitchFamily="34" charset="0"/>
                        <a:buNone/>
                      </a:pPr>
                      <a:r>
                        <a:rPr lang="en-US" altLang="zh-CN" sz="700" b="1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r</a:t>
                      </a:r>
                      <a:r>
                        <a:rPr lang="zh-CN" altLang="en-US" sz="700" b="1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己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9287972"/>
                  </a:ext>
                </a:extLst>
              </a:tr>
            </a:tbl>
          </a:graphicData>
        </a:graphic>
      </p:graphicFrame>
      <p:sp>
        <p:nvSpPr>
          <p:cNvPr id="11" name="文本框 10">
            <a:extLst>
              <a:ext uri="{FF2B5EF4-FFF2-40B4-BE49-F238E27FC236}">
                <a16:creationId xmlns:a16="http://schemas.microsoft.com/office/drawing/2014/main" id="{08DA8653-58CB-47DB-C314-30D186371116}"/>
              </a:ext>
            </a:extLst>
          </p:cNvPr>
          <p:cNvSpPr txBox="1"/>
          <p:nvPr/>
        </p:nvSpPr>
        <p:spPr>
          <a:xfrm>
            <a:off x="3225340" y="667360"/>
            <a:ext cx="4924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初心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3BE689E1-5FAE-59CC-EBAF-A223793E35DB}"/>
              </a:ext>
            </a:extLst>
          </p:cNvPr>
          <p:cNvSpPr txBox="1"/>
          <p:nvPr/>
        </p:nvSpPr>
        <p:spPr>
          <a:xfrm>
            <a:off x="5911565" y="659049"/>
            <a:ext cx="95410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护型の模型</a:t>
            </a: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CE7EB417-1469-4F83-F0A7-F23CD4732AAF}"/>
              </a:ext>
            </a:extLst>
          </p:cNvPr>
          <p:cNvSpPr txBox="1"/>
          <p:nvPr/>
        </p:nvSpPr>
        <p:spPr>
          <a:xfrm>
            <a:off x="9654491" y="667360"/>
            <a:ext cx="95410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护型の作用</a:t>
            </a:r>
          </a:p>
        </p:txBody>
      </p:sp>
      <p:sp>
        <p:nvSpPr>
          <p:cNvPr id="14" name="箭头: 右 13">
            <a:extLst>
              <a:ext uri="{FF2B5EF4-FFF2-40B4-BE49-F238E27FC236}">
                <a16:creationId xmlns:a16="http://schemas.microsoft.com/office/drawing/2014/main" id="{2A6E21EA-FD01-34A6-FA53-244B661436D3}"/>
              </a:ext>
            </a:extLst>
          </p:cNvPr>
          <p:cNvSpPr/>
          <p:nvPr/>
        </p:nvSpPr>
        <p:spPr>
          <a:xfrm>
            <a:off x="4794989" y="1587726"/>
            <a:ext cx="323622" cy="365761"/>
          </a:xfrm>
          <a:prstGeom prst="rightArrow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箭头: 右 14">
            <a:extLst>
              <a:ext uri="{FF2B5EF4-FFF2-40B4-BE49-F238E27FC236}">
                <a16:creationId xmlns:a16="http://schemas.microsoft.com/office/drawing/2014/main" id="{2B19631D-9040-3DAE-7404-DBF111110F1F}"/>
              </a:ext>
            </a:extLst>
          </p:cNvPr>
          <p:cNvSpPr/>
          <p:nvPr/>
        </p:nvSpPr>
        <p:spPr>
          <a:xfrm>
            <a:off x="7839509" y="1587726"/>
            <a:ext cx="323622" cy="365761"/>
          </a:xfrm>
          <a:prstGeom prst="rightArrow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aphicFrame>
        <p:nvGraphicFramePr>
          <p:cNvPr id="16" name="表格 15">
            <a:extLst>
              <a:ext uri="{FF2B5EF4-FFF2-40B4-BE49-F238E27FC236}">
                <a16:creationId xmlns:a16="http://schemas.microsoft.com/office/drawing/2014/main" id="{13D50B96-46D6-5874-FD6A-7C70761979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6899154"/>
              </p:ext>
            </p:extLst>
          </p:nvPr>
        </p:nvGraphicFramePr>
        <p:xfrm>
          <a:off x="1" y="3084022"/>
          <a:ext cx="12191999" cy="37514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5158">
                  <a:extLst>
                    <a:ext uri="{9D8B030D-6E8A-4147-A177-3AD203B41FA5}">
                      <a16:colId xmlns:a16="http://schemas.microsoft.com/office/drawing/2014/main" val="922715708"/>
                    </a:ext>
                  </a:extLst>
                </a:gridCol>
                <a:gridCol w="10956841">
                  <a:extLst>
                    <a:ext uri="{9D8B030D-6E8A-4147-A177-3AD203B41FA5}">
                      <a16:colId xmlns:a16="http://schemas.microsoft.com/office/drawing/2014/main" val="725732035"/>
                    </a:ext>
                  </a:extLst>
                </a:gridCol>
              </a:tblGrid>
              <a:tr h="223880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护型的用法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使用实例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2694956"/>
                  </a:ext>
                </a:extLst>
              </a:tr>
              <a:tr h="351811">
                <a:tc rowSpan="2"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用法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：单独使用护型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“鳄鱼嘴” 的结构解析：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在两线之上判定为多头区域；在两线之下判定为空头区域。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鳄鱼嘴中：属于两线之间，是“多空转换区”，是“无方向区”（乙，进入嘴中认为是升趋势调整）（戊，进入嘴中认为是降趋势调整，这是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护型放弃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X0/X4/X6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的原因）。只有再次同时处于两线之外，才认为已选择方向。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6617878"/>
                  </a:ext>
                </a:extLst>
              </a:tr>
              <a:tr h="35181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单独使用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护型：用于确定操作范围，只选择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甲乙己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根据护线模型，针对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，严格选择护型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，且不选择夹在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之间的情况（乙戊），这是在筛选月势时剔除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的最好解释（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是跌趋势的反弹而非升趋势的蓄势）。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1919667"/>
                  </a:ext>
                </a:extLst>
              </a:tr>
              <a:tr h="479743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用法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：护型配合阈线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配合阈线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：确定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初夏秋冬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四象限。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进行定义：春（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）夏（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）秋（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WXAB&lt;0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）冬（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WXAB&lt;0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释义：春天积蓄力量，但未爆发；夏天主升以及顶部震荡；秋天肃杀转向；冬天主降以及底部震荡。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5365928"/>
                  </a:ext>
                </a:extLst>
              </a:tr>
              <a:tr h="1375263">
                <a:tc rowSpan="2"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用法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：护线配合护线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配合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：确定大势的转变，牢记算法核心是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，确定大势的工具是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使用方法：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在远低于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的位置，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转为正交，此时可能是跌趋势的调整。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在贴近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的位置（或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位置），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转为正交，此时代表开启升趋势。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所以，升趋势条件为（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WXCD&gt;0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在远高于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的位置，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转为负交，此时可能是升趋势的调整。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在贴近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的位置（或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位置），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转为负交，此时代表开启跌趋势。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所以，降趋势条件为（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7473435"/>
                  </a:ext>
                </a:extLst>
              </a:tr>
              <a:tr h="863537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配合护型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：核心要求是“先周后日”，用于确定日级别介入点（包含捡漏）。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要求：“先周后日”。虽然日护型先于周护型变化，但必须要求周护型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先转正后，再观察日护型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的变化。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使用方法：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时。当满足（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）可介入，然后按（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）止损。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）时，可以保证已经历最高点。有两个选择：①暂时退出②等待下破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时若仍满足此条件则提前退出。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时。没必要参考（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）。一定要牢记“先周后日”，等待（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）后再介入，此后再参考日类。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71347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8963654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49EEB7-773D-E5B2-866C-63BB1E4BB3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标题 1">
            <a:extLst>
              <a:ext uri="{FF2B5EF4-FFF2-40B4-BE49-F238E27FC236}">
                <a16:creationId xmlns:a16="http://schemas.microsoft.com/office/drawing/2014/main" id="{F9449F3F-18F6-24BD-7113-E81D08E8A7E5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最重要页：思维原则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终极操作原则</a:t>
            </a:r>
            <a:b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本页内容：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操盘方法的总体论述，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是核心，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是止损，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定位大势。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6AA0DB06-F124-D685-32DF-1DEAC47B9E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8158526"/>
              </p:ext>
            </p:extLst>
          </p:nvPr>
        </p:nvGraphicFramePr>
        <p:xfrm>
          <a:off x="6102603" y="720000"/>
          <a:ext cx="6089399" cy="6137999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752475">
                  <a:extLst>
                    <a:ext uri="{9D8B030D-6E8A-4147-A177-3AD203B41FA5}">
                      <a16:colId xmlns:a16="http://schemas.microsoft.com/office/drawing/2014/main" val="1626643334"/>
                    </a:ext>
                  </a:extLst>
                </a:gridCol>
                <a:gridCol w="5336924">
                  <a:extLst>
                    <a:ext uri="{9D8B030D-6E8A-4147-A177-3AD203B41FA5}">
                      <a16:colId xmlns:a16="http://schemas.microsoft.com/office/drawing/2014/main" val="3679658914"/>
                    </a:ext>
                  </a:extLst>
                </a:gridCol>
              </a:tblGrid>
              <a:tr h="344480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操作原则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终极忠告：操盘方法的作用，第一是扩大收益，第二是控制回撤。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不要因小失大，为了控制回撤而失去仓位（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Livermore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忠告）。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9861733"/>
                  </a:ext>
                </a:extLst>
              </a:tr>
              <a:tr h="595010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原则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限制大范围。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观察可得确定性结论，所有全局上升都在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MJA&amp;MJB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之上。可得结论，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金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：包含了主升区域，是主战场。在此区域寻找与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的共振。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之上：可持。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月阶过滤：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/C7/C6/C4/C0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。对于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，存在较多诱多震荡情况，仅可试仓。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0107428"/>
                  </a:ext>
                </a:extLst>
              </a:tr>
              <a:tr h="1096071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原则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之上应持。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阐释如下：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之上无止损点。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保证经过最高点：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为不坏金身，只在下破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后再考虑退出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（但不是下破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后一定要退出）。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承担确保经过最高点的代价：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之上的回撤，将认知从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承受的亏损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转变为</a:t>
                      </a:r>
                      <a:r>
                        <a:rPr lang="en-US" altLang="zh-CN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保持仓位必须承受的代价</a:t>
                      </a:r>
                      <a:r>
                        <a:rPr lang="en-US" altLang="zh-CN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，必须忍受从顶到下破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的认输过程。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利用周中符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。关注与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的交叉点；着重寻找触顶的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十字星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小阳柱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日级别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的参考级别。只有前周柱站上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，才考虑依赖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判断日线机会（不能仅参考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灵活仓位管理：不论周仓位或日仓位，若偏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BSPA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10%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，限仓权重为总资金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1%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；其余，限仓权重为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5%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3611199"/>
                  </a:ext>
                </a:extLst>
              </a:tr>
              <a:tr h="595010">
                <a:tc rowSpan="2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原则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要顺大势，有容乃大。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要顺大势。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月周共振，寻找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共振。先考虑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，再寻找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益盟指标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在周级别使用指标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&lt;ZQQQM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大势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，优选月大势，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正交时以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利用波型，抓牢主升（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且触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）；以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0771576"/>
                  </a:ext>
                </a:extLst>
              </a:tr>
              <a:tr h="595010"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要有容乃大。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等待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负交或下破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退出，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负交很少（无需在意）；只要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未负交，即使下破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也属于可持状态。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当在主升介入后，不要强求处于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状态。若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，可在下破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提前退出。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4989387"/>
                  </a:ext>
                </a:extLst>
              </a:tr>
              <a:tr h="845541"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原则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增加持有时长。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要吸取阴跌被套的经验，按镜面原则反向完美复制持股原则。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不要因小失大，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lose position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已明确知道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必赢，不要因小劫而失去仓位。小劫包括：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心魔。处于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之上的完美上攻过程中，但因担心回调而失去仓位。详见“遏制心魔，拒绝妄想”。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之上升势的小回调。如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之上未下破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的大回撤。如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下破次级均线。下破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负交。可等待下破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再退出。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7151920"/>
                  </a:ext>
                </a:extLst>
              </a:tr>
              <a:tr h="970806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遏制心魔，拒绝妄想。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对抗错误思想，守住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之上（不需特别关注日级别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WJA&amp;DJA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之上）。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u="sng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99CC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牢记公理：在</a:t>
                      </a:r>
                      <a:r>
                        <a:rPr lang="en-US" altLang="zh-CN" sz="800" b="1" u="sng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99CC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u="sng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99CC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之上时，下柱冲高是常态；阴柱或不冲高是异常，是少数。</a:t>
                      </a:r>
                      <a:r>
                        <a:rPr lang="zh-CN" altLang="en-US" sz="800" u="sng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99CC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要乐观勿悲观。</a:t>
                      </a:r>
                      <a:endParaRPr lang="en-US" altLang="zh-CN" sz="800" u="sng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highlight>
                          <a:srgbClr val="FF99CC"/>
                        </a:highlight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觉得不会再涨。觉得已经涨了很多，对日线暴涨持续性失去信心。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对盘中波动恐惧。“先躲一下，等收盘再买回来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等回踩再买回来。”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对于真正出现的回撤。害怕下跌会延续，希望守住利润。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妄想。因害怕连续上涨的板块出现回调，从而错过个股主升浪。包括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&lt;2025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商业航天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&gt;&lt;2026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电池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妄想。受大盘波动影响。结论， “交易谁就看谁的走势”，不要受大盘或指数影响。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7569381"/>
                  </a:ext>
                </a:extLst>
              </a:tr>
              <a:tr h="10960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遵守逆向被套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SOP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根据镜面对称原则，从阴跌深套的错误操作中，汲取，正向操作的正确方法。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不要中途交易。当周期未结束时，所有中间走势都可能改变，不要中途交易。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无离场必要。→镜面对称→在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无介入许可。这是守住趋势的秘诀。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WJCBA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多头排列时，下破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多柱，再考虑退出。→镜面对称→在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WJCBA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空头排列时，上破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多柱，才有可能转升（仅适用于观察）。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之上，不要见好就收。→镜面对称→在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之下，不会因小涨就退出（所以才会导致被深套）。这是赚大钱的秘诀。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4891408"/>
                  </a:ext>
                </a:extLst>
              </a:tr>
            </a:tbl>
          </a:graphicData>
        </a:graphic>
      </p:graphicFrame>
      <p:graphicFrame>
        <p:nvGraphicFramePr>
          <p:cNvPr id="2" name="表格 1">
            <a:extLst>
              <a:ext uri="{FF2B5EF4-FFF2-40B4-BE49-F238E27FC236}">
                <a16:creationId xmlns:a16="http://schemas.microsoft.com/office/drawing/2014/main" id="{D58FA87D-040A-9FDA-277A-86D7862572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6295483"/>
              </p:ext>
            </p:extLst>
          </p:nvPr>
        </p:nvGraphicFramePr>
        <p:xfrm>
          <a:off x="4333" y="720000"/>
          <a:ext cx="6097766" cy="5013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91042">
                  <a:extLst>
                    <a:ext uri="{9D8B030D-6E8A-4147-A177-3AD203B41FA5}">
                      <a16:colId xmlns:a16="http://schemas.microsoft.com/office/drawing/2014/main" val="976724529"/>
                    </a:ext>
                  </a:extLst>
                </a:gridCol>
                <a:gridCol w="4606724">
                  <a:extLst>
                    <a:ext uri="{9D8B030D-6E8A-4147-A177-3AD203B41FA5}">
                      <a16:colId xmlns:a16="http://schemas.microsoft.com/office/drawing/2014/main" val="444165644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在设计操盘过程中收获的思维原则：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9200611"/>
                  </a:ext>
                </a:extLst>
              </a:tr>
              <a:tr h="26019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视角转变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重塑上升过程中的退出步骤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zh-CN" altLang="en-US" sz="800" u="sng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核心思想是按（下降过程的介入步骤）经镜面映射重塑（上升过程的退出步骤）</a:t>
                      </a:r>
                      <a:endParaRPr lang="en-US" altLang="zh-CN" sz="800" u="sng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原思维：总是忽视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多头排列的意义，总是夸大（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之上阴柱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）的危险性。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唯有借助镜面对称视角才能改变原思维，形成在上升过程中正确思维：简要讲，在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之上都是机会。具体讲如下：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之上，阳柱不要轻易止盈，阴柱禁止止损。→镜面对应于，下跌过程不要在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空头排列时在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之下介入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，不构成止损，不要随意退出。→镜面对应于，下跌过程中仅上破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，不要介入。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，不构成止损，不要随意退出。 →镜面对应于，与基本介入条件（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）还有距离，不要介入。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满足日类退出条件（ 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 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），可暂时退，也可不退。 →镜面对应于，在下跌过程中，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之下会有多波反复，一定要等周级别满足（ 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 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）后才可介入。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211809"/>
                  </a:ext>
                </a:extLst>
              </a:tr>
              <a:tr h="26019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先周后日：先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DXAB】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要先确定周级别方向（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正交，且配合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），再利用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确定操作细节。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明确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在以（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正交作为判定主升浪）中的辅助作用：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先周后日：虽然在向上升过程的转变过程中，虽然（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正交）快于（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正交）。</a:t>
                      </a:r>
                      <a:r>
                        <a:rPr lang="zh-CN" altLang="en-US" sz="800" b="1" u="sng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但务必牢记以下重要原则：必须等待（</a:t>
                      </a:r>
                      <a:r>
                        <a:rPr lang="en-US" altLang="zh-CN" sz="800" b="1" u="sng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1" u="sng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正交）后，再观察</a:t>
                      </a:r>
                      <a:r>
                        <a:rPr lang="en-US" altLang="zh-CN" sz="800" b="1" u="sng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b="1" u="sng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的变化。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不要乱了位次。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正交）基本与（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正交）同步，所以可以按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进行先兆判定。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正交）时，（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负交）不经常出现，有些可作为判定（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即将负交）信号，有些是中途调整。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必须严格要求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满足正交条件：不要过度放宽（将正交）作为（已正交）的替代条件，要选取蓄势已久且持续的正交情况。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以日类退出条件提前退出：日类退出条件为（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）；需明确仅仅限于日类退出，在周级别仍处于上升趋势，后续当满足日类介入条件可再介入。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退出情况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：可在下破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退出，特别针对已冲高情况。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退出情况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：可在下破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退出，提高偶然下破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的容错。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4153921"/>
                  </a:ext>
                </a:extLst>
              </a:tr>
              <a:tr h="212265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防诱多策略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正交）作为核心条件的基础上，配合其他条件过滤（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非主升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诱多）等情况。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防诱多策略包括：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lvl="0" indent="-22860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为阈值配合（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已正交）判定上升趋势：此举过滤了，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之下多次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正交的反复蓄力过程。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lvl="0" indent="-22860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的防诱多策略：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85800" lvl="1" indent="-22860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将介于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之间定义为“鳄鱼嘴”，处于其中不选择方向，等待突破双线再决定方向。以此，将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护型戊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，刚突破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定义为“潜在诱多”。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85800" lvl="1" indent="-22860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负交或刚正交，一旦出现下破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，要立刻退出。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85800" lvl="1" indent="-22860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正交判定主升浪：此举过滤了，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由负交向正交转变过程中，各种诱多波动。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lvl="0" indent="-22860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以严格（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已正交）防诱多：应严格要求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已正交，且可能开启较长的正交历程。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85800" lvl="1" indent="-22860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对于（将正交：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但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），不是一概作为介入条件，而是严选其中必然会转变为（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已正交）的情况，例如在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之上多柱；由于（将正交）存续时间短，所以不影响后续（已正交）的整个过程。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lvl="0" indent="-22860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以严格（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已正交）防诱多：同上。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1454523"/>
                  </a:ext>
                </a:extLst>
              </a:tr>
            </a:tbl>
          </a:graphicData>
        </a:graphic>
      </p:graphicFrame>
      <p:sp>
        <p:nvSpPr>
          <p:cNvPr id="4" name="文本框 3">
            <a:extLst>
              <a:ext uri="{FF2B5EF4-FFF2-40B4-BE49-F238E27FC236}">
                <a16:creationId xmlns:a16="http://schemas.microsoft.com/office/drawing/2014/main" id="{7156EAC2-1566-6148-D69D-1A7CF099BA26}"/>
              </a:ext>
            </a:extLst>
          </p:cNvPr>
          <p:cNvSpPr txBox="1"/>
          <p:nvPr/>
        </p:nvSpPr>
        <p:spPr>
          <a:xfrm>
            <a:off x="295487" y="5695815"/>
            <a:ext cx="5179623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/>
              <a:t>走势分析框架：</a:t>
            </a:r>
            <a:endParaRPr lang="en-US" altLang="zh-CN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dirty="0"/>
              <a:t>应只做</a:t>
            </a:r>
            <a:r>
              <a:rPr lang="en-US" altLang="zh-CN" dirty="0"/>
              <a:t>WXCD</a:t>
            </a:r>
            <a:r>
              <a:rPr lang="zh-CN" altLang="en-US" dirty="0"/>
              <a:t>金银。祖训：绝不介入</a:t>
            </a:r>
            <a:r>
              <a:rPr lang="en-US" altLang="zh-CN" dirty="0"/>
              <a:t>WJD</a:t>
            </a:r>
            <a:r>
              <a:rPr lang="zh-CN" altLang="en-US" dirty="0"/>
              <a:t>之下。</a:t>
            </a:r>
            <a:endParaRPr lang="en-US" altLang="zh-CN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dirty="0"/>
              <a:t>应只做</a:t>
            </a:r>
            <a:r>
              <a:rPr lang="en-US" altLang="zh-CN" dirty="0"/>
              <a:t>WXAB</a:t>
            </a:r>
            <a:r>
              <a:rPr lang="zh-CN" altLang="en-US" dirty="0"/>
              <a:t>甲乙己。介入后按</a:t>
            </a:r>
            <a:r>
              <a:rPr lang="en-US" altLang="zh-CN" dirty="0"/>
              <a:t>WJC</a:t>
            </a:r>
            <a:r>
              <a:rPr lang="zh-CN" altLang="en-US" dirty="0"/>
              <a:t>止损。</a:t>
            </a:r>
          </a:p>
          <a:p>
            <a:r>
              <a:rPr lang="zh-CN" altLang="en-US" dirty="0"/>
              <a:t>月护型</a:t>
            </a:r>
            <a:r>
              <a:rPr lang="en-US" altLang="zh-CN" dirty="0"/>
              <a:t>WXCD</a:t>
            </a:r>
            <a:r>
              <a:rPr lang="zh-CN" altLang="en-US" dirty="0"/>
              <a:t>➡️周护型</a:t>
            </a:r>
            <a:r>
              <a:rPr lang="en-US" altLang="zh-CN" dirty="0"/>
              <a:t>WXAB</a:t>
            </a:r>
            <a:r>
              <a:rPr lang="zh-CN" altLang="en-US" dirty="0"/>
              <a:t>➡️周地型➡️周柱型</a:t>
            </a:r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105672524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0A9E84-6778-7349-5E5B-CCAB385CE5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标题 1">
            <a:extLst>
              <a:ext uri="{FF2B5EF4-FFF2-40B4-BE49-F238E27FC236}">
                <a16:creationId xmlns:a16="http://schemas.microsoft.com/office/drawing/2014/main" id="{3659C3E5-C75E-92B5-47E6-FCC3A14BE14B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最重要页：必赢战法</a:t>
            </a:r>
            <a:b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本页内容：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操盘方法的总体论述，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是核心，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是止损，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定位大势。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6561633A-23C0-6FC2-912E-65EBDC73FA37}"/>
              </a:ext>
            </a:extLst>
          </p:cNvPr>
          <p:cNvSpPr/>
          <p:nvPr/>
        </p:nvSpPr>
        <p:spPr>
          <a:xfrm>
            <a:off x="16626" y="4039985"/>
            <a:ext cx="6076194" cy="2818015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核心步骤：寻找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的正交共振。在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已正交或将正交区域，以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为手段（正一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正二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负三），</a:t>
            </a:r>
            <a:r>
              <a:rPr lang="zh-CN" altLang="en-US" sz="800" b="1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选取持续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时长最大的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（步骤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）先通过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定位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大丘（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柱）。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明确常识。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正常主升浪必为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；当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时只有少数形成主升。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抓主升浪绝招。当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借助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辅助确定大势。当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时要求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；当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时要求不与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交叉。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要研究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月势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的关系。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只依赖周线无法确定大丘，要观察月线图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之上柱排列。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大丘两条件：月势有希望（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/A7/A3/B1/B0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）；周不反对（在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之上）。勿限制其他条件。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确定大势时不要参考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不要被穿越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所迷惑；更不要被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之上正常波动所恐吓。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限制周局。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可接受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/WXZB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劫；对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/WXAC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/WXBC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劫，要小心诱多震荡。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（步骤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大丘，按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之上动态行进的思维反复做。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→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这是此战法必赢的精髓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基本思维是：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已正交或将正交；若升势必能站上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，所有工具聚焦于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之上；以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止盈，不破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不出；以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作为唯一止损。 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为准。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广义主升（已正交或将正交）。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才能决定多空：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之上都属于可持范围，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之上只做多；下破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才考虑做空。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之下不参与，只针对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之下站上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的情况进行参考（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将正交或已正交）。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（步骤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冗余）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其余条件仅作参考。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周管。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正交。要形成稳定向东北运行的（顶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）周管。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龙猪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最好，其余看柱排。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周地型。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区分：讨厌区（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之上跌排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）上破区（上破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之上区。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周垒升。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周垒升的形成条件（另页总结）。注意，仅限于周管之内。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周中符。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与柱的贯穿关系。等待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再检查是否形成跌排。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其余条件。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周触顶（首触）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之上，都只是顺大势中的好运气，不要用作筛选条件。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8EC8E91C-957D-BA98-F804-7F7CC4BA45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6756480"/>
              </p:ext>
            </p:extLst>
          </p:nvPr>
        </p:nvGraphicFramePr>
        <p:xfrm>
          <a:off x="19806" y="719999"/>
          <a:ext cx="6076194" cy="3169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076194">
                  <a:extLst>
                    <a:ext uri="{9D8B030D-6E8A-4147-A177-3AD203B41FA5}">
                      <a16:colId xmlns:a16="http://schemas.microsoft.com/office/drawing/2014/main" val="409957777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20260228</a:t>
                      </a:r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勿删勿改）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必赢战法：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【WXCD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必赢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+WJC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+WXAB】</a:t>
                      </a:r>
                    </a:p>
                  </a:txBody>
                  <a:tcPr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7629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牢牢抓住以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由负转正所识别的月级别大趋势。在其中寻找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正交过程。要选择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初相交，确定性最大。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当出现（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劫或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劫）重新计算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广义正交时（最好预测将垒升）介入，以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止损，可在冲高时止盈。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要吃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正交的全链条，只在下破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时止损。权重为（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WJC=1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仓）。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要观察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丘的变化规律，要选择逐步完整的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若出现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/WXAC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/WXBC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劫，特别是在高位，可能是诱多，勿重仓。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正交时（最好预测将垒升）介入，以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尽量不介入。此区域的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丘很小，没有必要参与，应等待多次震荡或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正交之后再参与。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9696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止损线的选择。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作为止损线；不要被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、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、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等潜在替代所迷惑，不要纠结。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不要将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替代为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是升势的重要特征，但在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之上只有很小概率出现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负交。且若已转跌，下破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负交的止损差别并不大。更应该思考如何在冲高时止盈。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不要将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替代为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单柱与双柱都不须走；可等待下破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后再判断是否已转跌。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可在主升阶段暂时下破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是否参考沿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向下排列？下破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时应参考；下破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时可参考。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介入点的条件。不要在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之下，主动介入。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52068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分析工具的层次。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①择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广义正交→②择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之上（严格）→③择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层段→④择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之上地型→⑤择垒升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①要点：应严格选择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正交；对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负交必须要求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且经过多次底部震荡。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②要点：必须严格要求在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之上。对顶部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(/WXBC/WXAC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要谨慎；对底部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非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/WXBC/WXAC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运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要谨慎。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③要点：针对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层段，对（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正一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正二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负三）主动持有，对（正三）被动持有；弃（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负一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负二）。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灵魂拷问：迷茫时，扪心自问，只有六种状态，为何偏偏选不好的三种，而不守住好的三种。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④要点：针对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各地型，明确各自的理想恢复模式，选取较大的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丘。地型只细化到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⑤要点：针对垒升，要保证底仓，使用浮仓按周做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9649162"/>
                  </a:ext>
                </a:extLst>
              </a:tr>
            </a:tbl>
          </a:graphicData>
        </a:graphic>
      </p:graphicFrame>
      <p:graphicFrame>
        <p:nvGraphicFramePr>
          <p:cNvPr id="19" name="表格 18">
            <a:extLst>
              <a:ext uri="{FF2B5EF4-FFF2-40B4-BE49-F238E27FC236}">
                <a16:creationId xmlns:a16="http://schemas.microsoft.com/office/drawing/2014/main" id="{6DDE3024-F3E2-2760-A122-63DE3A32D9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4637410"/>
              </p:ext>
            </p:extLst>
          </p:nvPr>
        </p:nvGraphicFramePr>
        <p:xfrm>
          <a:off x="6117573" y="719999"/>
          <a:ext cx="6094233" cy="3474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949">
                  <a:extLst>
                    <a:ext uri="{9D8B030D-6E8A-4147-A177-3AD203B41FA5}">
                      <a16:colId xmlns:a16="http://schemas.microsoft.com/office/drawing/2014/main" val="1112553138"/>
                    </a:ext>
                  </a:extLst>
                </a:gridCol>
                <a:gridCol w="3384284">
                  <a:extLst>
                    <a:ext uri="{9D8B030D-6E8A-4147-A177-3AD203B41FA5}">
                      <a16:colId xmlns:a16="http://schemas.microsoft.com/office/drawing/2014/main" val="4019145744"/>
                    </a:ext>
                  </a:extLst>
                </a:gridCol>
              </a:tblGrid>
              <a:tr h="7130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20260610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持仓规则算法的简单版：</a:t>
                      </a:r>
                      <a:endParaRPr lang="en-US" altLang="zh-CN" sz="800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严格</a:t>
                      </a:r>
                      <a:r>
                        <a:rPr lang="en-US" altLang="zh-CN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金银</a:t>
                      </a:r>
                      <a:r>
                        <a:rPr lang="en-US" altLang="zh-CN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</a:t>
                      </a:r>
                      <a:endParaRPr lang="en-US" altLang="zh-CN" sz="800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确定周入口，</a:t>
                      </a:r>
                      <a:r>
                        <a:rPr lang="en-US" altLang="zh-CN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用于确定日入口；</a:t>
                      </a:r>
                      <a:endParaRPr lang="en-US" altLang="zh-CN" sz="800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WXZC&lt;0</a:t>
                      </a:r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WXAB&lt;0</a:t>
                      </a:r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用于基仓止损，下破</a:t>
                      </a:r>
                      <a:r>
                        <a:rPr lang="en-US" altLang="zh-CN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用于浮仓止损。</a:t>
                      </a:r>
                      <a:endParaRPr lang="en-US" altLang="zh-CN" sz="800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三条鳄鱼：寓意为要在鳄鱼之外，不要在嘴巴之内。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实质是以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为根本；利用（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配合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）定位大级别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；日类仅用于确定介入点。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：严格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：都可接受，优选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：都可接受，利用（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）确定介入点，止损用（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6605588"/>
                  </a:ext>
                </a:extLst>
              </a:tr>
              <a:tr h="177245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持仓规则：寻找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正交时的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要求：严格要求护型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甲乙己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85800" marR="0" lvl="1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/A7/A3/B1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：可取。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85800" marR="0" lvl="1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/C7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：需鉴别诱多，未大升。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确定周入口：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。勿周中介入。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乙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可主动持有；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(r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己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试仓或等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正交再介入；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(c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丙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可被动持有；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(z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丁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y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戊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可被动持有或清仓。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（持有过程）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护型要求：优选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85800" marR="0" lvl="1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关注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时长：可在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正交较长时退出；不要在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负交较长时试探介入。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（止损）当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时保守止损。当下破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时激进止损（可保证已经过最高点）。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附加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日介入条件：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0.</a:t>
                      </a:r>
                    </a:p>
                    <a:p>
                      <a:pPr marL="685800" marR="0" lvl="1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相当于要求在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85800" marR="0" lvl="1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只用于确认介入点，不用于止损。</a:t>
                      </a:r>
                      <a:endParaRPr lang="zh-CN" altLang="en-US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持仓规则的推理过程：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步骤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必赢为基础，得到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必赢。（核心依据是，不要选择鳄鱼口中，而要选定两线之外）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步骤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：在以上范围内。当向上突破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时，根据（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）介入，将关注点引导至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。根据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护型，选择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步骤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：以经过最高点为目标。只要未冲高且未下破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就可认为有机会经历后续最高点。退出点包括两种：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1️⃣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2️⃣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止损（可认为是在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护型中，下破两线已选择向下方向）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潜在错误理解：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错误理解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（月级别护型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的作用）：当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。上破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时，基本必然会形成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，但此时不应作为介入点。因为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之间，属于鳄鱼嘴，是多空转换的无方向区域。一定要放弃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/X0/X4/X6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，当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时一旦下破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就会立刻转空，应在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止损。一定要选择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错误理解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（日级别护型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的作用）：当下破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时，基本必然形成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。此时，根据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（即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），只是进入鳄鱼嘴，多空转换尚无定论，不要在下破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时退出。结论：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1️⃣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日级别只能作为介入点参考，不应作为止损依据。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2️⃣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可等待下破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时止损，此时已可保证经过了最高点。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25668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411353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590089-6227-5C92-6FDE-401EB992B8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标题 1">
            <a:extLst>
              <a:ext uri="{FF2B5EF4-FFF2-40B4-BE49-F238E27FC236}">
                <a16:creationId xmlns:a16="http://schemas.microsoft.com/office/drawing/2014/main" id="{6C88A788-0575-99A3-9BCD-997E5CADBF26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视角</a:t>
            </a:r>
            <a:b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本页内容：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操盘方法的总体论述，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是核心，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是止损，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定位大势。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7" name="表格 6">
            <a:extLst>
              <a:ext uri="{FF2B5EF4-FFF2-40B4-BE49-F238E27FC236}">
                <a16:creationId xmlns:a16="http://schemas.microsoft.com/office/drawing/2014/main" id="{5334C823-E35E-8915-1E98-AB499D1DB9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754292"/>
              </p:ext>
            </p:extLst>
          </p:nvPr>
        </p:nvGraphicFramePr>
        <p:xfrm>
          <a:off x="0" y="720000"/>
          <a:ext cx="6096000" cy="1097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6582">
                  <a:extLst>
                    <a:ext uri="{9D8B030D-6E8A-4147-A177-3AD203B41FA5}">
                      <a16:colId xmlns:a16="http://schemas.microsoft.com/office/drawing/2014/main" val="1786681279"/>
                    </a:ext>
                  </a:extLst>
                </a:gridCol>
                <a:gridCol w="5389418">
                  <a:extLst>
                    <a:ext uri="{9D8B030D-6E8A-4147-A177-3AD203B41FA5}">
                      <a16:colId xmlns:a16="http://schemas.microsoft.com/office/drawing/2014/main" val="4140016092"/>
                    </a:ext>
                  </a:extLst>
                </a:gridCol>
              </a:tblGrid>
              <a:tr h="370840">
                <a:tc gridSpan="2"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走势分析框架：月护型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➡️周护型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➡️周地型➡️周柱型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下注冲高机会：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金银，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甲乙，前柱在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4041235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三视角：</a:t>
                      </a:r>
                      <a:endParaRPr lang="en-US" altLang="zh-CN" sz="10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每当迷茫时复习观察视角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700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视角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：以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护段，为大势视角。应只做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金银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。祖训：绝不介入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之下。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视角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：以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单线，为阴阳分界视角。介入后按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视角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：以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正交，为持仓视角。优选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&lt;WXAB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甲乙己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，余也可持。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视角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：不存在日线视角，千万不要被日线带偏误导。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583182"/>
                  </a:ext>
                </a:extLst>
              </a:tr>
            </a:tbl>
          </a:graphicData>
        </a:graphic>
      </p:graphicFrame>
      <p:graphicFrame>
        <p:nvGraphicFramePr>
          <p:cNvPr id="9" name="表格 8">
            <a:extLst>
              <a:ext uri="{FF2B5EF4-FFF2-40B4-BE49-F238E27FC236}">
                <a16:creationId xmlns:a16="http://schemas.microsoft.com/office/drawing/2014/main" id="{E87993E9-FDB4-8E4E-A269-A320D8C73F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8744328"/>
              </p:ext>
            </p:extLst>
          </p:nvPr>
        </p:nvGraphicFramePr>
        <p:xfrm>
          <a:off x="1" y="2689680"/>
          <a:ext cx="6096000" cy="2895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9584">
                  <a:extLst>
                    <a:ext uri="{9D8B030D-6E8A-4147-A177-3AD203B41FA5}">
                      <a16:colId xmlns:a16="http://schemas.microsoft.com/office/drawing/2014/main" val="1180795566"/>
                    </a:ext>
                  </a:extLst>
                </a:gridCol>
                <a:gridCol w="5256416">
                  <a:extLst>
                    <a:ext uri="{9D8B030D-6E8A-4147-A177-3AD203B41FA5}">
                      <a16:colId xmlns:a16="http://schemas.microsoft.com/office/drawing/2014/main" val="125495890"/>
                    </a:ext>
                  </a:extLst>
                </a:gridCol>
              </a:tblGrid>
              <a:tr h="16362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视角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：以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正交，为持仓视角。</a:t>
                      </a:r>
                      <a:endParaRPr lang="en-US" altLang="zh-CN" sz="8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简要操作方法，当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正交后介入，以</a:t>
                      </a:r>
                      <a:r>
                        <a:rPr lang="en-US" altLang="zh-CN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7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98631864"/>
                  </a:ext>
                </a:extLst>
              </a:tr>
              <a:tr h="282632">
                <a:tc rowSpan="3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关注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变化的临界态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由负转正时的震荡：含围绕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初始正交：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，作为长期介入点备选。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W2I/W2i/W1v/W6v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：若能保持在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之上，将导致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正交。重点关注是否形成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之上柱排。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W3h/W3u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：属于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戊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，应归为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之下震荡，面临方向选择。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2615729"/>
                  </a:ext>
                </a:extLst>
              </a:tr>
              <a:tr h="307425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由正转负时的震荡：含围绕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劫：下破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后，不要退出。主升后可能转为围绕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无序震荡。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劫：下破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后，不一定负交，可能再次站上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。不下破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不退出，可保证经过最高点。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6666144"/>
                  </a:ext>
                </a:extLst>
              </a:tr>
              <a:tr h="153712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初始相交：把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初始相交单列，作为周机会入口，不要每次从周中介入。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6077916"/>
                  </a:ext>
                </a:extLst>
              </a:tr>
              <a:tr h="63964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的正交位置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20260611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极其重要的发现）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配合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：确定大势的转变，牢记算法核心是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，确定大势的工具是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在远低于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的位置，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转为正交，此时可能是跌趋势的中间调整。不会逆转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在贴近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的位置（或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位置），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转为正交，此时代表开启升趋势。可能出现由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正交导致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所以，升趋势条件为（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WXCD&gt;0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在远高于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的位置，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转为负交，此时可能是升趋势的调整。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在贴近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的位置（或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位置），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转为负交，此时代表开启跌趋势。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所以，降趋势条件为（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527798"/>
                  </a:ext>
                </a:extLst>
              </a:tr>
            </a:tbl>
          </a:graphicData>
        </a:graphic>
      </p:graphicFrame>
      <p:graphicFrame>
        <p:nvGraphicFramePr>
          <p:cNvPr id="11" name="表格 10">
            <a:extLst>
              <a:ext uri="{FF2B5EF4-FFF2-40B4-BE49-F238E27FC236}">
                <a16:creationId xmlns:a16="http://schemas.microsoft.com/office/drawing/2014/main" id="{8C17842F-61A4-420F-E2E5-2106B13E62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9891471"/>
              </p:ext>
            </p:extLst>
          </p:nvPr>
        </p:nvGraphicFramePr>
        <p:xfrm>
          <a:off x="6096001" y="2689680"/>
          <a:ext cx="6095999" cy="1127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095999">
                  <a:extLst>
                    <a:ext uri="{9D8B030D-6E8A-4147-A177-3AD203B41FA5}">
                      <a16:colId xmlns:a16="http://schemas.microsoft.com/office/drawing/2014/main" val="389630628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视角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：日类视角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100433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日仓类：基于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DJCDE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的模型，辅助判定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，要等待上破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，从而出现导致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正交的基本条件。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903724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领先于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变化：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后，最好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保持正交。一旦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改变状态，可能是中途震荡，也可能改变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后，最好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保持负交。一旦出现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正交，代表出现转升的最基本条件，但要等待上破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，即凑齐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DJC+DXAB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的基本条件。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33217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489312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04309A-E456-BC25-2C3F-0B04D2AB79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标题 1">
            <a:extLst>
              <a:ext uri="{FF2B5EF4-FFF2-40B4-BE49-F238E27FC236}">
                <a16:creationId xmlns:a16="http://schemas.microsoft.com/office/drawing/2014/main" id="{C2F26C50-81D4-437C-F149-B64A5AF2BD53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必赢战法步骤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1.WXCD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定位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大丘</a:t>
            </a:r>
            <a:b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本页内容：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定位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大丘。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EA10534D-0BCC-3B3E-2BFF-B4543C0ACE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2489186"/>
              </p:ext>
            </p:extLst>
          </p:nvPr>
        </p:nvGraphicFramePr>
        <p:xfrm>
          <a:off x="-1" y="720000"/>
          <a:ext cx="5384801" cy="3916680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29953">
                  <a:extLst>
                    <a:ext uri="{9D8B030D-6E8A-4147-A177-3AD203B41FA5}">
                      <a16:colId xmlns:a16="http://schemas.microsoft.com/office/drawing/2014/main" val="2002203203"/>
                    </a:ext>
                  </a:extLst>
                </a:gridCol>
                <a:gridCol w="4554848">
                  <a:extLst>
                    <a:ext uri="{9D8B030D-6E8A-4147-A177-3AD203B41FA5}">
                      <a16:colId xmlns:a16="http://schemas.microsoft.com/office/drawing/2014/main" val="1259128911"/>
                    </a:ext>
                  </a:extLst>
                </a:gridCol>
              </a:tblGrid>
              <a:tr h="357363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步骤</a:t>
                      </a:r>
                      <a:r>
                        <a:rPr lang="en-US" altLang="zh-CN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1.</a:t>
                      </a: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利用</a:t>
                      </a:r>
                      <a:r>
                        <a:rPr lang="en-US" altLang="zh-CN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定位</a:t>
                      </a:r>
                      <a:r>
                        <a:rPr lang="en-US" altLang="zh-CN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</a:t>
                      </a:r>
                      <a:r>
                        <a:rPr lang="en-US" altLang="zh-CN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回答问题：何处会有</a:t>
                      </a:r>
                      <a:r>
                        <a:rPr lang="en-US" altLang="zh-CN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大丘？ </a:t>
                      </a:r>
                      <a:r>
                        <a:rPr lang="en-US" altLang="zh-CN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代表阴阳转换。</a:t>
                      </a:r>
                      <a:endParaRPr lang="en-US" altLang="zh-CN" sz="8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</a:t>
                      </a:r>
                      <a:r>
                        <a:rPr lang="en-US" altLang="zh-CN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20260611</a:t>
                      </a: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：根据护线模型，针对</a:t>
                      </a:r>
                      <a:r>
                        <a:rPr lang="en-US" altLang="zh-CN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，严格选择护型</a:t>
                      </a:r>
                      <a:r>
                        <a:rPr lang="en-US" altLang="zh-CN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甲乙己</a:t>
                      </a:r>
                      <a:r>
                        <a:rPr lang="en-US" altLang="zh-CN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，且不选择夹在</a:t>
                      </a:r>
                      <a:r>
                        <a:rPr lang="en-US" altLang="zh-CN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之间的情况（乙戊），这是在筛选月势时剔除</a:t>
                      </a:r>
                      <a:r>
                        <a:rPr lang="en-US" altLang="zh-CN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X0</a:t>
                      </a: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的最好解释（</a:t>
                      </a:r>
                      <a:r>
                        <a:rPr lang="en-US" altLang="zh-CN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X0</a:t>
                      </a: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是跌趋势的反弹而非升趋势的蓄势）。</a:t>
                      </a:r>
                      <a:endParaRPr lang="en-US" altLang="zh-CN" sz="800" b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</a:t>
                      </a:r>
                      <a:r>
                        <a:rPr lang="en-US" altLang="zh-CN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20260303</a:t>
                      </a: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：只按</a:t>
                      </a:r>
                      <a:r>
                        <a:rPr lang="en-US" altLang="zh-CN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来观察大势，不要惨杂</a:t>
                      </a:r>
                      <a:r>
                        <a:rPr lang="en-US" altLang="zh-CN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r>
                        <a:rPr lang="en-US" altLang="zh-CN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只是止损方法的其中一种，不要强制在</a:t>
                      </a:r>
                      <a:r>
                        <a:rPr lang="en-US" altLang="zh-CN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WJDCB</a:t>
                      </a: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800" b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89376455"/>
                  </a:ext>
                </a:extLst>
              </a:tr>
              <a:tr h="7805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（存在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WXZD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交叉）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阶段特点：属于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月底震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月主降阶段，出现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大丘的比例较小，要首先解决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如何向正交过渡。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关注特殊情况：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WJE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后：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/M1v/M1w/M1be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。震荡或主升。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介于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WJE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/M6w/M6v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。很可能震荡。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介于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/M6v/M5e/M3h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。极可能震荡。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醍醐灌顶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20260303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：当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WXCD&lt;0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时，要不要关注刚上破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？不重要，“仅观察”，很可能是诱多。更重要区域是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所代表的月主升区域。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由负转正可能经过不同类型的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震荡过程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完成：为躲避震荡损耗，应要求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时必须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0.</a:t>
                      </a: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WJE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之上多次震荡→然后形成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转为正交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&amp;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WJE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之间多次震荡→然后形成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转为正交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&amp;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之间多次震荡→然后形成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转为正交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&amp;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566593"/>
                  </a:ext>
                </a:extLst>
              </a:tr>
              <a:tr h="319745">
                <a:tc rowSpan="3"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WXCD&gt;0</a:t>
                      </a:r>
                    </a:p>
                  </a:txBody>
                  <a:tcPr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依赖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划分阶段：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 algn="l" defTabSz="914400" rtl="0" eaLnBrk="1" latinLnBrk="0" hangingPunct="1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kern="12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底部震荡阶段：存在</a:t>
                      </a:r>
                      <a:r>
                        <a:rPr lang="en-US" altLang="zh-CN" sz="700" kern="12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WXZD</a:t>
                      </a:r>
                      <a:r>
                        <a:rPr lang="zh-CN" altLang="en-US" sz="700" kern="12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交叉。可能会出现频繁交叉、无序波动、极短周期波段。</a:t>
                      </a:r>
                    </a:p>
                    <a:p>
                      <a:pPr marL="628650" lvl="1" indent="-171450" algn="l" defTabSz="914400" rtl="0" eaLnBrk="1" latinLnBrk="0" hangingPunct="1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kern="12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主升阶段：不存在</a:t>
                      </a:r>
                      <a:r>
                        <a:rPr lang="en-US" altLang="zh-CN" sz="700" kern="12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WXZD</a:t>
                      </a:r>
                      <a:r>
                        <a:rPr lang="zh-CN" altLang="en-US" sz="700" kern="12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交叉。最易出现</a:t>
                      </a:r>
                      <a:r>
                        <a:rPr lang="en-US" altLang="zh-CN" sz="700" kern="12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WJC</a:t>
                      </a:r>
                      <a:r>
                        <a:rPr lang="zh-CN" altLang="en-US" sz="700" kern="12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大丘。</a:t>
                      </a:r>
                    </a:p>
                    <a:p>
                      <a:pPr marL="628650" lvl="1" indent="-171450" algn="l" defTabSz="914400" rtl="0" eaLnBrk="1" latinLnBrk="0" hangingPunct="1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kern="12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顶部震荡阶段：存在</a:t>
                      </a:r>
                      <a:r>
                        <a:rPr lang="en-US" altLang="zh-CN" sz="700" kern="12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WXZD</a:t>
                      </a:r>
                      <a:r>
                        <a:rPr lang="zh-CN" altLang="en-US" sz="700" kern="12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交叉。可能会出现频繁交叉、无序波动、极短周期波段。</a:t>
                      </a:r>
                      <a:endParaRPr lang="en-US" altLang="zh-CN" sz="700" kern="12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3013725"/>
                  </a:ext>
                </a:extLst>
              </a:tr>
              <a:tr h="385576"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丘的演化规律：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由阴转阳→持续时长由短至长再至短→由阳转阴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关注问题：何时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丘会由短期震荡转为完整大丘？→然后在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整弧中寻找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整弧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：已出现完整丘。在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转变为正交后，已出现过持续时间较正常的完整弧。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：正交后未下破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转变为正交后，未下破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即开始再次向上开启主升整弧。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：月级别蓄势。在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MJD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之间长期多柱盘整。（重庆钢铁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202507-202601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4475500"/>
                  </a:ext>
                </a:extLst>
              </a:tr>
              <a:tr h="451405"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出现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大丘条件：只要不导致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负交，且未冲高，就会产生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基本要求：不下破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，从而不会导致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负交；若下破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，则可能由正转负。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要求未冲高：理想情况是月线图中波段逐步放大的情况。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大丘的前导：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/WXZB/WXAB/WXAC/WXBC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，劫后会形成较大的整弧。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从月线图观察：周劫对应于月级别调整（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/MXZA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劫）。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特殊情况：存在下破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后可介入情况，只要在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之下已转向向上（利用柱排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站上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428386"/>
                  </a:ext>
                </a:extLst>
              </a:tr>
              <a:tr h="122256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转负</a:t>
                      </a:r>
                    </a:p>
                  </a:txBody>
                  <a:tcPr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丘的演化规律：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由阳转阴→持续时长由短至长再至短→由阴转阳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6471631"/>
                  </a:ext>
                </a:extLst>
              </a:tr>
            </a:tbl>
          </a:graphicData>
        </a:graphic>
      </p:graphicFrame>
      <p:grpSp>
        <p:nvGrpSpPr>
          <p:cNvPr id="14" name="组合 13">
            <a:extLst>
              <a:ext uri="{FF2B5EF4-FFF2-40B4-BE49-F238E27FC236}">
                <a16:creationId xmlns:a16="http://schemas.microsoft.com/office/drawing/2014/main" id="{DE2ACE9C-C33B-9FCC-54E7-E87661F2CA49}"/>
              </a:ext>
            </a:extLst>
          </p:cNvPr>
          <p:cNvGrpSpPr/>
          <p:nvPr/>
        </p:nvGrpSpPr>
        <p:grpSpPr>
          <a:xfrm>
            <a:off x="-13205" y="4855314"/>
            <a:ext cx="5648377" cy="2002687"/>
            <a:chOff x="6089399" y="4855313"/>
            <a:chExt cx="5648377" cy="2002687"/>
          </a:xfrm>
        </p:grpSpPr>
        <p:sp>
          <p:nvSpPr>
            <p:cNvPr id="7" name="任意多边形: 形状 6">
              <a:extLst>
                <a:ext uri="{FF2B5EF4-FFF2-40B4-BE49-F238E27FC236}">
                  <a16:creationId xmlns:a16="http://schemas.microsoft.com/office/drawing/2014/main" id="{55169CBD-C4D9-6A7D-12C6-92D91BA5947B}"/>
                </a:ext>
              </a:extLst>
            </p:cNvPr>
            <p:cNvSpPr/>
            <p:nvPr/>
          </p:nvSpPr>
          <p:spPr>
            <a:xfrm>
              <a:off x="6639996" y="5579151"/>
              <a:ext cx="5097780" cy="192998"/>
            </a:xfrm>
            <a:custGeom>
              <a:avLst/>
              <a:gdLst>
                <a:gd name="connsiteX0" fmla="*/ 0 w 4411980"/>
                <a:gd name="connsiteY0" fmla="*/ 91440 h 192998"/>
                <a:gd name="connsiteX1" fmla="*/ 2232660 w 4411980"/>
                <a:gd name="connsiteY1" fmla="*/ 190500 h 192998"/>
                <a:gd name="connsiteX2" fmla="*/ 4411980 w 4411980"/>
                <a:gd name="connsiteY2" fmla="*/ 0 h 192998"/>
                <a:gd name="connsiteX3" fmla="*/ 4411980 w 4411980"/>
                <a:gd name="connsiteY3" fmla="*/ 0 h 19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11980" h="192998">
                  <a:moveTo>
                    <a:pt x="0" y="91440"/>
                  </a:moveTo>
                  <a:cubicBezTo>
                    <a:pt x="748665" y="148590"/>
                    <a:pt x="1497330" y="205740"/>
                    <a:pt x="2232660" y="190500"/>
                  </a:cubicBezTo>
                  <a:cubicBezTo>
                    <a:pt x="2967990" y="175260"/>
                    <a:pt x="4411980" y="0"/>
                    <a:pt x="4411980" y="0"/>
                  </a:cubicBezTo>
                  <a:lnTo>
                    <a:pt x="441198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" name="任意多边形: 形状 8">
              <a:extLst>
                <a:ext uri="{FF2B5EF4-FFF2-40B4-BE49-F238E27FC236}">
                  <a16:creationId xmlns:a16="http://schemas.microsoft.com/office/drawing/2014/main" id="{CB43108A-ACEF-E070-4A83-0D6A1B06723F}"/>
                </a:ext>
              </a:extLst>
            </p:cNvPr>
            <p:cNvSpPr/>
            <p:nvPr/>
          </p:nvSpPr>
          <p:spPr>
            <a:xfrm>
              <a:off x="6853356" y="4901033"/>
              <a:ext cx="4823460" cy="1356236"/>
            </a:xfrm>
            <a:custGeom>
              <a:avLst/>
              <a:gdLst>
                <a:gd name="connsiteX0" fmla="*/ 0 w 4823460"/>
                <a:gd name="connsiteY0" fmla="*/ 640080 h 1356236"/>
                <a:gd name="connsiteX1" fmla="*/ 487680 w 4823460"/>
                <a:gd name="connsiteY1" fmla="*/ 1196340 h 1356236"/>
                <a:gd name="connsiteX2" fmla="*/ 1722120 w 4823460"/>
                <a:gd name="connsiteY2" fmla="*/ 1348740 h 1356236"/>
                <a:gd name="connsiteX3" fmla="*/ 3192780 w 4823460"/>
                <a:gd name="connsiteY3" fmla="*/ 1013460 h 1356236"/>
                <a:gd name="connsiteX4" fmla="*/ 3863340 w 4823460"/>
                <a:gd name="connsiteY4" fmla="*/ 449580 h 1356236"/>
                <a:gd name="connsiteX5" fmla="*/ 4297680 w 4823460"/>
                <a:gd name="connsiteY5" fmla="*/ 586740 h 1356236"/>
                <a:gd name="connsiteX6" fmla="*/ 4823460 w 4823460"/>
                <a:gd name="connsiteY6" fmla="*/ 0 h 135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3460" h="1356236">
                  <a:moveTo>
                    <a:pt x="0" y="640080"/>
                  </a:moveTo>
                  <a:cubicBezTo>
                    <a:pt x="100330" y="859155"/>
                    <a:pt x="200660" y="1078230"/>
                    <a:pt x="487680" y="1196340"/>
                  </a:cubicBezTo>
                  <a:cubicBezTo>
                    <a:pt x="774700" y="1314450"/>
                    <a:pt x="1271270" y="1379220"/>
                    <a:pt x="1722120" y="1348740"/>
                  </a:cubicBezTo>
                  <a:cubicBezTo>
                    <a:pt x="2172970" y="1318260"/>
                    <a:pt x="2835910" y="1163320"/>
                    <a:pt x="3192780" y="1013460"/>
                  </a:cubicBezTo>
                  <a:cubicBezTo>
                    <a:pt x="3549650" y="863600"/>
                    <a:pt x="3679190" y="520700"/>
                    <a:pt x="3863340" y="449580"/>
                  </a:cubicBezTo>
                  <a:cubicBezTo>
                    <a:pt x="4047490" y="378460"/>
                    <a:pt x="4137660" y="661670"/>
                    <a:pt x="4297680" y="586740"/>
                  </a:cubicBezTo>
                  <a:cubicBezTo>
                    <a:pt x="4457700" y="511810"/>
                    <a:pt x="4640580" y="255905"/>
                    <a:pt x="4823460" y="0"/>
                  </a:cubicBezTo>
                </a:path>
              </a:pathLst>
            </a:custGeom>
            <a:noFill/>
            <a:ln w="317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" name="任意多边形: 形状 9">
              <a:extLst>
                <a:ext uri="{FF2B5EF4-FFF2-40B4-BE49-F238E27FC236}">
                  <a16:creationId xmlns:a16="http://schemas.microsoft.com/office/drawing/2014/main" id="{E6D155B4-A500-DEF6-0869-C2EF32C39629}"/>
                </a:ext>
              </a:extLst>
            </p:cNvPr>
            <p:cNvSpPr/>
            <p:nvPr/>
          </p:nvSpPr>
          <p:spPr>
            <a:xfrm>
              <a:off x="6685716" y="4855313"/>
              <a:ext cx="5013960" cy="1623063"/>
            </a:xfrm>
            <a:custGeom>
              <a:avLst/>
              <a:gdLst>
                <a:gd name="connsiteX0" fmla="*/ 0 w 5013960"/>
                <a:gd name="connsiteY0" fmla="*/ 822960 h 1623063"/>
                <a:gd name="connsiteX1" fmla="*/ 289560 w 5013960"/>
                <a:gd name="connsiteY1" fmla="*/ 1363980 h 1623063"/>
                <a:gd name="connsiteX2" fmla="*/ 754380 w 5013960"/>
                <a:gd name="connsiteY2" fmla="*/ 1303020 h 1623063"/>
                <a:gd name="connsiteX3" fmla="*/ 891540 w 5013960"/>
                <a:gd name="connsiteY3" fmla="*/ 1440180 h 1623063"/>
                <a:gd name="connsiteX4" fmla="*/ 1409700 w 5013960"/>
                <a:gd name="connsiteY4" fmla="*/ 1219200 h 1623063"/>
                <a:gd name="connsiteX5" fmla="*/ 1722120 w 5013960"/>
                <a:gd name="connsiteY5" fmla="*/ 1623060 h 1623063"/>
                <a:gd name="connsiteX6" fmla="*/ 2247900 w 5013960"/>
                <a:gd name="connsiteY6" fmla="*/ 1226820 h 1623063"/>
                <a:gd name="connsiteX7" fmla="*/ 2560320 w 5013960"/>
                <a:gd name="connsiteY7" fmla="*/ 1463040 h 1623063"/>
                <a:gd name="connsiteX8" fmla="*/ 2994660 w 5013960"/>
                <a:gd name="connsiteY8" fmla="*/ 1043940 h 1623063"/>
                <a:gd name="connsiteX9" fmla="*/ 3139440 w 5013960"/>
                <a:gd name="connsiteY9" fmla="*/ 1158240 h 1623063"/>
                <a:gd name="connsiteX10" fmla="*/ 3436620 w 5013960"/>
                <a:gd name="connsiteY10" fmla="*/ 739140 h 1623063"/>
                <a:gd name="connsiteX11" fmla="*/ 3741420 w 5013960"/>
                <a:gd name="connsiteY11" fmla="*/ 1143000 h 1623063"/>
                <a:gd name="connsiteX12" fmla="*/ 3931920 w 5013960"/>
                <a:gd name="connsiteY12" fmla="*/ 411480 h 1623063"/>
                <a:gd name="connsiteX13" fmla="*/ 4259580 w 5013960"/>
                <a:gd name="connsiteY13" fmla="*/ 708660 h 1623063"/>
                <a:gd name="connsiteX14" fmla="*/ 4678680 w 5013960"/>
                <a:gd name="connsiteY14" fmla="*/ 312420 h 1623063"/>
                <a:gd name="connsiteX15" fmla="*/ 4892040 w 5013960"/>
                <a:gd name="connsiteY15" fmla="*/ 419100 h 1623063"/>
                <a:gd name="connsiteX16" fmla="*/ 5013960 w 5013960"/>
                <a:gd name="connsiteY16" fmla="*/ 0 h 1623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13960" h="1623063">
                  <a:moveTo>
                    <a:pt x="0" y="822960"/>
                  </a:moveTo>
                  <a:cubicBezTo>
                    <a:pt x="81915" y="1053465"/>
                    <a:pt x="163830" y="1283970"/>
                    <a:pt x="289560" y="1363980"/>
                  </a:cubicBezTo>
                  <a:cubicBezTo>
                    <a:pt x="415290" y="1443990"/>
                    <a:pt x="654050" y="1290320"/>
                    <a:pt x="754380" y="1303020"/>
                  </a:cubicBezTo>
                  <a:cubicBezTo>
                    <a:pt x="854710" y="1315720"/>
                    <a:pt x="782320" y="1454150"/>
                    <a:pt x="891540" y="1440180"/>
                  </a:cubicBezTo>
                  <a:cubicBezTo>
                    <a:pt x="1000760" y="1426210"/>
                    <a:pt x="1271270" y="1188720"/>
                    <a:pt x="1409700" y="1219200"/>
                  </a:cubicBezTo>
                  <a:cubicBezTo>
                    <a:pt x="1548130" y="1249680"/>
                    <a:pt x="1582420" y="1621790"/>
                    <a:pt x="1722120" y="1623060"/>
                  </a:cubicBezTo>
                  <a:cubicBezTo>
                    <a:pt x="1861820" y="1624330"/>
                    <a:pt x="2108200" y="1253490"/>
                    <a:pt x="2247900" y="1226820"/>
                  </a:cubicBezTo>
                  <a:cubicBezTo>
                    <a:pt x="2387600" y="1200150"/>
                    <a:pt x="2435860" y="1493520"/>
                    <a:pt x="2560320" y="1463040"/>
                  </a:cubicBezTo>
                  <a:cubicBezTo>
                    <a:pt x="2684780" y="1432560"/>
                    <a:pt x="2898140" y="1094740"/>
                    <a:pt x="2994660" y="1043940"/>
                  </a:cubicBezTo>
                  <a:cubicBezTo>
                    <a:pt x="3091180" y="993140"/>
                    <a:pt x="3065780" y="1209040"/>
                    <a:pt x="3139440" y="1158240"/>
                  </a:cubicBezTo>
                  <a:cubicBezTo>
                    <a:pt x="3213100" y="1107440"/>
                    <a:pt x="3336290" y="741680"/>
                    <a:pt x="3436620" y="739140"/>
                  </a:cubicBezTo>
                  <a:cubicBezTo>
                    <a:pt x="3536950" y="736600"/>
                    <a:pt x="3658870" y="1197610"/>
                    <a:pt x="3741420" y="1143000"/>
                  </a:cubicBezTo>
                  <a:cubicBezTo>
                    <a:pt x="3823970" y="1088390"/>
                    <a:pt x="3845560" y="483870"/>
                    <a:pt x="3931920" y="411480"/>
                  </a:cubicBezTo>
                  <a:cubicBezTo>
                    <a:pt x="4018280" y="339090"/>
                    <a:pt x="4135120" y="725170"/>
                    <a:pt x="4259580" y="708660"/>
                  </a:cubicBezTo>
                  <a:cubicBezTo>
                    <a:pt x="4384040" y="692150"/>
                    <a:pt x="4573270" y="360680"/>
                    <a:pt x="4678680" y="312420"/>
                  </a:cubicBezTo>
                  <a:cubicBezTo>
                    <a:pt x="4784090" y="264160"/>
                    <a:pt x="4836160" y="471170"/>
                    <a:pt x="4892040" y="419100"/>
                  </a:cubicBezTo>
                  <a:cubicBezTo>
                    <a:pt x="4947920" y="367030"/>
                    <a:pt x="4980940" y="183515"/>
                    <a:pt x="5013960" y="0"/>
                  </a:cubicBezTo>
                </a:path>
              </a:pathLst>
            </a:custGeom>
            <a:noFill/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" name="文本框 10">
              <a:extLst>
                <a:ext uri="{FF2B5EF4-FFF2-40B4-BE49-F238E27FC236}">
                  <a16:creationId xmlns:a16="http://schemas.microsoft.com/office/drawing/2014/main" id="{F5CEB2D1-ED72-E364-B72E-5CC31515B595}"/>
                </a:ext>
              </a:extLst>
            </p:cNvPr>
            <p:cNvSpPr txBox="1"/>
            <p:nvPr/>
          </p:nvSpPr>
          <p:spPr>
            <a:xfrm>
              <a:off x="6089399" y="5490984"/>
              <a:ext cx="59631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/>
                <a:t>WJD</a:t>
              </a:r>
              <a:endParaRPr lang="zh-CN" altLang="en-US" dirty="0"/>
            </a:p>
          </p:txBody>
        </p:sp>
        <p:sp>
          <p:nvSpPr>
            <p:cNvPr id="12" name="文本框 11">
              <a:extLst>
                <a:ext uri="{FF2B5EF4-FFF2-40B4-BE49-F238E27FC236}">
                  <a16:creationId xmlns:a16="http://schemas.microsoft.com/office/drawing/2014/main" id="{476BF0BE-BF16-9227-31C7-44EF28E8426E}"/>
                </a:ext>
              </a:extLst>
            </p:cNvPr>
            <p:cNvSpPr txBox="1"/>
            <p:nvPr/>
          </p:nvSpPr>
          <p:spPr>
            <a:xfrm>
              <a:off x="6089399" y="5262235"/>
              <a:ext cx="57708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/>
                <a:t>WJC</a:t>
              </a:r>
              <a:endParaRPr lang="zh-CN" altLang="en-US" dirty="0"/>
            </a:p>
          </p:txBody>
        </p:sp>
        <p:sp>
          <p:nvSpPr>
            <p:cNvPr id="13" name="文本框 12">
              <a:extLst>
                <a:ext uri="{FF2B5EF4-FFF2-40B4-BE49-F238E27FC236}">
                  <a16:creationId xmlns:a16="http://schemas.microsoft.com/office/drawing/2014/main" id="{7688539E-A1ED-F82F-9360-1F63825DC6ED}"/>
                </a:ext>
              </a:extLst>
            </p:cNvPr>
            <p:cNvSpPr txBox="1"/>
            <p:nvPr/>
          </p:nvSpPr>
          <p:spPr>
            <a:xfrm>
              <a:off x="6769536" y="6457890"/>
              <a:ext cx="411843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zh-CN" altLang="en-US" sz="10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正常主升浪必为</a:t>
              </a:r>
              <a:r>
                <a:rPr lang="en-US" altLang="zh-CN" sz="10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WXCD</a:t>
              </a:r>
              <a:r>
                <a:rPr lang="zh-CN" altLang="en-US" sz="10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＞</a:t>
              </a:r>
              <a:r>
                <a:rPr lang="en-US" altLang="zh-CN" sz="10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r>
                <a:rPr lang="zh-CN" altLang="en-US" sz="10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。</a:t>
              </a:r>
              <a:endPara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zh-CN" altLang="en-US" sz="10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当</a:t>
              </a:r>
              <a:r>
                <a:rPr lang="en-US" altLang="zh-CN" sz="10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WXCD</a:t>
              </a:r>
              <a:r>
                <a:rPr lang="zh-CN" altLang="en-US" sz="10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＜</a:t>
              </a:r>
              <a:r>
                <a:rPr lang="en-US" altLang="zh-CN" sz="10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r>
                <a:rPr lang="zh-CN" altLang="en-US" sz="10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时只有少数形成主升，要求</a:t>
              </a:r>
              <a:r>
                <a:rPr lang="en-US" altLang="zh-CN" sz="10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WXZD</a:t>
              </a:r>
              <a:r>
                <a:rPr lang="zh-CN" altLang="en-US" sz="10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＞</a:t>
              </a:r>
              <a:r>
                <a:rPr lang="en-US" altLang="zh-CN" sz="10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r>
                <a:rPr lang="zh-CN" altLang="en-US" sz="10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过滤底部震荡。</a:t>
              </a:r>
              <a:endParaRPr lang="zh-CN" altLang="en-US" sz="1000" dirty="0"/>
            </a:p>
          </p:txBody>
        </p:sp>
      </p:grpSp>
      <p:graphicFrame>
        <p:nvGraphicFramePr>
          <p:cNvPr id="2" name="表格 1">
            <a:extLst>
              <a:ext uri="{FF2B5EF4-FFF2-40B4-BE49-F238E27FC236}">
                <a16:creationId xmlns:a16="http://schemas.microsoft.com/office/drawing/2014/main" id="{6E88F264-64F2-9130-DC38-5CB607EBED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750484"/>
              </p:ext>
            </p:extLst>
          </p:nvPr>
        </p:nvGraphicFramePr>
        <p:xfrm>
          <a:off x="6090233" y="4937760"/>
          <a:ext cx="6096001" cy="1920240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939569">
                  <a:extLst>
                    <a:ext uri="{9D8B030D-6E8A-4147-A177-3AD203B41FA5}">
                      <a16:colId xmlns:a16="http://schemas.microsoft.com/office/drawing/2014/main" val="2002203203"/>
                    </a:ext>
                  </a:extLst>
                </a:gridCol>
                <a:gridCol w="5156432">
                  <a:extLst>
                    <a:ext uri="{9D8B030D-6E8A-4147-A177-3AD203B41FA5}">
                      <a16:colId xmlns:a16="http://schemas.microsoft.com/office/drawing/2014/main" val="1259128911"/>
                    </a:ext>
                  </a:extLst>
                </a:gridCol>
              </a:tblGrid>
              <a:tr h="216867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问题：何时会有大丘？</a:t>
                      </a:r>
                      <a:endParaRPr lang="en-US" altLang="zh-CN" sz="8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答案</a:t>
                      </a:r>
                      <a:r>
                        <a:rPr lang="en-US" altLang="zh-CN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：要利用月与周配合。</a:t>
                      </a:r>
                      <a:endParaRPr lang="en-US" altLang="zh-CN" sz="800" b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答案</a:t>
                      </a:r>
                      <a:r>
                        <a:rPr lang="en-US" altLang="zh-CN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：要看</a:t>
                      </a:r>
                      <a:r>
                        <a:rPr lang="en-US" altLang="zh-CN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WJCBA</a:t>
                      </a:r>
                      <a:r>
                        <a:rPr lang="zh-CN" altLang="en-US" sz="8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排列。</a:t>
                      </a:r>
                      <a:endParaRPr lang="en-US" altLang="zh-CN" sz="800" b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89376455"/>
                  </a:ext>
                </a:extLst>
              </a:tr>
              <a:tr h="33488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答案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：要利用月与周配合。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主要参考月柱排列，并展开为周劫。不要与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MJA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贯穿，或围绕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波动。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lv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月柱排列类型包括：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月连阳：配合周类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/WJA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之上波动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/WXZA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劫，是最有希望出现大丘的情况。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月阳阴阳：配合周类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/WXAB/WXZB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566593"/>
                  </a:ext>
                </a:extLst>
              </a:tr>
              <a:tr h="51259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答案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：要看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WJCBA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排列。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WJCBA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的一般规律：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当长期上升→必有：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WXBC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当长期下跌→必有：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WXBC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基于以上规律，可得以下操盘建议：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对潜在顶部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X7/A7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：要放弃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/WXBC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/WXAC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劫，因为很有可能已向下跌排列转变。即使已再次形成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WJCBA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多头排列，也可能随时转跌。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对潜在底部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A0/X7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：要选取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/WXBC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运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/WXAC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运，因为如果连周级排列还未形成，很可能继续处于长久的底部震荡中。在底部震荡中，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丘的持续时间很短，规模也会较小。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2329926"/>
                  </a:ext>
                </a:extLst>
              </a:tr>
            </a:tbl>
          </a:graphicData>
        </a:graphic>
      </p:graphicFrame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B0D9D2FB-D219-DE92-8F2D-514AAEBBCC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5714881"/>
              </p:ext>
            </p:extLst>
          </p:nvPr>
        </p:nvGraphicFramePr>
        <p:xfrm>
          <a:off x="5384801" y="720000"/>
          <a:ext cx="6807199" cy="4251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5688">
                  <a:extLst>
                    <a:ext uri="{9D8B030D-6E8A-4147-A177-3AD203B41FA5}">
                      <a16:colId xmlns:a16="http://schemas.microsoft.com/office/drawing/2014/main" val="3709643593"/>
                    </a:ext>
                  </a:extLst>
                </a:gridCol>
                <a:gridCol w="1155461">
                  <a:extLst>
                    <a:ext uri="{9D8B030D-6E8A-4147-A177-3AD203B41FA5}">
                      <a16:colId xmlns:a16="http://schemas.microsoft.com/office/drawing/2014/main" val="3768731053"/>
                    </a:ext>
                  </a:extLst>
                </a:gridCol>
                <a:gridCol w="695798">
                  <a:extLst>
                    <a:ext uri="{9D8B030D-6E8A-4147-A177-3AD203B41FA5}">
                      <a16:colId xmlns:a16="http://schemas.microsoft.com/office/drawing/2014/main" val="1020678851"/>
                    </a:ext>
                  </a:extLst>
                </a:gridCol>
                <a:gridCol w="4530252">
                  <a:extLst>
                    <a:ext uri="{9D8B030D-6E8A-4147-A177-3AD203B41FA5}">
                      <a16:colId xmlns:a16="http://schemas.microsoft.com/office/drawing/2014/main" val="1725826316"/>
                    </a:ext>
                  </a:extLst>
                </a:gridCol>
              </a:tblGrid>
              <a:tr h="287665">
                <a:tc gridSpan="4">
                  <a:txBody>
                    <a:bodyPr/>
                    <a:lstStyle/>
                    <a:p>
                      <a:r>
                        <a:rPr lang="en-US" altLang="zh-CN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【WXCD</a:t>
                      </a:r>
                      <a:r>
                        <a:rPr lang="zh-CN" altLang="en-US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交互</a:t>
                      </a:r>
                      <a:r>
                        <a:rPr lang="en-US" altLang="zh-CN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&gt;&lt;WXAB</a:t>
                      </a:r>
                      <a:r>
                        <a:rPr lang="zh-CN" altLang="en-US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双鳄重塑周期。</a:t>
                      </a:r>
                      <a:endParaRPr lang="en-US" altLang="zh-CN" sz="900" dirty="0">
                        <a:solidFill>
                          <a:schemeClr val="accent4">
                            <a:lumMod val="40000"/>
                            <a:lumOff val="60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严格甲乙己。</a:t>
                      </a:r>
                      <a:endParaRPr lang="en-US" altLang="zh-CN" sz="900" dirty="0">
                        <a:solidFill>
                          <a:schemeClr val="accent4">
                            <a:lumMod val="40000"/>
                            <a:lumOff val="60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&lt;WXAB</a:t>
                      </a:r>
                      <a:r>
                        <a:rPr lang="zh-CN" altLang="en-US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注意处于两线之间时，为鳄鱼嘴，是多空转换的方向选择区。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12343530"/>
                  </a:ext>
                </a:extLst>
              </a:tr>
              <a:tr h="235363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区域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周级别节点</a:t>
                      </a:r>
                      <a:endParaRPr lang="en-US" altLang="zh-CN" sz="7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b="1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护型）</a:t>
                      </a:r>
                      <a:endParaRPr lang="zh-CN" altLang="en-US" sz="7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周级别节点</a:t>
                      </a:r>
                      <a:endParaRPr lang="en-US" altLang="zh-CN" sz="7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（参考</a:t>
                      </a:r>
                      <a:r>
                        <a:rPr lang="en-US" altLang="zh-CN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2131728"/>
                  </a:ext>
                </a:extLst>
              </a:tr>
              <a:tr h="0">
                <a:tc rowSpan="6"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WXCD&lt;0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50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[×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丁戊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]WXZC&lt;0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WXAB&lt;0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之下。受到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双重反向加持，是主降阶段。勿参与。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1591454"/>
                  </a:ext>
                </a:extLst>
              </a:tr>
              <a:tr h="174343">
                <a:tc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。进入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鳄鱼嘴，待选择方向。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注意，上破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不意味着转升，对应于日级别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&lt;DXCD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鳄鱼嘴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68909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。不上破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不介入，可保证躲过最低点。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9235289"/>
                  </a:ext>
                </a:extLst>
              </a:tr>
              <a:tr h="235363">
                <a:tc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WXAB&gt;0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方向相反，待统一方向。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之间。进入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鳄鱼嘴，待选择方向。很可能继续向上。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之下。已选择方向向下。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322696"/>
                  </a:ext>
                </a:extLst>
              </a:tr>
              <a:tr h="23536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嘴戊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]WXZC&gt;0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，进入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鳄鱼嘴，待选择方向。很可能诱多。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WXAB&gt;0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，将立刻转为跌趋势。一定要清仓。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WXAB&lt;0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时，勿介入。须等到（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WXZC&lt;0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WXAB&lt;0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）再次进入跌趋势。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67290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 altLang="zh-CN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[√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己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]WXZD&gt;0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甲乙己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方向向上；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丙丁戊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方向向下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2324370"/>
                  </a:ext>
                </a:extLst>
              </a:tr>
              <a:tr h="0">
                <a:tc rowSpan="6"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[√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]WXZC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WXAB&gt;0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之上。受到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双重加持，是主升阶段。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2426504"/>
                  </a:ext>
                </a:extLst>
              </a:tr>
              <a:tr h="174343">
                <a:tc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乙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劫。进入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鳄鱼嘴，待选择方向。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注意，下破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不意味着转跌，除非已冲高，对应于日级别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&lt;DXCD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鳄鱼嘴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99030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丙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。不破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不退出，可保证经过最高点。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4285210"/>
                  </a:ext>
                </a:extLst>
              </a:tr>
              <a:tr h="235363">
                <a:tc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WXAB&lt;0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丁戊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方向相反，待统一方向。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之间。进入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鳄鱼嘴，待选择方向。很可能继续向下。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己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之上。已选择方向向上。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8157380"/>
                  </a:ext>
                </a:extLst>
              </a:tr>
              <a:tr h="23536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嘴乙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]WXZC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，进入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鳄鱼嘴，待选择方向。很可能诱空振仓。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己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，将立刻转为升趋势。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，可观察，勿介入。须等到（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）再介入。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210262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 altLang="zh-CN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[×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丙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]WXZD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甲乙己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方向向上；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丙丁戊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方向向下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193506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1173900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022E0A-855E-1715-1E15-A3F1A0FB9A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>
            <a:extLst>
              <a:ext uri="{FF2B5EF4-FFF2-40B4-BE49-F238E27FC236}">
                <a16:creationId xmlns:a16="http://schemas.microsoft.com/office/drawing/2014/main" id="{A562BB53-1E5E-A528-CD09-CAA89514A9A2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必赢战法步骤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之上寻找上升机会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主题：总结主升中的特殊情况“垒升”，出现的位置、条件。简要概括条件：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或（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且在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WXZD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）；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已正交或将正交；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作参考。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表格 1">
            <a:extLst>
              <a:ext uri="{FF2B5EF4-FFF2-40B4-BE49-F238E27FC236}">
                <a16:creationId xmlns:a16="http://schemas.microsoft.com/office/drawing/2014/main" id="{21C626F9-CAE2-4E94-594C-97D3627404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7963766"/>
              </p:ext>
            </p:extLst>
          </p:nvPr>
        </p:nvGraphicFramePr>
        <p:xfrm>
          <a:off x="-3849" y="701143"/>
          <a:ext cx="5396479" cy="5943600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434667736"/>
                    </a:ext>
                  </a:extLst>
                </a:gridCol>
                <a:gridCol w="648977">
                  <a:extLst>
                    <a:ext uri="{9D8B030D-6E8A-4147-A177-3AD203B41FA5}">
                      <a16:colId xmlns:a16="http://schemas.microsoft.com/office/drawing/2014/main" val="1946556772"/>
                    </a:ext>
                  </a:extLst>
                </a:gridCol>
                <a:gridCol w="3838007">
                  <a:extLst>
                    <a:ext uri="{9D8B030D-6E8A-4147-A177-3AD203B41FA5}">
                      <a16:colId xmlns:a16="http://schemas.microsoft.com/office/drawing/2014/main" val="4276172374"/>
                    </a:ext>
                  </a:extLst>
                </a:gridCol>
                <a:gridCol w="701215">
                  <a:extLst>
                    <a:ext uri="{9D8B030D-6E8A-4147-A177-3AD203B41FA5}">
                      <a16:colId xmlns:a16="http://schemas.microsoft.com/office/drawing/2014/main" val="512905068"/>
                    </a:ext>
                  </a:extLst>
                </a:gridCol>
              </a:tblGrid>
              <a:tr h="616195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牢记：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之下无可取之处，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之上即使有瑕疵也应包容。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简便方法：取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MXAB+WXAB+DXAB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三者共振。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周级别大势：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广义正交时介入，以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止损；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时，介入时一定要求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WXZD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的作用：当满足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正交时，代表日级别升势。仅用于参考，不用于止损。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04608686"/>
                  </a:ext>
                </a:extLst>
              </a:tr>
              <a:tr h="166886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域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子域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子域分情况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区域类别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1800597"/>
                  </a:ext>
                </a:extLst>
              </a:tr>
              <a:tr h="346610">
                <a:tc rowSpan="4">
                  <a:txBody>
                    <a:bodyPr/>
                    <a:lstStyle/>
                    <a:p>
                      <a:pPr algn="l"/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当在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</a:p>
                  </a:txBody>
                  <a:tcPr vert="eaVert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时，且处于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之间，属于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，应舍弃。包括：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：很可能不会形成主升。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X4/X6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：因处于下降趋势，即使大于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仍舍弃。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鸡肋区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192498"/>
                  </a:ext>
                </a:extLst>
              </a:tr>
              <a:tr h="256748">
                <a:tc vMerge="1">
                  <a:txBody>
                    <a:bodyPr/>
                    <a:lstStyle/>
                    <a:p>
                      <a:endParaRPr lang="zh-CN" altLang="en-US" sz="9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，且在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之上。可依赖（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WJC+WXAB+WXZA&lt;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）进行操盘。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：最好经过多次震荡。虽然可能成为主升，但一旦下破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，将立刻转跌，要退出。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试仓区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62338"/>
                  </a:ext>
                </a:extLst>
              </a:tr>
              <a:tr h="1604675">
                <a:tc vMerge="1">
                  <a:txBody>
                    <a:bodyPr/>
                    <a:lstStyle/>
                    <a:p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，且在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之上。依赖（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WJC+WXAB+WXZA&lt;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）进行操盘。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持有区域划分：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退出区：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必退出（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W4v/W4w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止损，是为了容忍（非升排）（下破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多柱）（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被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被动持有区：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之下。因在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之上可忍耐，等待再次转升。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之下。包含（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/W3w/W3h/W3u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主动建仓区：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对应于层再初储。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，且在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之上。包括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/W1v/W2I/W2i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。包含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/W1b/W1e/W1w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。本应属于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主动持有区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主动持有区：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限定为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。此区域保持保持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之上：优选主升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触顶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，对于贴顶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远离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WJA)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需谨慎。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之上不允许止损，必须忍受至下破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才允许卖出。既然等待上破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才介入，就应该对应地，等待下破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再退出。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详细分析，参考依据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关系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关系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之间：不需减仓，也不要主动介入。包括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/W2e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对于不破坏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WJCBA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多头排列的劫（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WXZA/WXZB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），一视同仁。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正常操盘区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7653033"/>
                  </a:ext>
                </a:extLst>
              </a:tr>
              <a:tr h="1335090">
                <a:tc vMerge="1">
                  <a:txBody>
                    <a:bodyPr/>
                    <a:lstStyle/>
                    <a:p>
                      <a:pPr algn="l"/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vert="eaVert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以下情况仅警告：牢记，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之上都可持。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之上升排勿担心；非升排以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为止损。</a:t>
                      </a:r>
                      <a:endParaRPr lang="en-US" altLang="zh-CN" sz="6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之上已冲高。可保留底仓。警惕从远离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，回落下穿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6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之上跌排。不要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。优选主升阶段，弃震荡。</a:t>
                      </a:r>
                      <a:endParaRPr lang="en-US" altLang="zh-CN" sz="6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之下。不要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。首下破可介入，多柱下破要警告。</a:t>
                      </a:r>
                      <a:endParaRPr lang="en-US" altLang="zh-CN" sz="6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之下。只可被动介入，不要主动介入。</a:t>
                      </a:r>
                      <a:endParaRPr lang="en-US" altLang="zh-CN" sz="6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重要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何时考虑沿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的反向运动？当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时要考虑。当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时分以下情况。</a:t>
                      </a:r>
                      <a:endParaRPr lang="en-US" altLang="zh-CN" sz="6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仅下破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，可不考虑沿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反向运动。针对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若出现跌排应考虑。</a:t>
                      </a:r>
                      <a:endParaRPr lang="en-US" altLang="zh-CN" sz="6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</a:t>
                      </a:r>
                      <a:r>
                        <a:rPr lang="zh-CN" altLang="en-US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可考虑</a:t>
                      </a:r>
                      <a:r>
                        <a:rPr lang="zh-CN" altLang="en-US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沿</a:t>
                      </a:r>
                      <a:r>
                        <a:rPr lang="en-US" altLang="zh-CN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的反向运动。</a:t>
                      </a:r>
                      <a:endParaRPr lang="en-US" altLang="zh-CN" sz="6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</a:t>
                      </a:r>
                      <a:r>
                        <a:rPr lang="zh-CN" altLang="en-US" sz="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应考虑</a:t>
                      </a:r>
                      <a:r>
                        <a:rPr lang="zh-CN" altLang="en-US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沿</a:t>
                      </a:r>
                      <a:r>
                        <a:rPr lang="en-US" altLang="zh-CN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的反向运动。</a:t>
                      </a:r>
                      <a:endParaRPr lang="en-US" altLang="zh-CN" sz="6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重要</a:t>
                      </a:r>
                      <a:r>
                        <a:rPr lang="en-US" altLang="zh-CN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如何观察</a:t>
                      </a:r>
                      <a:r>
                        <a:rPr lang="en-US" altLang="zh-CN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之上区域？分为三层。</a:t>
                      </a:r>
                      <a:endParaRPr lang="en-US" altLang="zh-CN" sz="6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第一层</a:t>
                      </a:r>
                      <a:r>
                        <a:rPr lang="en-US" altLang="zh-CN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周管</a:t>
                      </a:r>
                      <a:r>
                        <a:rPr lang="en-US" altLang="zh-CN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（顶</a:t>
                      </a:r>
                      <a:r>
                        <a:rPr lang="en-US" altLang="zh-CN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,WJA</a:t>
                      </a:r>
                      <a:r>
                        <a:rPr lang="zh-CN" altLang="en-US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）：在周管内，主动操作。至少保持底仓持有。</a:t>
                      </a:r>
                      <a:endParaRPr lang="en-US" altLang="zh-CN" sz="6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第二层</a:t>
                      </a:r>
                      <a:r>
                        <a:rPr lang="en-US" altLang="zh-CN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6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眼中要始终有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，仅下破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不要想逃跑。要以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6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第三层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月管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（顶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,WJC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）：对应于</a:t>
                      </a:r>
                      <a:r>
                        <a:rPr lang="en-US" altLang="zh-CN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MJA</a:t>
                      </a:r>
                      <a:r>
                        <a:rPr lang="zh-CN" altLang="en-US" sz="6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2426102"/>
                  </a:ext>
                </a:extLst>
              </a:tr>
              <a:tr h="166886">
                <a:tc rowSpan="3">
                  <a:txBody>
                    <a:bodyPr/>
                    <a:lstStyle/>
                    <a:p>
                      <a:pPr algn="l"/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当在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</a:p>
                  </a:txBody>
                  <a:tcPr vert="eaVert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WXBC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，应退出底仓。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底仓退出区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702869"/>
                  </a:ext>
                </a:extLst>
              </a:tr>
              <a:tr h="346610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vert="eaVert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rowSpan="2"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WXBC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只有在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之上，才可能有参考价值。牢记，仅限于参考。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：应参考。但不应介入。受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WXBC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限制，可能是诱多。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：至少要求在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之上多柱，且经过多次震荡。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法外观察区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9333373"/>
                  </a:ext>
                </a:extLst>
              </a:tr>
              <a:tr h="346610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之下，是禁区。根据与正向规则的镜面对称原理。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之下升排，绝不是机会，一定不要被诱惑。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多柱，虽可能转升，但还不是机会。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绝对禁区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9847176"/>
                  </a:ext>
                </a:extLst>
              </a:tr>
            </a:tbl>
          </a:graphicData>
        </a:graphic>
      </p:graphicFrame>
      <p:graphicFrame>
        <p:nvGraphicFramePr>
          <p:cNvPr id="10" name="表格 9">
            <a:extLst>
              <a:ext uri="{FF2B5EF4-FFF2-40B4-BE49-F238E27FC236}">
                <a16:creationId xmlns:a16="http://schemas.microsoft.com/office/drawing/2014/main" id="{7FEF89A0-29DC-AFC6-811C-D066C85A4B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0011137"/>
              </p:ext>
            </p:extLst>
          </p:nvPr>
        </p:nvGraphicFramePr>
        <p:xfrm>
          <a:off x="6802849" y="2717147"/>
          <a:ext cx="5389151" cy="2281428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914878">
                  <a:extLst>
                    <a:ext uri="{9D8B030D-6E8A-4147-A177-3AD203B41FA5}">
                      <a16:colId xmlns:a16="http://schemas.microsoft.com/office/drawing/2014/main" val="3575352105"/>
                    </a:ext>
                  </a:extLst>
                </a:gridCol>
                <a:gridCol w="4474273">
                  <a:extLst>
                    <a:ext uri="{9D8B030D-6E8A-4147-A177-3AD203B41FA5}">
                      <a16:colId xmlns:a16="http://schemas.microsoft.com/office/drawing/2014/main" val="1344294492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操盘指标：</a:t>
                      </a:r>
                      <a:r>
                        <a:rPr lang="en-US" altLang="zh-CN" sz="700" b="1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WJC+WXAB+&lt;</a:t>
                      </a:r>
                      <a:r>
                        <a:rPr lang="zh-CN" altLang="en-US" sz="700" b="1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周中符：柱与</a:t>
                      </a:r>
                      <a:r>
                        <a:rPr lang="en-US" altLang="zh-CN" sz="700" b="1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1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关系</a:t>
                      </a:r>
                      <a:r>
                        <a:rPr lang="en-US" altLang="zh-CN" sz="700" b="1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&gt;+&lt;</a:t>
                      </a:r>
                      <a:r>
                        <a:rPr lang="zh-CN" altLang="en-US" sz="700" b="1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日中符：柱与</a:t>
                      </a:r>
                      <a:r>
                        <a:rPr lang="en-US" altLang="zh-CN" sz="700" b="1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1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关系</a:t>
                      </a:r>
                      <a:r>
                        <a:rPr lang="en-US" altLang="zh-CN" sz="700" b="1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1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。不再参考其他指标。</a:t>
                      </a:r>
                      <a:endParaRPr lang="en-US" altLang="zh-CN" sz="700" b="1" dirty="0">
                        <a:solidFill>
                          <a:schemeClr val="accent4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广义持有条件：（在</a:t>
                      </a:r>
                      <a:r>
                        <a:rPr lang="en-US" altLang="zh-CN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之上）（</a:t>
                      </a:r>
                      <a:r>
                        <a:rPr lang="en-US" altLang="zh-CN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保持正交）。目标是吃</a:t>
                      </a:r>
                      <a:r>
                        <a:rPr lang="en-US" altLang="zh-CN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正交的增幅，（从</a:t>
                      </a:r>
                      <a:r>
                        <a:rPr lang="en-US" altLang="zh-CN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W1w</a:t>
                      </a:r>
                      <a:r>
                        <a:rPr lang="zh-CN" altLang="en-US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介入，下破</a:t>
                      </a:r>
                      <a:r>
                        <a:rPr lang="en-US" altLang="zh-CN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止损）。</a:t>
                      </a:r>
                      <a:endParaRPr lang="en-US" altLang="zh-CN" sz="700" b="0" dirty="0">
                        <a:solidFill>
                          <a:schemeClr val="accent4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介入条件：当同时满足（在</a:t>
                      </a:r>
                      <a:r>
                        <a:rPr lang="en-US" altLang="zh-CN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之上）（</a:t>
                      </a:r>
                      <a:r>
                        <a:rPr lang="en-US" altLang="zh-CN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已正交或将正交）时介入。</a:t>
                      </a:r>
                      <a:endParaRPr lang="en-US" altLang="zh-CN" sz="700" b="0" dirty="0">
                        <a:solidFill>
                          <a:schemeClr val="accent4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止损条件：当下破</a:t>
                      </a:r>
                      <a:r>
                        <a:rPr lang="en-US" altLang="zh-CN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时退出。                             </a:t>
                      </a:r>
                      <a:endParaRPr lang="en-US" altLang="zh-CN" sz="700" b="0" dirty="0">
                        <a:solidFill>
                          <a:schemeClr val="accent4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474834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是内在动力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时。可包容所有不破坏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正交的劫（包含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劫）。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之上时，看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之下时，看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关系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时，看①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之上柱排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关系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②是否即将导致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43588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是止损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作用：通过以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止损来包容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柱跌排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：用来防止诱多震荡。当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时，要在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之上才可介入。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73717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之上是上升状态的体现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代表意义：在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之上，代表正在上升，但注意不代表会继续上升。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分类释义：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：代表主要上升机会。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之上不允许止损，必须等待下破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才允许卖出。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WTZA=-1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：代表（偶然下破）或（跌势开启）。很可能会反弹站上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。→以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WTZA=1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：代表（偶然上破）或（升势开启）。须等待站稳或回踩。→汇总诱多的典型形态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：代表进入下降。可减至底仓。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针对处于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之上：可借助“顶”定义（主升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震荡）。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694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之上是上升状态的体现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9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代表意义：判定升势以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为准，抓住同时在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之上的主升片段。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分类释义：仿照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分类释义。注意日柱走势的随意性，可能不如周柱具有趋势作用。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769692"/>
                  </a:ext>
                </a:extLst>
              </a:tr>
            </a:tbl>
          </a:graphicData>
        </a:graphic>
      </p:graphicFrame>
      <p:sp>
        <p:nvSpPr>
          <p:cNvPr id="13" name="右大括号 12">
            <a:extLst>
              <a:ext uri="{FF2B5EF4-FFF2-40B4-BE49-F238E27FC236}">
                <a16:creationId xmlns:a16="http://schemas.microsoft.com/office/drawing/2014/main" id="{6D76A1BA-BCBB-0D8B-E078-2D5DA54A02B2}"/>
              </a:ext>
            </a:extLst>
          </p:cNvPr>
          <p:cNvSpPr/>
          <p:nvPr/>
        </p:nvSpPr>
        <p:spPr>
          <a:xfrm>
            <a:off x="5405027" y="2052643"/>
            <a:ext cx="1404371" cy="3554074"/>
          </a:xfrm>
          <a:prstGeom prst="rightBrace">
            <a:avLst>
              <a:gd name="adj1" fmla="val 31168"/>
              <a:gd name="adj2" fmla="val 24237"/>
            </a:avLst>
          </a:prstGeom>
          <a:solidFill>
            <a:schemeClr val="tx1">
              <a:lumMod val="95000"/>
              <a:lumOff val="5000"/>
            </a:schemeClr>
          </a:solidFill>
          <a:ln w="12700">
            <a:solidFill>
              <a:schemeClr val="accent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r>
              <a:rPr lang="zh-CN" altLang="en-US" sz="1200" dirty="0">
                <a:solidFill>
                  <a:schemeClr val="bg1"/>
                </a:solidFill>
              </a:rPr>
              <a:t>针对此区域。</a:t>
            </a:r>
            <a:endParaRPr lang="en-US" altLang="zh-CN" sz="1200" dirty="0">
              <a:solidFill>
                <a:schemeClr val="bg1"/>
              </a:solidFill>
            </a:endParaRPr>
          </a:p>
          <a:p>
            <a:pPr algn="ctr"/>
            <a:endParaRPr lang="en-US" altLang="zh-CN" sz="1200" dirty="0">
              <a:solidFill>
                <a:schemeClr val="bg1"/>
              </a:solidFill>
            </a:endParaRPr>
          </a:p>
          <a:p>
            <a:pPr algn="ctr"/>
            <a:r>
              <a:rPr lang="zh-CN" altLang="en-US" sz="1200" dirty="0">
                <a:solidFill>
                  <a:schemeClr val="bg1"/>
                </a:solidFill>
              </a:rPr>
              <a:t>设计</a:t>
            </a:r>
            <a:endParaRPr lang="en-US" altLang="zh-CN" sz="1200" b="1" dirty="0">
              <a:solidFill>
                <a:schemeClr val="bg1"/>
              </a:solidFill>
            </a:endParaRPr>
          </a:p>
          <a:p>
            <a:pPr algn="ctr"/>
            <a:r>
              <a:rPr lang="zh-CN" altLang="en-US" sz="1200" b="1" dirty="0">
                <a:solidFill>
                  <a:schemeClr val="bg1"/>
                </a:solidFill>
              </a:rPr>
              <a:t>操盘指标</a:t>
            </a:r>
          </a:p>
        </p:txBody>
      </p:sp>
      <p:sp>
        <p:nvSpPr>
          <p:cNvPr id="15" name="箭头: 下 14">
            <a:extLst>
              <a:ext uri="{FF2B5EF4-FFF2-40B4-BE49-F238E27FC236}">
                <a16:creationId xmlns:a16="http://schemas.microsoft.com/office/drawing/2014/main" id="{572ADF9F-5334-9917-7746-BCA605EA8E87}"/>
              </a:ext>
            </a:extLst>
          </p:cNvPr>
          <p:cNvSpPr/>
          <p:nvPr/>
        </p:nvSpPr>
        <p:spPr>
          <a:xfrm>
            <a:off x="8317968" y="2480534"/>
            <a:ext cx="2392680" cy="212550"/>
          </a:xfrm>
          <a:prstGeom prst="downArrow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衍生操盘指标</a:t>
            </a:r>
          </a:p>
        </p:txBody>
      </p:sp>
      <p:graphicFrame>
        <p:nvGraphicFramePr>
          <p:cNvPr id="17" name="表格 16">
            <a:extLst>
              <a:ext uri="{FF2B5EF4-FFF2-40B4-BE49-F238E27FC236}">
                <a16:creationId xmlns:a16="http://schemas.microsoft.com/office/drawing/2014/main" id="{9F8F5C5B-D8D9-DA88-290F-2434366A00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0947704"/>
              </p:ext>
            </p:extLst>
          </p:nvPr>
        </p:nvGraphicFramePr>
        <p:xfrm>
          <a:off x="6802848" y="5232521"/>
          <a:ext cx="5416371" cy="1627632"/>
        </p:xfrm>
        <a:graphic>
          <a:graphicData uri="http://schemas.openxmlformats.org/drawingml/2006/table">
            <a:tbl>
              <a:tblPr firstRow="1" bandRow="1">
                <a:tableStyleId>{B301B821-A1FF-4177-AEE7-76D212191A09}</a:tableStyleId>
              </a:tblPr>
              <a:tblGrid>
                <a:gridCol w="680100">
                  <a:extLst>
                    <a:ext uri="{9D8B030D-6E8A-4147-A177-3AD203B41FA5}">
                      <a16:colId xmlns:a16="http://schemas.microsoft.com/office/drawing/2014/main" val="1229889632"/>
                    </a:ext>
                  </a:extLst>
                </a:gridCol>
                <a:gridCol w="746652">
                  <a:extLst>
                    <a:ext uri="{9D8B030D-6E8A-4147-A177-3AD203B41FA5}">
                      <a16:colId xmlns:a16="http://schemas.microsoft.com/office/drawing/2014/main" val="2552232621"/>
                    </a:ext>
                  </a:extLst>
                </a:gridCol>
                <a:gridCol w="1275347">
                  <a:extLst>
                    <a:ext uri="{9D8B030D-6E8A-4147-A177-3AD203B41FA5}">
                      <a16:colId xmlns:a16="http://schemas.microsoft.com/office/drawing/2014/main" val="1979266977"/>
                    </a:ext>
                  </a:extLst>
                </a:gridCol>
                <a:gridCol w="2129430">
                  <a:extLst>
                    <a:ext uri="{9D8B030D-6E8A-4147-A177-3AD203B41FA5}">
                      <a16:colId xmlns:a16="http://schemas.microsoft.com/office/drawing/2014/main" val="3083837845"/>
                    </a:ext>
                  </a:extLst>
                </a:gridCol>
                <a:gridCol w="584842">
                  <a:extLst>
                    <a:ext uri="{9D8B030D-6E8A-4147-A177-3AD203B41FA5}">
                      <a16:colId xmlns:a16="http://schemas.microsoft.com/office/drawing/2014/main" val="23339223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按①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按②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按③周柱与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关系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按④日柱与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关系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⑤日漏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725979"/>
                  </a:ext>
                </a:extLst>
              </a:tr>
              <a:tr h="170093">
                <a:tc rowSpan="6"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前柱在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上，可试仓。包含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/1v/2I/3h/2i/3u</a:t>
                      </a:r>
                      <a:endParaRPr lang="zh-CN" altLang="en-US"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171935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前柱在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下，勿参与。</a:t>
                      </a:r>
                      <a:endParaRPr lang="zh-CN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738768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2">
                  <a:txBody>
                    <a:bodyPr/>
                    <a:lstStyle/>
                    <a:p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前柱在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上，主升机会。</a:t>
                      </a:r>
                      <a:endParaRPr lang="zh-CN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本日在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上，主升战场。应至少以底仓持有。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可定义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31110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本日在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下，忍仓。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之上不允许止损。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可定义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968785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前柱在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下，主升机会。</a:t>
                      </a:r>
                      <a:endParaRPr lang="zh-CN" altLang="en-US"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本日在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上，判断①能否站稳②是否诱多。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841534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本日在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下，勿参与。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50392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按照镜面对称原则，断绝在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之下介入的念头。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403192"/>
                  </a:ext>
                </a:extLst>
              </a:tr>
            </a:tbl>
          </a:graphicData>
        </a:graphic>
      </p:graphicFrame>
      <p:sp>
        <p:nvSpPr>
          <p:cNvPr id="18" name="箭头: 下 17">
            <a:extLst>
              <a:ext uri="{FF2B5EF4-FFF2-40B4-BE49-F238E27FC236}">
                <a16:creationId xmlns:a16="http://schemas.microsoft.com/office/drawing/2014/main" id="{D4E52EC4-9816-DB51-F1E2-1B7DECCDB95A}"/>
              </a:ext>
            </a:extLst>
          </p:cNvPr>
          <p:cNvSpPr/>
          <p:nvPr/>
        </p:nvSpPr>
        <p:spPr>
          <a:xfrm>
            <a:off x="8410991" y="4998574"/>
            <a:ext cx="2392680" cy="212551"/>
          </a:xfrm>
          <a:prstGeom prst="downArrow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决策树流程</a:t>
            </a:r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5CA42286-3B49-F934-1239-2497B52E17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0375835"/>
              </p:ext>
            </p:extLst>
          </p:nvPr>
        </p:nvGraphicFramePr>
        <p:xfrm>
          <a:off x="6795522" y="701143"/>
          <a:ext cx="5396478" cy="1766316"/>
        </p:xfrm>
        <a:graphic>
          <a:graphicData uri="http://schemas.openxmlformats.org/drawingml/2006/table">
            <a:tbl>
              <a:tblPr firstRow="1" bandRow="1">
                <a:tableStyleId>{17292A2E-F333-43FB-9621-5CBBE7FDCDCB}</a:tableStyleId>
              </a:tblPr>
              <a:tblGrid>
                <a:gridCol w="702852">
                  <a:extLst>
                    <a:ext uri="{9D8B030D-6E8A-4147-A177-3AD203B41FA5}">
                      <a16:colId xmlns:a16="http://schemas.microsoft.com/office/drawing/2014/main" val="3575352105"/>
                    </a:ext>
                  </a:extLst>
                </a:gridCol>
                <a:gridCol w="548640">
                  <a:extLst>
                    <a:ext uri="{9D8B030D-6E8A-4147-A177-3AD203B41FA5}">
                      <a16:colId xmlns:a16="http://schemas.microsoft.com/office/drawing/2014/main" val="1344294492"/>
                    </a:ext>
                  </a:extLst>
                </a:gridCol>
                <a:gridCol w="4144986">
                  <a:extLst>
                    <a:ext uri="{9D8B030D-6E8A-4147-A177-3AD203B41FA5}">
                      <a16:colId xmlns:a16="http://schemas.microsoft.com/office/drawing/2014/main" val="700365155"/>
                    </a:ext>
                  </a:extLst>
                </a:gridCol>
              </a:tblGrid>
              <a:tr h="134494">
                <a:tc gridSpan="3"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700" b="1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警世恒言：在</a:t>
                      </a:r>
                      <a:r>
                        <a:rPr lang="en-US" altLang="zh-CN" sz="700" b="1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1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之上可锁定所有上升机会。→只需要在</a:t>
                      </a:r>
                      <a:r>
                        <a:rPr lang="en-US" altLang="zh-CN" sz="700" b="1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1" dirty="0">
                          <a:solidFill>
                            <a:schemeClr val="accent4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之上寻找上升机会。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7483456"/>
                  </a:ext>
                </a:extLst>
              </a:tr>
              <a:tr h="1344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（月级别）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r">
                        <a:lnSpc>
                          <a:spcPct val="8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反向思维</a:t>
                      </a: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通过观察，所有主升必在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WJC&amp;WJD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之上。优选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且在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136172"/>
                  </a:ext>
                </a:extLst>
              </a:tr>
              <a:tr h="134494"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（周级别）上升必在</a:t>
                      </a:r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r">
                        <a:lnSpc>
                          <a:spcPct val="8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反向思维</a:t>
                      </a: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因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特性，只要上升很容易站上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。反问：若连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都站不上，无需考虑上升机会。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1726145"/>
                  </a:ext>
                </a:extLst>
              </a:tr>
              <a:tr h="272268">
                <a:tc vMerge="1">
                  <a:txBody>
                    <a:bodyPr/>
                    <a:lstStyle/>
                    <a:p>
                      <a:endParaRPr lang="zh-CN" altLang="en-US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r" defTabSz="914400" rtl="0" eaLnBrk="1" latinLnBrk="0" hangingPunct="1">
                        <a:lnSpc>
                          <a:spcPct val="8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例外情况</a:t>
                      </a:r>
                      <a:endParaRPr lang="en-US" altLang="zh-CN" sz="700" b="1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8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之下需要考虑的机会，注意一定要在大环境满足的情况（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正交）。包括：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8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偶然下破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：包括（首下破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）或（价下破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8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之下蓄势上破：（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之下形成升排）或（价上均）。</a:t>
                      </a:r>
                      <a:endParaRPr lang="en-US" altLang="zh-CN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5034074"/>
                  </a:ext>
                </a:extLst>
              </a:tr>
              <a:tr h="203381">
                <a:tc vMerge="1">
                  <a:txBody>
                    <a:bodyPr/>
                    <a:lstStyle/>
                    <a:p>
                      <a:endParaRPr lang="zh-CN" altLang="en-US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r" defTabSz="914400" rtl="0" eaLnBrk="1" latinLnBrk="0" hangingPunct="1">
                        <a:lnSpc>
                          <a:spcPct val="8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结论</a:t>
                      </a:r>
                      <a:endParaRPr lang="en-US" altLang="zh-CN" sz="700" b="1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lnSpc>
                          <a:spcPct val="8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一定要勇敢持有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之上，特别是升排情况。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lnSpc>
                          <a:spcPct val="8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要以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止损。即使在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之上形成跌排，也不是退出条件。</a:t>
                      </a:r>
                      <a:endParaRPr lang="en-US" altLang="zh-CN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4689818"/>
                  </a:ext>
                </a:extLst>
              </a:tr>
              <a:tr h="134494">
                <a:tc rowSpan="3"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（日级别）上升必在</a:t>
                      </a:r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r" defTabSz="914400" rtl="0" eaLnBrk="1" latinLnBrk="0" hangingPunct="1">
                        <a:lnSpc>
                          <a:spcPct val="8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反向思维</a:t>
                      </a:r>
                      <a:endParaRPr lang="en-US" altLang="zh-CN" sz="700" b="1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因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特性，只要上升，极容易站上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7948334"/>
                  </a:ext>
                </a:extLst>
              </a:tr>
              <a:tr h="134494">
                <a:tc vMerge="1">
                  <a:txBody>
                    <a:bodyPr/>
                    <a:lstStyle/>
                    <a:p>
                      <a:endParaRPr lang="zh-CN" altLang="en-US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lnSpc>
                          <a:spcPct val="8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例外情况</a:t>
                      </a: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要以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为准，作为判定升势的唯一标准，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只是其中承担上升的片段。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无法承担止损的重任。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4358826"/>
                  </a:ext>
                </a:extLst>
              </a:tr>
              <a:tr h="20338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结论</a:t>
                      </a: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一定要勇敢持有同时在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之上。至少以底仓持有。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可根据周柱排列，在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之下介入，在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之上卖出。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73717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203734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AB0933-5B8A-384B-22AC-2634BE0B8F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26E0E750-941F-3AE6-3B8D-6CEAC5ADB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1025634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周类操盘算法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周类以</a:t>
            </a:r>
            <a:r>
              <a:rPr lang="en-US" altLang="zh-CN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作为卖线，不可早卖只能晚卖。</a:t>
            </a:r>
            <a:br>
              <a:rPr lang="en-US" altLang="zh-CN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算法基石思想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自由度创造盈利 精确度扼杀牛股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拆解必赢抓牛股算法，找出其中的可取之处，优化日常算法。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4ABABD3B-DB08-F3F9-0BBE-72F60A466FDD}"/>
              </a:ext>
            </a:extLst>
          </p:cNvPr>
          <p:cNvSpPr txBox="1"/>
          <p:nvPr/>
        </p:nvSpPr>
        <p:spPr>
          <a:xfrm>
            <a:off x="0" y="1025634"/>
            <a:ext cx="12193200" cy="367793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原旨必赢算法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：以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为丘上入下出。</a:t>
            </a:r>
          </a:p>
          <a:p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通过观察得来的必赢周类操盘算法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周类以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作为卖线，不可早卖只能晚卖。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WXZC&gt;0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WXZB&gt;0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必持（类比亏损时被套）。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注意，与以往算法不同之处，以往是以此区域为可操作区域；现在是只要持有该股票，则在此区域内除非冲高止盈，否则不得退出。可理解为（吃开口饭）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底仓算法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  <a:p>
            <a:r>
              <a:rPr lang="zh-CN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问题：该算法在不同情况的表现：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当在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之上，当柱排为升排，以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为卖线，不破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不要卖，可以抓住暴涨情况，虽然偏离较大仍可持有。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当在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之上，出现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跌连，可以减仓，代表已经转向。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代表下跌，不是升排列。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当在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之下，出现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价上均，可以再次进入，以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为卖线。 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代表上升；一定要出现升排再进入，或最好等待触顶。</a:t>
            </a:r>
          </a:p>
          <a:p>
            <a:r>
              <a:rPr lang="zh-CN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问题：该算法为何要等待下破</a:t>
            </a:r>
            <a:r>
              <a:rPr lang="en-US" altLang="zh-CN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才能卖出？</a:t>
            </a:r>
            <a:r>
              <a:rPr lang="zh-CN" altLang="en-US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核心是怕踏空高点。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针对暴升行情，会偏离过大，如果按照管宽、周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BSHA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等方法止盈，则会错过后续高点。			⇒此种情况可归结为，怕错过连续上升情况的后续高点。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针对缓升行情，遇到小级别劫（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），如退出后可能快速回复并创新高。	⇒此种情况可归结为，怕错过震荡情况的后续高点。</a:t>
            </a:r>
          </a:p>
          <a:p>
            <a:r>
              <a:rPr lang="zh-CN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问题：该算法的致胜优点：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不失去仓位：卖出后一般会寻找其他机会占用资金，而此方法困于一股，保证资金始终被该股占用，从而方得始终。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不会错过不明确走势：即使走势不是明确的升排，也可获得对应的收益。如果能够看出明确的下跌，则要先卖后买做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；否则按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止损被动持有。</a:t>
            </a:r>
            <a:endParaRPr lang="en-US" altLang="zh-CN" sz="900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相当于在操作范围内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高卖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：不会因为止盈而错过暴升情况的高点。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相当于在操作范围内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低买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：不会在小劫止损，账面浮动损失会在后续上升过程中收复。</a:t>
            </a:r>
          </a:p>
          <a:p>
            <a:r>
              <a:rPr lang="zh-CN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问题：该算法的后续优化：核心问题不是将退出点提前至低阶均线，而是在趋势维持情况下（在</a:t>
            </a:r>
            <a:r>
              <a:rPr lang="en-US" altLang="zh-CN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之上），在必然下跌情况逆踢，如未跌破</a:t>
            </a:r>
            <a:r>
              <a:rPr lang="en-US" altLang="zh-CN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且恢复升势时再次介入。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为何选择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作为退出点？是因为下破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后不会立刻再创新高，从而下破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后不具有任何持有价值，需要等待站上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再考虑。从而问题转变为：在何处会创新高？</a:t>
            </a:r>
            <a:endParaRPr lang="en-US" altLang="zh-CN" sz="900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是否可将保证经过最高点的条件，由（不下破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不卖），变为，（只有当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才可卖出）？</a:t>
            </a:r>
            <a:endParaRPr lang="en-US" altLang="zh-CN" sz="900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答案是否定。问题在于（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DXZC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）的级别太小，可能两个周柱展开就会出现此条件。而即使满足（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DXZC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），在周级别视图中，只是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之上的阴柱，或进入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两线之间（属于鳄鱼口，多空转换区域，无方向区，在此区域内不要判断方向，等向上或向下突破两线后再选择方向）。</a:t>
            </a:r>
            <a:endParaRPr lang="en-US" altLang="zh-CN" sz="900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特殊情况。只有当已冲高情况，若下破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可以保证已经过最高点。即，在主升过程中，远离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时，要等（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）再退出。</a:t>
            </a:r>
            <a:endParaRPr lang="en-US" altLang="zh-CN" sz="900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000250" lvl="4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需要完成两个判断？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1️⃣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判定是否为主升？看触顶与柱排。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2️⃣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若是主升，在（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）退出，可保证已经过最高点。若不是主升，应以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作为保证经过最高点的条件。</a:t>
            </a:r>
            <a:endParaRPr lang="en-US" altLang="zh-CN" sz="900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镜面映射。当在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之下，若只满足（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DXZC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），则不能保证后续不会再出现更低点，所以一定要（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WXZC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甲乙己）作为介入区域。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新问题：在何处会创新高？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DXZB&gt;0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，顶合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b/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触哼。如果能找到确保不会创新高区域，则可替代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。从而问题转变为，在何处不会创新高？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新问题：在何处不会创新高？替代候选项包括：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WJA(DJC)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、日顶离等。但关键是这些替代候选项只能看作逆踢，不能认为是趋势逆转点，逆转点只能是下破</a:t>
            </a:r>
            <a:r>
              <a:rPr lang="en-US" altLang="zh-CN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91259098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8D512C-A4A8-981D-7113-C4FFABD1E7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矩形 8">
            <a:extLst>
              <a:ext uri="{FF2B5EF4-FFF2-40B4-BE49-F238E27FC236}">
                <a16:creationId xmlns:a16="http://schemas.microsoft.com/office/drawing/2014/main" id="{75699500-676C-E467-AEEA-9358946184F5}"/>
              </a:ext>
            </a:extLst>
          </p:cNvPr>
          <p:cNvSpPr/>
          <p:nvPr/>
        </p:nvSpPr>
        <p:spPr>
          <a:xfrm>
            <a:off x="6810154" y="722425"/>
            <a:ext cx="5384625" cy="321976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rtlCol="0" anchor="t" anchorCtr="0"/>
          <a:lstStyle/>
          <a:p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“波型”状态流转图</a:t>
            </a:r>
            <a:endParaRPr lang="en-US" altLang="zh-CN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D805CF35-2A8C-466A-6593-9A9C5EE68180}"/>
              </a:ext>
            </a:extLst>
          </p:cNvPr>
          <p:cNvSpPr/>
          <p:nvPr/>
        </p:nvSpPr>
        <p:spPr>
          <a:xfrm>
            <a:off x="6803612" y="5773141"/>
            <a:ext cx="5384625" cy="1085715"/>
          </a:xfrm>
          <a:prstGeom prst="rect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要坚决贯彻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持仓法：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持仓法是吃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丘其中触顶的一段。（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因为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已包含了所有高点）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算法详情：触顶时入（主升以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止损）。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①若已冲高或已整弧，则提前退出；②若进入震荡，则逢高退出；③其他以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千万牢记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：仅在主升阶段以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止损；若已进入震荡，则要逢高退出，不要死守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仓位管理：要保证有仓位经过高点。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始终要保留部分仓位（＞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5000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）守住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丘。特别是在减仓之后，仅以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丘为唯一参考标准。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不要将下破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作为“已经过高点”的标志。除非：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已整弧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已进入震荡。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/>
              <a:buChar char="•"/>
            </a:pP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FB1CA453-16E9-7B83-EB45-35DEE59DDD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必赢战法步骤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 WXAB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之上动态行进→波型状态流转图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本页内容：当处于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丘时，要有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之上动态行进的概念。基于此概念，梳理“波型状态流转图”。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7" name="矩形 196">
            <a:extLst>
              <a:ext uri="{FF2B5EF4-FFF2-40B4-BE49-F238E27FC236}">
                <a16:creationId xmlns:a16="http://schemas.microsoft.com/office/drawing/2014/main" id="{0DA900CD-3E96-640D-0BA1-2A139CC75824}"/>
              </a:ext>
            </a:extLst>
          </p:cNvPr>
          <p:cNvSpPr/>
          <p:nvPr/>
        </p:nvSpPr>
        <p:spPr>
          <a:xfrm>
            <a:off x="6810154" y="716676"/>
            <a:ext cx="5384625" cy="2222222"/>
          </a:xfrm>
          <a:prstGeom prst="rect">
            <a:avLst/>
          </a:prstGeom>
          <a:solidFill>
            <a:schemeClr val="accent1">
              <a:alpha val="40000"/>
            </a:schemeClr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b" anchorCtr="0"/>
          <a:lstStyle/>
          <a:p>
            <a:pPr algn="ctr"/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6" name="矩形 195">
            <a:extLst>
              <a:ext uri="{FF2B5EF4-FFF2-40B4-BE49-F238E27FC236}">
                <a16:creationId xmlns:a16="http://schemas.microsoft.com/office/drawing/2014/main" id="{87115924-FB57-F6C7-CBAA-7585831FEB8B}"/>
              </a:ext>
            </a:extLst>
          </p:cNvPr>
          <p:cNvSpPr/>
          <p:nvPr/>
        </p:nvSpPr>
        <p:spPr>
          <a:xfrm>
            <a:off x="6810154" y="2937588"/>
            <a:ext cx="5384625" cy="983396"/>
          </a:xfrm>
          <a:prstGeom prst="rect">
            <a:avLst/>
          </a:prstGeom>
          <a:solidFill>
            <a:srgbClr val="7030A0">
              <a:alpha val="50000"/>
            </a:srgbClr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b" anchorCtr="0"/>
          <a:lstStyle/>
          <a:p>
            <a:pPr algn="ctr"/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5" name="矩形 194">
            <a:extLst>
              <a:ext uri="{FF2B5EF4-FFF2-40B4-BE49-F238E27FC236}">
                <a16:creationId xmlns:a16="http://schemas.microsoft.com/office/drawing/2014/main" id="{15C96D56-C6A8-8301-FDF0-24D7E6A0FB3D}"/>
              </a:ext>
            </a:extLst>
          </p:cNvPr>
          <p:cNvSpPr/>
          <p:nvPr/>
        </p:nvSpPr>
        <p:spPr>
          <a:xfrm>
            <a:off x="6810154" y="3920983"/>
            <a:ext cx="5384625" cy="379339"/>
          </a:xfrm>
          <a:prstGeom prst="rect">
            <a:avLst/>
          </a:prstGeom>
          <a:solidFill>
            <a:schemeClr val="accent6">
              <a:lumMod val="60000"/>
              <a:lumOff val="40000"/>
              <a:alpha val="50000"/>
            </a:schemeClr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b" anchorCtr="0"/>
          <a:lstStyle/>
          <a:p>
            <a:pPr algn="ctr"/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储初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2" name="连接符: 肘形 11">
            <a:extLst>
              <a:ext uri="{FF2B5EF4-FFF2-40B4-BE49-F238E27FC236}">
                <a16:creationId xmlns:a16="http://schemas.microsoft.com/office/drawing/2014/main" id="{6DBD66E1-A705-E3A0-5443-0210ECC5422D}"/>
              </a:ext>
            </a:extLst>
          </p:cNvPr>
          <p:cNvCxnSpPr>
            <a:cxnSpLocks/>
            <a:stCxn id="72" idx="3"/>
            <a:endCxn id="36" idx="0"/>
          </p:cNvCxnSpPr>
          <p:nvPr/>
        </p:nvCxnSpPr>
        <p:spPr>
          <a:xfrm flipH="1" flipV="1">
            <a:off x="11048952" y="1114021"/>
            <a:ext cx="540000" cy="2970466"/>
          </a:xfrm>
          <a:prstGeom prst="bentConnector4">
            <a:avLst>
              <a:gd name="adj1" fmla="val -42333"/>
              <a:gd name="adj2" fmla="val 107696"/>
            </a:avLst>
          </a:prstGeom>
          <a:ln w="254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矩形 35">
            <a:extLst>
              <a:ext uri="{FF2B5EF4-FFF2-40B4-BE49-F238E27FC236}">
                <a16:creationId xmlns:a16="http://schemas.microsoft.com/office/drawing/2014/main" id="{526F6180-E60E-184B-3072-BD6610E1C7ED}"/>
              </a:ext>
            </a:extLst>
          </p:cNvPr>
          <p:cNvSpPr/>
          <p:nvPr/>
        </p:nvSpPr>
        <p:spPr>
          <a:xfrm>
            <a:off x="10508952" y="1114021"/>
            <a:ext cx="1080000" cy="462142"/>
          </a:xfrm>
          <a:prstGeom prst="rect">
            <a:avLst/>
          </a:prstGeom>
          <a:solidFill>
            <a:schemeClr val="accent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龙猪：异无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龙猪：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V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异跌吞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龙猪：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异跌连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矩形 43">
            <a:extLst>
              <a:ext uri="{FF2B5EF4-FFF2-40B4-BE49-F238E27FC236}">
                <a16:creationId xmlns:a16="http://schemas.microsoft.com/office/drawing/2014/main" id="{9FD1AA5C-3E67-A222-D624-8E2663D21467}"/>
              </a:ext>
            </a:extLst>
          </p:cNvPr>
          <p:cNvSpPr/>
          <p:nvPr/>
        </p:nvSpPr>
        <p:spPr>
          <a:xfrm>
            <a:off x="10508952" y="1988875"/>
            <a:ext cx="1080000" cy="180000"/>
          </a:xfrm>
          <a:prstGeom prst="rect">
            <a:avLst/>
          </a:prstGeom>
          <a:solidFill>
            <a:schemeClr val="accent1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龙落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栅跌人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</p:txBody>
      </p:sp>
      <p:sp>
        <p:nvSpPr>
          <p:cNvPr id="48" name="矩形 47">
            <a:extLst>
              <a:ext uri="{FF2B5EF4-FFF2-40B4-BE49-F238E27FC236}">
                <a16:creationId xmlns:a16="http://schemas.microsoft.com/office/drawing/2014/main" id="{DF4BBD90-1024-B56E-ECF8-70B23A4006CB}"/>
              </a:ext>
            </a:extLst>
          </p:cNvPr>
          <p:cNvSpPr/>
          <p:nvPr/>
        </p:nvSpPr>
        <p:spPr>
          <a:xfrm>
            <a:off x="8820205" y="2289230"/>
            <a:ext cx="576000" cy="180000"/>
          </a:xfrm>
          <a:prstGeom prst="rect">
            <a:avLst/>
          </a:prstGeom>
          <a:solidFill>
            <a:schemeClr val="accent1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龙落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根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</p:txBody>
      </p:sp>
      <p:sp>
        <p:nvSpPr>
          <p:cNvPr id="50" name="矩形 49">
            <a:extLst>
              <a:ext uri="{FF2B5EF4-FFF2-40B4-BE49-F238E27FC236}">
                <a16:creationId xmlns:a16="http://schemas.microsoft.com/office/drawing/2014/main" id="{E21C6C97-B01F-07A9-E3CC-60ABCC8B3BAF}"/>
              </a:ext>
            </a:extLst>
          </p:cNvPr>
          <p:cNvSpPr/>
          <p:nvPr/>
        </p:nvSpPr>
        <p:spPr>
          <a:xfrm>
            <a:off x="8820205" y="2590560"/>
            <a:ext cx="576000" cy="180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震正根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矩形 50">
            <a:extLst>
              <a:ext uri="{FF2B5EF4-FFF2-40B4-BE49-F238E27FC236}">
                <a16:creationId xmlns:a16="http://schemas.microsoft.com/office/drawing/2014/main" id="{1FBA5414-13E3-F6D2-DEE2-9A9F4863F83C}"/>
              </a:ext>
            </a:extLst>
          </p:cNvPr>
          <p:cNvSpPr/>
          <p:nvPr/>
        </p:nvSpPr>
        <p:spPr>
          <a:xfrm>
            <a:off x="9537755" y="2590560"/>
            <a:ext cx="576000" cy="180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震正芽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矩形 51">
            <a:extLst>
              <a:ext uri="{FF2B5EF4-FFF2-40B4-BE49-F238E27FC236}">
                <a16:creationId xmlns:a16="http://schemas.microsoft.com/office/drawing/2014/main" id="{7A9EE818-DB95-A49A-1D7A-9ADE2E371E83}"/>
              </a:ext>
            </a:extLst>
          </p:cNvPr>
          <p:cNvSpPr/>
          <p:nvPr/>
        </p:nvSpPr>
        <p:spPr>
          <a:xfrm>
            <a:off x="10508952" y="2590560"/>
            <a:ext cx="1080000" cy="180000"/>
          </a:xfrm>
          <a:prstGeom prst="rect">
            <a:avLst/>
          </a:prstGeom>
          <a:solidFill>
            <a:schemeClr val="accent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龙猪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_</a:t>
            </a:r>
            <a:r>
              <a:rPr lang="zh-CN" altLang="en-US" sz="9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主蛀</a:t>
            </a:r>
            <a:r>
              <a:rPr lang="en-US" altLang="zh-CN" sz="9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后缀</a:t>
            </a:r>
            <a:r>
              <a:rPr lang="en-US" altLang="zh-CN" sz="9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</p:txBody>
      </p:sp>
      <p:sp>
        <p:nvSpPr>
          <p:cNvPr id="54" name="矩形 53">
            <a:extLst>
              <a:ext uri="{FF2B5EF4-FFF2-40B4-BE49-F238E27FC236}">
                <a16:creationId xmlns:a16="http://schemas.microsoft.com/office/drawing/2014/main" id="{5CA673D6-C613-9961-78E4-4CCB233FC740}"/>
              </a:ext>
            </a:extLst>
          </p:cNvPr>
          <p:cNvSpPr/>
          <p:nvPr/>
        </p:nvSpPr>
        <p:spPr>
          <a:xfrm>
            <a:off x="10508952" y="3004772"/>
            <a:ext cx="1080000" cy="180000"/>
          </a:xfrm>
          <a:prstGeom prst="rect">
            <a:avLst/>
          </a:prstGeom>
          <a:solidFill>
            <a:schemeClr val="accent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龙猪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_</a:t>
            </a:r>
            <a:r>
              <a:rPr lang="zh-CN" altLang="en-US" sz="9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渡再</a:t>
            </a:r>
            <a:r>
              <a:rPr lang="en-US" altLang="zh-CN" sz="9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</a:p>
        </p:txBody>
      </p:sp>
      <p:sp>
        <p:nvSpPr>
          <p:cNvPr id="56" name="矩形 55">
            <a:extLst>
              <a:ext uri="{FF2B5EF4-FFF2-40B4-BE49-F238E27FC236}">
                <a16:creationId xmlns:a16="http://schemas.microsoft.com/office/drawing/2014/main" id="{1E83350B-C22F-D2DC-F5FD-2889BD0FD357}"/>
              </a:ext>
            </a:extLst>
          </p:cNvPr>
          <p:cNvSpPr/>
          <p:nvPr/>
        </p:nvSpPr>
        <p:spPr>
          <a:xfrm>
            <a:off x="10508952" y="3324567"/>
            <a:ext cx="1080000" cy="180000"/>
          </a:xfrm>
          <a:prstGeom prst="rect">
            <a:avLst/>
          </a:prstGeom>
          <a:solidFill>
            <a:schemeClr val="accent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龙猪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_</a:t>
            </a:r>
            <a:r>
              <a:rPr lang="zh-CN" altLang="en-US" sz="9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渡再</a:t>
            </a:r>
            <a:r>
              <a:rPr lang="en-US" altLang="zh-CN" sz="9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</a:p>
        </p:txBody>
      </p:sp>
      <p:sp>
        <p:nvSpPr>
          <p:cNvPr id="60" name="矩形 59">
            <a:extLst>
              <a:ext uri="{FF2B5EF4-FFF2-40B4-BE49-F238E27FC236}">
                <a16:creationId xmlns:a16="http://schemas.microsoft.com/office/drawing/2014/main" id="{4661AD4E-6627-91E1-1E8D-18C320B090F5}"/>
              </a:ext>
            </a:extLst>
          </p:cNvPr>
          <p:cNvSpPr/>
          <p:nvPr/>
        </p:nvSpPr>
        <p:spPr>
          <a:xfrm>
            <a:off x="8847949" y="3004772"/>
            <a:ext cx="576000" cy="180000"/>
          </a:xfrm>
          <a:prstGeom prst="rect">
            <a:avLst/>
          </a:prstGeom>
          <a:solidFill>
            <a:srgbClr val="7030A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头正根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矩形 60">
            <a:extLst>
              <a:ext uri="{FF2B5EF4-FFF2-40B4-BE49-F238E27FC236}">
                <a16:creationId xmlns:a16="http://schemas.microsoft.com/office/drawing/2014/main" id="{D24BF9B4-58BD-E7F5-BC27-40D44938D34C}"/>
              </a:ext>
            </a:extLst>
          </p:cNvPr>
          <p:cNvSpPr/>
          <p:nvPr/>
        </p:nvSpPr>
        <p:spPr>
          <a:xfrm>
            <a:off x="9537755" y="3324567"/>
            <a:ext cx="576000" cy="180000"/>
          </a:xfrm>
          <a:prstGeom prst="rect">
            <a:avLst/>
          </a:prstGeom>
          <a:solidFill>
            <a:srgbClr val="7030A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头正芽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矩形 61">
            <a:extLst>
              <a:ext uri="{FF2B5EF4-FFF2-40B4-BE49-F238E27FC236}">
                <a16:creationId xmlns:a16="http://schemas.microsoft.com/office/drawing/2014/main" id="{03708C00-AE23-BFD2-50D7-C1DB43243CA7}"/>
              </a:ext>
            </a:extLst>
          </p:cNvPr>
          <p:cNvSpPr/>
          <p:nvPr/>
        </p:nvSpPr>
        <p:spPr>
          <a:xfrm>
            <a:off x="8843487" y="3324567"/>
            <a:ext cx="576000" cy="180000"/>
          </a:xfrm>
          <a:prstGeom prst="rect">
            <a:avLst/>
          </a:prstGeom>
          <a:solidFill>
            <a:srgbClr val="7030A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头负芽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矩形 62">
            <a:extLst>
              <a:ext uri="{FF2B5EF4-FFF2-40B4-BE49-F238E27FC236}">
                <a16:creationId xmlns:a16="http://schemas.microsoft.com/office/drawing/2014/main" id="{353DFEA2-42A5-CC1E-B3C9-B02BB1CEFBD6}"/>
              </a:ext>
            </a:extLst>
          </p:cNvPr>
          <p:cNvSpPr/>
          <p:nvPr/>
        </p:nvSpPr>
        <p:spPr>
          <a:xfrm>
            <a:off x="8150692" y="3324567"/>
            <a:ext cx="576000" cy="180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震负芽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矩形 63">
            <a:extLst>
              <a:ext uri="{FF2B5EF4-FFF2-40B4-BE49-F238E27FC236}">
                <a16:creationId xmlns:a16="http://schemas.microsoft.com/office/drawing/2014/main" id="{F514EC2F-0B4E-0BE3-8E3E-20F448E516F9}"/>
              </a:ext>
            </a:extLst>
          </p:cNvPr>
          <p:cNvSpPr/>
          <p:nvPr/>
        </p:nvSpPr>
        <p:spPr>
          <a:xfrm>
            <a:off x="10508952" y="3639474"/>
            <a:ext cx="1080000" cy="180000"/>
          </a:xfrm>
          <a:prstGeom prst="rect">
            <a:avLst/>
          </a:prstGeom>
          <a:solidFill>
            <a:schemeClr val="accent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龙猪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_</a:t>
            </a:r>
            <a:r>
              <a:rPr lang="zh-CN" altLang="en-US" sz="9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渡再</a:t>
            </a:r>
            <a:r>
              <a:rPr lang="en-US" altLang="zh-CN" sz="9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</a:t>
            </a:r>
          </a:p>
        </p:txBody>
      </p:sp>
      <p:sp>
        <p:nvSpPr>
          <p:cNvPr id="66" name="矩形 65">
            <a:extLst>
              <a:ext uri="{FF2B5EF4-FFF2-40B4-BE49-F238E27FC236}">
                <a16:creationId xmlns:a16="http://schemas.microsoft.com/office/drawing/2014/main" id="{742E9C61-D573-BC19-7264-3927CB4C6B37}"/>
              </a:ext>
            </a:extLst>
          </p:cNvPr>
          <p:cNvSpPr/>
          <p:nvPr/>
        </p:nvSpPr>
        <p:spPr>
          <a:xfrm>
            <a:off x="9537755" y="3639474"/>
            <a:ext cx="576000" cy="180000"/>
          </a:xfrm>
          <a:prstGeom prst="rect">
            <a:avLst/>
          </a:prstGeom>
          <a:solidFill>
            <a:srgbClr val="7030A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头正芽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矩形 66">
            <a:extLst>
              <a:ext uri="{FF2B5EF4-FFF2-40B4-BE49-F238E27FC236}">
                <a16:creationId xmlns:a16="http://schemas.microsoft.com/office/drawing/2014/main" id="{4B88D534-F1D3-F3CB-B0FE-10475FB9192F}"/>
              </a:ext>
            </a:extLst>
          </p:cNvPr>
          <p:cNvSpPr/>
          <p:nvPr/>
        </p:nvSpPr>
        <p:spPr>
          <a:xfrm>
            <a:off x="8843487" y="3639474"/>
            <a:ext cx="576000" cy="180000"/>
          </a:xfrm>
          <a:prstGeom prst="rect">
            <a:avLst/>
          </a:prstGeom>
          <a:solidFill>
            <a:srgbClr val="7030A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头负芽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矩形 67">
            <a:extLst>
              <a:ext uri="{FF2B5EF4-FFF2-40B4-BE49-F238E27FC236}">
                <a16:creationId xmlns:a16="http://schemas.microsoft.com/office/drawing/2014/main" id="{CE15146E-3C9E-0A37-CABE-1499E43FC30A}"/>
              </a:ext>
            </a:extLst>
          </p:cNvPr>
          <p:cNvSpPr/>
          <p:nvPr/>
        </p:nvSpPr>
        <p:spPr>
          <a:xfrm>
            <a:off x="8150692" y="3639474"/>
            <a:ext cx="576000" cy="180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震负芽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矩形 68">
            <a:extLst>
              <a:ext uri="{FF2B5EF4-FFF2-40B4-BE49-F238E27FC236}">
                <a16:creationId xmlns:a16="http://schemas.microsoft.com/office/drawing/2014/main" id="{F861989C-A96F-75D4-8C1B-2B57D130EF75}"/>
              </a:ext>
            </a:extLst>
          </p:cNvPr>
          <p:cNvSpPr/>
          <p:nvPr/>
        </p:nvSpPr>
        <p:spPr>
          <a:xfrm>
            <a:off x="7278798" y="3639474"/>
            <a:ext cx="648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WXAC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矩形 69">
            <a:extLst>
              <a:ext uri="{FF2B5EF4-FFF2-40B4-BE49-F238E27FC236}">
                <a16:creationId xmlns:a16="http://schemas.microsoft.com/office/drawing/2014/main" id="{53174817-F8F9-6002-3356-0F04DAE7A7F5}"/>
              </a:ext>
            </a:extLst>
          </p:cNvPr>
          <p:cNvSpPr/>
          <p:nvPr/>
        </p:nvSpPr>
        <p:spPr>
          <a:xfrm>
            <a:off x="7278798" y="3324567"/>
            <a:ext cx="648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矩形 70">
            <a:extLst>
              <a:ext uri="{FF2B5EF4-FFF2-40B4-BE49-F238E27FC236}">
                <a16:creationId xmlns:a16="http://schemas.microsoft.com/office/drawing/2014/main" id="{CB1398A8-A705-9904-C26D-812501985146}"/>
              </a:ext>
            </a:extLst>
          </p:cNvPr>
          <p:cNvSpPr/>
          <p:nvPr/>
        </p:nvSpPr>
        <p:spPr>
          <a:xfrm>
            <a:off x="7278798" y="3004772"/>
            <a:ext cx="648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WXZB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80" name="连接符: 肘形 79">
            <a:extLst>
              <a:ext uri="{FF2B5EF4-FFF2-40B4-BE49-F238E27FC236}">
                <a16:creationId xmlns:a16="http://schemas.microsoft.com/office/drawing/2014/main" id="{59A0A482-B708-31DF-7E49-BBB36B4F8B99}"/>
              </a:ext>
            </a:extLst>
          </p:cNvPr>
          <p:cNvCxnSpPr>
            <a:cxnSpLocks/>
            <a:stCxn id="64" idx="3"/>
            <a:endCxn id="36" idx="0"/>
          </p:cNvCxnSpPr>
          <p:nvPr/>
        </p:nvCxnSpPr>
        <p:spPr>
          <a:xfrm flipH="1" flipV="1">
            <a:off x="11048952" y="1114021"/>
            <a:ext cx="540000" cy="2615453"/>
          </a:xfrm>
          <a:prstGeom prst="bentConnector4">
            <a:avLst>
              <a:gd name="adj1" fmla="val -42333"/>
              <a:gd name="adj2" fmla="val 108740"/>
            </a:avLst>
          </a:prstGeom>
          <a:ln w="254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连接符: 肘形 80">
            <a:extLst>
              <a:ext uri="{FF2B5EF4-FFF2-40B4-BE49-F238E27FC236}">
                <a16:creationId xmlns:a16="http://schemas.microsoft.com/office/drawing/2014/main" id="{DBEAA61C-FD06-B611-3D20-4D939AFC9F1F}"/>
              </a:ext>
            </a:extLst>
          </p:cNvPr>
          <p:cNvCxnSpPr>
            <a:cxnSpLocks/>
            <a:stCxn id="56" idx="3"/>
            <a:endCxn id="36" idx="0"/>
          </p:cNvCxnSpPr>
          <p:nvPr/>
        </p:nvCxnSpPr>
        <p:spPr>
          <a:xfrm flipH="1" flipV="1">
            <a:off x="11048952" y="1114021"/>
            <a:ext cx="540000" cy="2300546"/>
          </a:xfrm>
          <a:prstGeom prst="bentConnector4">
            <a:avLst>
              <a:gd name="adj1" fmla="val -42333"/>
              <a:gd name="adj2" fmla="val 109937"/>
            </a:avLst>
          </a:prstGeom>
          <a:ln w="254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连接符: 肘形 85">
            <a:extLst>
              <a:ext uri="{FF2B5EF4-FFF2-40B4-BE49-F238E27FC236}">
                <a16:creationId xmlns:a16="http://schemas.microsoft.com/office/drawing/2014/main" id="{ACE1761D-57F6-E4BC-E10E-8D9AFBF030FD}"/>
              </a:ext>
            </a:extLst>
          </p:cNvPr>
          <p:cNvCxnSpPr>
            <a:cxnSpLocks/>
            <a:stCxn id="54" idx="3"/>
            <a:endCxn id="36" idx="0"/>
          </p:cNvCxnSpPr>
          <p:nvPr/>
        </p:nvCxnSpPr>
        <p:spPr>
          <a:xfrm flipH="1" flipV="1">
            <a:off x="11048952" y="1114021"/>
            <a:ext cx="540000" cy="1980751"/>
          </a:xfrm>
          <a:prstGeom prst="bentConnector4">
            <a:avLst>
              <a:gd name="adj1" fmla="val -42333"/>
              <a:gd name="adj2" fmla="val 111541"/>
            </a:avLst>
          </a:prstGeom>
          <a:ln w="254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矩形 71">
            <a:extLst>
              <a:ext uri="{FF2B5EF4-FFF2-40B4-BE49-F238E27FC236}">
                <a16:creationId xmlns:a16="http://schemas.microsoft.com/office/drawing/2014/main" id="{BB5D4F03-5A8B-32ED-D440-E7BAAB404EA0}"/>
              </a:ext>
            </a:extLst>
          </p:cNvPr>
          <p:cNvSpPr/>
          <p:nvPr/>
        </p:nvSpPr>
        <p:spPr>
          <a:xfrm>
            <a:off x="10508952" y="3994487"/>
            <a:ext cx="1080000" cy="180000"/>
          </a:xfrm>
          <a:prstGeom prst="rect">
            <a:avLst/>
          </a:prstGeom>
          <a:solidFill>
            <a:schemeClr val="accent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龙猪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_</a:t>
            </a:r>
            <a:r>
              <a:rPr lang="zh-CN" altLang="en-US" sz="9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渡储初</a:t>
            </a:r>
            <a:endParaRPr lang="en-US" altLang="zh-CN" sz="900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矩形 73">
            <a:extLst>
              <a:ext uri="{FF2B5EF4-FFF2-40B4-BE49-F238E27FC236}">
                <a16:creationId xmlns:a16="http://schemas.microsoft.com/office/drawing/2014/main" id="{15DCA3FA-D90B-B265-C00A-E8BDA7E490AD}"/>
              </a:ext>
            </a:extLst>
          </p:cNvPr>
          <p:cNvSpPr/>
          <p:nvPr/>
        </p:nvSpPr>
        <p:spPr>
          <a:xfrm>
            <a:off x="9537755" y="3993877"/>
            <a:ext cx="576000" cy="180000"/>
          </a:xfrm>
          <a:prstGeom prst="rect">
            <a:avLst/>
          </a:prstGeom>
          <a:solidFill>
            <a:srgbClr val="7030A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头正芽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矩形 74">
            <a:extLst>
              <a:ext uri="{FF2B5EF4-FFF2-40B4-BE49-F238E27FC236}">
                <a16:creationId xmlns:a16="http://schemas.microsoft.com/office/drawing/2014/main" id="{FD18A87E-41EC-63C5-8D3E-51AD2D6E6905}"/>
              </a:ext>
            </a:extLst>
          </p:cNvPr>
          <p:cNvSpPr/>
          <p:nvPr/>
        </p:nvSpPr>
        <p:spPr>
          <a:xfrm>
            <a:off x="8843487" y="3993877"/>
            <a:ext cx="576000" cy="180000"/>
          </a:xfrm>
          <a:prstGeom prst="rect">
            <a:avLst/>
          </a:prstGeom>
          <a:solidFill>
            <a:srgbClr val="7030A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头负芽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矩形 76">
            <a:extLst>
              <a:ext uri="{FF2B5EF4-FFF2-40B4-BE49-F238E27FC236}">
                <a16:creationId xmlns:a16="http://schemas.microsoft.com/office/drawing/2014/main" id="{14F5600A-AFFB-20B8-FE59-A5A77B2A6996}"/>
              </a:ext>
            </a:extLst>
          </p:cNvPr>
          <p:cNvSpPr/>
          <p:nvPr/>
        </p:nvSpPr>
        <p:spPr>
          <a:xfrm>
            <a:off x="7278798" y="3993877"/>
            <a:ext cx="648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WXBC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7" name="矩形 96">
            <a:extLst>
              <a:ext uri="{FF2B5EF4-FFF2-40B4-BE49-F238E27FC236}">
                <a16:creationId xmlns:a16="http://schemas.microsoft.com/office/drawing/2014/main" id="{F28844F3-2635-7375-4CD8-91A60111D9DA}"/>
              </a:ext>
            </a:extLst>
          </p:cNvPr>
          <p:cNvSpPr/>
          <p:nvPr/>
        </p:nvSpPr>
        <p:spPr>
          <a:xfrm>
            <a:off x="8820205" y="1988875"/>
            <a:ext cx="576000" cy="180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震正〇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05" name="连接符: 肘形 104">
            <a:extLst>
              <a:ext uri="{FF2B5EF4-FFF2-40B4-BE49-F238E27FC236}">
                <a16:creationId xmlns:a16="http://schemas.microsoft.com/office/drawing/2014/main" id="{C02723CE-E979-1A04-9EEE-A04835043A7B}"/>
              </a:ext>
            </a:extLst>
          </p:cNvPr>
          <p:cNvCxnSpPr>
            <a:cxnSpLocks/>
            <a:stCxn id="50" idx="2"/>
            <a:endCxn id="71" idx="0"/>
          </p:cNvCxnSpPr>
          <p:nvPr/>
        </p:nvCxnSpPr>
        <p:spPr>
          <a:xfrm rot="5400000">
            <a:off x="8238396" y="2134963"/>
            <a:ext cx="234212" cy="1505407"/>
          </a:xfrm>
          <a:prstGeom prst="bentConnector3">
            <a:avLst>
              <a:gd name="adj1" fmla="val 50000"/>
            </a:avLst>
          </a:prstGeom>
          <a:ln w="254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直接箭头连接符 112">
            <a:extLst>
              <a:ext uri="{FF2B5EF4-FFF2-40B4-BE49-F238E27FC236}">
                <a16:creationId xmlns:a16="http://schemas.microsoft.com/office/drawing/2014/main" id="{5F7BB420-BC83-23DB-762F-040C9AD618A5}"/>
              </a:ext>
            </a:extLst>
          </p:cNvPr>
          <p:cNvCxnSpPr>
            <a:cxnSpLocks/>
            <a:stCxn id="63" idx="3"/>
            <a:endCxn id="62" idx="1"/>
          </p:cNvCxnSpPr>
          <p:nvPr/>
        </p:nvCxnSpPr>
        <p:spPr>
          <a:xfrm>
            <a:off x="8726692" y="3414567"/>
            <a:ext cx="116795" cy="0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直接箭头连接符 113">
            <a:extLst>
              <a:ext uri="{FF2B5EF4-FFF2-40B4-BE49-F238E27FC236}">
                <a16:creationId xmlns:a16="http://schemas.microsoft.com/office/drawing/2014/main" id="{D75AC6B6-EA21-94F9-11E6-9484B30E6CFF}"/>
              </a:ext>
            </a:extLst>
          </p:cNvPr>
          <p:cNvCxnSpPr>
            <a:cxnSpLocks/>
            <a:stCxn id="36" idx="2"/>
            <a:endCxn id="44" idx="0"/>
          </p:cNvCxnSpPr>
          <p:nvPr/>
        </p:nvCxnSpPr>
        <p:spPr>
          <a:xfrm>
            <a:off x="11048952" y="1576163"/>
            <a:ext cx="0" cy="412712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直接箭头连接符 116">
            <a:extLst>
              <a:ext uri="{FF2B5EF4-FFF2-40B4-BE49-F238E27FC236}">
                <a16:creationId xmlns:a16="http://schemas.microsoft.com/office/drawing/2014/main" id="{E62FBEAB-8286-07EB-615C-D8A9A0D9D823}"/>
              </a:ext>
            </a:extLst>
          </p:cNvPr>
          <p:cNvCxnSpPr>
            <a:cxnSpLocks/>
            <a:stCxn id="44" idx="1"/>
            <a:endCxn id="97" idx="3"/>
          </p:cNvCxnSpPr>
          <p:nvPr/>
        </p:nvCxnSpPr>
        <p:spPr>
          <a:xfrm flipH="1">
            <a:off x="9396205" y="2078875"/>
            <a:ext cx="1112747" cy="0"/>
          </a:xfrm>
          <a:prstGeom prst="straightConnector1">
            <a:avLst/>
          </a:prstGeom>
          <a:ln w="25400">
            <a:solidFill>
              <a:srgbClr val="7F7F7F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直接箭头连接符 122">
            <a:extLst>
              <a:ext uri="{FF2B5EF4-FFF2-40B4-BE49-F238E27FC236}">
                <a16:creationId xmlns:a16="http://schemas.microsoft.com/office/drawing/2014/main" id="{FCE303AB-C3BA-6188-D1E6-08BA57E3BEFB}"/>
              </a:ext>
            </a:extLst>
          </p:cNvPr>
          <p:cNvCxnSpPr>
            <a:cxnSpLocks/>
            <a:stCxn id="68" idx="3"/>
            <a:endCxn id="67" idx="1"/>
          </p:cNvCxnSpPr>
          <p:nvPr/>
        </p:nvCxnSpPr>
        <p:spPr>
          <a:xfrm>
            <a:off x="8726692" y="3729474"/>
            <a:ext cx="116795" cy="0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直接箭头连接符 123">
            <a:extLst>
              <a:ext uri="{FF2B5EF4-FFF2-40B4-BE49-F238E27FC236}">
                <a16:creationId xmlns:a16="http://schemas.microsoft.com/office/drawing/2014/main" id="{2E6AC65D-A5C8-6582-4DB0-2F043A4832AE}"/>
              </a:ext>
            </a:extLst>
          </p:cNvPr>
          <p:cNvCxnSpPr>
            <a:cxnSpLocks/>
            <a:stCxn id="62" idx="3"/>
            <a:endCxn id="61" idx="1"/>
          </p:cNvCxnSpPr>
          <p:nvPr/>
        </p:nvCxnSpPr>
        <p:spPr>
          <a:xfrm>
            <a:off x="9419487" y="3414567"/>
            <a:ext cx="118268" cy="0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直接箭头连接符 128">
            <a:extLst>
              <a:ext uri="{FF2B5EF4-FFF2-40B4-BE49-F238E27FC236}">
                <a16:creationId xmlns:a16="http://schemas.microsoft.com/office/drawing/2014/main" id="{195157E7-E3DF-E5FE-BFC4-F9D702F9D6E6}"/>
              </a:ext>
            </a:extLst>
          </p:cNvPr>
          <p:cNvCxnSpPr>
            <a:cxnSpLocks/>
            <a:stCxn id="67" idx="3"/>
            <a:endCxn id="66" idx="1"/>
          </p:cNvCxnSpPr>
          <p:nvPr/>
        </p:nvCxnSpPr>
        <p:spPr>
          <a:xfrm>
            <a:off x="9419487" y="3729474"/>
            <a:ext cx="118268" cy="0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直接箭头连接符 131">
            <a:extLst>
              <a:ext uri="{FF2B5EF4-FFF2-40B4-BE49-F238E27FC236}">
                <a16:creationId xmlns:a16="http://schemas.microsoft.com/office/drawing/2014/main" id="{128161D7-6382-79ED-F745-E69EF11E75B9}"/>
              </a:ext>
            </a:extLst>
          </p:cNvPr>
          <p:cNvCxnSpPr>
            <a:cxnSpLocks/>
            <a:stCxn id="50" idx="3"/>
            <a:endCxn id="51" idx="1"/>
          </p:cNvCxnSpPr>
          <p:nvPr/>
        </p:nvCxnSpPr>
        <p:spPr>
          <a:xfrm>
            <a:off x="9396205" y="2680560"/>
            <a:ext cx="141550" cy="0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直接箭头连接符 132">
            <a:extLst>
              <a:ext uri="{FF2B5EF4-FFF2-40B4-BE49-F238E27FC236}">
                <a16:creationId xmlns:a16="http://schemas.microsoft.com/office/drawing/2014/main" id="{53433645-0D29-D726-2D5A-2F7637AF98CF}"/>
              </a:ext>
            </a:extLst>
          </p:cNvPr>
          <p:cNvCxnSpPr>
            <a:cxnSpLocks/>
            <a:stCxn id="97" idx="2"/>
            <a:endCxn id="48" idx="0"/>
          </p:cNvCxnSpPr>
          <p:nvPr/>
        </p:nvCxnSpPr>
        <p:spPr>
          <a:xfrm>
            <a:off x="9108205" y="2168875"/>
            <a:ext cx="0" cy="120355"/>
          </a:xfrm>
          <a:prstGeom prst="straightConnector1">
            <a:avLst/>
          </a:prstGeom>
          <a:ln w="25400">
            <a:solidFill>
              <a:srgbClr val="7F7F7F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直接箭头连接符 133">
            <a:extLst>
              <a:ext uri="{FF2B5EF4-FFF2-40B4-BE49-F238E27FC236}">
                <a16:creationId xmlns:a16="http://schemas.microsoft.com/office/drawing/2014/main" id="{56D040F0-9A17-0DEA-7CD9-B5AA400DDEA1}"/>
              </a:ext>
            </a:extLst>
          </p:cNvPr>
          <p:cNvCxnSpPr>
            <a:cxnSpLocks/>
            <a:stCxn id="69" idx="3"/>
            <a:endCxn id="68" idx="1"/>
          </p:cNvCxnSpPr>
          <p:nvPr/>
        </p:nvCxnSpPr>
        <p:spPr>
          <a:xfrm>
            <a:off x="7926798" y="3729474"/>
            <a:ext cx="223894" cy="0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接箭头连接符 134">
            <a:extLst>
              <a:ext uri="{FF2B5EF4-FFF2-40B4-BE49-F238E27FC236}">
                <a16:creationId xmlns:a16="http://schemas.microsoft.com/office/drawing/2014/main" id="{098E89C1-F38E-6490-2671-B981F2D46B4E}"/>
              </a:ext>
            </a:extLst>
          </p:cNvPr>
          <p:cNvCxnSpPr>
            <a:cxnSpLocks/>
            <a:stCxn id="77" idx="3"/>
            <a:endCxn id="75" idx="1"/>
          </p:cNvCxnSpPr>
          <p:nvPr/>
        </p:nvCxnSpPr>
        <p:spPr>
          <a:xfrm>
            <a:off x="7926798" y="4083877"/>
            <a:ext cx="916689" cy="0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直接箭头连接符 135">
            <a:extLst>
              <a:ext uri="{FF2B5EF4-FFF2-40B4-BE49-F238E27FC236}">
                <a16:creationId xmlns:a16="http://schemas.microsoft.com/office/drawing/2014/main" id="{ADF0F543-EB99-B4C8-D10A-2C90C01C0E59}"/>
              </a:ext>
            </a:extLst>
          </p:cNvPr>
          <p:cNvCxnSpPr>
            <a:cxnSpLocks/>
            <a:stCxn id="75" idx="3"/>
            <a:endCxn id="74" idx="1"/>
          </p:cNvCxnSpPr>
          <p:nvPr/>
        </p:nvCxnSpPr>
        <p:spPr>
          <a:xfrm>
            <a:off x="9419487" y="4083877"/>
            <a:ext cx="118268" cy="0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直接箭头连接符 140">
            <a:extLst>
              <a:ext uri="{FF2B5EF4-FFF2-40B4-BE49-F238E27FC236}">
                <a16:creationId xmlns:a16="http://schemas.microsoft.com/office/drawing/2014/main" id="{E184BEE7-3CDE-1247-5612-59981A230CEA}"/>
              </a:ext>
            </a:extLst>
          </p:cNvPr>
          <p:cNvCxnSpPr>
            <a:cxnSpLocks/>
            <a:stCxn id="69" idx="2"/>
            <a:endCxn id="77" idx="0"/>
          </p:cNvCxnSpPr>
          <p:nvPr/>
        </p:nvCxnSpPr>
        <p:spPr>
          <a:xfrm>
            <a:off x="7602798" y="3819474"/>
            <a:ext cx="0" cy="174403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直接箭头连接符 144">
            <a:extLst>
              <a:ext uri="{FF2B5EF4-FFF2-40B4-BE49-F238E27FC236}">
                <a16:creationId xmlns:a16="http://schemas.microsoft.com/office/drawing/2014/main" id="{37F79084-1765-0DA6-DB6B-CF7F88264D39}"/>
              </a:ext>
            </a:extLst>
          </p:cNvPr>
          <p:cNvCxnSpPr>
            <a:cxnSpLocks/>
            <a:stCxn id="70" idx="2"/>
            <a:endCxn id="69" idx="0"/>
          </p:cNvCxnSpPr>
          <p:nvPr/>
        </p:nvCxnSpPr>
        <p:spPr>
          <a:xfrm>
            <a:off x="7602798" y="3504567"/>
            <a:ext cx="0" cy="134907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接箭头连接符 147">
            <a:extLst>
              <a:ext uri="{FF2B5EF4-FFF2-40B4-BE49-F238E27FC236}">
                <a16:creationId xmlns:a16="http://schemas.microsoft.com/office/drawing/2014/main" id="{C974EC2B-C277-4C0C-3882-A134B94D9AC6}"/>
              </a:ext>
            </a:extLst>
          </p:cNvPr>
          <p:cNvCxnSpPr>
            <a:cxnSpLocks/>
            <a:stCxn id="71" idx="2"/>
            <a:endCxn id="70" idx="0"/>
          </p:cNvCxnSpPr>
          <p:nvPr/>
        </p:nvCxnSpPr>
        <p:spPr>
          <a:xfrm>
            <a:off x="7602798" y="3184772"/>
            <a:ext cx="0" cy="139795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直接箭头连接符 151">
            <a:extLst>
              <a:ext uri="{FF2B5EF4-FFF2-40B4-BE49-F238E27FC236}">
                <a16:creationId xmlns:a16="http://schemas.microsoft.com/office/drawing/2014/main" id="{4C618AA6-09E7-71E2-6784-4A07E79D0C76}"/>
              </a:ext>
            </a:extLst>
          </p:cNvPr>
          <p:cNvCxnSpPr>
            <a:cxnSpLocks/>
            <a:stCxn id="70" idx="3"/>
            <a:endCxn id="63" idx="1"/>
          </p:cNvCxnSpPr>
          <p:nvPr/>
        </p:nvCxnSpPr>
        <p:spPr>
          <a:xfrm>
            <a:off x="7926798" y="3414567"/>
            <a:ext cx="223894" cy="0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直接箭头连接符 162">
            <a:extLst>
              <a:ext uri="{FF2B5EF4-FFF2-40B4-BE49-F238E27FC236}">
                <a16:creationId xmlns:a16="http://schemas.microsoft.com/office/drawing/2014/main" id="{79AFE08F-4502-BE7B-9F15-756E59AF9A7C}"/>
              </a:ext>
            </a:extLst>
          </p:cNvPr>
          <p:cNvCxnSpPr>
            <a:cxnSpLocks/>
            <a:stCxn id="48" idx="2"/>
          </p:cNvCxnSpPr>
          <p:nvPr/>
        </p:nvCxnSpPr>
        <p:spPr>
          <a:xfrm flipH="1">
            <a:off x="9090205" y="2469230"/>
            <a:ext cx="18000" cy="144190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直接箭头连接符 169">
            <a:extLst>
              <a:ext uri="{FF2B5EF4-FFF2-40B4-BE49-F238E27FC236}">
                <a16:creationId xmlns:a16="http://schemas.microsoft.com/office/drawing/2014/main" id="{54A874F1-B52A-EE8A-7F86-1BB352C93BE7}"/>
              </a:ext>
            </a:extLst>
          </p:cNvPr>
          <p:cNvCxnSpPr>
            <a:cxnSpLocks/>
            <a:stCxn id="71" idx="3"/>
            <a:endCxn id="60" idx="1"/>
          </p:cNvCxnSpPr>
          <p:nvPr/>
        </p:nvCxnSpPr>
        <p:spPr>
          <a:xfrm>
            <a:off x="7926798" y="3094772"/>
            <a:ext cx="921151" cy="0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直接箭头连接符 172">
            <a:extLst>
              <a:ext uri="{FF2B5EF4-FFF2-40B4-BE49-F238E27FC236}">
                <a16:creationId xmlns:a16="http://schemas.microsoft.com/office/drawing/2014/main" id="{769CCEE0-2D66-C1BE-E4D7-62ED37FAD0D0}"/>
              </a:ext>
            </a:extLst>
          </p:cNvPr>
          <p:cNvCxnSpPr>
            <a:cxnSpLocks/>
            <a:stCxn id="60" idx="3"/>
            <a:endCxn id="6" idx="1"/>
          </p:cNvCxnSpPr>
          <p:nvPr/>
        </p:nvCxnSpPr>
        <p:spPr>
          <a:xfrm flipV="1">
            <a:off x="9423949" y="3093156"/>
            <a:ext cx="113806" cy="1616"/>
          </a:xfrm>
          <a:prstGeom prst="straightConnector1">
            <a:avLst/>
          </a:prstGeom>
          <a:ln w="25400">
            <a:solidFill>
              <a:srgbClr val="7F7F7F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直接箭头连接符 175">
            <a:extLst>
              <a:ext uri="{FF2B5EF4-FFF2-40B4-BE49-F238E27FC236}">
                <a16:creationId xmlns:a16="http://schemas.microsoft.com/office/drawing/2014/main" id="{E85D5511-9624-5E1D-DEE2-6984137415ED}"/>
              </a:ext>
            </a:extLst>
          </p:cNvPr>
          <p:cNvCxnSpPr>
            <a:cxnSpLocks/>
            <a:stCxn id="61" idx="3"/>
            <a:endCxn id="56" idx="1"/>
          </p:cNvCxnSpPr>
          <p:nvPr/>
        </p:nvCxnSpPr>
        <p:spPr>
          <a:xfrm>
            <a:off x="10113755" y="3414567"/>
            <a:ext cx="395197" cy="0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直接箭头连接符 178">
            <a:extLst>
              <a:ext uri="{FF2B5EF4-FFF2-40B4-BE49-F238E27FC236}">
                <a16:creationId xmlns:a16="http://schemas.microsoft.com/office/drawing/2014/main" id="{DA325614-FE40-1CE9-F7A5-AB4837F16FE9}"/>
              </a:ext>
            </a:extLst>
          </p:cNvPr>
          <p:cNvCxnSpPr>
            <a:cxnSpLocks/>
            <a:stCxn id="66" idx="3"/>
            <a:endCxn id="64" idx="1"/>
          </p:cNvCxnSpPr>
          <p:nvPr/>
        </p:nvCxnSpPr>
        <p:spPr>
          <a:xfrm>
            <a:off x="10113755" y="3729474"/>
            <a:ext cx="395197" cy="0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直接箭头连接符 181">
            <a:extLst>
              <a:ext uri="{FF2B5EF4-FFF2-40B4-BE49-F238E27FC236}">
                <a16:creationId xmlns:a16="http://schemas.microsoft.com/office/drawing/2014/main" id="{6156D795-D2FC-FAF2-D7BF-AFFC1C91D947}"/>
              </a:ext>
            </a:extLst>
          </p:cNvPr>
          <p:cNvCxnSpPr>
            <a:cxnSpLocks/>
            <a:stCxn id="74" idx="3"/>
            <a:endCxn id="72" idx="1"/>
          </p:cNvCxnSpPr>
          <p:nvPr/>
        </p:nvCxnSpPr>
        <p:spPr>
          <a:xfrm>
            <a:off x="10113755" y="4083877"/>
            <a:ext cx="395197" cy="610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直接箭头连接符 184">
            <a:extLst>
              <a:ext uri="{FF2B5EF4-FFF2-40B4-BE49-F238E27FC236}">
                <a16:creationId xmlns:a16="http://schemas.microsoft.com/office/drawing/2014/main" id="{089ED39C-AC02-9651-35B2-5533F5109D2D}"/>
              </a:ext>
            </a:extLst>
          </p:cNvPr>
          <p:cNvCxnSpPr>
            <a:cxnSpLocks/>
            <a:stCxn id="51" idx="3"/>
            <a:endCxn id="52" idx="1"/>
          </p:cNvCxnSpPr>
          <p:nvPr/>
        </p:nvCxnSpPr>
        <p:spPr>
          <a:xfrm>
            <a:off x="10113755" y="2680560"/>
            <a:ext cx="395197" cy="0"/>
          </a:xfrm>
          <a:prstGeom prst="straightConnector1">
            <a:avLst/>
          </a:prstGeom>
          <a:ln w="25400">
            <a:solidFill>
              <a:srgbClr val="7F7F7F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连接符: 肘形 187">
            <a:extLst>
              <a:ext uri="{FF2B5EF4-FFF2-40B4-BE49-F238E27FC236}">
                <a16:creationId xmlns:a16="http://schemas.microsoft.com/office/drawing/2014/main" id="{B45A1786-90EB-9DED-A9D2-852B2687DAD3}"/>
              </a:ext>
            </a:extLst>
          </p:cNvPr>
          <p:cNvCxnSpPr>
            <a:cxnSpLocks/>
            <a:stCxn id="52" idx="3"/>
            <a:endCxn id="36" idx="0"/>
          </p:cNvCxnSpPr>
          <p:nvPr/>
        </p:nvCxnSpPr>
        <p:spPr>
          <a:xfrm flipH="1" flipV="1">
            <a:off x="11048952" y="1114021"/>
            <a:ext cx="540000" cy="1566539"/>
          </a:xfrm>
          <a:prstGeom prst="bentConnector4">
            <a:avLst>
              <a:gd name="adj1" fmla="val -42333"/>
              <a:gd name="adj2" fmla="val 114593"/>
            </a:avLst>
          </a:prstGeom>
          <a:ln w="254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1" name="连接符: 肘形 190">
            <a:extLst>
              <a:ext uri="{FF2B5EF4-FFF2-40B4-BE49-F238E27FC236}">
                <a16:creationId xmlns:a16="http://schemas.microsoft.com/office/drawing/2014/main" id="{71FEF0CB-DAC1-FB67-F9EB-EB2E6F656C9A}"/>
              </a:ext>
            </a:extLst>
          </p:cNvPr>
          <p:cNvCxnSpPr>
            <a:cxnSpLocks/>
            <a:stCxn id="44" idx="3"/>
            <a:endCxn id="36" idx="0"/>
          </p:cNvCxnSpPr>
          <p:nvPr/>
        </p:nvCxnSpPr>
        <p:spPr>
          <a:xfrm flipH="1" flipV="1">
            <a:off x="11048952" y="1114021"/>
            <a:ext cx="540000" cy="964854"/>
          </a:xfrm>
          <a:prstGeom prst="bentConnector4">
            <a:avLst>
              <a:gd name="adj1" fmla="val -42333"/>
              <a:gd name="adj2" fmla="val 123693"/>
            </a:avLst>
          </a:prstGeom>
          <a:ln w="25400">
            <a:solidFill>
              <a:schemeClr val="bg1">
                <a:lumMod val="5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文本框 200">
            <a:extLst>
              <a:ext uri="{FF2B5EF4-FFF2-40B4-BE49-F238E27FC236}">
                <a16:creationId xmlns:a16="http://schemas.microsoft.com/office/drawing/2014/main" id="{22348A11-4D55-C620-6DA0-A1C1A590DD23}"/>
              </a:ext>
            </a:extLst>
          </p:cNvPr>
          <p:cNvSpPr txBox="1"/>
          <p:nvPr/>
        </p:nvSpPr>
        <p:spPr>
          <a:xfrm>
            <a:off x="8058092" y="3447004"/>
            <a:ext cx="362600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600" dirty="0"/>
              <a:t>/W3h</a:t>
            </a:r>
            <a:endParaRPr lang="zh-CN" altLang="en-US" sz="600" dirty="0"/>
          </a:p>
        </p:txBody>
      </p:sp>
      <p:sp>
        <p:nvSpPr>
          <p:cNvPr id="202" name="文本框 201">
            <a:extLst>
              <a:ext uri="{FF2B5EF4-FFF2-40B4-BE49-F238E27FC236}">
                <a16:creationId xmlns:a16="http://schemas.microsoft.com/office/drawing/2014/main" id="{5A7F730E-B8A8-041F-399F-8C40FA733C53}"/>
              </a:ext>
            </a:extLst>
          </p:cNvPr>
          <p:cNvSpPr txBox="1"/>
          <p:nvPr/>
        </p:nvSpPr>
        <p:spPr>
          <a:xfrm>
            <a:off x="8056607" y="3761775"/>
            <a:ext cx="362600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600" dirty="0"/>
              <a:t>/W3u</a:t>
            </a:r>
          </a:p>
        </p:txBody>
      </p:sp>
      <p:sp>
        <p:nvSpPr>
          <p:cNvPr id="203" name="文本框 202">
            <a:extLst>
              <a:ext uri="{FF2B5EF4-FFF2-40B4-BE49-F238E27FC236}">
                <a16:creationId xmlns:a16="http://schemas.microsoft.com/office/drawing/2014/main" id="{E006993D-F45E-5344-3A01-CE0C90715557}"/>
              </a:ext>
            </a:extLst>
          </p:cNvPr>
          <p:cNvSpPr txBox="1"/>
          <p:nvPr/>
        </p:nvSpPr>
        <p:spPr>
          <a:xfrm>
            <a:off x="8743800" y="3760392"/>
            <a:ext cx="340158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600" dirty="0"/>
              <a:t>/W2i</a:t>
            </a:r>
          </a:p>
        </p:txBody>
      </p:sp>
      <p:sp>
        <p:nvSpPr>
          <p:cNvPr id="204" name="文本框 203">
            <a:extLst>
              <a:ext uri="{FF2B5EF4-FFF2-40B4-BE49-F238E27FC236}">
                <a16:creationId xmlns:a16="http://schemas.microsoft.com/office/drawing/2014/main" id="{43A7D25E-6A85-453B-F1BF-7D86498D5D65}"/>
              </a:ext>
            </a:extLst>
          </p:cNvPr>
          <p:cNvSpPr txBox="1"/>
          <p:nvPr/>
        </p:nvSpPr>
        <p:spPr>
          <a:xfrm>
            <a:off x="8746774" y="4114533"/>
            <a:ext cx="357790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600" dirty="0"/>
              <a:t>/W1v</a:t>
            </a:r>
          </a:p>
        </p:txBody>
      </p:sp>
      <p:sp>
        <p:nvSpPr>
          <p:cNvPr id="205" name="文本框 204">
            <a:extLst>
              <a:ext uri="{FF2B5EF4-FFF2-40B4-BE49-F238E27FC236}">
                <a16:creationId xmlns:a16="http://schemas.microsoft.com/office/drawing/2014/main" id="{DE8D2CF6-A748-7D82-3653-D1DC9EB2D82D}"/>
              </a:ext>
            </a:extLst>
          </p:cNvPr>
          <p:cNvSpPr txBox="1"/>
          <p:nvPr/>
        </p:nvSpPr>
        <p:spPr>
          <a:xfrm>
            <a:off x="8728689" y="2420489"/>
            <a:ext cx="124585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00" dirty="0"/>
              <a:t>是否</a:t>
            </a:r>
            <a:r>
              <a:rPr lang="en-US" altLang="zh-CN" sz="600" dirty="0"/>
              <a:t>/</a:t>
            </a:r>
            <a:r>
              <a:rPr lang="zh-CN" altLang="en-US" sz="600" dirty="0"/>
              <a:t>已冲高</a:t>
            </a:r>
            <a:r>
              <a:rPr lang="en-US" altLang="zh-CN" sz="600" dirty="0"/>
              <a:t>/</a:t>
            </a:r>
            <a:r>
              <a:rPr lang="zh-CN" altLang="en-US" sz="600" dirty="0"/>
              <a:t>已整弧？提前退出</a:t>
            </a:r>
          </a:p>
        </p:txBody>
      </p:sp>
      <p:sp>
        <p:nvSpPr>
          <p:cNvPr id="206" name="文本框 205">
            <a:extLst>
              <a:ext uri="{FF2B5EF4-FFF2-40B4-BE49-F238E27FC236}">
                <a16:creationId xmlns:a16="http://schemas.microsoft.com/office/drawing/2014/main" id="{628A5222-B441-D44B-16E5-D58B9EB6662F}"/>
              </a:ext>
            </a:extLst>
          </p:cNvPr>
          <p:cNvSpPr txBox="1"/>
          <p:nvPr/>
        </p:nvSpPr>
        <p:spPr>
          <a:xfrm>
            <a:off x="10404012" y="1528341"/>
            <a:ext cx="1184940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00" dirty="0"/>
              <a:t>是否最后一柱？是则左侧退出</a:t>
            </a:r>
          </a:p>
        </p:txBody>
      </p:sp>
      <p:sp>
        <p:nvSpPr>
          <p:cNvPr id="207" name="文本框 206">
            <a:extLst>
              <a:ext uri="{FF2B5EF4-FFF2-40B4-BE49-F238E27FC236}">
                <a16:creationId xmlns:a16="http://schemas.microsoft.com/office/drawing/2014/main" id="{F71784BE-C07C-7250-12D8-D74B8752C2D5}"/>
              </a:ext>
            </a:extLst>
          </p:cNvPr>
          <p:cNvSpPr txBox="1"/>
          <p:nvPr/>
        </p:nvSpPr>
        <p:spPr>
          <a:xfrm>
            <a:off x="8725705" y="2121228"/>
            <a:ext cx="72327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00" dirty="0"/>
              <a:t>是否区分柱排？</a:t>
            </a:r>
          </a:p>
        </p:txBody>
      </p:sp>
      <p:sp>
        <p:nvSpPr>
          <p:cNvPr id="208" name="文本框 207">
            <a:extLst>
              <a:ext uri="{FF2B5EF4-FFF2-40B4-BE49-F238E27FC236}">
                <a16:creationId xmlns:a16="http://schemas.microsoft.com/office/drawing/2014/main" id="{E0276040-D314-FB16-8983-484529ABFB15}"/>
              </a:ext>
            </a:extLst>
          </p:cNvPr>
          <p:cNvSpPr txBox="1"/>
          <p:nvPr/>
        </p:nvSpPr>
        <p:spPr>
          <a:xfrm>
            <a:off x="9440957" y="2721839"/>
            <a:ext cx="110799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00" dirty="0"/>
              <a:t>是否逢高退出？是否触哼？</a:t>
            </a:r>
          </a:p>
        </p:txBody>
      </p:sp>
      <p:sp>
        <p:nvSpPr>
          <p:cNvPr id="210" name="文本框 209">
            <a:extLst>
              <a:ext uri="{FF2B5EF4-FFF2-40B4-BE49-F238E27FC236}">
                <a16:creationId xmlns:a16="http://schemas.microsoft.com/office/drawing/2014/main" id="{A6CC224D-78C6-14D6-3F46-7744409059AF}"/>
              </a:ext>
            </a:extLst>
          </p:cNvPr>
          <p:cNvSpPr txBox="1"/>
          <p:nvPr/>
        </p:nvSpPr>
        <p:spPr>
          <a:xfrm>
            <a:off x="8743800" y="3444270"/>
            <a:ext cx="341760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600" dirty="0"/>
              <a:t>/W2I</a:t>
            </a:r>
          </a:p>
        </p:txBody>
      </p:sp>
      <p:sp>
        <p:nvSpPr>
          <p:cNvPr id="10" name="箭头: 下 9">
            <a:extLst>
              <a:ext uri="{FF2B5EF4-FFF2-40B4-BE49-F238E27FC236}">
                <a16:creationId xmlns:a16="http://schemas.microsoft.com/office/drawing/2014/main" id="{5D3391BA-36A0-D1BC-EF0A-2A006BF76B15}"/>
              </a:ext>
            </a:extLst>
          </p:cNvPr>
          <p:cNvSpPr/>
          <p:nvPr/>
        </p:nvSpPr>
        <p:spPr>
          <a:xfrm rot="16200000">
            <a:off x="5049005" y="2499873"/>
            <a:ext cx="1473200" cy="361950"/>
          </a:xfrm>
          <a:prstGeom prst="downArrow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箭头: 下 10">
            <a:extLst>
              <a:ext uri="{FF2B5EF4-FFF2-40B4-BE49-F238E27FC236}">
                <a16:creationId xmlns:a16="http://schemas.microsoft.com/office/drawing/2014/main" id="{DFA7D282-D2EA-FDB7-6F58-A0B13BD37039}"/>
              </a:ext>
            </a:extLst>
          </p:cNvPr>
          <p:cNvSpPr/>
          <p:nvPr/>
        </p:nvSpPr>
        <p:spPr>
          <a:xfrm rot="10800000">
            <a:off x="8615016" y="5533157"/>
            <a:ext cx="1473200" cy="243119"/>
          </a:xfrm>
          <a:prstGeom prst="downArrow">
            <a:avLst/>
          </a:prstGeom>
          <a:solidFill>
            <a:srgbClr val="18171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22038482-188D-C56D-8047-F51AE598666D}"/>
              </a:ext>
            </a:extLst>
          </p:cNvPr>
          <p:cNvSpPr/>
          <p:nvPr/>
        </p:nvSpPr>
        <p:spPr>
          <a:xfrm>
            <a:off x="10508952" y="1719485"/>
            <a:ext cx="1080000" cy="180000"/>
          </a:xfrm>
          <a:prstGeom prst="rect">
            <a:avLst/>
          </a:prstGeom>
          <a:solidFill>
            <a:srgbClr val="4472C4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龙猪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_</a:t>
            </a:r>
            <a:r>
              <a:rPr lang="zh-CN" altLang="en-US" sz="9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主首</a:t>
            </a:r>
            <a:r>
              <a:rPr lang="en-US" altLang="zh-CN" sz="9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后缀</a:t>
            </a:r>
            <a:r>
              <a:rPr lang="en-US" altLang="zh-CN" sz="9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463B0BDC-B08B-E774-3019-11F02685BCD5}"/>
              </a:ext>
            </a:extLst>
          </p:cNvPr>
          <p:cNvSpPr/>
          <p:nvPr/>
        </p:nvSpPr>
        <p:spPr>
          <a:xfrm>
            <a:off x="9537755" y="3003156"/>
            <a:ext cx="576000" cy="180000"/>
          </a:xfrm>
          <a:prstGeom prst="rect">
            <a:avLst/>
          </a:prstGeom>
          <a:solidFill>
            <a:srgbClr val="7030A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头正芽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3" name="直接箭头连接符 12">
            <a:extLst>
              <a:ext uri="{FF2B5EF4-FFF2-40B4-BE49-F238E27FC236}">
                <a16:creationId xmlns:a16="http://schemas.microsoft.com/office/drawing/2014/main" id="{3711FF49-A480-5299-03EE-D6D091F51E93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10113755" y="3093156"/>
            <a:ext cx="395197" cy="0"/>
          </a:xfrm>
          <a:prstGeom prst="straightConnector1">
            <a:avLst/>
          </a:prstGeom>
          <a:ln w="254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D9D0C876-F916-4B23-6F92-D7BC868C7D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3927137"/>
              </p:ext>
            </p:extLst>
          </p:nvPr>
        </p:nvGraphicFramePr>
        <p:xfrm>
          <a:off x="5884" y="716676"/>
          <a:ext cx="6096002" cy="6141324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509212">
                  <a:extLst>
                    <a:ext uri="{9D8B030D-6E8A-4147-A177-3AD203B41FA5}">
                      <a16:colId xmlns:a16="http://schemas.microsoft.com/office/drawing/2014/main" val="2002203203"/>
                    </a:ext>
                  </a:extLst>
                </a:gridCol>
                <a:gridCol w="141410">
                  <a:extLst>
                    <a:ext uri="{9D8B030D-6E8A-4147-A177-3AD203B41FA5}">
                      <a16:colId xmlns:a16="http://schemas.microsoft.com/office/drawing/2014/main" val="240148206"/>
                    </a:ext>
                  </a:extLst>
                </a:gridCol>
                <a:gridCol w="844608">
                  <a:extLst>
                    <a:ext uri="{9D8B030D-6E8A-4147-A177-3AD203B41FA5}">
                      <a16:colId xmlns:a16="http://schemas.microsoft.com/office/drawing/2014/main" val="260794359"/>
                    </a:ext>
                  </a:extLst>
                </a:gridCol>
                <a:gridCol w="4600772">
                  <a:extLst>
                    <a:ext uri="{9D8B030D-6E8A-4147-A177-3AD203B41FA5}">
                      <a16:colId xmlns:a16="http://schemas.microsoft.com/office/drawing/2014/main" val="1583434565"/>
                    </a:ext>
                  </a:extLst>
                </a:gridCol>
              </a:tblGrid>
              <a:tr h="217667">
                <a:tc rowSpan="3"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原旨必赢操盘方法：按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持有。</a:t>
                      </a:r>
                      <a:endParaRPr lang="en-US" altLang="zh-CN" sz="8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：退出。</a:t>
                      </a:r>
                      <a:endParaRPr lang="en-US" altLang="zh-CN" sz="8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破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，当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；破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，当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3118792"/>
                  </a:ext>
                </a:extLst>
              </a:tr>
              <a:tr h="590811">
                <a:tc gridSpan="2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：若为主升，要跟随。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主升的判定条件：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；在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之上（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WXZA=-1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）；触顶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只有两个出口：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在主升过程中没有出口。</a:t>
                      </a:r>
                      <a:endParaRPr lang="en-US" altLang="zh-CN" sz="8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①冲高。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最后一柱。</a:t>
                      </a:r>
                      <a:endParaRPr lang="en-US" altLang="zh-CN" sz="8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②下破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WJCBA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呈放射状排列时，在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止损退出。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9015280"/>
                  </a:ext>
                </a:extLst>
              </a:tr>
              <a:tr h="715192">
                <a:tc gridSpan="2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：若为震荡，要逢高退出。</a:t>
                      </a:r>
                      <a:endParaRPr lang="en-US" altLang="zh-CN" sz="8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核心问题：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区分劫恢复（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/WXZA/WXZB/WXAB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）的后续走势，是震荡？还是主升？</a:t>
                      </a:r>
                      <a:endParaRPr lang="en-US" altLang="zh-CN" sz="8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判断劫恢复形成主升，要依赖月柱，不要仅参考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丘。</a:t>
                      </a:r>
                      <a:endParaRPr lang="en-US" altLang="zh-CN" sz="8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理清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周局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周波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的底层逻辑一致性。</a:t>
                      </a:r>
                      <a:endParaRPr lang="en-US" altLang="zh-CN" sz="8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“周再”（限制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）与“头”（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[WXAB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但未触顶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）都是限制交叉初期，目的一致，不要搞得太复杂。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5160742"/>
                  </a:ext>
                </a:extLst>
              </a:tr>
              <a:tr h="963955">
                <a:tc rowSpan="2"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原旨盈利模式：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龙管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内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盈利方案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在龙管内，赚取长期持有。要判断龙猪会形成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大丘且跟随。</a:t>
                      </a:r>
                      <a:endParaRPr lang="en-US" altLang="zh-CN" sz="8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地型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判断是否延续在龙管？总结各种地型的典型恢复模式。</a:t>
                      </a:r>
                      <a:endParaRPr lang="en-US" altLang="zh-CN" sz="8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（无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栅）均可能延续在管；</a:t>
                      </a:r>
                      <a:endParaRPr lang="en-US" altLang="zh-CN" sz="8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劫要汇总重新入管的典型模式。</a:t>
                      </a:r>
                      <a:endParaRPr lang="en-US" altLang="zh-CN" sz="8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日五柱是否支持恢复走势？在周龙，出现日机就要介入；在非周龙，不要看日机。</a:t>
                      </a:r>
                      <a:endParaRPr lang="en-US" altLang="zh-CN" sz="8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盈利方案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在龙管内，赚取下周冲高。待完成：汇总龙管中下周冲高的典型模式。</a:t>
                      </a:r>
                      <a:endParaRPr lang="en-US" altLang="zh-CN" sz="8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盈利方案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在龙管内，赚取下日冲高。在周龙，出现日机进行试仓。</a:t>
                      </a:r>
                      <a:endParaRPr lang="en-US" altLang="zh-CN" sz="8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0608596"/>
                  </a:ext>
                </a:extLst>
              </a:tr>
              <a:tr h="217667">
                <a:tc gridSpan="2"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龙管</a:t>
                      </a:r>
                      <a:r>
                        <a:rPr lang="en-US" altLang="zh-CN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外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之上但处于龙管之外的零星机会。原则上仅观察，不操作。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653622"/>
                  </a:ext>
                </a:extLst>
              </a:tr>
              <a:tr h="217667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步骤</a:t>
                      </a:r>
                      <a:r>
                        <a:rPr lang="en-US" altLang="zh-CN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2.WXAB</a:t>
                      </a: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之上动态行进</a:t>
                      </a:r>
                      <a:r>
                        <a:rPr lang="en-US" altLang="zh-CN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“牢记：只要在</a:t>
                      </a:r>
                      <a:r>
                        <a:rPr lang="en-US" altLang="zh-CN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之上就有活路。”</a:t>
                      </a:r>
                      <a:endParaRPr lang="en-US" altLang="zh-CN" sz="8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96348814"/>
                  </a:ext>
                </a:extLst>
              </a:tr>
              <a:tr h="15081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思维模式：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只要在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之上，就要思考如何恢复，而不要害怕退出。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→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这是此算法必赢的精髓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：遇到劫，因属于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之上，都属于可持范围，要思考如何恢复，而不要立刻退出。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当处于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之上，判断波型：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是否为主升（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；触顶）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是否为震荡（其他）。因为震荡很可能是下跌过程的诱多，必须与主升区分。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当处于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之间，判断：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是否属于异常三情况（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多柱）？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是否会再站上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？参考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劫恢复的典型模式。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是否会再次入管？参考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劫再入管的典型模式。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：因为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是作为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的替身，当下破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且继续下跌时提前退出。当处于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之下时，因仍在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之上，只要具有向上动能，就可以介入。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/WXZB/WXAB/WXAC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：可在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之上介入；最好等站稳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之后介入。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可介入情况：突然大阴柱下破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；止跌转向向上；站上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只要在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之上，就要思考如何恢复，而不要害怕退出。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→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这是此算法必赢的精髓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：遇到劫，因属于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之上，都属于可持范围，要思考如何恢复，而不要立刻退出。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当处于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之上，判断波型：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是否为主升（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；触顶）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是否为震荡（其他）。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当处于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之间，判断：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是否属于异常三情况（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多柱）？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是否会再站上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？参考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劫恢复的典型模式。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是否会再次入管？参考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劫再入管的典型模式。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：因为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是作为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的替身，当下破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且继续下跌时提前退出。当处于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之下时，因仍在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之上，只要具有向上动能，就可以介入。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/WXZB/WXAB/WXAC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：可在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之上介入；最好等站稳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之后介入。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可介入情况：突然大阴柱下破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；止跌转向向上；站上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84566593"/>
                  </a:ext>
                </a:extLst>
              </a:tr>
              <a:tr h="118162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的作用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领悟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20260306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：站上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才可能做多，下破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才可能看空。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不要单独把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丘作为一种操盘策略。只把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的提前退出线（当下破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时看是否会继续下破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护线的作用：不要依赖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做策略，最多只针对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制定入口与出口策略。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，主要目标是找入口。且只应在上破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之后，要关注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之上柱排列。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，主要目标是找出口。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时，看是否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。不能看是否已沿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形成跌排，因为必然是跌排。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时，只在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情况下提前退出。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领悟：下破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时必然会形成周级别或日级别跌排。下破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勿退出，否则将错过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劫的恢复。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之上，只在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情况下在形成跌排时提前退出。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为了应对反复贯穿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情况，可以参考特定柱排。如剔除（跌排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单阳）。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领悟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20260306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：站上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才可能做多，下破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才可能看空。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不要单独把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丘作为一种操盘策略。只把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的提前退出线（当下破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时看是否会继续下破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护线的作用：不要依赖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做策略，最多只针对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制定入口与出口策略。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，主要目标是找入口。且只应在上破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之后，要关注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之上柱排列。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，主要目标是找出口。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时，看是否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。不能看是否已沿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形成跌排，因为必然是跌排。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时，只在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情况下提前退出。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领悟：下破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时必然会形成周级别或日级别跌排。下破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仅警示勿退出，否则将无法应对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劫的恢复。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之上，只在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情况下在形成跌排时提前退出。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为了应对反复贯穿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情况，可以参考特定柱排。如剔除（跌排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单阳）。</a:t>
                      </a:r>
                      <a:endParaRPr lang="en-US" altLang="zh-CN" sz="7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64904169"/>
                  </a:ext>
                </a:extLst>
              </a:tr>
              <a:tr h="52862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退出点：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lv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依赖于（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）（是否冲高）（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与柱排）综合指定退出点。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若已下破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，此时观察若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，则提前退出。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若已冲高，可在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之上跌排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提前退出。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其他情况，在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之上无退出点。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依赖于（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）（是否冲高）（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与柱排）综合指定退出点。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若已下破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，此时观察若已形成跌排，则提前退出。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若已冲高，可在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之上跌排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提前退出。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其他情况，在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之上无退出点。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235780126"/>
                  </a:ext>
                </a:extLst>
              </a:tr>
            </a:tbl>
          </a:graphicData>
        </a:graphic>
      </p:graphicFrame>
      <p:sp>
        <p:nvSpPr>
          <p:cNvPr id="7" name="箭头: 下 6">
            <a:extLst>
              <a:ext uri="{FF2B5EF4-FFF2-40B4-BE49-F238E27FC236}">
                <a16:creationId xmlns:a16="http://schemas.microsoft.com/office/drawing/2014/main" id="{7013B884-71C0-80C5-3C1E-B9FA76C0D1BC}"/>
              </a:ext>
            </a:extLst>
          </p:cNvPr>
          <p:cNvSpPr/>
          <p:nvPr/>
        </p:nvSpPr>
        <p:spPr>
          <a:xfrm rot="16200000">
            <a:off x="5710216" y="1930699"/>
            <a:ext cx="1473200" cy="228339"/>
          </a:xfrm>
          <a:prstGeom prst="downArrow">
            <a:avLst/>
          </a:prstGeom>
          <a:solidFill>
            <a:schemeClr val="bg2">
              <a:lumMod val="1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90E7609E-86F9-B863-E712-EE13C5A10EFD}"/>
              </a:ext>
            </a:extLst>
          </p:cNvPr>
          <p:cNvSpPr txBox="1"/>
          <p:nvPr/>
        </p:nvSpPr>
        <p:spPr>
          <a:xfrm>
            <a:off x="7207601" y="3447004"/>
            <a:ext cx="37702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600" dirty="0"/>
              <a:t>/W3w</a:t>
            </a:r>
            <a:endParaRPr lang="zh-CN" altLang="en-US" sz="600" dirty="0"/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3FF4353F-07CB-73E4-0AE2-8CF2FD8AA9F2}"/>
              </a:ext>
            </a:extLst>
          </p:cNvPr>
          <p:cNvSpPr txBox="1"/>
          <p:nvPr/>
        </p:nvSpPr>
        <p:spPr>
          <a:xfrm>
            <a:off x="7207601" y="3134157"/>
            <a:ext cx="357790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600" dirty="0"/>
              <a:t>/W3v</a:t>
            </a:r>
            <a:endParaRPr lang="zh-CN" altLang="en-US" sz="600" dirty="0"/>
          </a:p>
        </p:txBody>
      </p:sp>
    </p:spTree>
    <p:extLst>
      <p:ext uri="{BB962C8B-B14F-4D97-AF65-F5344CB8AC3E}">
        <p14:creationId xmlns:p14="http://schemas.microsoft.com/office/powerpoint/2010/main" val="4282700713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1437FF-9BF2-9068-3636-D25928856F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1E66EE8-8477-78F6-BD5B-CB7A73DEA1E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必赢战法步骤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周地型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周柱型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本页主题：根据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周奏：渡主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&gt;&lt;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地型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&gt;&lt;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柱型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&gt;&lt;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反例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，总结下周冲高机会的特征，应采用何种策略？并汇总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notion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图谱。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75C71992-4989-666F-0211-B12CC627F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6795596"/>
              </p:ext>
            </p:extLst>
          </p:nvPr>
        </p:nvGraphicFramePr>
        <p:xfrm>
          <a:off x="5378336" y="720000"/>
          <a:ext cx="6813664" cy="4175760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557482">
                  <a:extLst>
                    <a:ext uri="{9D8B030D-6E8A-4147-A177-3AD203B41FA5}">
                      <a16:colId xmlns:a16="http://schemas.microsoft.com/office/drawing/2014/main" val="3160980367"/>
                    </a:ext>
                  </a:extLst>
                </a:gridCol>
                <a:gridCol w="520315">
                  <a:extLst>
                    <a:ext uri="{9D8B030D-6E8A-4147-A177-3AD203B41FA5}">
                      <a16:colId xmlns:a16="http://schemas.microsoft.com/office/drawing/2014/main" val="3167359444"/>
                    </a:ext>
                  </a:extLst>
                </a:gridCol>
                <a:gridCol w="3485441">
                  <a:extLst>
                    <a:ext uri="{9D8B030D-6E8A-4147-A177-3AD203B41FA5}">
                      <a16:colId xmlns:a16="http://schemas.microsoft.com/office/drawing/2014/main" val="3308986666"/>
                    </a:ext>
                  </a:extLst>
                </a:gridCol>
                <a:gridCol w="2250426">
                  <a:extLst>
                    <a:ext uri="{9D8B030D-6E8A-4147-A177-3AD203B41FA5}">
                      <a16:colId xmlns:a16="http://schemas.microsoft.com/office/drawing/2014/main" val="3252392824"/>
                    </a:ext>
                  </a:extLst>
                </a:gridCol>
              </a:tblGrid>
              <a:tr h="0">
                <a:tc gridSpan="4">
                  <a:txBody>
                    <a:bodyPr/>
                    <a:lstStyle/>
                    <a:p>
                      <a:pPr algn="ctr"/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/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（代表柱排所处的短期环境）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29677348"/>
                  </a:ext>
                </a:extLst>
              </a:tr>
              <a:tr h="225775">
                <a:tc gridSpan="4">
                  <a:txBody>
                    <a:bodyPr/>
                    <a:lstStyle/>
                    <a:p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定义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地型是根据“本柱前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柱”的异常情况进行分类，用于区分柱型所处的环境。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起心动念：最正常的运行方式是匀速垒升，若上升过快则进行调整。调整级别构成各种地型（无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蛀）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时效介于周层与柱型之间。地型比柱型，时效更长；地型比周层，环境描述地更精确。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使用方法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要根据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地型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划分图谱主题；且在每个图谱中，根据周奏分别总结不同的走势倾向。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分类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分类与对应的情况如下：须形成互斥分类：除了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，其余均应对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589294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endParaRPr lang="zh-CN" altLang="en-US" sz="700" b="1" dirty="0">
                        <a:solidFill>
                          <a:schemeClr val="bg1">
                            <a:lumMod val="9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b="1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周地型的具体情况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对应的产出物</a:t>
                      </a:r>
                      <a:endParaRPr lang="en-US" altLang="zh-CN" sz="700" b="1" dirty="0">
                        <a:solidFill>
                          <a:schemeClr val="bg1">
                            <a:lumMod val="9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4523229"/>
                  </a:ext>
                </a:extLst>
              </a:tr>
              <a:tr h="159924"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&lt;0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橅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针对：前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柱全为升排</a:t>
                      </a:r>
                      <a:r>
                        <a:rPr lang="en-US" altLang="zh-CN" sz="700" b="0" dirty="0" err="1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QOov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须关注特殊反例：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最后一柱：特别针对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升排失势：虽为升排但已失势的情况。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在轨图谱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垒升启动结构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反例：最后一柱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</a:p>
                    <a:p>
                      <a:pPr marL="285750" indent="-2857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反例：升排失势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45306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&lt;1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柜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针对：前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柱只有一个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V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，其他均为</a:t>
                      </a:r>
                      <a:r>
                        <a:rPr lang="en-US" altLang="zh-CN" sz="700" b="0" dirty="0" err="1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QOov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应对策略：总结遇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柜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的经典应对图谱。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在轨图谱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调整结构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04076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&lt;2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针对：前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柱只有一个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，其他均为</a:t>
                      </a:r>
                      <a:r>
                        <a:rPr lang="en-US" altLang="zh-CN" sz="700" b="0" dirty="0" err="1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QOovV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应对策略：总结遇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的经典应对图谱。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9962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&lt;3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桮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针对：在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之上的调整，包含：向上、无序、向下。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杂、阴阳阴、五柱三阴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待整理：专页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逃顶标志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待整理：专页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主升中的陷阱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243888"/>
                  </a:ext>
                </a:extLst>
              </a:tr>
              <a:tr h="126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&lt;4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&lt;4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针对：对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WJA3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柱以内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总结经典应对图谱。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：前期下破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至多三柱。主要为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震荡中继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：其余情况。主要为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转升初期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转跌初期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渡中突破的判定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是否真突破？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经典恢复模式。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9043228"/>
                  </a:ext>
                </a:extLst>
              </a:tr>
              <a:tr h="126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-3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&lt;5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&lt;5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应对策略：将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，按镜面对称原则，仿照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整理。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专页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底仓退出程序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4466656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-4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&lt;9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妩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针对：前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柱全为升排</a:t>
                      </a:r>
                      <a:r>
                        <a:rPr lang="en-US" altLang="zh-CN" sz="700" b="0" dirty="0" err="1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WVvo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257423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&lt;8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姖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针对：前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柱只有一个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O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733057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&lt;7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姗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针对：前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柱只有一个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Q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94505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&lt;6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娝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针对：其他情况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2912104"/>
                  </a:ext>
                </a:extLst>
              </a:tr>
            </a:tbl>
          </a:graphicData>
        </a:graphic>
      </p:graphicFrame>
      <p:graphicFrame>
        <p:nvGraphicFramePr>
          <p:cNvPr id="11" name="表格 10">
            <a:extLst>
              <a:ext uri="{FF2B5EF4-FFF2-40B4-BE49-F238E27FC236}">
                <a16:creationId xmlns:a16="http://schemas.microsoft.com/office/drawing/2014/main" id="{B9942FAD-290D-E2E6-B9AA-4C69CC86B9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8971539"/>
              </p:ext>
            </p:extLst>
          </p:nvPr>
        </p:nvGraphicFramePr>
        <p:xfrm>
          <a:off x="5378336" y="4965033"/>
          <a:ext cx="6813665" cy="1889760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2117246">
                  <a:extLst>
                    <a:ext uri="{9D8B030D-6E8A-4147-A177-3AD203B41FA5}">
                      <a16:colId xmlns:a16="http://schemas.microsoft.com/office/drawing/2014/main" val="1533273549"/>
                    </a:ext>
                  </a:extLst>
                </a:gridCol>
                <a:gridCol w="2117246">
                  <a:extLst>
                    <a:ext uri="{9D8B030D-6E8A-4147-A177-3AD203B41FA5}">
                      <a16:colId xmlns:a16="http://schemas.microsoft.com/office/drawing/2014/main" val="4133838470"/>
                    </a:ext>
                  </a:extLst>
                </a:gridCol>
                <a:gridCol w="2579173">
                  <a:extLst>
                    <a:ext uri="{9D8B030D-6E8A-4147-A177-3AD203B41FA5}">
                      <a16:colId xmlns:a16="http://schemas.microsoft.com/office/drawing/2014/main" val="2025229800"/>
                    </a:ext>
                  </a:extLst>
                </a:gridCol>
              </a:tblGrid>
              <a:tr h="221678">
                <a:tc gridSpan="3">
                  <a:txBody>
                    <a:bodyPr/>
                    <a:lstStyle/>
                    <a:p>
                      <a:pPr algn="ctr"/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周柱型：在柱排基础上添加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</a:p>
                    <a:p>
                      <a:pPr algn="ctr"/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（代表柱排的组合）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597532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柱型分类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子类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of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8653348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梯（升排）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016874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栏（跌吞相关）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吞跌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吞孕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吞吞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665555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栅（跌连相关）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连跌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连孕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157475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08087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  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集中处理上破三柱内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枝（突破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踩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13711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-3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  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集中处理下破三柱内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根（下破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18092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-4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99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线下四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6214140"/>
                  </a:ext>
                </a:extLst>
              </a:tr>
            </a:tbl>
          </a:graphicData>
        </a:graphic>
      </p:graphicFrame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38531AE0-BA67-AED3-BDC5-D357FAA88976}"/>
              </a:ext>
            </a:extLst>
          </p:cNvPr>
          <p:cNvGraphicFramePr>
            <a:graphicFrameLocks noGrp="1"/>
          </p:cNvGraphicFramePr>
          <p:nvPr/>
        </p:nvGraphicFramePr>
        <p:xfrm>
          <a:off x="-1" y="1718220"/>
          <a:ext cx="4665132" cy="3718560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579555">
                  <a:extLst>
                    <a:ext uri="{9D8B030D-6E8A-4147-A177-3AD203B41FA5}">
                      <a16:colId xmlns:a16="http://schemas.microsoft.com/office/drawing/2014/main" val="3160980367"/>
                    </a:ext>
                  </a:extLst>
                </a:gridCol>
                <a:gridCol w="663222">
                  <a:extLst>
                    <a:ext uri="{9D8B030D-6E8A-4147-A177-3AD203B41FA5}">
                      <a16:colId xmlns:a16="http://schemas.microsoft.com/office/drawing/2014/main" val="3167359444"/>
                    </a:ext>
                  </a:extLst>
                </a:gridCol>
                <a:gridCol w="879337">
                  <a:extLst>
                    <a:ext uri="{9D8B030D-6E8A-4147-A177-3AD203B41FA5}">
                      <a16:colId xmlns:a16="http://schemas.microsoft.com/office/drawing/2014/main" val="3308986666"/>
                    </a:ext>
                  </a:extLst>
                </a:gridCol>
                <a:gridCol w="641983">
                  <a:extLst>
                    <a:ext uri="{9D8B030D-6E8A-4147-A177-3AD203B41FA5}">
                      <a16:colId xmlns:a16="http://schemas.microsoft.com/office/drawing/2014/main" val="2863425887"/>
                    </a:ext>
                  </a:extLst>
                </a:gridCol>
                <a:gridCol w="1901035">
                  <a:extLst>
                    <a:ext uri="{9D8B030D-6E8A-4147-A177-3AD203B41FA5}">
                      <a16:colId xmlns:a16="http://schemas.microsoft.com/office/drawing/2014/main" val="3094256891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algn="ctr"/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针对柱型的分析：所有关键位置都应区分两个方向。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29677348"/>
                  </a:ext>
                </a:extLst>
              </a:tr>
              <a:tr h="0">
                <a:tc gridSpan="5">
                  <a:txBody>
                    <a:bodyPr/>
                    <a:lstStyle/>
                    <a:p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分类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分类与对应的情况如下：须形成互斥分类：除了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，其余均应对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8929409"/>
                  </a:ext>
                </a:extLst>
              </a:tr>
              <a:tr h="1213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endParaRPr lang="zh-CN" altLang="en-US" sz="700" b="1" dirty="0">
                        <a:solidFill>
                          <a:schemeClr val="bg1">
                            <a:lumMod val="9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b="1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lv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周地型的具体情况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4523229"/>
                  </a:ext>
                </a:extLst>
              </a:tr>
              <a:tr h="121355">
                <a:tc rowSpan="8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管中上升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向上：看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之上的柱排。不要只看是否维持触顶。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向下：是否已冲高？是否出现阴柱回调？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00453065"/>
                  </a:ext>
                </a:extLst>
              </a:tr>
              <a:tr h="248778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rowSpan="7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管中回落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向上：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在下落后是否找到支撑？是否形成“帐篷”？（栏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震正〇）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回落后出现平移柱。后续不一定上升。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向下：已冲高后转跌。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3404076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后续向上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后续向下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576200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出现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形成“梯”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转变为“跌连”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641278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出现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形成“帐篷”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转变为“阴阳阴”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409917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出现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形成“帐篷”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转变为“阴阳阴”震荡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120617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出现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震正〇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形成“帐篷”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翘头形成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头后下破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288094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出现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形成“帐篷”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诱多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价上均诱多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之下回弹诱多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573013"/>
                  </a:ext>
                </a:extLst>
              </a:tr>
              <a:tr h="12135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向上：等待突破确认（连升或回踩）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向下：诱多转跌。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09043228"/>
                  </a:ext>
                </a:extLst>
              </a:tr>
              <a:tr h="121355">
                <a:tc vMerge="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上破后回踩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向上：回踩要得到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支撑（靠近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且为阳柱）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向下：诱多后下破。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49126790"/>
                  </a:ext>
                </a:extLst>
              </a:tr>
              <a:tr h="1213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-3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镜面对称。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94466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-4</a:t>
                      </a: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下降管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上升管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镜面对称。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72574234"/>
                  </a:ext>
                </a:extLst>
              </a:tr>
            </a:tbl>
          </a:graphicData>
        </a:graphic>
      </p:graphicFrame>
      <p:sp>
        <p:nvSpPr>
          <p:cNvPr id="8" name="箭头: 右 7">
            <a:extLst>
              <a:ext uri="{FF2B5EF4-FFF2-40B4-BE49-F238E27FC236}">
                <a16:creationId xmlns:a16="http://schemas.microsoft.com/office/drawing/2014/main" id="{774439B8-0EDA-B035-51B1-3420BB7BFEE8}"/>
              </a:ext>
            </a:extLst>
          </p:cNvPr>
          <p:cNvSpPr/>
          <p:nvPr/>
        </p:nvSpPr>
        <p:spPr>
          <a:xfrm rot="19788404">
            <a:off x="4515458" y="2416223"/>
            <a:ext cx="950269" cy="184813"/>
          </a:xfrm>
          <a:prstGeom prst="rightArrow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箭头: 右 8">
            <a:extLst>
              <a:ext uri="{FF2B5EF4-FFF2-40B4-BE49-F238E27FC236}">
                <a16:creationId xmlns:a16="http://schemas.microsoft.com/office/drawing/2014/main" id="{E5D80289-80B0-1776-6708-B7C0BC19D6A9}"/>
              </a:ext>
            </a:extLst>
          </p:cNvPr>
          <p:cNvSpPr/>
          <p:nvPr/>
        </p:nvSpPr>
        <p:spPr>
          <a:xfrm rot="2942406">
            <a:off x="4542800" y="4812947"/>
            <a:ext cx="1017684" cy="165626"/>
          </a:xfrm>
          <a:prstGeom prst="rightArrow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F927B6F8-0E29-C3D1-FA90-D2BD2D1C28F9}"/>
              </a:ext>
            </a:extLst>
          </p:cNvPr>
          <p:cNvSpPr txBox="1"/>
          <p:nvPr/>
        </p:nvSpPr>
        <p:spPr>
          <a:xfrm>
            <a:off x="-1" y="6435000"/>
            <a:ext cx="5253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2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是否与以下页合并？</a:t>
            </a:r>
            <a:endParaRPr lang="en-US" altLang="zh-CN" sz="1200" b="1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12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12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</a:t>
            </a:r>
            <a:r>
              <a:rPr lang="en-US" altLang="zh-CN" sz="12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垒升の定位方法</a:t>
            </a:r>
            <a:r>
              <a:rPr lang="en-US" altLang="zh-CN" sz="12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12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</a:t>
            </a:r>
            <a:r>
              <a:rPr lang="en-US" altLang="zh-CN" sz="12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2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步：</a:t>
            </a:r>
            <a:r>
              <a:rPr lang="en-US" altLang="zh-CN" sz="12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2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层段</a:t>
            </a:r>
            <a:r>
              <a:rPr lang="en-US" altLang="zh-CN" sz="12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</a:t>
            </a:r>
            <a:r>
              <a:rPr lang="zh-CN" altLang="en-US" sz="12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周中符</a:t>
            </a:r>
            <a:endParaRPr lang="zh-CN" altLang="en-US" sz="12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7117297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58DE7C-DF84-8584-6821-EC4B3645BD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791415B-32E3-BC93-8C0B-E485F6B323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必赢战法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VBA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实现→全局筛选流程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主升筛选漏斗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核心目标：将全部股票按照主升筛选漏斗进行分层筛选，得到下周冲高的备选。打通“波型状态流转图”与“下周冲高筛选流程”。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6EA8F32C-4332-0131-A6DA-E8A6B270BD4B}"/>
              </a:ext>
            </a:extLst>
          </p:cNvPr>
          <p:cNvSpPr/>
          <p:nvPr/>
        </p:nvSpPr>
        <p:spPr>
          <a:xfrm>
            <a:off x="6464301" y="719999"/>
            <a:ext cx="5727448" cy="334908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“下周冲高”筛选流程：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根据“波型状态流转图”</a:t>
            </a:r>
            <a:endParaRPr lang="en-US" altLang="zh-CN" sz="14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筛选流程：按照周波过滤最活跃、最有希望上升的备选（满足龙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，最可能是主升）。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/>
              <a:buChar char="•"/>
            </a:pPr>
            <a:r>
              <a:rPr lang="zh-CN" altLang="en-US" sz="7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预处理：剔除风险较大或无法操作情况</a:t>
            </a:r>
            <a:endParaRPr lang="en-US" altLang="zh-CN" sz="7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A1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）剔：特殊市类（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指数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基金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/ST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北交所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A2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）单列：涨停（高幅≥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9%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）（三连板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两连板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首板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高幅≥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9%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A3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）剔：持仓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今池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ZO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A4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）剔：均线不符合（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DTZE&lt;0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DTZD&lt;0  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/>
              <a:buChar char="•"/>
            </a:pPr>
            <a:r>
              <a:rPr lang="en-US" altLang="zh-CN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第一层过滤</a:t>
            </a:r>
            <a:r>
              <a:rPr lang="en-US" altLang="zh-CN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按月阶过滤，针对底部诱多、顶部诱多、下跌趋势等不易出现主升的区域。</a:t>
            </a:r>
            <a:endParaRPr lang="en-US" altLang="zh-CN" sz="700" b="1" i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B1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）单列：潜在上升趋势。（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A3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，月局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M1e/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A1/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A0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B3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）单列：下跌趋势反弹。（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/C6/C4/C0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B4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）单列：其余非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A7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C7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/M2e/M3v/M4v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B2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）单列：潜在顶部震荡。（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/C7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储初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/C7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破）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/>
              <a:buChar char="•"/>
            </a:pPr>
            <a:r>
              <a:rPr lang="en-US" altLang="zh-CN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第二层过滤</a:t>
            </a:r>
            <a:r>
              <a:rPr lang="en-US" altLang="zh-CN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获利机会较少情况：只在周末筛选，不在周中筛选。（因为波动小，获利可能性低，尽量不选）</a:t>
            </a: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C1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）单列：周不活跃（周均高十≤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C2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）单列：日不活跃（日均高十≤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1.2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C3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）单列：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败多（十柱周高幅低于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3%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的个数≥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/>
              <a:buChar char="•"/>
            </a:pPr>
            <a:r>
              <a:rPr lang="zh-CN" altLang="en-US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以下均为：月势</a:t>
            </a:r>
            <a:r>
              <a:rPr lang="en-US" altLang="zh-CN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A7</a:t>
            </a:r>
            <a:r>
              <a:rPr lang="zh-CN" altLang="en-US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，周波动率较大（期望高幅至少为</a:t>
            </a:r>
            <a:r>
              <a:rPr lang="en-US" altLang="zh-CN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3%</a:t>
            </a:r>
            <a:r>
              <a:rPr lang="zh-CN" altLang="en-US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 </a:t>
            </a:r>
            <a:endParaRPr lang="en-US" altLang="zh-CN" sz="700" b="1" i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/>
              <a:buChar char="•"/>
            </a:pPr>
            <a:r>
              <a:rPr lang="en-US" altLang="zh-CN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第三层筛选</a:t>
            </a:r>
            <a:r>
              <a:rPr lang="en-US" altLang="zh-CN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周层类进行筛选。以下过滤边角料：只在周末进行筛选。</a:t>
            </a:r>
            <a:endParaRPr lang="en-US" altLang="zh-CN" sz="700" i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D0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）单列：周丘偏离较大（周丘幅≥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60%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）。属于主升末期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D1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）单列：龙震头（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）。属于过渡区，持续时间短，且典型主升模式类似，集中筛选。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D2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）单列：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震正芽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震正根。属于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劫。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D3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）单列：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震正〇。属于天劫。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以下均为：月势</a:t>
            </a:r>
            <a:r>
              <a:rPr lang="en-US" altLang="zh-CN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A7</a:t>
            </a:r>
            <a:r>
              <a:rPr lang="zh-CN" altLang="en-US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，周波动率较大（期望高幅至少为</a:t>
            </a:r>
            <a:r>
              <a:rPr lang="en-US" altLang="zh-CN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3%</a:t>
            </a:r>
            <a:r>
              <a:rPr lang="zh-CN" altLang="en-US" sz="700" b="1" i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），周层类（主）。</a:t>
            </a:r>
            <a:r>
              <a:rPr lang="zh-CN" altLang="en-US" sz="7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Z1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）波形：龙落。剔除所有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Z2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）波形：龙猪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暂。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Z3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）波形：龙猪首。前面可能有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劫。（已去除）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Z4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）波形：龙猪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栅。可能已转跌。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Z5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）波形：龙猪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栏。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Z6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）波形：龙猪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无。走势工整规范，调整至多为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跌孕。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7" name="表格 6">
            <a:extLst>
              <a:ext uri="{FF2B5EF4-FFF2-40B4-BE49-F238E27FC236}">
                <a16:creationId xmlns:a16="http://schemas.microsoft.com/office/drawing/2014/main" id="{A5BAEA71-A642-25A8-122A-D9FEC33692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7797392"/>
              </p:ext>
            </p:extLst>
          </p:nvPr>
        </p:nvGraphicFramePr>
        <p:xfrm>
          <a:off x="6457950" y="5273607"/>
          <a:ext cx="5727447" cy="1584960"/>
        </p:xfrm>
        <a:graphic>
          <a:graphicData uri="http://schemas.openxmlformats.org/drawingml/2006/table">
            <a:tbl>
              <a:tblPr firstRow="1" bandRow="1">
                <a:tableStyleId>{FABFCF23-3B69-468F-B69F-88F6DE6A72F2}</a:tableStyleId>
              </a:tblPr>
              <a:tblGrid>
                <a:gridCol w="662235">
                  <a:extLst>
                    <a:ext uri="{9D8B030D-6E8A-4147-A177-3AD203B41FA5}">
                      <a16:colId xmlns:a16="http://schemas.microsoft.com/office/drawing/2014/main" val="2535986868"/>
                    </a:ext>
                  </a:extLst>
                </a:gridCol>
                <a:gridCol w="5065212">
                  <a:extLst>
                    <a:ext uri="{9D8B030D-6E8A-4147-A177-3AD203B41FA5}">
                      <a16:colId xmlns:a16="http://schemas.microsoft.com/office/drawing/2014/main" val="1107717011"/>
                    </a:ext>
                  </a:extLst>
                </a:gridCol>
              </a:tblGrid>
              <a:tr h="150582">
                <a:tc gridSpan="2">
                  <a:txBody>
                    <a:bodyPr/>
                    <a:lstStyle/>
                    <a:p>
                      <a:r>
                        <a:rPr lang="zh-CN" altLang="en-US" sz="800" dirty="0"/>
                        <a:t>“下周冲高”筛选流程展示页面</a:t>
                      </a:r>
                      <a:endParaRPr lang="en-US" altLang="zh-CN" sz="800" dirty="0"/>
                    </a:p>
                    <a:p>
                      <a:r>
                        <a:rPr lang="zh-CN" altLang="en-US" sz="800" dirty="0"/>
                        <a:t>（无希望分类包括：</a:t>
                      </a:r>
                      <a:r>
                        <a:rPr lang="en-US" altLang="zh-CN" sz="800" dirty="0"/>
                        <a:t>/</a:t>
                      </a:r>
                      <a:r>
                        <a:rPr lang="zh-CN" altLang="en-US" sz="800" dirty="0"/>
                        <a:t>龙落</a:t>
                      </a:r>
                      <a:r>
                        <a:rPr lang="en-US" altLang="zh-CN" sz="800" dirty="0"/>
                        <a:t>/</a:t>
                      </a:r>
                      <a:r>
                        <a:rPr lang="zh-CN" altLang="en-US" sz="800" dirty="0"/>
                        <a:t>震</a:t>
                      </a:r>
                      <a:r>
                        <a:rPr lang="en-US" altLang="zh-CN" sz="800" dirty="0"/>
                        <a:t>/</a:t>
                      </a:r>
                      <a:r>
                        <a:rPr lang="zh-CN" altLang="en-US" sz="800" dirty="0"/>
                        <a:t>头）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17467231"/>
                  </a:ext>
                </a:extLst>
              </a:tr>
              <a:tr h="150582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M310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/>
                        <a:buChar char="•"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/ B1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（潜在上升趋势）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/B3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（下跌趋势反弹）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/B4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（余）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4867677"/>
                  </a:ext>
                </a:extLst>
              </a:tr>
              <a:tr h="150582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M7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顶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龙（渡区）：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/D1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（龙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@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再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BCD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）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/B2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（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C7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储初）</a:t>
                      </a:r>
                      <a:endParaRPr lang="en-US" altLang="zh-CN" sz="800" b="1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偏离太大：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/D0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破线：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/B4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（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M2e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）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/B2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（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C7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破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9842420"/>
                  </a:ext>
                </a:extLst>
              </a:tr>
              <a:tr h="23515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M7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主</a:t>
                      </a:r>
                      <a:endParaRPr lang="en-US" altLang="zh-CN" sz="800" b="1" dirty="0">
                        <a:solidFill>
                          <a:schemeClr val="tx1"/>
                        </a:solidFill>
                      </a:endParaRP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龙猪（前期走势平稳）：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/Z3/Z6/Z5</a:t>
                      </a:r>
                    </a:p>
                    <a:p>
                      <a:pPr marL="171450" lvl="0" indent="-171450">
                        <a:buFont typeface="Arial" panose="020B0604020202020204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龙（前有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跌连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/WXZA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劫）：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/Z4/Z2 /Z1 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/>
                        <a:buChar char="•"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主区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WJA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震荡：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/D2/D3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/>
                        <a:buChar char="•"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不适于下柱冲高：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</a:rPr>
                        <a:t>/C3/C2/C1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0898174"/>
                  </a:ext>
                </a:extLst>
              </a:tr>
            </a:tbl>
          </a:graphicData>
        </a:graphic>
      </p:graphicFrame>
      <p:sp>
        <p:nvSpPr>
          <p:cNvPr id="8" name="箭头: 下 7">
            <a:extLst>
              <a:ext uri="{FF2B5EF4-FFF2-40B4-BE49-F238E27FC236}">
                <a16:creationId xmlns:a16="http://schemas.microsoft.com/office/drawing/2014/main" id="{404C4B1B-5009-4614-09EE-BCCA94D716A8}"/>
              </a:ext>
            </a:extLst>
          </p:cNvPr>
          <p:cNvSpPr/>
          <p:nvPr/>
        </p:nvSpPr>
        <p:spPr>
          <a:xfrm>
            <a:off x="8536812" y="4858534"/>
            <a:ext cx="1473200" cy="212090"/>
          </a:xfrm>
          <a:prstGeom prst="downArrow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箭头: 下 9">
            <a:extLst>
              <a:ext uri="{FF2B5EF4-FFF2-40B4-BE49-F238E27FC236}">
                <a16:creationId xmlns:a16="http://schemas.microsoft.com/office/drawing/2014/main" id="{018CF7DE-A8E6-9C65-2C58-97BA82FD4754}"/>
              </a:ext>
            </a:extLst>
          </p:cNvPr>
          <p:cNvSpPr/>
          <p:nvPr/>
        </p:nvSpPr>
        <p:spPr>
          <a:xfrm rot="16200000">
            <a:off x="5540375" y="2511425"/>
            <a:ext cx="1473200" cy="361950"/>
          </a:xfrm>
          <a:prstGeom prst="downArrow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aphicFrame>
        <p:nvGraphicFramePr>
          <p:cNvPr id="9" name="表格 8">
            <a:extLst>
              <a:ext uri="{FF2B5EF4-FFF2-40B4-BE49-F238E27FC236}">
                <a16:creationId xmlns:a16="http://schemas.microsoft.com/office/drawing/2014/main" id="{D18300C6-C8E7-D82B-7093-96BF908D6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2186092"/>
              </p:ext>
            </p:extLst>
          </p:nvPr>
        </p:nvGraphicFramePr>
        <p:xfrm>
          <a:off x="6603" y="704759"/>
          <a:ext cx="6083047" cy="2270760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1814176">
                  <a:extLst>
                    <a:ext uri="{9D8B030D-6E8A-4147-A177-3AD203B41FA5}">
                      <a16:colId xmlns:a16="http://schemas.microsoft.com/office/drawing/2014/main" val="2264324417"/>
                    </a:ext>
                  </a:extLst>
                </a:gridCol>
                <a:gridCol w="4268871">
                  <a:extLst>
                    <a:ext uri="{9D8B030D-6E8A-4147-A177-3AD203B41FA5}">
                      <a16:colId xmlns:a16="http://schemas.microsoft.com/office/drawing/2014/main" val="353950354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设计指标</a:t>
                      </a:r>
                      <a:r>
                        <a:rPr kumimoji="0" lang="en-US" altLang="zh-CN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1" dirty="0">
                          <a:solidFill>
                            <a:prstClr val="black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位谕</a:t>
                      </a:r>
                      <a:r>
                        <a:rPr lang="en-US" altLang="zh-CN" sz="700" b="1" dirty="0">
                          <a:solidFill>
                            <a:prstClr val="black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of</a:t>
                      </a:r>
                      <a:r>
                        <a:rPr lang="zh-CN" altLang="en-US" sz="700" b="1" dirty="0">
                          <a:solidFill>
                            <a:prstClr val="black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周层大局</a:t>
                      </a:r>
                      <a:r>
                        <a:rPr kumimoji="0" lang="en-US" altLang="zh-CN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kumimoji="0" lang="zh-CN" altLang="en-US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kumimoji="0" lang="zh-CN" altLang="en-US" sz="70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</a:t>
                      </a:r>
                      <a:r>
                        <a:rPr kumimoji="0" lang="en-US" altLang="zh-CN" sz="70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WXCD+WJC&amp;WXAB</a:t>
                      </a:r>
                      <a:r>
                        <a:rPr kumimoji="0" lang="zh-CN" altLang="en-US" sz="70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分区</a:t>
                      </a:r>
                      <a:r>
                        <a:rPr kumimoji="0" lang="en-US" altLang="zh-CN" sz="70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kumimoji="0" lang="zh-CN" altLang="en-US" sz="70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kumimoji="0" lang="en-US" altLang="zh-CN" sz="70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kumimoji="0" lang="zh-CN" altLang="en-US" sz="70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之上地型定位</a:t>
                      </a:r>
                      <a:r>
                        <a:rPr kumimoji="0" lang="en-US" altLang="zh-CN" sz="70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kumimoji="0" lang="zh-CN" altLang="en-US" sz="70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周波型</a:t>
                      </a:r>
                      <a:r>
                        <a:rPr kumimoji="0" lang="en-US" altLang="zh-CN" sz="70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kumimoji="0" lang="zh-CN" altLang="en-US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。</a:t>
                      </a:r>
                      <a:endParaRPr kumimoji="0" lang="en-US" altLang="zh-CN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3745663"/>
                  </a:ext>
                </a:extLst>
              </a:tr>
              <a:tr h="157456">
                <a:tc>
                  <a:txBody>
                    <a:bodyPr/>
                    <a:lstStyle/>
                    <a:p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筛选：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WXCD+WJC】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利用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进行筛选。必须在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选择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，严格甲乙己，且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。满足，加前缀✅；不满足，加前缀❌。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，提供护型。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9484470"/>
                  </a:ext>
                </a:extLst>
              </a:tr>
              <a:tr h="256014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筛选：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WXAB】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融合（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是否正交）与（周类层段），去掉与之重复的（周层）。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是否正交：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MU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/OZ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周类层段：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乙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丙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己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y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戊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z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丁。在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乙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己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都可主动交易；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丙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可“被动持有”；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(r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己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y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戊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可被动持有或退出。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需要注意的是：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护型是下周冲高的最重要决定因素，远比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丘（相当于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丘）重要。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（周层：初主再）与前面（周类层段）有冲突，不要在此处使用。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82878040"/>
                  </a:ext>
                </a:extLst>
              </a:tr>
              <a:tr h="144008">
                <a:tc gridSpan="2">
                  <a:txBody>
                    <a:bodyPr/>
                    <a:lstStyle/>
                    <a:p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筛选：周波型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针对周类层段（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乙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己），提供地型参考。真实目的是对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之上提供地型，但为包容，对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正交下破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都提供周波型。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作用：防止进入震荡诱多。因为重新站上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会有很多诱多，包含（价上均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升连）。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可接受周波型：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震正〇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震正芽根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5051828"/>
                  </a:ext>
                </a:extLst>
              </a:tr>
              <a:tr h="181343">
                <a:tc gridSpan="2">
                  <a:txBody>
                    <a:bodyPr/>
                    <a:lstStyle/>
                    <a:p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筛选：特殊退出图形提示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对于符合以上条件，但出现（异常退出形态）进行提示。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之上连跌后出现（升孕鼎）。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连跌下破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后出现升孕。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大阴柱下破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后出现升连，但未上破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432359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0231835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E9F813-A158-421E-A85C-5A53B1B9A1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>
            <a:extLst>
              <a:ext uri="{FF2B5EF4-FFF2-40B4-BE49-F238E27FC236}">
                <a16:creationId xmlns:a16="http://schemas.microsoft.com/office/drawing/2014/main" id="{45EA3FBC-3A56-BC3F-218F-BCD67E5CCDCC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垒升的形成条件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主题：抓涨的终极目标是寻找升排，特别是叠垒式柱排。总结主升中的特殊情况“垒升”，出现的位置、条件。注意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20260218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，垒升属于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的特例，单列专页处理。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E7C23186-79C9-569C-D966-A594037AC8AD}"/>
              </a:ext>
            </a:extLst>
          </p:cNvPr>
          <p:cNvGraphicFramePr>
            <a:graphicFrameLocks noGrp="1"/>
          </p:cNvGraphicFramePr>
          <p:nvPr/>
        </p:nvGraphicFramePr>
        <p:xfrm>
          <a:off x="6096000" y="720003"/>
          <a:ext cx="6094233" cy="6137997"/>
        </p:xfrm>
        <a:graphic>
          <a:graphicData uri="http://schemas.openxmlformats.org/drawingml/2006/table">
            <a:tbl>
              <a:tblPr firstRow="1" bandRow="1">
                <a:tableStyleId>{22838BEF-8BB2-4498-84A7-C5851F593DF1}</a:tableStyleId>
              </a:tblPr>
              <a:tblGrid>
                <a:gridCol w="821873">
                  <a:extLst>
                    <a:ext uri="{9D8B030D-6E8A-4147-A177-3AD203B41FA5}">
                      <a16:colId xmlns:a16="http://schemas.microsoft.com/office/drawing/2014/main" val="2572910664"/>
                    </a:ext>
                  </a:extLst>
                </a:gridCol>
                <a:gridCol w="5272360">
                  <a:extLst>
                    <a:ext uri="{9D8B030D-6E8A-4147-A177-3AD203B41FA5}">
                      <a16:colId xmlns:a16="http://schemas.microsoft.com/office/drawing/2014/main" val="2302667387"/>
                    </a:ext>
                  </a:extLst>
                </a:gridCol>
              </a:tblGrid>
              <a:tr h="1319669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的定义与具体特征：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叠垒式升排要求柱排的重叠部分越小越好，可以包含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升吞，也可包括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跌连后的修复。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的具体特征：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优选情况：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升连：尽量不重叠，柱体可能是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十字星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矮柱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假阴柱。</a:t>
                      </a:r>
                      <a:endParaRPr lang="en-US" altLang="zh-CN" sz="7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升吞：跌孕不要回撤前阳柱的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½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，升吞不要太大。</a:t>
                      </a:r>
                      <a:endParaRPr lang="en-US" altLang="zh-CN" sz="7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升吞：阴柱柱体要小，最好为十字星或矮阴柱，不要下破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首鼎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升吞：跌孕不要回撤超过前柱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½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不符合情况：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跌吞：出现跌吞后，很可能继续下跌，或下影线。最好情况为得到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支撑后出现鼎。</a:t>
                      </a:r>
                      <a:endParaRPr lang="en-US" altLang="zh-CN" sz="7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升吞：出现跌吞后跌连，破坏叠垒图形，有可能要调整后再次进入主升。</a:t>
                      </a:r>
                      <a:endParaRPr lang="zh-CN" altLang="en-US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1447934"/>
                  </a:ext>
                </a:extLst>
              </a:tr>
              <a:tr h="156518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的参考因素：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基于股性：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平移连阳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阴阳相间，实际都是股性导致，都是庄家致力于营造规律化图形。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柱排：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垒升初期，即便柱体较小，也会形成重叠较小的连阳，如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十字星连阳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小柱连阳。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触顶：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垒升意味着连续触顶，并明显推高顶部。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要求吸附于顶：要求顶型为（顶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），不要处于（离顶）或（非龙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）情况。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调整柱：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在垒升过程中，可出现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十字星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小阳柱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孕阴等调整柱，一定要与“最后一柱”进行区分。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鼎：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垒阳启动位置一般都会形成鼎，为达到此目的，一般会出现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回踩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劫等结构。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上升过程中震荡后的补偿：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在缓升过程后，下破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，当再次上破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后，形成升排或鼎后，进而形成垒升，并与前段缓升过程呼应，形成补偿。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劫后形成垒阳，要求在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之下存在多柱，在再次上破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时为升连（海南发展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20090320 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甘肃能化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19990806 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甘肃能化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20150522 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WXZB/WXAB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劫后形成垒阳：要求在再次上破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前，在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已形成多个连阳，从而当再次上破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后可依附于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以垒阳上升。（甘肃能化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20150306 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3820455"/>
                  </a:ext>
                </a:extLst>
              </a:tr>
              <a:tr h="2301749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寻找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的思维陷阱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思维陷阱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：连升后可能持续垒升。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答案：总结垒升结构启动失败模式：虽然是升排，但是但不具可持续性，很可能失败。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多柱横盘：如果横盘≥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柱，则很有可能进入震荡下跌。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远离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劫后站上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：即使是升排，也很可能诱多。</a:t>
                      </a: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之下运行较长时间后，刚突破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形成升排：很有可能诱多。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刚站上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：很容易失败，特别是未上破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的情况。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思维陷阱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：要不要去找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丘之上的（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WJA/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跌排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跌吞），进行捡漏？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答案：垒升不会均匀分布，出现以上异常情况，属于已偏离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。要明确，主升只会容忍夹杂少数阴柱的连阳，一旦偏离了匀速主升，虽然后面可能会有诱多的大阳柱，但升势已破，不会再出现小碎步阳柱，要择机退出。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思维陷阱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：要不要在跌排出现单阳后，介入，期盼出现垒升？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答案：要先确定主战场，要在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主升阶段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而非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震荡阶段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要按均线定位升势中的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大丘→按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止损→不要关注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丘或柱排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思维陷阱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：按照日走势进行操盘，而忽略了周垒升。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答案：应遵守“先周后日”原则，日走势时好可取，日走势不好时不退出，按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基本要求是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DXZD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0.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→相当于，在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时取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之上的垒升。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思维陷阱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：日类出现涨停，是否追涨。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答案：要以周类走势为准，“先周后日”。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45667"/>
                  </a:ext>
                </a:extLst>
              </a:tr>
              <a:tr h="951390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的结束模式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脱轨的典型模式。退出途径包括：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最后一柱。在快速冲高过程中止盈，针对主升左侧退出。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升排失势。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经过高点后回撤过程中退出：原则以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止损；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最后一柱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冲高模式：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垒升结束经典模式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N*/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单跌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冲高巨阳       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⇒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结束主升波段进入震荡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垒升结束经典模式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N*/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单跌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单跌    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⇒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结束主升波段进入震荡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14637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2842778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80914B-A049-E1E7-9A3F-C471A40F8B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5" name="直接连接符 34">
            <a:extLst>
              <a:ext uri="{FF2B5EF4-FFF2-40B4-BE49-F238E27FC236}">
                <a16:creationId xmlns:a16="http://schemas.microsoft.com/office/drawing/2014/main" id="{4ABC7985-0780-A0AA-B5D1-D574F6A3FC39}"/>
              </a:ext>
            </a:extLst>
          </p:cNvPr>
          <p:cNvCxnSpPr>
            <a:cxnSpLocks/>
          </p:cNvCxnSpPr>
          <p:nvPr/>
        </p:nvCxnSpPr>
        <p:spPr>
          <a:xfrm>
            <a:off x="8975558" y="720000"/>
            <a:ext cx="0" cy="6165737"/>
          </a:xfrm>
          <a:prstGeom prst="line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88C94F79-3905-B504-5EA9-18C82D5E16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8238398"/>
              </p:ext>
            </p:extLst>
          </p:nvPr>
        </p:nvGraphicFramePr>
        <p:xfrm>
          <a:off x="364" y="683569"/>
          <a:ext cx="8975558" cy="6187440"/>
        </p:xfrm>
        <a:graphic>
          <a:graphicData uri="http://schemas.openxmlformats.org/drawingml/2006/table">
            <a:tbl>
              <a:tblPr firstRow="1" bandRow="1">
                <a:tableStyleId>{22838BEF-8BB2-4498-84A7-C5851F593DF1}</a:tableStyleId>
              </a:tblPr>
              <a:tblGrid>
                <a:gridCol w="769657">
                  <a:extLst>
                    <a:ext uri="{9D8B030D-6E8A-4147-A177-3AD203B41FA5}">
                      <a16:colId xmlns:a16="http://schemas.microsoft.com/office/drawing/2014/main" val="2572910664"/>
                    </a:ext>
                  </a:extLst>
                </a:gridCol>
                <a:gridCol w="6115848">
                  <a:extLst>
                    <a:ext uri="{9D8B030D-6E8A-4147-A177-3AD203B41FA5}">
                      <a16:colId xmlns:a16="http://schemas.microsoft.com/office/drawing/2014/main" val="2302667387"/>
                    </a:ext>
                  </a:extLst>
                </a:gridCol>
                <a:gridCol w="2090053">
                  <a:extLst>
                    <a:ext uri="{9D8B030D-6E8A-4147-A177-3AD203B41FA5}">
                      <a16:colId xmlns:a16="http://schemas.microsoft.com/office/drawing/2014/main" val="1080339255"/>
                    </a:ext>
                  </a:extLst>
                </a:gridCol>
              </a:tblGrid>
              <a:tr h="299725">
                <a:tc gridSpan="3">
                  <a:txBody>
                    <a:bodyPr/>
                    <a:lstStyle/>
                    <a:p>
                      <a:r>
                        <a:rPr lang="en-US" altLang="zh-CN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</a:t>
                      </a:r>
                      <a:r>
                        <a:rPr lang="en-US" altLang="zh-CN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的前导模式</a:t>
                      </a:r>
                      <a:endParaRPr lang="en-US" altLang="zh-CN" sz="7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何时可能出现垒升（叠垒升排：重叠较少的升排）？</a:t>
                      </a:r>
                      <a:r>
                        <a:rPr lang="zh-CN" altLang="en-US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基本要求是，必须在未拉升阶段，若已拉升将转为震荡。</a:t>
                      </a:r>
                      <a:endParaRPr lang="en-US" altLang="zh-CN" sz="700" b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空间进行分类，主要只区分为</a:t>
                      </a:r>
                      <a:r>
                        <a:rPr lang="en-US" altLang="zh-CN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类结构：（结构</a:t>
                      </a:r>
                      <a:r>
                        <a:rPr lang="en-US" altLang="zh-CN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1.</a:t>
                      </a:r>
                      <a:r>
                        <a:rPr lang="zh-CN" altLang="en-US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左腿垒升</a:t>
                      </a:r>
                      <a:r>
                        <a:rPr lang="en-US" altLang="zh-CN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@</a:t>
                      </a:r>
                      <a:r>
                        <a:rPr lang="zh-CN" altLang="en-US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正一</a:t>
                      </a:r>
                      <a:r>
                        <a:rPr lang="en-US" altLang="zh-CN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负三）（结构</a:t>
                      </a:r>
                      <a:r>
                        <a:rPr lang="en-US" altLang="zh-CN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2.</a:t>
                      </a:r>
                      <a:r>
                        <a:rPr lang="zh-CN" altLang="en-US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衔接垒升</a:t>
                      </a:r>
                      <a:r>
                        <a:rPr lang="en-US" altLang="zh-CN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@</a:t>
                      </a:r>
                      <a:r>
                        <a:rPr lang="zh-CN" altLang="en-US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正一</a:t>
                      </a:r>
                      <a:r>
                        <a:rPr lang="en-US" altLang="zh-CN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负三）（结构</a:t>
                      </a:r>
                      <a:r>
                        <a:rPr lang="en-US" altLang="zh-CN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3.</a:t>
                      </a:r>
                      <a:r>
                        <a:rPr lang="zh-CN" altLang="en-US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阶梯帐篷</a:t>
                      </a:r>
                      <a:r>
                        <a:rPr lang="en-US" altLang="zh-CN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@</a:t>
                      </a:r>
                      <a:r>
                        <a:rPr lang="zh-CN" altLang="en-US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正一</a:t>
                      </a:r>
                      <a:r>
                        <a:rPr lang="en-US" altLang="zh-CN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负三</a:t>
                      </a:r>
                      <a:r>
                        <a:rPr lang="en-US" altLang="zh-CN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正二）。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endParaRPr lang="en-US" altLang="zh-CN" sz="9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900" b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43028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（结构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@/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正一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负三</a:t>
                      </a:r>
                    </a:p>
                    <a:p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左腿垒升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形成条件：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仅左腿初次入管，形成垒升。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（层段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=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正一）：当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正交时。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之上，震荡后（非标准地型）再次入管。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（层段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=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正二）：当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正交时。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劫后，再次入管。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（层段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=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负三）：当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负交时。突破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后，沿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形成垒升。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（特例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层段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=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负二）：当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负交时。突破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后形成三柱栅或四柱栅，从而沿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形成垒升。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形态特点：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仅包含左腿。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型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1.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上破就开始大幅拉升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很有可能快速跌破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，或只是单弧，不属于机会。要回踩才更有把握。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型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2.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上破回踩形成垒升前导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十字星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跌连回踩，得到支撑后形成垒升。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回踩：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后回踩，中阳后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两连阳后跌孕。特别是未下破超过前柱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½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启动结构：形成三柱栅或四柱栅，特别是沿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形成鼎，从而衔接垒升。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3687178"/>
                  </a:ext>
                </a:extLst>
              </a:tr>
              <a:tr h="532845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（结构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@/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正一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负三</a:t>
                      </a:r>
                    </a:p>
                    <a:p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衔接垒升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  <a:p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形态为沿顶连阳向上。</a:t>
                      </a:r>
                      <a:endParaRPr lang="en-US" altLang="zh-CN" sz="7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垒升之后，最易再次形成垒升。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先找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，最好触顶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，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继续连阳直至冲高止盈。需注意以下指标：</a:t>
                      </a:r>
                      <a:endParaRPr lang="en-US" altLang="zh-CN" sz="7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【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周管分布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】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周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柱排稳定排列于（顶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,WJA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）周管中。</a:t>
                      </a:r>
                      <a:endParaRPr lang="en-US" altLang="zh-CN" sz="7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sym typeface="Wingdings" panose="05000000000000000000" pitchFamily="2" charset="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【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垒升斜率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】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连续垒升过程中，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的斜率。</a:t>
                      </a:r>
                      <a:endParaRPr lang="en-US" altLang="zh-CN" sz="7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sym typeface="Wingdings" panose="05000000000000000000" pitchFamily="2" charset="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标志性形态：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sym typeface="Wingdings" panose="05000000000000000000" pitchFamily="2" charset="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升连：特别是第二个连阳后最易形成垒升。</a:t>
                      </a:r>
                      <a:endParaRPr lang="en-US" altLang="zh-CN" sz="7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sym typeface="Wingdings" panose="05000000000000000000" pitchFamily="2" charset="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触顶小柱：需要识别垒升起飞后，中途触顶且远离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的周中符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AB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：大阳柱触顶后的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十字星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小柱。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 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endParaRPr lang="en-US" altLang="zh-CN" sz="7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sym typeface="Wingdings" panose="05000000000000000000" pitchFamily="2" charset="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2650794"/>
                  </a:ext>
                </a:extLst>
              </a:tr>
              <a:tr h="1620736"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（结构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@/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正一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正二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负三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垒升阶段可容忍的调整结构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  <a:p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形态为阶梯帐篷，阶梯逐渐变缓。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“帐篷”的构件：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“帐篷”定义，由顶回归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，再次快速上升，垒升后再次触顶；以此往复。主要包含三部分（左腿、中腿、右腿）。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左腿：要触顶，且足够高；在管内形成上冲惯性，但不应已冲高。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不要押注单升，要等小碎步连升。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一般会形成小型“超升”。可能包含“最后一柱”。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中腿调整：中腿得到支撑，才可介入；下跌调整要快速完成。对于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之上调整，要维持固定管宽。调整规模包括：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单柱调整：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连阳后单跌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跌吞）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机会大，只要不破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可继续介入，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随后再次形成垒升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最好不破坏柱形排列。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两柱调整：包含（跌孕升孕）（跌吞后调整）（跌连后调整）。一般会回踩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后形成鼎，从而再次形成垒升。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marR="0" lvl="3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下跌平缓（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跌孕升孕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跌连升孕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跌连升吞）：后续更易形成垒升。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marR="0" lvl="3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下跌剧烈（中阴柱）：后续即使出现升吞，也很可能进入震荡。注意，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中阴柱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后出现升孕，可能转为跌排。</a:t>
                      </a: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多柱调整：包含阴阳阴、（跌吞后调整）（跌连后调整），包含（平移多柱：震正〇）（阴阳交错）等。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特殊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平移多柱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：无明显节奏，须等待再次触顶后，再考虑介入。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特殊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阴阳交错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：阴阳交错之后一般仍是阴阳交错，属于平移震荡。直到出现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才转为垒升。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维度，当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marR="0" lvl="3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位置限制。注意，应具有上升动力，应在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主升阶段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而非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震荡阶段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右腿：第二波要依附于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形成垒升。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右腿结构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：最好为鼎，随后依附于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形成连阳。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右腿结构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：可能包含中继（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十字星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小阳）回踩（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小阴）。注意，可能转为平移而非垒升。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帐篷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走势的类型包括：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远离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（中符为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）：调整过程中，不与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贯穿，然后再次触顶。多为主升初期。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贯穿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（中符为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ABCD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）：调整过程中，与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贯穿形成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薡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继鼎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，然后再次触顶。多为顶部。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劫）：调整过程中，上破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。多为顶部震荡。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5952028"/>
                  </a:ext>
                </a:extLst>
              </a:tr>
              <a:tr h="377432">
                <a:tc vMerge="1">
                  <a:txBody>
                    <a:bodyPr/>
                    <a:lstStyle/>
                    <a:p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调整首柱为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：前柱为触顶中阳柱，跌孕后续一般延续垒升。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典型调整结构为：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之上三柱栅（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阳阴阳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形成炮台）。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后跟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：属于单柱调整，可能形成（跌孕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升吞）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*N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后跟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：属于双柱调整。若得到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支撑形成鼎，后续可能垒升。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后跟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：属于双柱调整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多柱调整。需得到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支撑。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重庆啤酒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20040420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后跌孕升吞）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华东重机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20240920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（回踩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跌孕升吞）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中威电子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20190906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后跌连调整）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9633319"/>
                  </a:ext>
                </a:extLst>
              </a:tr>
              <a:tr h="377432">
                <a:tc vMerge="1">
                  <a:txBody>
                    <a:bodyPr/>
                    <a:lstStyle/>
                    <a:p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调整首柱为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后跟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：属于单柱调整。但由于波动剧烈，可能是最后一柱。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后跟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：属于双柱调整。看是否得到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支撑。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后跟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：属于双柱调整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多柱调整。需得到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支撑。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重庆啤酒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19980904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后跌吞升孕）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重庆啤酒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20070202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后升连跌吞）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5472873"/>
                  </a:ext>
                </a:extLst>
              </a:tr>
              <a:tr h="455138">
                <a:tc vMerge="1">
                  <a:txBody>
                    <a:bodyPr/>
                    <a:lstStyle/>
                    <a:p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调整为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WJA&gt;&lt;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WJB&gt;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后，再次上破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后，可能依附于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形成鼎，然后启动垒升。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左腿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形成垒升前导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后，得到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支撑，形成连阳上破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后，形成垒升。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中腿调整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主要针对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一柱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二柱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三柱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右腿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由负交变为正交后的第一个鼎。开启第二波拉升概率很大。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首上破鼎是机会。配合日类走势，周首鼎后可能冲高。随后，可能回踩，或继续沿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华东重机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20141031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（型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1.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双柱下破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华东重机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20150515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（型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1.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单柱下破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绿色动力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20260227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（型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1.WXZA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劫帐篷）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尤安设计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20260213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（型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2.WXZB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劫帐篷）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科顺股份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20200221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（型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1.WXZB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劫帐篷）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1687519"/>
                  </a:ext>
                </a:extLst>
              </a:tr>
            </a:tbl>
          </a:graphicData>
        </a:graphic>
      </p:graphicFrame>
      <p:sp>
        <p:nvSpPr>
          <p:cNvPr id="6" name="标题 1">
            <a:extLst>
              <a:ext uri="{FF2B5EF4-FFF2-40B4-BE49-F238E27FC236}">
                <a16:creationId xmlns:a16="http://schemas.microsoft.com/office/drawing/2014/main" id="{50E8DDC8-24AC-2569-0529-45270DAE2D48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垒升の结构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主题：抓涨的终极目标是寻找升排，特别是叠垒式柱排。总结主升中的特殊情况“垒升”，出现的位置、条件。注意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20260218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，垒升属于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的特例，单列专页处理。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6BBA300A-DDAC-5E57-DD51-B060155E99F2}"/>
              </a:ext>
            </a:extLst>
          </p:cNvPr>
          <p:cNvSpPr/>
          <p:nvPr/>
        </p:nvSpPr>
        <p:spPr>
          <a:xfrm>
            <a:off x="8992326" y="718771"/>
            <a:ext cx="3199310" cy="2000365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【WJC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之上垒升机会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贴顶：包含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龙猪。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帐篷（暂时调整）：包含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栏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栅，对应于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龙落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震正〇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首触顶。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铁轨式排列（顶天立地）：阴阳相间。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暂上破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：包含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/WXZA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/WXZB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劫（可下破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单柱，类似于跌吞） ，包含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震正芽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震正根。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周机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继鼎：得到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支持。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时，上破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后，第二柱可能冲高。最好刚脱离主升。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时，上破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后，回踩，有冲高机会。最好刚脱离主升。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转跌的迹象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后，回弹，站上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后，再下破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后，形成阴阳阴，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后，形成跌势启动结构。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7036495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D98557-155E-D141-85E9-8C5F19487A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>
            <a:extLst>
              <a:ext uri="{FF2B5EF4-FFF2-40B4-BE49-F238E27FC236}">
                <a16:creationId xmlns:a16="http://schemas.microsoft.com/office/drawing/2014/main" id="{5100196C-F24C-DDA8-B598-25058495ECC8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垒升の定位方法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步：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层段</a:t>
            </a:r>
            <a:endParaRPr lang="en-US" altLang="zh-CN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主题：抓涨的终极目标是寻找升排，特别是叠垒式柱排。总结主升中的特殊情况“垒升”，出现的位置、条件。注意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20260218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，垒升属于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的特例，单列专页处理。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9B019A20-D4A2-EB1A-01C3-19F147D84A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896428"/>
              </p:ext>
            </p:extLst>
          </p:nvPr>
        </p:nvGraphicFramePr>
        <p:xfrm>
          <a:off x="-1" y="720000"/>
          <a:ext cx="9344529" cy="4968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2263">
                  <a:extLst>
                    <a:ext uri="{9D8B030D-6E8A-4147-A177-3AD203B41FA5}">
                      <a16:colId xmlns:a16="http://schemas.microsoft.com/office/drawing/2014/main" val="2095825590"/>
                    </a:ext>
                  </a:extLst>
                </a:gridCol>
                <a:gridCol w="328608">
                  <a:extLst>
                    <a:ext uri="{9D8B030D-6E8A-4147-A177-3AD203B41FA5}">
                      <a16:colId xmlns:a16="http://schemas.microsoft.com/office/drawing/2014/main" val="1468054840"/>
                    </a:ext>
                  </a:extLst>
                </a:gridCol>
                <a:gridCol w="746927">
                  <a:extLst>
                    <a:ext uri="{9D8B030D-6E8A-4147-A177-3AD203B41FA5}">
                      <a16:colId xmlns:a16="http://schemas.microsoft.com/office/drawing/2014/main" val="1760802882"/>
                    </a:ext>
                  </a:extLst>
                </a:gridCol>
                <a:gridCol w="271778">
                  <a:extLst>
                    <a:ext uri="{9D8B030D-6E8A-4147-A177-3AD203B41FA5}">
                      <a16:colId xmlns:a16="http://schemas.microsoft.com/office/drawing/2014/main" val="3096001928"/>
                    </a:ext>
                  </a:extLst>
                </a:gridCol>
                <a:gridCol w="314873">
                  <a:extLst>
                    <a:ext uri="{9D8B030D-6E8A-4147-A177-3AD203B41FA5}">
                      <a16:colId xmlns:a16="http://schemas.microsoft.com/office/drawing/2014/main" val="604674099"/>
                    </a:ext>
                  </a:extLst>
                </a:gridCol>
                <a:gridCol w="1170226">
                  <a:extLst>
                    <a:ext uri="{9D8B030D-6E8A-4147-A177-3AD203B41FA5}">
                      <a16:colId xmlns:a16="http://schemas.microsoft.com/office/drawing/2014/main" val="3517334890"/>
                    </a:ext>
                  </a:extLst>
                </a:gridCol>
                <a:gridCol w="2636748">
                  <a:extLst>
                    <a:ext uri="{9D8B030D-6E8A-4147-A177-3AD203B41FA5}">
                      <a16:colId xmlns:a16="http://schemas.microsoft.com/office/drawing/2014/main" val="4102291699"/>
                    </a:ext>
                  </a:extLst>
                </a:gridCol>
                <a:gridCol w="872797">
                  <a:extLst>
                    <a:ext uri="{9D8B030D-6E8A-4147-A177-3AD203B41FA5}">
                      <a16:colId xmlns:a16="http://schemas.microsoft.com/office/drawing/2014/main" val="366521534"/>
                    </a:ext>
                  </a:extLst>
                </a:gridCol>
                <a:gridCol w="400365">
                  <a:extLst>
                    <a:ext uri="{9D8B030D-6E8A-4147-A177-3AD203B41FA5}">
                      <a16:colId xmlns:a16="http://schemas.microsoft.com/office/drawing/2014/main" val="1131956402"/>
                    </a:ext>
                  </a:extLst>
                </a:gridCol>
                <a:gridCol w="992907">
                  <a:extLst>
                    <a:ext uri="{9D8B030D-6E8A-4147-A177-3AD203B41FA5}">
                      <a16:colId xmlns:a16="http://schemas.microsoft.com/office/drawing/2014/main" val="112969405"/>
                    </a:ext>
                  </a:extLst>
                </a:gridCol>
                <a:gridCol w="1137037">
                  <a:extLst>
                    <a:ext uri="{9D8B030D-6E8A-4147-A177-3AD203B41FA5}">
                      <a16:colId xmlns:a16="http://schemas.microsoft.com/office/drawing/2014/main" val="1933692415"/>
                    </a:ext>
                  </a:extLst>
                </a:gridCol>
              </a:tblGrid>
              <a:tr h="0">
                <a:tc gridSpan="8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9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9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层段：在</a:t>
                      </a:r>
                      <a:r>
                        <a:rPr lang="en-US" altLang="zh-CN" sz="9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9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基础上，对</a:t>
                      </a:r>
                      <a:r>
                        <a:rPr lang="en-US" altLang="zh-CN" sz="9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进行分段，选取其中垒升集中出现的阶段与模式。</a:t>
                      </a:r>
                      <a:endParaRPr lang="en-US" altLang="zh-CN" sz="9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rowSpan="4" grid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20260527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持仓规则：寻找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正交时的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大丘。</a:t>
                      </a:r>
                      <a:endParaRPr lang="en-US" altLang="zh-CN" sz="7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0.</a:t>
                      </a: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要求：严格要求护型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甲乙己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85800" marR="0" lvl="1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/A7/A3/B1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：可取。</a:t>
                      </a:r>
                      <a:endParaRPr lang="en-US" altLang="zh-CN" sz="7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85800" marR="0" lvl="1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/C7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：需鉴别诱多，未大升。</a:t>
                      </a:r>
                      <a:endParaRPr lang="en-US" altLang="zh-CN" sz="7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护型要求：当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时止损。</a:t>
                      </a:r>
                      <a:endParaRPr lang="en-US" altLang="zh-CN" sz="7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(a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乙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可主动持有；</a:t>
                      </a:r>
                      <a:endParaRPr lang="en-US" altLang="zh-CN" sz="7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(r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己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仅提示，试仓或等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正交再介入；</a:t>
                      </a:r>
                      <a:endParaRPr lang="en-US" altLang="zh-CN" sz="7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(c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丙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可被动持有；</a:t>
                      </a:r>
                      <a:endParaRPr lang="en-US" altLang="zh-CN" sz="7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(z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丁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y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戊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可被动持有或清仓。</a:t>
                      </a:r>
                      <a:endParaRPr lang="en-US" altLang="zh-CN" sz="7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附加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日介入条件：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0.</a:t>
                      </a:r>
                    </a:p>
                    <a:p>
                      <a:pPr marL="685800" marR="0" lvl="1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相当于要求在</a:t>
                      </a: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7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85800" marR="0" lvl="1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只用于确认介入点，不用于止损。</a:t>
                      </a:r>
                      <a:endParaRPr lang="en-US" altLang="zh-CN" sz="7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700"/>
                    </a:solidFill>
                  </a:tcPr>
                </a:tc>
                <a:tc rowSpan="4"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zh-CN" sz="9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rowSpan="4"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zh-CN" sz="9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5649840"/>
                  </a:ext>
                </a:extLst>
              </a:tr>
              <a:tr h="259089">
                <a:tc rowSpan="2"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层段的划分思路：</a:t>
                      </a: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看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之上情况。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之上形成多柱，主升情况包含两类：①连阳②帐篷波段。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，代表可能刚经过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/WXZA/WXZB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劫，或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又上破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后：①是否为震荡诱多？②是否再次形成主升？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看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之上情况。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之上形成多柱，主升情况包含两类：①连阳②帐篷波段。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，代表可能刚经过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/WXZA/WXZB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劫，或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又上破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后：①是否为震荡诱多？是否再次形成主升。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 vMerge="1">
                  <a:txBody>
                    <a:bodyPr/>
                    <a:lstStyle/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6486319"/>
                  </a:ext>
                </a:extLst>
              </a:tr>
              <a:tr h="209558">
                <a:tc gridSpan="2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，还有可取之处。上破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可参考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沿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的正向排列；上破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应参考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沿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的正向排列。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。基本可以放弃，除非前期已围绕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多次震荡，或已形成反向突破的典型形态（如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三柱栅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四柱栅）。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，还有可取之处。上破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可参考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沿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的正向排列；上破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应参考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沿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的正向排列。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。基本可以放弃，除非前期已围绕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多次震荡，或已形成反向突破的典型形态（如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三柱栅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四柱栅）。</a:t>
                      </a:r>
                      <a:endParaRPr lang="zh-CN" altLang="en-US"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 vMerge="1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977826"/>
                  </a:ext>
                </a:extLst>
              </a:tr>
              <a:tr h="205747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垒升集中出现的层段包括：</a:t>
                      </a: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甲：正一（</a:t>
                      </a:r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阶梯）</a:t>
                      </a: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乙：正二（</a:t>
                      </a:r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</a:t>
                      </a:r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己：负三（</a:t>
                      </a:r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阶梯）</a:t>
                      </a:r>
                      <a:endParaRPr lang="zh-CN" altLang="en-US"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这种分类的最大贡献是，将（正一）与（负三）衔接，而非机械地将其割裂。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：正交非常重要，对于（将正交：己）应避免诱多。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26447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护型特征</a:t>
                      </a: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段特征</a:t>
                      </a: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段模式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是否可能垒升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代号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之上策略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之下策略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3901932"/>
                  </a:ext>
                </a:extLst>
              </a:tr>
              <a:tr h="205747"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rowSpan="3"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正一段：（导致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正交）或（上破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上升模式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连升模式：始终为垒升。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阶梯上升模式：（垒升）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（回撤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垒升）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*N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。主升弧的切线会逐渐变平。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回撤，包括：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价下破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归入地型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必入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(1w/1b/2cd)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仅可看。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(6w)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2391402"/>
                  </a:ext>
                </a:extLst>
              </a:tr>
              <a:tr h="259089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特殊上升模式：可能与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第二段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的特点混淆，属于快速拉升后的整理震荡。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间歇性大阳柱：无法把握，应按照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持仓。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平移小柱：十字星或小实体柱。即使是连升，也很可能面临方向选择。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阴阳交错：待选择方向，特别是在大幅拉升之后。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457200" lvl="1" indent="0">
                        <a:buFont typeface="Arial" panose="020B0604020202020204" pitchFamily="34" charset="0"/>
                        <a:buNone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457200" lvl="1" indent="0">
                        <a:buFont typeface="Arial" panose="020B0604020202020204" pitchFamily="34" charset="0"/>
                        <a:buNone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457200" lvl="1" indent="0">
                        <a:buFont typeface="Arial" panose="020B0604020202020204" pitchFamily="34" charset="0"/>
                        <a:buNone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66457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震荡模式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之上震荡：包含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人排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跌排。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457200" lvl="1" indent="0">
                        <a:buFont typeface="Arial" panose="020B0604020202020204" pitchFamily="34" charset="0"/>
                        <a:buNone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457200" lvl="1" indent="0">
                        <a:buFont typeface="Arial" panose="020B0604020202020204" pitchFamily="34" charset="0"/>
                        <a:buNone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457200" lvl="1" indent="0">
                        <a:buFont typeface="Arial" panose="020B0604020202020204" pitchFamily="34" charset="0"/>
                        <a:buNone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5762345"/>
                  </a:ext>
                </a:extLst>
              </a:tr>
              <a:tr h="365773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正二段：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WXZB&gt;0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之上，围绕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indent="0" algn="l" defTabSz="914400" rtl="0" eaLnBrk="1" latinLnBrk="0" hangingPunct="1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此层段主要用于判定方向（诱多，还是再主升）。为防止诱多，强制扩展至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三柱。包含：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WXZA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劫等所有不破坏</a:t>
                      </a: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WJCBA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多头排列的下破</a:t>
                      </a: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WJA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。两种方向：须观察</a:t>
                      </a: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WJA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柱排列。</a:t>
                      </a:r>
                      <a:endParaRPr lang="en-US" altLang="zh-CN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57150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①再次形成主升，（正二）衔接（正一）。包括：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首下破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WJA/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两柱。</a:t>
                      </a:r>
                      <a:endParaRPr lang="en-US" altLang="zh-CN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57150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②围绕</a:t>
                      </a: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WJA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震荡诱多，可能存在多次震荡。</a:t>
                      </a:r>
                      <a:endParaRPr lang="en-US" altLang="zh-CN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1028700" lvl="2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WJA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频繁贯穿：可能逐步由（</a:t>
                      </a: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WJA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之上）转换至（</a:t>
                      </a: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WJA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之下）。</a:t>
                      </a:r>
                      <a:endParaRPr lang="en-US" altLang="zh-CN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114300" lvl="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WJA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之下。被动持有。</a:t>
                      </a:r>
                      <a:endParaRPr lang="en-US" altLang="zh-CN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buFont typeface="Arial" panose="020B0604020202020204" pitchFamily="34" charset="0"/>
                        <a:buNone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蛀暂</a:t>
                      </a: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归入地型</a:t>
                      </a:r>
                      <a:endParaRPr lang="en-US" altLang="zh-CN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buFont typeface="Arial" panose="020B0604020202020204" pitchFamily="34" charset="0"/>
                        <a:buNone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b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乙</a:t>
                      </a:r>
                      <a:endParaRPr lang="en-US" altLang="zh-CN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buFont typeface="Arial" panose="020B0604020202020204" pitchFamily="34" charset="0"/>
                        <a:buNone/>
                      </a:pP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可入，可能诱多。</a:t>
                      </a:r>
                      <a:endParaRPr lang="en-US" altLang="zh-CN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l" defTabSz="914400" rtl="0" eaLnBrk="1" latinLnBrk="0" hangingPunct="1">
                        <a:buFont typeface="Arial" panose="020B0604020202020204" pitchFamily="34" charset="0"/>
                        <a:buNone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(1w/1be/2cde)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仅可看。（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6w/6h/6u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5252126"/>
                  </a:ext>
                </a:extLst>
              </a:tr>
              <a:tr h="205747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正三段：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之下，沿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下跌。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应参考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负向柱排；下破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可参考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负向柱排。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连跌模式：始终为垒跌。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阶梯下跌模式：（垒跌）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（回弹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垒跌）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*N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。主跌弧的切线会逐渐变平。</a:t>
                      </a:r>
                      <a:endParaRPr lang="zh-CN" altLang="en-US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c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丙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被动持有。</a:t>
                      </a:r>
                      <a:endParaRPr lang="en-US" altLang="zh-CN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(3v)</a:t>
                      </a:r>
                      <a:endParaRPr lang="zh-CN" altLang="en-US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仅可看。（</a:t>
                      </a: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4v/5I/5i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5114508"/>
                  </a:ext>
                </a:extLst>
              </a:tr>
              <a:tr h="205747"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WXAB&lt;0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负一段：（导致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负交）或（下破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-4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下降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可能出现垒跌。（负一）衔接（正三）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z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丁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被动持有，或清仓。</a:t>
                      </a: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(3w)</a:t>
                      </a:r>
                    </a:p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endParaRPr lang="zh-CN" altLang="en-US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勿看。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303326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负二段：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WXZB&lt;0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-3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舍弃未上破</a:t>
                      </a: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WJB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的震荡。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y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戊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勿主动持有。</a:t>
                      </a: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(3h/3w/3u)</a:t>
                      </a:r>
                      <a:endParaRPr lang="zh-CN" altLang="en-US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勿看。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0712227"/>
                  </a:ext>
                </a:extLst>
              </a:tr>
              <a:tr h="152406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负三段：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转升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可能出现垒升。（负三）衔接（正一）</a:t>
                      </a:r>
                      <a:endParaRPr lang="en-US" altLang="zh-CN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须观察</a:t>
                      </a: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WJA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柱排列，最好沿</a:t>
                      </a: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WJA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已运行多柱。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归入地型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r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己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可入，可能诱多。</a:t>
                      </a:r>
                      <a:endParaRPr lang="en-US" altLang="zh-CN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(1v/2I/2i)</a:t>
                      </a:r>
                      <a:endParaRPr lang="zh-CN" altLang="en-US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勿看。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0836750"/>
                  </a:ext>
                </a:extLst>
              </a:tr>
            </a:tbl>
          </a:graphicData>
        </a:graphic>
      </p:graphicFrame>
      <p:sp>
        <p:nvSpPr>
          <p:cNvPr id="7" name="文本框 6">
            <a:extLst>
              <a:ext uri="{FF2B5EF4-FFF2-40B4-BE49-F238E27FC236}">
                <a16:creationId xmlns:a16="http://schemas.microsoft.com/office/drawing/2014/main" id="{D6B7E4BF-4D7F-9778-4C88-23EDE12F1681}"/>
              </a:ext>
            </a:extLst>
          </p:cNvPr>
          <p:cNvSpPr txBox="1"/>
          <p:nvPr/>
        </p:nvSpPr>
        <p:spPr>
          <a:xfrm>
            <a:off x="2848736" y="6082699"/>
            <a:ext cx="88998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垒升の结构</a:t>
            </a:r>
          </a:p>
        </p:txBody>
      </p:sp>
      <p:sp>
        <p:nvSpPr>
          <p:cNvPr id="9" name="箭头: 圆角右 8">
            <a:extLst>
              <a:ext uri="{FF2B5EF4-FFF2-40B4-BE49-F238E27FC236}">
                <a16:creationId xmlns:a16="http://schemas.microsoft.com/office/drawing/2014/main" id="{C5951E5E-A06F-8A0E-86C0-24C80A3A0863}"/>
              </a:ext>
            </a:extLst>
          </p:cNvPr>
          <p:cNvSpPr/>
          <p:nvPr/>
        </p:nvSpPr>
        <p:spPr>
          <a:xfrm rot="10800000" flipH="1">
            <a:off x="1259500" y="5957802"/>
            <a:ext cx="1589236" cy="549473"/>
          </a:xfrm>
          <a:prstGeom prst="bentArrow">
            <a:avLst>
              <a:gd name="adj1" fmla="val 15972"/>
              <a:gd name="adj2" fmla="val 25000"/>
              <a:gd name="adj3" fmla="val 25000"/>
              <a:gd name="adj4" fmla="val 43750"/>
            </a:avLst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9D6E32AC-6225-649E-8D5F-3A3BB858C37E}"/>
              </a:ext>
            </a:extLst>
          </p:cNvPr>
          <p:cNvSpPr txBox="1"/>
          <p:nvPr/>
        </p:nvSpPr>
        <p:spPr>
          <a:xfrm>
            <a:off x="769928" y="5698746"/>
            <a:ext cx="95410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层段</a:t>
            </a: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3970A45A-5FBA-AB0B-58EA-BEC38637E8C0}"/>
              </a:ext>
            </a:extLst>
          </p:cNvPr>
          <p:cNvSpPr txBox="1"/>
          <p:nvPr/>
        </p:nvSpPr>
        <p:spPr>
          <a:xfrm>
            <a:off x="2848736" y="6439902"/>
            <a:ext cx="260039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垒升の定位方法：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分层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&amp;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周中符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垒升の定位方法：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地型的典型模式</a:t>
            </a:r>
          </a:p>
        </p:txBody>
      </p:sp>
      <p:sp>
        <p:nvSpPr>
          <p:cNvPr id="12" name="箭头: 圆角右 11">
            <a:extLst>
              <a:ext uri="{FF2B5EF4-FFF2-40B4-BE49-F238E27FC236}">
                <a16:creationId xmlns:a16="http://schemas.microsoft.com/office/drawing/2014/main" id="{BBB4A2EA-15A3-A7C9-CB3F-BC97DBBD70D2}"/>
              </a:ext>
            </a:extLst>
          </p:cNvPr>
          <p:cNvSpPr/>
          <p:nvPr/>
        </p:nvSpPr>
        <p:spPr>
          <a:xfrm rot="10800000" flipH="1">
            <a:off x="1259500" y="5957800"/>
            <a:ext cx="1589236" cy="878942"/>
          </a:xfrm>
          <a:prstGeom prst="bentArrow">
            <a:avLst>
              <a:gd name="adj1" fmla="val 9961"/>
              <a:gd name="adj2" fmla="val 13876"/>
              <a:gd name="adj3" fmla="val 16344"/>
              <a:gd name="adj4" fmla="val 43750"/>
            </a:avLst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07E234AF-1283-6121-4C47-257C9B757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4119940"/>
              </p:ext>
            </p:extLst>
          </p:nvPr>
        </p:nvGraphicFramePr>
        <p:xfrm>
          <a:off x="9577499" y="3484263"/>
          <a:ext cx="2134449" cy="21869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2263">
                  <a:extLst>
                    <a:ext uri="{9D8B030D-6E8A-4147-A177-3AD203B41FA5}">
                      <a16:colId xmlns:a16="http://schemas.microsoft.com/office/drawing/2014/main" val="557093270"/>
                    </a:ext>
                  </a:extLst>
                </a:gridCol>
                <a:gridCol w="1075535">
                  <a:extLst>
                    <a:ext uri="{9D8B030D-6E8A-4147-A177-3AD203B41FA5}">
                      <a16:colId xmlns:a16="http://schemas.microsoft.com/office/drawing/2014/main" val="4040610350"/>
                    </a:ext>
                  </a:extLst>
                </a:gridCol>
                <a:gridCol w="586651">
                  <a:extLst>
                    <a:ext uri="{9D8B030D-6E8A-4147-A177-3AD203B41FA5}">
                      <a16:colId xmlns:a16="http://schemas.microsoft.com/office/drawing/2014/main" val="371984151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护型特征</a:t>
                      </a: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endParaRPr lang="en-US" altLang="zh-CN" sz="700" b="1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1469423"/>
                  </a:ext>
                </a:extLst>
              </a:tr>
              <a:tr h="464836"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正一段：（导致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正交）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5666580"/>
                  </a:ext>
                </a:extLst>
              </a:tr>
              <a:tr h="365773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正二段：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WXZB&gt;0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WTAB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buFont typeface="Arial" panose="020B0604020202020204" pitchFamily="34" charset="0"/>
                        <a:buNone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b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乙</a:t>
                      </a:r>
                      <a:endParaRPr lang="en-US" altLang="zh-CN" sz="700" kern="12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3222331"/>
                  </a:ext>
                </a:extLst>
              </a:tr>
              <a:tr h="205747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正三段：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c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丙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6552284"/>
                  </a:ext>
                </a:extLst>
              </a:tr>
              <a:tr h="205747"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WXAB&lt;0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负一段：（导致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负交）</a:t>
                      </a: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z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丁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362435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负二段：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WXZB&lt;0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WTAB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y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戊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69827470"/>
                  </a:ext>
                </a:extLst>
              </a:tr>
              <a:tr h="152406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7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负三段：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WTZB</a:t>
                      </a:r>
                      <a:r>
                        <a:rPr lang="zh-CN" altLang="en-US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r</a:t>
                      </a:r>
                      <a:r>
                        <a:rPr lang="zh-CN" altLang="en-US" sz="700" kern="12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己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9287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174101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E0DB89C-E7AF-D5D1-2070-B5E9A6A105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>
            <a:extLst>
              <a:ext uri="{FF2B5EF4-FFF2-40B4-BE49-F238E27FC236}">
                <a16:creationId xmlns:a16="http://schemas.microsoft.com/office/drawing/2014/main" id="{9AEAD936-9481-3559-FDBF-6DAB101CF315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垒升の定位方法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步：周地型的典型模式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主题：针对（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→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WJC&amp;WXAB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分区→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地型）中的第三阶段。总结下周冲高机会的特征，应采用何种策略？并汇总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notion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图谱。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2A9B6FD5-159D-EE63-90DB-2972E187375D}"/>
              </a:ext>
            </a:extLst>
          </p:cNvPr>
          <p:cNvSpPr/>
          <p:nvPr/>
        </p:nvSpPr>
        <p:spPr>
          <a:xfrm>
            <a:off x="2060" y="1759419"/>
            <a:ext cx="1163800" cy="1093284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步骤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2.WXAB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之上动态行进：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止损，除非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&gt;&lt;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已整弧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6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两入口：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入口、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入口。</a:t>
            </a:r>
            <a:endParaRPr lang="en-US" altLang="zh-CN" sz="6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优先选择：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已正交或将正交。</a:t>
            </a:r>
            <a:endParaRPr lang="en-US" altLang="zh-CN" sz="6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，按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波型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区分：龙、震、头。</a:t>
            </a:r>
            <a:endParaRPr lang="en-US" altLang="zh-CN" sz="6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+mj-ea"/>
              <a:buAutoNum type="circleNumDbPlain"/>
            </a:pP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1" name="直接箭头连接符 10">
            <a:extLst>
              <a:ext uri="{FF2B5EF4-FFF2-40B4-BE49-F238E27FC236}">
                <a16:creationId xmlns:a16="http://schemas.microsoft.com/office/drawing/2014/main" id="{870A3D93-E363-F18F-1DC2-328DA571E32C}"/>
              </a:ext>
            </a:extLst>
          </p:cNvPr>
          <p:cNvCxnSpPr>
            <a:cxnSpLocks/>
            <a:stCxn id="8" idx="3"/>
            <a:endCxn id="35" idx="1"/>
          </p:cNvCxnSpPr>
          <p:nvPr/>
        </p:nvCxnSpPr>
        <p:spPr>
          <a:xfrm flipV="1">
            <a:off x="1165860" y="3793317"/>
            <a:ext cx="205746" cy="9157"/>
          </a:xfrm>
          <a:prstGeom prst="straightConnector1">
            <a:avLst/>
          </a:prstGeom>
          <a:ln w="381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5" name="表格 34">
            <a:extLst>
              <a:ext uri="{FF2B5EF4-FFF2-40B4-BE49-F238E27FC236}">
                <a16:creationId xmlns:a16="http://schemas.microsoft.com/office/drawing/2014/main" id="{930B99A7-B9E3-BEC4-BCA0-6887620AE9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5158317"/>
              </p:ext>
            </p:extLst>
          </p:nvPr>
        </p:nvGraphicFramePr>
        <p:xfrm>
          <a:off x="1371606" y="731378"/>
          <a:ext cx="10818334" cy="6123878"/>
        </p:xfrm>
        <a:graphic>
          <a:graphicData uri="http://schemas.openxmlformats.org/drawingml/2006/table">
            <a:tbl>
              <a:tblPr firstRow="1" bandRow="1">
                <a:tableStyleId>{BC89EF96-8CEA-46FF-86C4-4CE0E7609802}</a:tableStyleId>
              </a:tblPr>
              <a:tblGrid>
                <a:gridCol w="1001206">
                  <a:extLst>
                    <a:ext uri="{9D8B030D-6E8A-4147-A177-3AD203B41FA5}">
                      <a16:colId xmlns:a16="http://schemas.microsoft.com/office/drawing/2014/main" val="2395698609"/>
                    </a:ext>
                  </a:extLst>
                </a:gridCol>
                <a:gridCol w="4325168">
                  <a:extLst>
                    <a:ext uri="{9D8B030D-6E8A-4147-A177-3AD203B41FA5}">
                      <a16:colId xmlns:a16="http://schemas.microsoft.com/office/drawing/2014/main" val="2038859154"/>
                    </a:ext>
                  </a:extLst>
                </a:gridCol>
                <a:gridCol w="2282834">
                  <a:extLst>
                    <a:ext uri="{9D8B030D-6E8A-4147-A177-3AD203B41FA5}">
                      <a16:colId xmlns:a16="http://schemas.microsoft.com/office/drawing/2014/main" val="3376497450"/>
                    </a:ext>
                  </a:extLst>
                </a:gridCol>
                <a:gridCol w="1923406">
                  <a:extLst>
                    <a:ext uri="{9D8B030D-6E8A-4147-A177-3AD203B41FA5}">
                      <a16:colId xmlns:a16="http://schemas.microsoft.com/office/drawing/2014/main" val="891232587"/>
                    </a:ext>
                  </a:extLst>
                </a:gridCol>
                <a:gridCol w="472440">
                  <a:extLst>
                    <a:ext uri="{9D8B030D-6E8A-4147-A177-3AD203B41FA5}">
                      <a16:colId xmlns:a16="http://schemas.microsoft.com/office/drawing/2014/main" val="3903190912"/>
                    </a:ext>
                  </a:extLst>
                </a:gridCol>
                <a:gridCol w="813280">
                  <a:extLst>
                    <a:ext uri="{9D8B030D-6E8A-4147-A177-3AD203B41FA5}">
                      <a16:colId xmlns:a16="http://schemas.microsoft.com/office/drawing/2014/main" val="206280286"/>
                    </a:ext>
                  </a:extLst>
                </a:gridCol>
              </a:tblGrid>
              <a:tr h="726027">
                <a:tc gridSpan="5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操盘模式：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进入主升后介入，不破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不退出。按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之上动态行进，根据各种地型思考后续对策，不轻易退出。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思考方式：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之上，在主升过程中会遇到各种（周地型）。总结可能出现的各种情况，并在其中，筛选出</a:t>
                      </a:r>
                      <a:r>
                        <a:rPr lang="en-US" altLang="zh-CN" sz="800" b="0" u="sng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u="sng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最好的恢复情况</a:t>
                      </a:r>
                      <a:r>
                        <a:rPr lang="en-US" altLang="zh-CN" sz="800" b="0" u="sng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，剔除</a:t>
                      </a:r>
                      <a:r>
                        <a:rPr lang="en-US" altLang="zh-CN" sz="800" b="0" u="sng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u="sng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最差的恢复情况</a:t>
                      </a:r>
                      <a:r>
                        <a:rPr lang="en-US" altLang="zh-CN" sz="800" b="0" u="sng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。不要机械地套用地型，而要思考地型所预示的后续走势。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例如，主升中遇到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最好的恢复情况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就是跌吞后出现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升吞，然后转为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升连。但若在跌吞后，出现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跌孕，后续方向待定。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后续走势判定原则：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不要预想研判进入哪个方向；而要根据实际后续出现的柱排，分步判断可能走哪个方向？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领悟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20260218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：此表的单元格不应只局限于看（特定的柱型），而要按典型的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恢复走势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进行总结。给出典型的恢复走势。并对应于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notion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中的汇总图谱。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将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之上区域分为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不喜欢区域</a:t>
                      </a: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突破区域</a:t>
                      </a: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/WJA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之上主战场</a:t>
                      </a: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</a:t>
                      </a:r>
                      <a:endParaRPr lang="en-US" altLang="zh-CN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812151"/>
                  </a:ext>
                </a:extLst>
              </a:tr>
              <a:tr h="2209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应对地型</a:t>
                      </a:r>
                    </a:p>
                  </a:txBody>
                  <a:tcPr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策略要点（核心目标：寻找长期连贯的升势排列。）</a:t>
                      </a:r>
                    </a:p>
                  </a:txBody>
                  <a:tcPr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按柱型汇总周机</a:t>
                      </a:r>
                    </a:p>
                  </a:txBody>
                  <a:tcPr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按柱型汇总周阱</a:t>
                      </a:r>
                    </a:p>
                  </a:txBody>
                  <a:tcPr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层段</a:t>
                      </a:r>
                    </a:p>
                  </a:txBody>
                  <a:tcPr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操盘区域类型</a:t>
                      </a:r>
                    </a:p>
                  </a:txBody>
                  <a:tcPr>
                    <a:solidFill>
                      <a:schemeClr val="accent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7933142"/>
                  </a:ext>
                </a:extLst>
              </a:tr>
              <a:tr h="978558"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&lt;0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遇到“无异”如何延续</a:t>
                      </a: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丘？</a:t>
                      </a: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遇到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是否为“最后一柱”？若是，可提前减仓。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关注异常：巨阳、长上影、长下影。</a:t>
                      </a: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是否为“升排陷阱”？若是，可提前减仓，且不应介入。</a:t>
                      </a: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是否形成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垒升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&gt;?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需要关注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升连是否延续：以固定管宽稳步向上。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需要观察日类展开形态。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两连升：周连升为两连升（每个阳柱均匀，不会突然放大或缩小为十字星小阳柱），是最佳机会。第三周必冲高，但不保证收盘仍未阳柱。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两连升：多方炮机会。下柱冲高机会很大，但不保证收盘仍为阳柱。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是否升排的阳柱之后必下柱冲高？需查看日线结构：若日线已开始下跌，则可能周柱不会冲高。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&lt;15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梯交调待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：若第三柱为鼎，很可能上升。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&lt;15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梯交调待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：是阴阳相间。若前有冲高，后续很快衔接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V&gt;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“假连阳”：第二柱为高开下跌的阳柱，第三柱为小阳柱。很可能转跌。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正一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正二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负三</a:t>
                      </a: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之上主战场</a:t>
                      </a: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388532"/>
                  </a:ext>
                </a:extLst>
              </a:tr>
              <a:tr h="426146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遇到“十字星”后如何演变？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注意：存在方向选择。需要借助日类信息辅助判断。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后接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中阳柱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：从而形成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中阳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)(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十字星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)(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中阳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后接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回踩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：回踩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后，可能继续沿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正一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/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正二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负三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WJA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之上主战场</a:t>
                      </a: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5510112"/>
                  </a:ext>
                </a:extLst>
              </a:tr>
              <a:tr h="647111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遇到“跌孕”后如何演变？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注意：存在方向选择。需要借助日类信息辅助判断。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恢复模式：理想情况是出现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升孕，特别是鼎，然后延续升排。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转震模式：易出现于已冲高情况。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后接“最后一柱”：（连阳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跌孕）后出现巨阳，冲高后立刻转跌。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后接（跌连）（升孕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跌吞），转为跌排。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跌孕后升吞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：如果是低位启动，可能继续冲高，或形成主升结构。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：若未大幅拉升，连阳之后首个跌孕，其后可能出现阳柱。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跌孕后升吞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：若已经历连阳大涨，则可能是最后一柱，勿重仓。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（升连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跌孕）若升连已大升，则后续阳柱可能是最后一柱。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正一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/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正二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负三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WJA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之上主战场</a:t>
                      </a: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5753108"/>
                  </a:ext>
                </a:extLst>
              </a:tr>
              <a:tr h="1199522">
                <a:tc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&lt;1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遇到“栏”后如何演变？</a:t>
                      </a: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决策点：若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很可能转为震荡，其余则面临方向选择。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后接（升吞）：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延续升排：形成连阳。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（连阳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跌吞）后接“最后一柱”：在巨大拉升之后。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转为震荡：可能回踩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后，再选择后续走向。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后接（升孕）：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延续升排：特别是在继鼎后，可能形成连阳。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转为震荡：可能在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之上震荡。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后接（跌吞）形成跌排。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后接（跌连）：是非常急迫的下跌。如已冲高，则可能继续下跌。如未冲高，可等待止跌后恢复。</a:t>
                      </a: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连阳之后首个跌吞，其后可能出现阳柱。阳柱兑现后应清仓。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防止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阴阳阴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：逃跑信号。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正一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/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负三</a:t>
                      </a: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WJA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之上主战场</a:t>
                      </a: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3782612"/>
                  </a:ext>
                </a:extLst>
              </a:tr>
              <a:tr h="42614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&lt;2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遇到“栅”后如何演变？</a:t>
                      </a: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决策点：若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很可能转为震荡，其余则面临方向选择。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方向选择：很可能转跌。特别是在跌连后出现升吞，随后可能转跌。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恢复模式：要求连跌角度较为平缓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，最好以十字星平移。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理想情况是：刚突破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WJB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或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WJC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，以跌连回踩，得到支撑后形成主升。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若为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，后续很快下破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若前有冲高：属于逃顶信号。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正一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/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负三</a:t>
                      </a: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WJA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之上主战场</a:t>
                      </a: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790078"/>
                  </a:ext>
                </a:extLst>
              </a:tr>
              <a:tr h="31566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&lt;3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余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遇到“余”后如何演变？</a:t>
                      </a: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之上跌排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：包括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跌吞后升孕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跌孕后升孕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类似于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，面临方向选择，若已冲高将转跌。</a:t>
                      </a: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须等待出现升连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Q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或止跌阳柱再介入。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逃顶信号：阴阳阴、高开悬阴。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正一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/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负三</a:t>
                      </a: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不喜欢区域</a:t>
                      </a: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9301022"/>
                  </a:ext>
                </a:extLst>
              </a:tr>
              <a:tr h="8680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&lt;4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蛀暂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遇到“暂下破</a:t>
                      </a: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”后如何演变？</a:t>
                      </a:r>
                      <a:endParaRPr lang="en-US" altLang="zh-CN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含</a:t>
                      </a:r>
                      <a:r>
                        <a:rPr lang="en-US" altLang="zh-CN" sz="7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WXZA/WXZB)</a:t>
                      </a:r>
                      <a:endParaRPr lang="zh-CN" altLang="en-US" sz="7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的模式：下破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时须预警，但不要退出。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判断下破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的情况：</a:t>
                      </a:r>
                      <a:endParaRPr lang="en-US" altLang="zh-CN" sz="7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模式（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下破一柱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下破二柱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下破三柱）。参考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的典型恢复模式。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久下破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。作为转跌的信号，特别注意，在上穿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时要等待回踩站稳再介入。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&lt;4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蛀暂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，可能是“帐篷”：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①先看是否从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劫恢复。关注是否为震荡诱多？要小碎步，不要单柱。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多次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劫后将失去上升动力。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②再看是否再次入管。须关注，是否形成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？是否再次触顶？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：在突破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/WJC/WJB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初期是机会。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：很可能是下跌中继。特别是前期存在冲高后跌连的情况。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正二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不喜欢区域（须警报勿退出）</a:t>
                      </a: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39428"/>
                  </a:ext>
                </a:extLst>
              </a:tr>
              <a:tr h="31566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&lt;4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蛀久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判断是否站稳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</a:t>
                      </a:r>
                      <a:endParaRPr lang="en-US" altLang="zh-CN" sz="7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突破区域类型：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：是何种突破模式？（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连升模式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回踩模式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频繁贯穿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依赖判断工具：若为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枝梯栏栅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，则很可能向上突破成功。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多柱后上破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，很可能是诱多。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正二</a:t>
                      </a: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突破区域</a:t>
                      </a: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5045185"/>
                  </a:ext>
                </a:extLst>
              </a:tr>
            </a:tbl>
          </a:graphicData>
        </a:graphic>
      </p:graphicFrame>
      <p:sp>
        <p:nvSpPr>
          <p:cNvPr id="4" name="矩形 3">
            <a:extLst>
              <a:ext uri="{FF2B5EF4-FFF2-40B4-BE49-F238E27FC236}">
                <a16:creationId xmlns:a16="http://schemas.microsoft.com/office/drawing/2014/main" id="{1B0DE6D5-9129-A1EA-88AE-6A9A5BCA2C08}"/>
              </a:ext>
            </a:extLst>
          </p:cNvPr>
          <p:cNvSpPr/>
          <p:nvPr/>
        </p:nvSpPr>
        <p:spPr>
          <a:xfrm>
            <a:off x="2060" y="1028348"/>
            <a:ext cx="1163800" cy="449932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步骤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先通过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</a:p>
          <a:p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定位较大的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（月级别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柱）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+mj-ea"/>
              <a:buAutoNum type="circleNumDbPlain"/>
            </a:pP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7" name="直接箭头连接符 6">
            <a:extLst>
              <a:ext uri="{FF2B5EF4-FFF2-40B4-BE49-F238E27FC236}">
                <a16:creationId xmlns:a16="http://schemas.microsoft.com/office/drawing/2014/main" id="{DCCAC3E7-DF74-BAEC-B67C-B5D7E5C3EB34}"/>
              </a:ext>
            </a:extLst>
          </p:cNvPr>
          <p:cNvCxnSpPr>
            <a:cxnSpLocks/>
            <a:stCxn id="4" idx="2"/>
            <a:endCxn id="6" idx="0"/>
          </p:cNvCxnSpPr>
          <p:nvPr/>
        </p:nvCxnSpPr>
        <p:spPr>
          <a:xfrm>
            <a:off x="583960" y="1478280"/>
            <a:ext cx="0" cy="281139"/>
          </a:xfrm>
          <a:prstGeom prst="straightConnector1">
            <a:avLst/>
          </a:prstGeom>
          <a:ln w="381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矩形 7">
            <a:extLst>
              <a:ext uri="{FF2B5EF4-FFF2-40B4-BE49-F238E27FC236}">
                <a16:creationId xmlns:a16="http://schemas.microsoft.com/office/drawing/2014/main" id="{04FBC978-5DC5-31E8-8913-F2BF18DC9912}"/>
              </a:ext>
            </a:extLst>
          </p:cNvPr>
          <p:cNvSpPr/>
          <p:nvPr/>
        </p:nvSpPr>
        <p:spPr>
          <a:xfrm>
            <a:off x="2060" y="3341557"/>
            <a:ext cx="1163800" cy="921833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步骤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9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寻找</a:t>
            </a:r>
            <a:r>
              <a:rPr lang="en-US" altLang="zh-CN" sz="900" b="1" u="sng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900" b="1" u="sng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广义主升</a:t>
            </a:r>
            <a:r>
              <a:rPr lang="en-US" altLang="zh-CN" sz="900" b="1" u="sng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900" b="1" u="sng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中的</a:t>
            </a:r>
            <a:r>
              <a:rPr lang="en-US" altLang="zh-CN" sz="900" b="1" u="sng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900" b="1" u="sng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地型</a:t>
            </a:r>
            <a:r>
              <a:rPr lang="en-US" altLang="zh-CN" sz="900" b="1" u="sng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900" b="1" u="sng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b="1" u="sng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可放宽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广义主升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，针对“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已正交或将正交，以下沿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作为分析对象”。</a:t>
            </a:r>
            <a:endParaRPr lang="en-US" altLang="zh-CN" sz="6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分析目的是，选择</a:t>
            </a:r>
            <a:r>
              <a:rPr lang="en-US" altLang="zh-CN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之上的上升柱排。</a:t>
            </a:r>
            <a:endParaRPr lang="en-US" altLang="zh-CN" sz="6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+mj-ea"/>
              <a:buAutoNum type="circleNumDbPlain"/>
            </a:pP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0" name="直接箭头连接符 9">
            <a:extLst>
              <a:ext uri="{FF2B5EF4-FFF2-40B4-BE49-F238E27FC236}">
                <a16:creationId xmlns:a16="http://schemas.microsoft.com/office/drawing/2014/main" id="{7E822284-CE1D-9C9B-4990-77EBA0E7C78B}"/>
              </a:ext>
            </a:extLst>
          </p:cNvPr>
          <p:cNvCxnSpPr>
            <a:cxnSpLocks/>
            <a:stCxn id="6" idx="2"/>
            <a:endCxn id="8" idx="0"/>
          </p:cNvCxnSpPr>
          <p:nvPr/>
        </p:nvCxnSpPr>
        <p:spPr>
          <a:xfrm>
            <a:off x="583960" y="2852703"/>
            <a:ext cx="0" cy="488854"/>
          </a:xfrm>
          <a:prstGeom prst="straightConnector1">
            <a:avLst/>
          </a:prstGeom>
          <a:ln w="381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4312892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671B6B-BD77-1FAB-D426-A493B7AF2F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5" name="直接连接符 34">
            <a:extLst>
              <a:ext uri="{FF2B5EF4-FFF2-40B4-BE49-F238E27FC236}">
                <a16:creationId xmlns:a16="http://schemas.microsoft.com/office/drawing/2014/main" id="{35483967-B105-1D3F-04E4-B7EE81F778CD}"/>
              </a:ext>
            </a:extLst>
          </p:cNvPr>
          <p:cNvCxnSpPr>
            <a:cxnSpLocks/>
          </p:cNvCxnSpPr>
          <p:nvPr/>
        </p:nvCxnSpPr>
        <p:spPr>
          <a:xfrm>
            <a:off x="12188328" y="691865"/>
            <a:ext cx="0" cy="6165737"/>
          </a:xfrm>
          <a:prstGeom prst="line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标题 1">
            <a:extLst>
              <a:ext uri="{FF2B5EF4-FFF2-40B4-BE49-F238E27FC236}">
                <a16:creationId xmlns:a16="http://schemas.microsoft.com/office/drawing/2014/main" id="{E245CF71-EC02-A2B2-FC84-37E0D665E060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垒升の定位方法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步：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层段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周中符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主题：抓涨的终极目标是寻找升排，特别是叠垒式柱排。总结主升中的特殊情况“垒升”，出现的位置、条件。注意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20260218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，垒升属于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的特例，单列专页处理。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543777E2-9639-0270-F351-9233ED82C6ED}"/>
              </a:ext>
            </a:extLst>
          </p:cNvPr>
          <p:cNvSpPr txBox="1"/>
          <p:nvPr/>
        </p:nvSpPr>
        <p:spPr>
          <a:xfrm>
            <a:off x="-60961" y="6929662"/>
            <a:ext cx="6156960" cy="10618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>
              <a:buFont typeface="Arial" panose="020B0604020202020204" pitchFamily="34" charset="0"/>
              <a:buNone/>
            </a:pPr>
            <a:r>
              <a:rPr lang="en-US" altLang="zh-CN" sz="900" b="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后续走向</a:t>
            </a:r>
            <a:r>
              <a:rPr lang="en-US" altLang="zh-CN" sz="900" b="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定义：后续是否有“再次触顶”、“形成阳柱”的预期。包含：</a:t>
            </a:r>
            <a:endParaRPr lang="en-US" altLang="zh-CN" sz="900" b="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zh-CN" altLang="en-US" sz="900" b="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下柱冲高：前期在管内已形成稳定排列，即使经过调整，后续仍有再次触顶形成主升的预期。</a:t>
            </a:r>
            <a:endParaRPr lang="en-US" altLang="zh-CN" sz="900" b="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特别是结合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&lt;WJA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至尊公理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，除非形成最后一柱，都会有下柱冲高预期。</a:t>
            </a:r>
            <a:endParaRPr lang="en-US" altLang="zh-CN" sz="900" b="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方向选择</a:t>
            </a:r>
            <a:r>
              <a:rPr lang="zh-CN" altLang="en-US" sz="900" b="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：前期即使在管内形成排列，但经过无序调整后，不确定后续是否会再次触顶。</a:t>
            </a:r>
            <a:endParaRPr lang="en-US" altLang="zh-CN" sz="900" b="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若向上：可能形成“帐篷”，从而再次形成主升。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若向下：实际为诱多。</a:t>
            </a:r>
            <a:endParaRPr lang="en-US" altLang="zh-CN" sz="900" b="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多数</a:t>
            </a:r>
            <a:r>
              <a:rPr lang="zh-CN" altLang="en-US" sz="900" b="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向下：基本确定已转为跌排，例如（跌排</a:t>
            </a:r>
            <a:r>
              <a:rPr lang="en-US" altLang="zh-CN" sz="900" b="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900" b="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单阳）。</a:t>
            </a:r>
            <a:endParaRPr lang="zh-CN" altLang="en-US" sz="900" dirty="0"/>
          </a:p>
        </p:txBody>
      </p:sp>
      <p:graphicFrame>
        <p:nvGraphicFramePr>
          <p:cNvPr id="16" name="表格 15">
            <a:extLst>
              <a:ext uri="{FF2B5EF4-FFF2-40B4-BE49-F238E27FC236}">
                <a16:creationId xmlns:a16="http://schemas.microsoft.com/office/drawing/2014/main" id="{C06D2D2B-86A9-EDC6-85BD-0D50707541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2888421"/>
              </p:ext>
            </p:extLst>
          </p:nvPr>
        </p:nvGraphicFramePr>
        <p:xfrm>
          <a:off x="2" y="713573"/>
          <a:ext cx="6107489" cy="6153239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1804879935"/>
                    </a:ext>
                  </a:extLst>
                </a:gridCol>
                <a:gridCol w="698708">
                  <a:extLst>
                    <a:ext uri="{9D8B030D-6E8A-4147-A177-3AD203B41FA5}">
                      <a16:colId xmlns:a16="http://schemas.microsoft.com/office/drawing/2014/main" val="665012014"/>
                    </a:ext>
                  </a:extLst>
                </a:gridCol>
                <a:gridCol w="4631735">
                  <a:extLst>
                    <a:ext uri="{9D8B030D-6E8A-4147-A177-3AD203B41FA5}">
                      <a16:colId xmlns:a16="http://schemas.microsoft.com/office/drawing/2014/main" val="1037072587"/>
                    </a:ext>
                  </a:extLst>
                </a:gridCol>
                <a:gridCol w="568766">
                  <a:extLst>
                    <a:ext uri="{9D8B030D-6E8A-4147-A177-3AD203B41FA5}">
                      <a16:colId xmlns:a16="http://schemas.microsoft.com/office/drawing/2014/main" val="2499597384"/>
                    </a:ext>
                  </a:extLst>
                </a:gridCol>
              </a:tblGrid>
              <a:tr h="422995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周中符：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语境中的上升机会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周类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之上的阳柱机会，有哪些？针对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已正交或将正交。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注意，不要预判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之上柱排的后续方向（如：贴顶、从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到顶；从顶到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、贴附于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），只考虑以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为准区分是否远离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（依赖周中符判断是否与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相交）。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742950" lvl="1" indent="-285750">
                        <a:buFont typeface="Arial" panose="020B0604020202020204" pitchFamily="34" charset="0"/>
                        <a:buChar char="•"/>
                      </a:pPr>
                      <a:endParaRPr lang="zh-CN" altLang="en-US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052100"/>
                  </a:ext>
                </a:extLst>
              </a:tr>
              <a:tr h="861657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为准划分的均管区域包括以下三类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（注：均管指顶与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之间的空间，而非特指触顶情况。）：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均管内：针对中符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，汇总下周冲高的典型模式。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包含：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贴顶、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悬浮。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适用于具有良好主升特征的情况：长久运行于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之上导致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分离，且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有角度上升。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特殊回避情况：快速拉升后缓慢震荡。如（连阳拉升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后续小柱震荡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后续小柱下跌）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均管界：针对中符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CD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，包含与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相交情况。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包含：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继鼎、上破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暂上破、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久上破）、下破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均管外：汇总在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之上但在均管外的零星情况。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包含：价上破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、贯下破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、久下破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、下破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须总结两类走势的经典模式：（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劫恢复）与（开启跌势）。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79150079"/>
                  </a:ext>
                </a:extLst>
              </a:tr>
              <a:tr h="1926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子类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9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情况描述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9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后续走向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086412"/>
                  </a:ext>
                </a:extLst>
              </a:tr>
              <a:tr h="850327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均管内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贴顶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悬浮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2)</a:t>
                      </a: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>
                        <a:lnSpc>
                          <a:spcPct val="90000"/>
                        </a:lnSpc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主升开启点：刚脱离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，可能开启主升。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贴顶：与顶接触，与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不接触。针对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。包含：连阳、升排中继（贴顶的十字星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小阳柱）。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悬浮：不与顶接触、也不与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贯穿。针对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或其他在管内悬浮的情况。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主要须判断：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是否触顶？区分（主升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震荡）。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是否为升排。（升排之后会冲高，除非是最后一柱）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是否最后一柱？（连阳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单阳、长上影、长下影）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是否已冲高？是否已长久脱离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9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下柱冲高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185756"/>
                  </a:ext>
                </a:extLst>
              </a:tr>
              <a:tr h="137708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前中符为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的调整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WTZA=-1)</a:t>
                      </a: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>
                        <a:lnSpc>
                          <a:spcPct val="90000"/>
                        </a:lnSpc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调整の地型包括：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铁轨型排列：柱排同时触顶与触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，低角度上升，维持升排。</a:t>
                      </a:r>
                    </a:p>
                    <a:p>
                      <a:pPr marL="628650" lvl="1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一柱调整：主要针对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跌孕。</a:t>
                      </a:r>
                    </a:p>
                    <a:p>
                      <a:pPr marL="628650" lvl="1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二柱调整：主要针对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（跌吞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升孕）</a:t>
                      </a: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多柱调整：主要针对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杂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。需要严防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三连跌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调整后升孕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。很可能转跌。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调整の方式包括：以下三种调整后续走势都有可能再次形成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帐篷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，因为前期已触顶。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悬空调整（调整后为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柱）。             →后续阳柱：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贴顶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悬浮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价下破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的调整（调整后为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柱）。 →后续阳柱：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继鼎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</a:p>
                    <a:p>
                      <a:pPr marL="628650" lvl="1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的调整（调整后为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柱）。 →后续阳柱：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</a:p>
                    <a:p>
                      <a:pPr marL="0" lvl="0" indent="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调整の后续走势包括：分别衔接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均管内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均管界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等结点，衍生不同的后续走势。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向上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帐篷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：前期连升触顶，在管内形成惯性，经调整后转升，再次触顶。后续可能形成主升。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向平震荡：继续维持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柱悬浮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贯穿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向下下破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：区分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冲高后下破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方向选择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4952781"/>
                  </a:ext>
                </a:extLst>
              </a:tr>
              <a:tr h="587493"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均管界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90000"/>
                        </a:lnSpc>
                      </a:pPr>
                      <a:r>
                        <a:rPr lang="en-US" altLang="zh-CN" sz="7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C</a:t>
                      </a:r>
                      <a:r>
                        <a:rPr lang="zh-CN" altLang="en-US" sz="7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继鼎</a:t>
                      </a:r>
                      <a:endParaRPr lang="en-US" altLang="zh-CN" sz="700" b="1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2)</a:t>
                      </a: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algn="l" defTabSz="914400" rtl="0" eaLnBrk="1" latinLnBrk="0" hangingPunct="1">
                        <a:lnSpc>
                          <a:spcPct val="90000"/>
                        </a:lnSpc>
                      </a:pPr>
                      <a:endParaRPr lang="zh-CN" altLang="en-US" sz="700" b="1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属于继鼎，可触顶也可不触顶。面临方向选择：</a:t>
                      </a:r>
                      <a:endParaRPr lang="en-US" altLang="zh-CN" sz="700" b="0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171450" indent="-171450" algn="l" defTabSz="914400" rtl="0" eaLnBrk="1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向上：适用于</a:t>
                      </a:r>
                      <a:r>
                        <a:rPr lang="en-US" altLang="zh-CN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&lt;</a:t>
                      </a:r>
                      <a:r>
                        <a:rPr lang="zh-CN" altLang="en-US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栏</a:t>
                      </a:r>
                      <a:r>
                        <a:rPr lang="en-US" altLang="zh-CN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&gt;&lt;</a:t>
                      </a:r>
                      <a:r>
                        <a:rPr lang="zh-CN" altLang="en-US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栅</a:t>
                      </a:r>
                      <a:r>
                        <a:rPr lang="en-US" altLang="zh-CN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&gt;</a:t>
                      </a:r>
                      <a:r>
                        <a:rPr lang="zh-CN" altLang="en-US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等形态，特别是鼎，有可能触顶。有可能形成帐篷，应保持跟随策略。</a:t>
                      </a:r>
                      <a:endParaRPr lang="en-US" altLang="zh-CN" sz="700" b="0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[</a:t>
                      </a:r>
                      <a:r>
                        <a:rPr lang="zh-CN" altLang="en-US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特殊情况</a:t>
                      </a:r>
                      <a:r>
                        <a:rPr lang="en-US" altLang="zh-CN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]</a:t>
                      </a:r>
                      <a:r>
                        <a:rPr lang="zh-CN" altLang="en-US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巨柱：可能出现在中符</a:t>
                      </a:r>
                      <a:r>
                        <a:rPr lang="en-US" altLang="zh-CN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AB</a:t>
                      </a:r>
                      <a:r>
                        <a:rPr lang="zh-CN" altLang="en-US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之后，因周柱巨大导致形成鼎。此情况无法判断是否已冲高。</a:t>
                      </a:r>
                      <a:endParaRPr lang="en-US" altLang="zh-CN" sz="700" b="0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“帐篷”右腿：有可能再次形成帐篷。</a:t>
                      </a:r>
                      <a:endParaRPr lang="en-US" altLang="zh-CN" sz="700" b="0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171450" indent="-171450" algn="l" defTabSz="914400" rtl="0" eaLnBrk="1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向下：代表从远离</a:t>
                      </a:r>
                      <a:r>
                        <a:rPr lang="en-US" altLang="zh-CN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WJA</a:t>
                      </a:r>
                      <a:r>
                        <a:rPr lang="zh-CN" altLang="en-US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向</a:t>
                      </a:r>
                      <a:r>
                        <a:rPr lang="en-US" altLang="zh-CN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WJA</a:t>
                      </a:r>
                      <a:r>
                        <a:rPr lang="zh-CN" altLang="en-US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靠近，有可能是跌排中的升孕。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形成主升几率小，特别是前期已拉升的情况。</a:t>
                      </a:r>
                      <a:endParaRPr lang="zh-CN" altLang="en-US" sz="700" b="0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方向选择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7708549"/>
                  </a:ext>
                </a:extLst>
              </a:tr>
              <a:tr h="488794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暂上破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(WTZA=1)</a:t>
                      </a: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>
                        <a:lnSpc>
                          <a:spcPct val="90000"/>
                        </a:lnSpc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适用于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劫的恢复，特别针对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正交的情况。包含：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再入管：总结上破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后再次入管的典型模式。包含：连升入管、回踩入管。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再上破：总结上破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恢复的典型模式。后续方向包括：再入管、转震荡、转跌。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频繁贯穿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WJA】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是暂上破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的特例。反复贯穿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，导致趋势失效。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方向选择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0791919"/>
                  </a:ext>
                </a:extLst>
              </a:tr>
              <a:tr h="39009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久上破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(WTZA=1)</a:t>
                      </a: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主要发生在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负交、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之下。需回答：能否站稳？如何站稳？防诱多？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有利模式：连阳上破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、上破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后回踩、站稳后启动。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不利模式：跌排后单阳。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9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多数向下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368256"/>
                  </a:ext>
                </a:extLst>
              </a:tr>
              <a:tr h="291396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前中符为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的调整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调整方式与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前中符为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的调整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一致。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注意：后续不会形成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帐篷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，因前期未触顶。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多数向下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2835814"/>
                  </a:ext>
                </a:extLst>
              </a:tr>
              <a:tr h="488794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均管外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久下破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-2)</a:t>
                      </a: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若已形成跌排，后续不会轻易站上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特殊情况包括：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价上破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：不考虑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之下（跌排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单阳），特别是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负交时。看做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之下的升吞，只是诱多。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贯下破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，虽然为薡，但属于诱多。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多数向下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1705497"/>
                  </a:ext>
                </a:extLst>
              </a:tr>
              <a:tr h="192698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90000"/>
                        </a:lnSpc>
                      </a:pPr>
                      <a:r>
                        <a:rPr lang="zh-CN" altLang="en-US" sz="7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下破</a:t>
                      </a:r>
                      <a:r>
                        <a:rPr lang="en-US" altLang="zh-CN" sz="7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WJB</a:t>
                      </a:r>
                      <a:endParaRPr lang="zh-CN" altLang="en-US" sz="700" b="1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基本不会有机会，等待站上</a:t>
                      </a:r>
                      <a:r>
                        <a:rPr lang="en-US" altLang="zh-CN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WJB</a:t>
                      </a:r>
                      <a:r>
                        <a:rPr lang="zh-CN" altLang="en-US" sz="700" b="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再介入。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多数向下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1770501"/>
                  </a:ext>
                </a:extLst>
              </a:tr>
            </a:tbl>
          </a:graphicData>
        </a:graphic>
      </p:graphicFrame>
      <p:graphicFrame>
        <p:nvGraphicFramePr>
          <p:cNvPr id="8" name="表格 7">
            <a:extLst>
              <a:ext uri="{FF2B5EF4-FFF2-40B4-BE49-F238E27FC236}">
                <a16:creationId xmlns:a16="http://schemas.microsoft.com/office/drawing/2014/main" id="{03E5E927-2A77-8590-E705-A5C184B2EE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4206597"/>
              </p:ext>
            </p:extLst>
          </p:nvPr>
        </p:nvGraphicFramePr>
        <p:xfrm>
          <a:off x="6461761" y="722749"/>
          <a:ext cx="5726566" cy="5055747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372318">
                  <a:extLst>
                    <a:ext uri="{9D8B030D-6E8A-4147-A177-3AD203B41FA5}">
                      <a16:colId xmlns:a16="http://schemas.microsoft.com/office/drawing/2014/main" val="665012014"/>
                    </a:ext>
                  </a:extLst>
                </a:gridCol>
                <a:gridCol w="216426">
                  <a:extLst>
                    <a:ext uri="{9D8B030D-6E8A-4147-A177-3AD203B41FA5}">
                      <a16:colId xmlns:a16="http://schemas.microsoft.com/office/drawing/2014/main" val="1037072587"/>
                    </a:ext>
                  </a:extLst>
                </a:gridCol>
                <a:gridCol w="607604">
                  <a:extLst>
                    <a:ext uri="{9D8B030D-6E8A-4147-A177-3AD203B41FA5}">
                      <a16:colId xmlns:a16="http://schemas.microsoft.com/office/drawing/2014/main" val="1222285038"/>
                    </a:ext>
                  </a:extLst>
                </a:gridCol>
                <a:gridCol w="3793893">
                  <a:extLst>
                    <a:ext uri="{9D8B030D-6E8A-4147-A177-3AD203B41FA5}">
                      <a16:colId xmlns:a16="http://schemas.microsoft.com/office/drawing/2014/main" val="787397067"/>
                    </a:ext>
                  </a:extLst>
                </a:gridCol>
                <a:gridCol w="736325">
                  <a:extLst>
                    <a:ext uri="{9D8B030D-6E8A-4147-A177-3AD203B41FA5}">
                      <a16:colId xmlns:a16="http://schemas.microsoft.com/office/drawing/2014/main" val="927588635"/>
                    </a:ext>
                  </a:extLst>
                </a:gridCol>
              </a:tblGrid>
              <a:tr h="239907">
                <a:tc gridSpan="5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如何定位垒升机会？ → 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语境中的垒升机会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不区分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，只看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66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052100"/>
                  </a:ext>
                </a:extLst>
              </a:tr>
              <a:tr h="147106">
                <a:tc gridSpan="5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u="sng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基于（</a:t>
                      </a:r>
                      <a:r>
                        <a:rPr lang="en-US" altLang="zh-CN" sz="700" b="1" u="sng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1" u="sng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至尊公理），是上升的充分必要条件。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由于上升都集中在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之上，所以只针对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之上情况进行分析。</a:t>
                      </a:r>
                      <a:endParaRPr lang="en-US" altLang="zh-CN" sz="700" b="1" u="sng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rgbClr val="FF66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00719150"/>
                  </a:ext>
                </a:extLst>
              </a:tr>
              <a:tr h="397368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周机汇总：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集中出现于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之上；周层段（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正一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正二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负三）。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之上升排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&amp;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人排。（避免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/WSHA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较大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连阳较多）→依据以上公理可得。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之上，跌回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后站稳，会下柱冲高。→若是突破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后回踩，机会大。若是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丘尾部，价值不大。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首下破，可能是机，也可能是阱。→只被动持有。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首上破，可能是机，也可能是阱。→等待站稳后再介入，要小碎步不要单柱。总结诱多的典型形态。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后一般不是机会。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特例是，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后，逐步靠近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或价上破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，可能是机会。（根据以上公理的镜面映射）</a:t>
                      </a:r>
                      <a:endParaRPr lang="zh-CN" altLang="en-US" dirty="0"/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2992528"/>
                  </a:ext>
                </a:extLst>
              </a:tr>
              <a:tr h="147106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败象汇总：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WSHA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过大，连阳过多。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之上，萎缩至贴近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后，形成阴阳阴。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：强制退出。</a:t>
                      </a:r>
                      <a:endParaRPr lang="zh-CN" altLang="en-US" dirty="0"/>
                    </a:p>
                  </a:txBody>
                  <a:tcPr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99076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层段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情况描述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endParaRPr lang="zh-CN" altLang="en-US" sz="7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备注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对应地型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086412"/>
                  </a:ext>
                </a:extLst>
              </a:tr>
              <a:tr h="144498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正一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均管内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贴顶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均管内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悬浮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关注是否脱离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是否左侧止盈？（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WSHA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过大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连阳过多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185756"/>
                  </a:ext>
                </a:extLst>
              </a:tr>
              <a:tr h="144498">
                <a:tc vMerge="1">
                  <a:txBody>
                    <a:bodyPr/>
                    <a:lstStyle/>
                    <a:p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均管内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前中符为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的调整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针对波型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龙猪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龙落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震正〇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方向选择。是否回归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？是否可能不下破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就再次形成主升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?</a:t>
                      </a: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栅（调整）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112570"/>
                  </a:ext>
                </a:extLst>
              </a:tr>
              <a:tr h="144498">
                <a:tc vMerge="1">
                  <a:txBody>
                    <a:bodyPr/>
                    <a:lstStyle/>
                    <a:p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均管界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继鼎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可能构成“帐篷”。特殊位置（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刚正交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），可能形成启动结构。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看是否形成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&gt;?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是否再次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触顶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无（巨阳）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9726027"/>
                  </a:ext>
                </a:extLst>
              </a:tr>
              <a:tr h="245646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正二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均管界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暂上破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重点关注情况，只针对非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。要形成升排而非跌排。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可能是“帐篷”：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①先看是否从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劫恢复。关注是否为震荡诱多？要小碎步，不要单柱。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②再看是否再次入管。须关注，是否形成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？是否再次触顶？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0853368"/>
                  </a:ext>
                </a:extLst>
              </a:tr>
              <a:tr h="144498">
                <a:tc vMerge="1">
                  <a:txBody>
                    <a:bodyPr/>
                    <a:lstStyle/>
                    <a:p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均管界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久上破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之上，出现下破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较长时间后上破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，可能是机会。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需验证：是否诱多？是否站稳？是否回踩？是否启动结构？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865847"/>
                  </a:ext>
                </a:extLst>
              </a:tr>
              <a:tr h="144498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均管内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贴顶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均管内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悬浮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突破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/WJC/WJB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：以贴附于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的垒升形成上升动力。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从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负交开始上破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，回踩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，从而形成“帐篷结构”（三柱栅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四柱栅）。</a:t>
                      </a: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2353855"/>
                  </a:ext>
                </a:extLst>
              </a:tr>
              <a:tr h="144498">
                <a:tc vMerge="1">
                  <a:txBody>
                    <a:bodyPr/>
                    <a:lstStyle/>
                    <a:p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均管内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前中符为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的调整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需要防止转跌。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栅（调整）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349105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均管界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继鼎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可能是“帐篷” 。特别关注，是否形成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三柱栅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四柱栅。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栅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25221"/>
                  </a:ext>
                </a:extLst>
              </a:tr>
              <a:tr h="19507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负二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不分类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不利条件：由于还未上破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，无法形成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有利条件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：前期已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围绕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多次震荡。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有利条件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：已形成反向突破的典型形态（如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三柱栅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四柱栅）。</a:t>
                      </a: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0605891"/>
                  </a:ext>
                </a:extLst>
              </a:tr>
            </a:tbl>
          </a:graphicData>
        </a:graphic>
      </p:graphicFrame>
      <p:sp>
        <p:nvSpPr>
          <p:cNvPr id="9" name="文本框 8">
            <a:extLst>
              <a:ext uri="{FF2B5EF4-FFF2-40B4-BE49-F238E27FC236}">
                <a16:creationId xmlns:a16="http://schemas.microsoft.com/office/drawing/2014/main" id="{8FF2BB07-C1BD-965C-F6C8-936E8D10B7D1}"/>
              </a:ext>
            </a:extLst>
          </p:cNvPr>
          <p:cNvSpPr txBox="1"/>
          <p:nvPr/>
        </p:nvSpPr>
        <p:spPr>
          <a:xfrm>
            <a:off x="12192000" y="3503734"/>
            <a:ext cx="3316705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>
              <a:buFont typeface="Arial" panose="020B0604020202020204" pitchFamily="34" charset="0"/>
              <a:buNone/>
            </a:pP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重要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何时考虑沿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的反向运动？当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时要考虑。当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时分以下情况。</a:t>
            </a:r>
            <a:endParaRPr lang="en-US" altLang="zh-CN" sz="7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仅下破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，可不考虑沿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反向运动。针对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已冲高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已出现跌排应考虑。</a:t>
            </a:r>
            <a:endParaRPr lang="en-US" altLang="zh-CN" sz="7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后，</a:t>
            </a:r>
            <a:r>
              <a:rPr lang="zh-CN" altLang="en-US" sz="7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可考虑</a:t>
            </a:r>
            <a:r>
              <a:rPr lang="zh-CN" altLang="en-US" sz="700" b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沿</a:t>
            </a:r>
            <a:r>
              <a:rPr lang="en-US" altLang="zh-CN" sz="700" b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b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的反向运动。</a:t>
            </a:r>
            <a:endParaRPr lang="en-US" altLang="zh-CN" sz="700" b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7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后，</a:t>
            </a:r>
            <a:r>
              <a:rPr lang="zh-CN" altLang="en-US" sz="7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应考虑</a:t>
            </a:r>
            <a:r>
              <a:rPr lang="zh-CN" altLang="en-US" sz="700" b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沿</a:t>
            </a:r>
            <a:r>
              <a:rPr lang="en-US" altLang="zh-CN" sz="700" b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b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的反向运动。</a:t>
            </a:r>
            <a:endParaRPr lang="en-US" altLang="zh-CN" sz="700" b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箭头: 下 1">
            <a:extLst>
              <a:ext uri="{FF2B5EF4-FFF2-40B4-BE49-F238E27FC236}">
                <a16:creationId xmlns:a16="http://schemas.microsoft.com/office/drawing/2014/main" id="{D5ABA210-C255-5793-2568-A529DD65EDEE}"/>
              </a:ext>
            </a:extLst>
          </p:cNvPr>
          <p:cNvSpPr/>
          <p:nvPr/>
        </p:nvSpPr>
        <p:spPr>
          <a:xfrm rot="16200000">
            <a:off x="5561602" y="2456479"/>
            <a:ext cx="1473200" cy="228339"/>
          </a:xfrm>
          <a:prstGeom prst="downArrow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A574EAE8-78EC-1431-B870-4F7D12F92F48}"/>
              </a:ext>
            </a:extLst>
          </p:cNvPr>
          <p:cNvSpPr txBox="1"/>
          <p:nvPr/>
        </p:nvSpPr>
        <p:spPr>
          <a:xfrm>
            <a:off x="3090997" y="5541432"/>
            <a:ext cx="1521229" cy="830997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r>
              <a:rPr lang="zh-CN" altLang="en-US" sz="1200" dirty="0">
                <a:solidFill>
                  <a:srgbClr val="FF0000"/>
                </a:solidFill>
                <a:highlight>
                  <a:srgbClr val="FFFF00"/>
                </a:highlight>
              </a:rPr>
              <a:t>（</a:t>
            </a:r>
            <a:r>
              <a:rPr lang="en-US" altLang="zh-CN" sz="1200" dirty="0">
                <a:solidFill>
                  <a:srgbClr val="FF0000"/>
                </a:solidFill>
                <a:highlight>
                  <a:srgbClr val="FFFF00"/>
                </a:highlight>
              </a:rPr>
              <a:t>20260607</a:t>
            </a:r>
            <a:r>
              <a:rPr lang="zh-CN" altLang="en-US" sz="1200" dirty="0">
                <a:solidFill>
                  <a:srgbClr val="FF0000"/>
                </a:solidFill>
                <a:highlight>
                  <a:srgbClr val="FFFF00"/>
                </a:highlight>
              </a:rPr>
              <a:t>）</a:t>
            </a:r>
            <a:endParaRPr lang="en-US" altLang="zh-CN" sz="1200" dirty="0">
              <a:solidFill>
                <a:srgbClr val="FF0000"/>
              </a:solidFill>
              <a:highlight>
                <a:srgbClr val="FFFF00"/>
              </a:highlight>
            </a:endParaRPr>
          </a:p>
          <a:p>
            <a:r>
              <a:rPr lang="zh-CN" altLang="en-US" sz="1200" dirty="0">
                <a:solidFill>
                  <a:srgbClr val="FF0000"/>
                </a:solidFill>
                <a:highlight>
                  <a:srgbClr val="FFFF00"/>
                </a:highlight>
              </a:rPr>
              <a:t>是否将时间限定为</a:t>
            </a:r>
            <a:r>
              <a:rPr lang="en-US" altLang="zh-CN" sz="1200" dirty="0">
                <a:solidFill>
                  <a:srgbClr val="FF0000"/>
                </a:solidFill>
                <a:highlight>
                  <a:srgbClr val="FFFF00"/>
                </a:highlight>
              </a:rPr>
              <a:t>WTZA</a:t>
            </a:r>
            <a:r>
              <a:rPr lang="zh-CN" altLang="en-US" sz="1200" dirty="0">
                <a:solidFill>
                  <a:srgbClr val="FF0000"/>
                </a:solidFill>
                <a:highlight>
                  <a:srgbClr val="FFFF00"/>
                </a:highlight>
              </a:rPr>
              <a:t>∈</a:t>
            </a:r>
            <a:r>
              <a:rPr lang="en-US" altLang="zh-CN" sz="1200" dirty="0">
                <a:solidFill>
                  <a:srgbClr val="FF0000"/>
                </a:solidFill>
                <a:highlight>
                  <a:srgbClr val="FFFF00"/>
                </a:highlight>
              </a:rPr>
              <a:t>[0,3]</a:t>
            </a:r>
            <a:r>
              <a:rPr lang="zh-CN" altLang="en-US" sz="1200" dirty="0">
                <a:solidFill>
                  <a:srgbClr val="FF0000"/>
                </a:solidFill>
                <a:highlight>
                  <a:srgbClr val="FFFF00"/>
                </a:highlight>
              </a:rPr>
              <a:t>，从而对应于周柱型（枝）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8BD6E813-5D90-E2CA-5075-5F0102C073DB}"/>
              </a:ext>
            </a:extLst>
          </p:cNvPr>
          <p:cNvSpPr txBox="1"/>
          <p:nvPr/>
        </p:nvSpPr>
        <p:spPr>
          <a:xfrm>
            <a:off x="4533645" y="5538683"/>
            <a:ext cx="1521229" cy="830997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r>
              <a:rPr lang="zh-CN" altLang="en-US" sz="1200" dirty="0">
                <a:solidFill>
                  <a:srgbClr val="FF0000"/>
                </a:solidFill>
                <a:highlight>
                  <a:srgbClr val="FFFF00"/>
                </a:highlight>
              </a:rPr>
              <a:t>（</a:t>
            </a:r>
            <a:r>
              <a:rPr lang="en-US" altLang="zh-CN" sz="1200" dirty="0">
                <a:solidFill>
                  <a:srgbClr val="FF0000"/>
                </a:solidFill>
                <a:highlight>
                  <a:srgbClr val="FFFF00"/>
                </a:highlight>
              </a:rPr>
              <a:t>20260607</a:t>
            </a:r>
            <a:r>
              <a:rPr lang="zh-CN" altLang="en-US" sz="1200" dirty="0">
                <a:solidFill>
                  <a:srgbClr val="FF0000"/>
                </a:solidFill>
                <a:highlight>
                  <a:srgbClr val="FFFF00"/>
                </a:highlight>
              </a:rPr>
              <a:t>）</a:t>
            </a:r>
            <a:endParaRPr lang="en-US" altLang="zh-CN" sz="1200" dirty="0">
              <a:solidFill>
                <a:srgbClr val="FF0000"/>
              </a:solidFill>
              <a:highlight>
                <a:srgbClr val="FFFF00"/>
              </a:highlight>
            </a:endParaRPr>
          </a:p>
          <a:p>
            <a:r>
              <a:rPr lang="zh-CN" altLang="en-US" sz="1200" dirty="0">
                <a:solidFill>
                  <a:srgbClr val="FF0000"/>
                </a:solidFill>
                <a:highlight>
                  <a:srgbClr val="FFFF00"/>
                </a:highlight>
              </a:rPr>
              <a:t>是否将时间限定为</a:t>
            </a:r>
            <a:r>
              <a:rPr lang="en-US" altLang="zh-CN" sz="1200" dirty="0">
                <a:solidFill>
                  <a:srgbClr val="FF0000"/>
                </a:solidFill>
                <a:highlight>
                  <a:srgbClr val="FFFF00"/>
                </a:highlight>
              </a:rPr>
              <a:t>WTZA</a:t>
            </a:r>
            <a:r>
              <a:rPr lang="zh-CN" altLang="en-US" sz="1200" dirty="0">
                <a:solidFill>
                  <a:srgbClr val="FF0000"/>
                </a:solidFill>
                <a:highlight>
                  <a:srgbClr val="FFFF00"/>
                </a:highlight>
              </a:rPr>
              <a:t>∈</a:t>
            </a:r>
            <a:r>
              <a:rPr lang="en-US" altLang="zh-CN" sz="1200" dirty="0">
                <a:solidFill>
                  <a:srgbClr val="FF0000"/>
                </a:solidFill>
                <a:highlight>
                  <a:srgbClr val="FFFF00"/>
                </a:highlight>
              </a:rPr>
              <a:t>[-3,0)</a:t>
            </a:r>
            <a:r>
              <a:rPr lang="zh-CN" altLang="en-US" sz="1200" dirty="0">
                <a:solidFill>
                  <a:srgbClr val="FF0000"/>
                </a:solidFill>
                <a:highlight>
                  <a:srgbClr val="FFFF00"/>
                </a:highlight>
              </a:rPr>
              <a:t>，从而对应于周柱型（根）</a:t>
            </a:r>
          </a:p>
        </p:txBody>
      </p:sp>
    </p:spTree>
    <p:extLst>
      <p:ext uri="{BB962C8B-B14F-4D97-AF65-F5344CB8AC3E}">
        <p14:creationId xmlns:p14="http://schemas.microsoft.com/office/powerpoint/2010/main" val="240986623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8927B0-44F7-1F77-57CF-7B2A72D85F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5" name="直接连接符 34">
            <a:extLst>
              <a:ext uri="{FF2B5EF4-FFF2-40B4-BE49-F238E27FC236}">
                <a16:creationId xmlns:a16="http://schemas.microsoft.com/office/drawing/2014/main" id="{806F9AA4-862C-47F5-2DEC-2A944D912D24}"/>
              </a:ext>
            </a:extLst>
          </p:cNvPr>
          <p:cNvCxnSpPr>
            <a:cxnSpLocks/>
          </p:cNvCxnSpPr>
          <p:nvPr/>
        </p:nvCxnSpPr>
        <p:spPr>
          <a:xfrm>
            <a:off x="6104090" y="689517"/>
            <a:ext cx="0" cy="6165737"/>
          </a:xfrm>
          <a:prstGeom prst="line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标题 1">
            <a:extLst>
              <a:ext uri="{FF2B5EF4-FFF2-40B4-BE49-F238E27FC236}">
                <a16:creationId xmlns:a16="http://schemas.microsoft.com/office/drawing/2014/main" id="{899FBEF0-1013-80B7-1AC0-DD862C039E17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】&lt;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地型：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反例：最后一柱、升排失势</a:t>
            </a:r>
            <a:endParaRPr lang="en-US" altLang="zh-CN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主题：汇总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之上左侧退出条件，特别是长久连阳之后的逃顶条件。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" name="组合 12">
            <a:extLst>
              <a:ext uri="{FF2B5EF4-FFF2-40B4-BE49-F238E27FC236}">
                <a16:creationId xmlns:a16="http://schemas.microsoft.com/office/drawing/2014/main" id="{F1017DE6-A7C7-C105-A64F-26F5EB263749}"/>
              </a:ext>
            </a:extLst>
          </p:cNvPr>
          <p:cNvGrpSpPr/>
          <p:nvPr/>
        </p:nvGrpSpPr>
        <p:grpSpPr>
          <a:xfrm>
            <a:off x="5439891" y="1644108"/>
            <a:ext cx="494041" cy="241298"/>
            <a:chOff x="5558413" y="2159445"/>
            <a:chExt cx="494041" cy="216990"/>
          </a:xfrm>
        </p:grpSpPr>
        <p:sp>
          <p:nvSpPr>
            <p:cNvPr id="14" name="矩形 13">
              <a:extLst>
                <a:ext uri="{FF2B5EF4-FFF2-40B4-BE49-F238E27FC236}">
                  <a16:creationId xmlns:a16="http://schemas.microsoft.com/office/drawing/2014/main" id="{32D9CF77-3709-50D0-0652-61DD7A1FC475}"/>
                </a:ext>
              </a:extLst>
            </p:cNvPr>
            <p:cNvSpPr/>
            <p:nvPr/>
          </p:nvSpPr>
          <p:spPr>
            <a:xfrm>
              <a:off x="5558413" y="2165420"/>
              <a:ext cx="90435" cy="211015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矩形 15">
              <a:extLst>
                <a:ext uri="{FF2B5EF4-FFF2-40B4-BE49-F238E27FC236}">
                  <a16:creationId xmlns:a16="http://schemas.microsoft.com/office/drawing/2014/main" id="{2995E3EF-01D4-AF19-11B8-8D3D6ABDB6C4}"/>
                </a:ext>
              </a:extLst>
            </p:cNvPr>
            <p:cNvSpPr/>
            <p:nvPr/>
          </p:nvSpPr>
          <p:spPr>
            <a:xfrm>
              <a:off x="5699091" y="2162927"/>
              <a:ext cx="90433" cy="108000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矩形 16">
              <a:extLst>
                <a:ext uri="{FF2B5EF4-FFF2-40B4-BE49-F238E27FC236}">
                  <a16:creationId xmlns:a16="http://schemas.microsoft.com/office/drawing/2014/main" id="{2D5F69D7-055D-CA2A-03D0-AE508ACFE766}"/>
                </a:ext>
              </a:extLst>
            </p:cNvPr>
            <p:cNvSpPr/>
            <p:nvPr/>
          </p:nvSpPr>
          <p:spPr>
            <a:xfrm>
              <a:off x="5821343" y="2250830"/>
              <a:ext cx="90433" cy="108000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" name="矩形 17">
              <a:extLst>
                <a:ext uri="{FF2B5EF4-FFF2-40B4-BE49-F238E27FC236}">
                  <a16:creationId xmlns:a16="http://schemas.microsoft.com/office/drawing/2014/main" id="{198265EB-971E-7990-9190-FBDB9C3FE55E}"/>
                </a:ext>
              </a:extLst>
            </p:cNvPr>
            <p:cNvSpPr/>
            <p:nvPr/>
          </p:nvSpPr>
          <p:spPr>
            <a:xfrm>
              <a:off x="5962019" y="2159445"/>
              <a:ext cx="90435" cy="211015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9" name="组合 18">
            <a:extLst>
              <a:ext uri="{FF2B5EF4-FFF2-40B4-BE49-F238E27FC236}">
                <a16:creationId xmlns:a16="http://schemas.microsoft.com/office/drawing/2014/main" id="{3A468D66-EA08-266D-DD28-50DE3DEB9A35}"/>
              </a:ext>
            </a:extLst>
          </p:cNvPr>
          <p:cNvGrpSpPr/>
          <p:nvPr/>
        </p:nvGrpSpPr>
        <p:grpSpPr>
          <a:xfrm>
            <a:off x="5357829" y="1975467"/>
            <a:ext cx="576103" cy="547525"/>
            <a:chOff x="7717133" y="1969477"/>
            <a:chExt cx="576103" cy="492369"/>
          </a:xfrm>
        </p:grpSpPr>
        <p:cxnSp>
          <p:nvCxnSpPr>
            <p:cNvPr id="20" name="直接连接符 19">
              <a:extLst>
                <a:ext uri="{FF2B5EF4-FFF2-40B4-BE49-F238E27FC236}">
                  <a16:creationId xmlns:a16="http://schemas.microsoft.com/office/drawing/2014/main" id="{69D4C2AA-E260-E477-26B9-418B62E66C7E}"/>
                </a:ext>
              </a:extLst>
            </p:cNvPr>
            <p:cNvCxnSpPr>
              <a:cxnSpLocks/>
            </p:cNvCxnSpPr>
            <p:nvPr/>
          </p:nvCxnSpPr>
          <p:spPr>
            <a:xfrm>
              <a:off x="7767376" y="1969477"/>
              <a:ext cx="0" cy="391886"/>
            </a:xfrm>
            <a:prstGeom prst="line">
              <a:avLst/>
            </a:prstGeom>
            <a:ln w="254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矩形 20">
              <a:extLst>
                <a:ext uri="{FF2B5EF4-FFF2-40B4-BE49-F238E27FC236}">
                  <a16:creationId xmlns:a16="http://schemas.microsoft.com/office/drawing/2014/main" id="{786E1627-0B14-FC1B-95FA-6CF7AA8A56F9}"/>
                </a:ext>
              </a:extLst>
            </p:cNvPr>
            <p:cNvSpPr/>
            <p:nvPr/>
          </p:nvSpPr>
          <p:spPr>
            <a:xfrm>
              <a:off x="7717133" y="2250831"/>
              <a:ext cx="90435" cy="211015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" name="矩形 21">
              <a:extLst>
                <a:ext uri="{FF2B5EF4-FFF2-40B4-BE49-F238E27FC236}">
                  <a16:creationId xmlns:a16="http://schemas.microsoft.com/office/drawing/2014/main" id="{78CA7B4B-35DB-C586-4C92-32C3E9A4E012}"/>
                </a:ext>
              </a:extLst>
            </p:cNvPr>
            <p:cNvSpPr/>
            <p:nvPr/>
          </p:nvSpPr>
          <p:spPr>
            <a:xfrm>
              <a:off x="7857811" y="2145323"/>
              <a:ext cx="90435" cy="211015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矩形 22">
              <a:extLst>
                <a:ext uri="{FF2B5EF4-FFF2-40B4-BE49-F238E27FC236}">
                  <a16:creationId xmlns:a16="http://schemas.microsoft.com/office/drawing/2014/main" id="{39AF5EC0-55F6-E184-4A25-422241F199C8}"/>
                </a:ext>
              </a:extLst>
            </p:cNvPr>
            <p:cNvSpPr/>
            <p:nvPr/>
          </p:nvSpPr>
          <p:spPr>
            <a:xfrm>
              <a:off x="7985089" y="2078268"/>
              <a:ext cx="90435" cy="211015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24" name="直接箭头连接符 23">
              <a:extLst>
                <a:ext uri="{FF2B5EF4-FFF2-40B4-BE49-F238E27FC236}">
                  <a16:creationId xmlns:a16="http://schemas.microsoft.com/office/drawing/2014/main" id="{77DD33FA-1E14-361B-C0A3-41783D03A76A}"/>
                </a:ext>
              </a:extLst>
            </p:cNvPr>
            <p:cNvCxnSpPr>
              <a:cxnSpLocks/>
            </p:cNvCxnSpPr>
            <p:nvPr/>
          </p:nvCxnSpPr>
          <p:spPr>
            <a:xfrm>
              <a:off x="8100644" y="2080780"/>
              <a:ext cx="192592" cy="18888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11" name="表格 10">
            <a:extLst>
              <a:ext uri="{FF2B5EF4-FFF2-40B4-BE49-F238E27FC236}">
                <a16:creationId xmlns:a16="http://schemas.microsoft.com/office/drawing/2014/main" id="{C533180D-C0A3-F4F3-B2D1-288CFD357D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3505727"/>
              </p:ext>
            </p:extLst>
          </p:nvPr>
        </p:nvGraphicFramePr>
        <p:xfrm>
          <a:off x="0" y="722746"/>
          <a:ext cx="6104090" cy="3718560"/>
        </p:xfrm>
        <a:graphic>
          <a:graphicData uri="http://schemas.openxmlformats.org/drawingml/2006/table">
            <a:tbl>
              <a:tblPr firstRow="1" bandRow="1">
                <a:tableStyleId>{BC89EF96-8CEA-46FF-86C4-4CE0E7609802}</a:tableStyleId>
              </a:tblPr>
              <a:tblGrid>
                <a:gridCol w="933513">
                  <a:extLst>
                    <a:ext uri="{9D8B030D-6E8A-4147-A177-3AD203B41FA5}">
                      <a16:colId xmlns:a16="http://schemas.microsoft.com/office/drawing/2014/main" val="5071425"/>
                    </a:ext>
                  </a:extLst>
                </a:gridCol>
                <a:gridCol w="5170577">
                  <a:extLst>
                    <a:ext uri="{9D8B030D-6E8A-4147-A177-3AD203B41FA5}">
                      <a16:colId xmlns:a16="http://schemas.microsoft.com/office/drawing/2014/main" val="1780964093"/>
                    </a:ext>
                  </a:extLst>
                </a:gridCol>
              </a:tblGrid>
              <a:tr h="117579">
                <a:tc gridSpan="2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反例：最后一柱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9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61463636"/>
                  </a:ext>
                </a:extLst>
              </a:tr>
              <a:tr h="184767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“最后一柱”的作用：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柱排规律：“最后一柱”，虽然符合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之上升排，但已代表主升结束。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延续性：只要不是最后一柱，且处于主升区域，都可备选进行下柱冲高。</a:t>
                      </a:r>
                      <a:endParaRPr lang="en-US" altLang="zh-CN" sz="800" b="0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中止性：主升遇到最后一柱，代表前一波主升趋势的停止，其后转入，震荡或开启下一波主升。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注意，不一定是最高点，而是主升浪的结束。</a:t>
                      </a:r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64876545"/>
                  </a:ext>
                </a:extLst>
              </a:tr>
              <a:tr h="136242">
                <a:tc rowSpan="4"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“最后一柱”的特征：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主要包括三类，逐步放大、逐步缩小、由阳转阴。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0703877"/>
                  </a:ext>
                </a:extLst>
              </a:tr>
              <a:tr h="235158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8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逐步放大模式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连阳之后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巨阳柱：可止盈并不再持仓。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巨阳（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&gt;20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巨阳后走平（小阳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十字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小阴）。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3+)(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孕阴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)(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大阳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：连阳后的阴柱，最后冲高，预示最后冲高后结束主升。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连阳之后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逐步放大：上冲过猛，可能转为锐角下跌。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连阳之后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上影线小柱：可止盈并不再持仓，代表趋势衰竭。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连阳之后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高开悬阴柱：可获利并不再持仓。实际如果是孕阴，很可能下柱冲高。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中阳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)(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十字星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)(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中阳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：其后可能形成阴柱。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0197641"/>
                  </a:ext>
                </a:extLst>
              </a:tr>
              <a:tr h="285549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逐步缩小模式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连阳之后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小阳柱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十字星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小阴柱：连阳柱体逐步缩小，代表升势衰竭。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连阳之后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长下影线小柱（下影线包含于前柱内部）：很可能属于趋势尾部，开始下跌。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（中阳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十字星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中阳）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长下影小柱：下探后恢复，但主力很可能已逃跑，进入震荡。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连阳之后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先上影再下影：代表升势衰竭。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695473"/>
                  </a:ext>
                </a:extLst>
              </a:tr>
              <a:tr h="386331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由阳转阴模式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代表原升势停止。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由连阳逐步转为阴阳相间：当单阳或连阳夹在两个阴柱之间，可能表示已见顶，即将转跌。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连阳后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单阴（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跌吞）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	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⇒见顶转跌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连阳后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单阴（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跌吞） 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	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⇒见顶转跌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跌吞：连阳之后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单巨阴柱下破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，代表趋势完全逆转。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久丘后四柱栅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：连阳之后出现跌连，必然是升势终结。</a:t>
                      </a:r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6988385"/>
                  </a:ext>
                </a:extLst>
              </a:tr>
            </a:tbl>
          </a:graphicData>
        </a:graphic>
      </p:graphicFrame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8139E4D5-B407-A1F0-6056-0343CEA8A5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1627976"/>
              </p:ext>
            </p:extLst>
          </p:nvPr>
        </p:nvGraphicFramePr>
        <p:xfrm>
          <a:off x="0" y="5733108"/>
          <a:ext cx="6104090" cy="1127760"/>
        </p:xfrm>
        <a:graphic>
          <a:graphicData uri="http://schemas.openxmlformats.org/drawingml/2006/table">
            <a:tbl>
              <a:tblPr firstRow="1" bandRow="1">
                <a:tableStyleId>{BC89EF96-8CEA-46FF-86C4-4CE0E7609802}</a:tableStyleId>
              </a:tblPr>
              <a:tblGrid>
                <a:gridCol w="933513">
                  <a:extLst>
                    <a:ext uri="{9D8B030D-6E8A-4147-A177-3AD203B41FA5}">
                      <a16:colId xmlns:a16="http://schemas.microsoft.com/office/drawing/2014/main" val="5071425"/>
                    </a:ext>
                  </a:extLst>
                </a:gridCol>
                <a:gridCol w="5170577">
                  <a:extLst>
                    <a:ext uri="{9D8B030D-6E8A-4147-A177-3AD203B41FA5}">
                      <a16:colId xmlns:a16="http://schemas.microsoft.com/office/drawing/2014/main" val="1780964093"/>
                    </a:ext>
                  </a:extLst>
                </a:gridCol>
              </a:tblGrid>
              <a:tr h="117579">
                <a:tc gridSpan="2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反例：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升排失势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9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61463636"/>
                  </a:ext>
                </a:extLst>
              </a:tr>
              <a:tr h="136242">
                <a:tc rowSpan="2"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“升排失势”的特征：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震荡后的升排，前期包括冲高回落至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，长上影等情况，出现升排失势的反例。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配合日类可见主升已结束。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0703877"/>
                  </a:ext>
                </a:extLst>
              </a:tr>
              <a:tr h="235158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8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大阳后大阴回到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，继续连阳，接近前高是顶部。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长上影阳柱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后连阳，接近前高是顶部。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连阳后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长上影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：代表不再紧贴上沿，很可能脱轨。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连阳后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长下影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：代表已出现离场仓位，后力不足。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0197641"/>
                  </a:ext>
                </a:extLst>
              </a:tr>
            </a:tbl>
          </a:graphicData>
        </a:graphic>
      </p:graphicFrame>
      <p:pic>
        <p:nvPicPr>
          <p:cNvPr id="6" name="图片 5">
            <a:extLst>
              <a:ext uri="{FF2B5EF4-FFF2-40B4-BE49-F238E27FC236}">
                <a16:creationId xmlns:a16="http://schemas.microsoft.com/office/drawing/2014/main" id="{8F5CBAA7-8B48-2D4C-1418-7D8894E60EF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10128" y="5659306"/>
            <a:ext cx="3390900" cy="1168577"/>
          </a:xfrm>
          <a:prstGeom prst="rect">
            <a:avLst/>
          </a:prstGeom>
        </p:spPr>
      </p:pic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3D56BA0B-E5FD-0F99-A206-E844C66DB47C}"/>
              </a:ext>
            </a:extLst>
          </p:cNvPr>
          <p:cNvGraphicFramePr>
            <a:graphicFrameLocks noGrp="1"/>
          </p:cNvGraphicFramePr>
          <p:nvPr/>
        </p:nvGraphicFramePr>
        <p:xfrm>
          <a:off x="6104090" y="716396"/>
          <a:ext cx="6087910" cy="3069816"/>
        </p:xfrm>
        <a:graphic>
          <a:graphicData uri="http://schemas.openxmlformats.org/drawingml/2006/table">
            <a:tbl>
              <a:tblPr firstRow="1" bandRow="1">
                <a:tableStyleId>{8A107856-5554-42FB-B03E-39F5DBC370BA}</a:tableStyleId>
              </a:tblPr>
              <a:tblGrid>
                <a:gridCol w="6087910">
                  <a:extLst>
                    <a:ext uri="{9D8B030D-6E8A-4147-A177-3AD203B41FA5}">
                      <a16:colId xmlns:a16="http://schemas.microsoft.com/office/drawing/2014/main" val="717493049"/>
                    </a:ext>
                  </a:extLst>
                </a:gridCol>
              </a:tblGrid>
              <a:tr h="32752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下柱失败典型情况汇总：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针对问题：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之上，什么情况下，会出现下周失败（高幅＜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）？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遍历后，总结为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下周失败模型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，并作为提前退出条件。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4860940"/>
                  </a:ext>
                </a:extLst>
              </a:tr>
              <a:tr h="26565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梯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连阳后的失败情况：参考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最后一柱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》《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升排失势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5497019"/>
                  </a:ext>
                </a:extLst>
              </a:tr>
              <a:tr h="938895"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栏栅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调整后的失败情况：栏栅的下柱都会冲高，但（是否收阳柱）（是否后续为连阳）不一定成立。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跌孕：（阴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阳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阴）后可能转为下跌。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跌孕：（阴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阳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阴）随后可能转向下跌。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（跌吞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升孕）：可能转为下跌趋势。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跌连：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极少情况：随后立刻进入连阳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多数情况：有主升转为震荡或下跌⇒要等待出现（升连）或（启动结构）再介入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三连跌：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一段拉升后，出现三连跌后下破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，很可能已逆转为跌势。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一段拉升后，出现三连跌后，出现单阳柱或多个小阳柱反弹，再次下破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，很可能已逆转为跌势。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5745979"/>
                  </a:ext>
                </a:extLst>
              </a:tr>
              <a:tr h="414860"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之下：暂下破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由于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压制导致下柱高幅较小。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后很可能快速下跌。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因素：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WTZA=-1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首下破，有可能会再次站上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；针对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，已沿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形成趋势。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7515184"/>
                  </a:ext>
                </a:extLst>
              </a:tr>
              <a:tr h="327521"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枝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突破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后的失败情况：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单鼎上破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：特别是当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纠缠时，很可能失败。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要等待第二柱确认（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回踩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升连）⇒要明确突破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很可能是假突破。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5288584"/>
                  </a:ext>
                </a:extLst>
              </a:tr>
            </a:tbl>
          </a:graphicData>
        </a:graphic>
      </p:graphicFrame>
      <p:grpSp>
        <p:nvGrpSpPr>
          <p:cNvPr id="7" name="组合 6">
            <a:extLst>
              <a:ext uri="{FF2B5EF4-FFF2-40B4-BE49-F238E27FC236}">
                <a16:creationId xmlns:a16="http://schemas.microsoft.com/office/drawing/2014/main" id="{29FA9F15-816A-FB37-D9C7-16AC4E44717A}"/>
              </a:ext>
            </a:extLst>
          </p:cNvPr>
          <p:cNvGrpSpPr/>
          <p:nvPr/>
        </p:nvGrpSpPr>
        <p:grpSpPr>
          <a:xfrm>
            <a:off x="5451231" y="1885406"/>
            <a:ext cx="253999" cy="576308"/>
            <a:chOff x="5636909" y="1138845"/>
            <a:chExt cx="253999" cy="576308"/>
          </a:xfrm>
        </p:grpSpPr>
        <p:sp>
          <p:nvSpPr>
            <p:cNvPr id="8" name="矩形 7">
              <a:extLst>
                <a:ext uri="{FF2B5EF4-FFF2-40B4-BE49-F238E27FC236}">
                  <a16:creationId xmlns:a16="http://schemas.microsoft.com/office/drawing/2014/main" id="{76A9D90F-72A7-477D-7683-DC00F485BD79}"/>
                </a:ext>
              </a:extLst>
            </p:cNvPr>
            <p:cNvSpPr/>
            <p:nvPr/>
          </p:nvSpPr>
          <p:spPr>
            <a:xfrm>
              <a:off x="5727798" y="1440332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8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矩形 9">
              <a:extLst>
                <a:ext uri="{FF2B5EF4-FFF2-40B4-BE49-F238E27FC236}">
                  <a16:creationId xmlns:a16="http://schemas.microsoft.com/office/drawing/2014/main" id="{0E632D0C-ECEF-554C-F5E9-56EC5CD9D5F8}"/>
                </a:ext>
              </a:extLst>
            </p:cNvPr>
            <p:cNvSpPr/>
            <p:nvPr/>
          </p:nvSpPr>
          <p:spPr>
            <a:xfrm>
              <a:off x="5636909" y="1535153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8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5" name="直接连接符 14">
              <a:extLst>
                <a:ext uri="{FF2B5EF4-FFF2-40B4-BE49-F238E27FC236}">
                  <a16:creationId xmlns:a16="http://schemas.microsoft.com/office/drawing/2014/main" id="{033FB326-9F6D-0B15-CCB4-916268DE6C42}"/>
                </a:ext>
              </a:extLst>
            </p:cNvPr>
            <p:cNvCxnSpPr>
              <a:cxnSpLocks/>
            </p:cNvCxnSpPr>
            <p:nvPr/>
          </p:nvCxnSpPr>
          <p:spPr>
            <a:xfrm>
              <a:off x="5860472" y="1138845"/>
              <a:ext cx="0" cy="334739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接连接符 11">
              <a:extLst>
                <a:ext uri="{FF2B5EF4-FFF2-40B4-BE49-F238E27FC236}">
                  <a16:creationId xmlns:a16="http://schemas.microsoft.com/office/drawing/2014/main" id="{5604C087-4A44-A55B-5738-122CB10428E6}"/>
                </a:ext>
              </a:extLst>
            </p:cNvPr>
            <p:cNvCxnSpPr>
              <a:cxnSpLocks/>
            </p:cNvCxnSpPr>
            <p:nvPr/>
          </p:nvCxnSpPr>
          <p:spPr>
            <a:xfrm>
              <a:off x="5818908" y="1415393"/>
              <a:ext cx="72000" cy="0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组合 25">
            <a:extLst>
              <a:ext uri="{FF2B5EF4-FFF2-40B4-BE49-F238E27FC236}">
                <a16:creationId xmlns:a16="http://schemas.microsoft.com/office/drawing/2014/main" id="{6DD17FDA-5AF3-ACD6-B3CE-E73CEE2F8E6C}"/>
              </a:ext>
            </a:extLst>
          </p:cNvPr>
          <p:cNvGrpSpPr/>
          <p:nvPr/>
        </p:nvGrpSpPr>
        <p:grpSpPr>
          <a:xfrm>
            <a:off x="5763803" y="2080102"/>
            <a:ext cx="312387" cy="396308"/>
            <a:chOff x="11120182" y="5783484"/>
            <a:chExt cx="312387" cy="396308"/>
          </a:xfrm>
        </p:grpSpPr>
        <p:sp>
          <p:nvSpPr>
            <p:cNvPr id="34" name="矩形 33">
              <a:extLst>
                <a:ext uri="{FF2B5EF4-FFF2-40B4-BE49-F238E27FC236}">
                  <a16:creationId xmlns:a16="http://schemas.microsoft.com/office/drawing/2014/main" id="{F6038170-C416-F971-D42B-B9E67F13F73A}"/>
                </a:ext>
              </a:extLst>
            </p:cNvPr>
            <p:cNvSpPr/>
            <p:nvPr/>
          </p:nvSpPr>
          <p:spPr>
            <a:xfrm>
              <a:off x="11211071" y="5904971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8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矩形 28">
              <a:extLst>
                <a:ext uri="{FF2B5EF4-FFF2-40B4-BE49-F238E27FC236}">
                  <a16:creationId xmlns:a16="http://schemas.microsoft.com/office/drawing/2014/main" id="{FE28C135-0075-DB89-EE1E-AA01E2B0C1AD}"/>
                </a:ext>
              </a:extLst>
            </p:cNvPr>
            <p:cNvSpPr/>
            <p:nvPr/>
          </p:nvSpPr>
          <p:spPr>
            <a:xfrm>
              <a:off x="11120182" y="5999792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8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矩形 37">
              <a:extLst>
                <a:ext uri="{FF2B5EF4-FFF2-40B4-BE49-F238E27FC236}">
                  <a16:creationId xmlns:a16="http://schemas.microsoft.com/office/drawing/2014/main" id="{962C9FFC-C949-A016-4934-BC5AEE466901}"/>
                </a:ext>
              </a:extLst>
            </p:cNvPr>
            <p:cNvSpPr/>
            <p:nvPr/>
          </p:nvSpPr>
          <p:spPr>
            <a:xfrm>
              <a:off x="11283071" y="5827053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8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矩形 29">
              <a:extLst>
                <a:ext uri="{FF2B5EF4-FFF2-40B4-BE49-F238E27FC236}">
                  <a16:creationId xmlns:a16="http://schemas.microsoft.com/office/drawing/2014/main" id="{3D33A829-A360-570A-F931-865FAAAC952A}"/>
                </a:ext>
              </a:extLst>
            </p:cNvPr>
            <p:cNvSpPr/>
            <p:nvPr/>
          </p:nvSpPr>
          <p:spPr>
            <a:xfrm>
              <a:off x="11360569" y="5783484"/>
              <a:ext cx="72000" cy="3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8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2" name="组合 31">
            <a:extLst>
              <a:ext uri="{FF2B5EF4-FFF2-40B4-BE49-F238E27FC236}">
                <a16:creationId xmlns:a16="http://schemas.microsoft.com/office/drawing/2014/main" id="{2C1334DE-FFF7-F8C7-A500-AF39B8CEF931}"/>
              </a:ext>
            </a:extLst>
          </p:cNvPr>
          <p:cNvGrpSpPr/>
          <p:nvPr/>
        </p:nvGrpSpPr>
        <p:grpSpPr>
          <a:xfrm>
            <a:off x="5485108" y="2594753"/>
            <a:ext cx="508992" cy="356032"/>
            <a:chOff x="11828500" y="5836939"/>
            <a:chExt cx="508992" cy="356032"/>
          </a:xfrm>
        </p:grpSpPr>
        <p:sp>
          <p:nvSpPr>
            <p:cNvPr id="33" name="矩形 32">
              <a:extLst>
                <a:ext uri="{FF2B5EF4-FFF2-40B4-BE49-F238E27FC236}">
                  <a16:creationId xmlns:a16="http://schemas.microsoft.com/office/drawing/2014/main" id="{148D6ED2-83C1-8E0C-171E-8A3D46A3BCEA}"/>
                </a:ext>
              </a:extLst>
            </p:cNvPr>
            <p:cNvSpPr/>
            <p:nvPr/>
          </p:nvSpPr>
          <p:spPr>
            <a:xfrm>
              <a:off x="12171833" y="5863053"/>
              <a:ext cx="72000" cy="3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8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矩形 48">
              <a:extLst>
                <a:ext uri="{FF2B5EF4-FFF2-40B4-BE49-F238E27FC236}">
                  <a16:creationId xmlns:a16="http://schemas.microsoft.com/office/drawing/2014/main" id="{4C94B9C1-590D-43B9-DE32-84432C067845}"/>
                </a:ext>
              </a:extLst>
            </p:cNvPr>
            <p:cNvSpPr/>
            <p:nvPr/>
          </p:nvSpPr>
          <p:spPr>
            <a:xfrm>
              <a:off x="11828500" y="6012971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8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矩形 35">
              <a:extLst>
                <a:ext uri="{FF2B5EF4-FFF2-40B4-BE49-F238E27FC236}">
                  <a16:creationId xmlns:a16="http://schemas.microsoft.com/office/drawing/2014/main" id="{85364BDA-FCA0-744B-E63C-1EDC8B0E004E}"/>
                </a:ext>
              </a:extLst>
            </p:cNvPr>
            <p:cNvSpPr/>
            <p:nvPr/>
          </p:nvSpPr>
          <p:spPr>
            <a:xfrm>
              <a:off x="11914803" y="5963638"/>
              <a:ext cx="72000" cy="108000"/>
            </a:xfrm>
            <a:prstGeom prst="rect">
              <a:avLst/>
            </a:prstGeom>
            <a:solidFill>
              <a:schemeClr val="accent6">
                <a:lumMod val="5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8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矩形 36">
              <a:extLst>
                <a:ext uri="{FF2B5EF4-FFF2-40B4-BE49-F238E27FC236}">
                  <a16:creationId xmlns:a16="http://schemas.microsoft.com/office/drawing/2014/main" id="{C2F85328-DAD2-2EDB-D7BC-7E85FD4C2D3F}"/>
                </a:ext>
              </a:extLst>
            </p:cNvPr>
            <p:cNvSpPr/>
            <p:nvPr/>
          </p:nvSpPr>
          <p:spPr>
            <a:xfrm>
              <a:off x="12001106" y="5922971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8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矩形 38">
              <a:extLst>
                <a:ext uri="{FF2B5EF4-FFF2-40B4-BE49-F238E27FC236}">
                  <a16:creationId xmlns:a16="http://schemas.microsoft.com/office/drawing/2014/main" id="{2EECC469-091C-C490-52F1-7909B568235A}"/>
                </a:ext>
              </a:extLst>
            </p:cNvPr>
            <p:cNvSpPr/>
            <p:nvPr/>
          </p:nvSpPr>
          <p:spPr>
            <a:xfrm>
              <a:off x="12093000" y="5873638"/>
              <a:ext cx="72000" cy="108000"/>
            </a:xfrm>
            <a:prstGeom prst="rect">
              <a:avLst/>
            </a:prstGeom>
            <a:solidFill>
              <a:schemeClr val="accent6">
                <a:lumMod val="5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8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矩形 52">
              <a:extLst>
                <a:ext uri="{FF2B5EF4-FFF2-40B4-BE49-F238E27FC236}">
                  <a16:creationId xmlns:a16="http://schemas.microsoft.com/office/drawing/2014/main" id="{19B1C0F8-E7C3-47F1-D273-8244DA01DBCF}"/>
                </a:ext>
              </a:extLst>
            </p:cNvPr>
            <p:cNvSpPr/>
            <p:nvPr/>
          </p:nvSpPr>
          <p:spPr>
            <a:xfrm>
              <a:off x="12265492" y="5836939"/>
              <a:ext cx="72000" cy="3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8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8881449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7973FB-C58D-43E1-A48D-3034CC5B86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标题 1">
            <a:extLst>
              <a:ext uri="{FF2B5EF4-FFF2-40B4-BE49-F238E27FC236}">
                <a16:creationId xmlns:a16="http://schemas.microsoft.com/office/drawing/2014/main" id="{57ED8B74-1A08-2CAB-EBEF-CC7B1B033AC5}"/>
              </a:ext>
            </a:extLst>
          </p:cNvPr>
          <p:cNvSpPr txBox="1">
            <a:spLocks/>
          </p:cNvSpPr>
          <p:nvPr/>
        </p:nvSpPr>
        <p:spPr>
          <a:xfrm>
            <a:off x="0" y="-17942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】&lt;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地型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.1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栏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/2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栅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调整结构 </a:t>
            </a:r>
            <a:endParaRPr lang="en-US" altLang="zh-CN" sz="2800" b="1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主题：总结主升趋势中的调整结构。总结经典图形，特别是四柱栅的各种变体。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矩形 50">
            <a:extLst>
              <a:ext uri="{FF2B5EF4-FFF2-40B4-BE49-F238E27FC236}">
                <a16:creationId xmlns:a16="http://schemas.microsoft.com/office/drawing/2014/main" id="{BD1C7D70-4005-8E28-E286-1235EF98DB1F}"/>
              </a:ext>
            </a:extLst>
          </p:cNvPr>
          <p:cNvSpPr/>
          <p:nvPr/>
        </p:nvSpPr>
        <p:spPr>
          <a:xfrm>
            <a:off x="4519211" y="1232037"/>
            <a:ext cx="72000" cy="21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7" name="文本框 66">
            <a:extLst>
              <a:ext uri="{FF2B5EF4-FFF2-40B4-BE49-F238E27FC236}">
                <a16:creationId xmlns:a16="http://schemas.microsoft.com/office/drawing/2014/main" id="{F08A0349-A6E1-4DC8-66AF-6FFF1C2FD597}"/>
              </a:ext>
            </a:extLst>
          </p:cNvPr>
          <p:cNvSpPr txBox="1"/>
          <p:nvPr/>
        </p:nvSpPr>
        <p:spPr>
          <a:xfrm>
            <a:off x="4171109" y="668264"/>
            <a:ext cx="139653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调整形态：单个悬阴</a:t>
            </a:r>
          </a:p>
        </p:txBody>
      </p:sp>
      <p:sp>
        <p:nvSpPr>
          <p:cNvPr id="68" name="矩形 67">
            <a:extLst>
              <a:ext uri="{FF2B5EF4-FFF2-40B4-BE49-F238E27FC236}">
                <a16:creationId xmlns:a16="http://schemas.microsoft.com/office/drawing/2014/main" id="{B3756AD6-B4A6-9A87-2C75-F00DC095B793}"/>
              </a:ext>
            </a:extLst>
          </p:cNvPr>
          <p:cNvSpPr/>
          <p:nvPr/>
        </p:nvSpPr>
        <p:spPr>
          <a:xfrm>
            <a:off x="4652028" y="1215286"/>
            <a:ext cx="72000" cy="72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9" name="矩形 68">
            <a:extLst>
              <a:ext uri="{FF2B5EF4-FFF2-40B4-BE49-F238E27FC236}">
                <a16:creationId xmlns:a16="http://schemas.microsoft.com/office/drawing/2014/main" id="{510A3EDF-DC69-563E-3357-10F089AE820C}"/>
              </a:ext>
            </a:extLst>
          </p:cNvPr>
          <p:cNvSpPr/>
          <p:nvPr/>
        </p:nvSpPr>
        <p:spPr>
          <a:xfrm>
            <a:off x="4779329" y="1141771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0" name="矩形 69">
            <a:extLst>
              <a:ext uri="{FF2B5EF4-FFF2-40B4-BE49-F238E27FC236}">
                <a16:creationId xmlns:a16="http://schemas.microsoft.com/office/drawing/2014/main" id="{75E132C4-542F-4295-9310-F01F05D7348A}"/>
              </a:ext>
            </a:extLst>
          </p:cNvPr>
          <p:cNvSpPr/>
          <p:nvPr/>
        </p:nvSpPr>
        <p:spPr>
          <a:xfrm>
            <a:off x="4902136" y="1090010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1" name="矩形 70">
            <a:extLst>
              <a:ext uri="{FF2B5EF4-FFF2-40B4-BE49-F238E27FC236}">
                <a16:creationId xmlns:a16="http://schemas.microsoft.com/office/drawing/2014/main" id="{A40ED77A-F873-D440-A3C2-C823E0C19127}"/>
              </a:ext>
            </a:extLst>
          </p:cNvPr>
          <p:cNvSpPr/>
          <p:nvPr/>
        </p:nvSpPr>
        <p:spPr>
          <a:xfrm>
            <a:off x="5022789" y="1012855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矩形 71">
            <a:extLst>
              <a:ext uri="{FF2B5EF4-FFF2-40B4-BE49-F238E27FC236}">
                <a16:creationId xmlns:a16="http://schemas.microsoft.com/office/drawing/2014/main" id="{8BF305DD-3590-959D-A661-54C24568543F}"/>
              </a:ext>
            </a:extLst>
          </p:cNvPr>
          <p:cNvSpPr/>
          <p:nvPr/>
        </p:nvSpPr>
        <p:spPr>
          <a:xfrm>
            <a:off x="5146282" y="993831"/>
            <a:ext cx="72000" cy="72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" name="矩形 72">
            <a:extLst>
              <a:ext uri="{FF2B5EF4-FFF2-40B4-BE49-F238E27FC236}">
                <a16:creationId xmlns:a16="http://schemas.microsoft.com/office/drawing/2014/main" id="{46128C33-8C2A-5C7C-4F76-3363F7E8EE5D}"/>
              </a:ext>
            </a:extLst>
          </p:cNvPr>
          <p:cNvSpPr/>
          <p:nvPr/>
        </p:nvSpPr>
        <p:spPr>
          <a:xfrm>
            <a:off x="5268777" y="960758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4" name="矩形 73">
            <a:extLst>
              <a:ext uri="{FF2B5EF4-FFF2-40B4-BE49-F238E27FC236}">
                <a16:creationId xmlns:a16="http://schemas.microsoft.com/office/drawing/2014/main" id="{9A921B55-5A82-96B7-A7D3-A66EA776507F}"/>
              </a:ext>
            </a:extLst>
          </p:cNvPr>
          <p:cNvSpPr/>
          <p:nvPr/>
        </p:nvSpPr>
        <p:spPr>
          <a:xfrm>
            <a:off x="5397963" y="937413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5" name="矩形 74">
            <a:extLst>
              <a:ext uri="{FF2B5EF4-FFF2-40B4-BE49-F238E27FC236}">
                <a16:creationId xmlns:a16="http://schemas.microsoft.com/office/drawing/2014/main" id="{385FFBF9-C8C7-AA4A-D99C-6ACDD5F9D9A4}"/>
              </a:ext>
            </a:extLst>
          </p:cNvPr>
          <p:cNvSpPr/>
          <p:nvPr/>
        </p:nvSpPr>
        <p:spPr>
          <a:xfrm>
            <a:off x="5527230" y="883413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6" name="矩形 75">
            <a:extLst>
              <a:ext uri="{FF2B5EF4-FFF2-40B4-BE49-F238E27FC236}">
                <a16:creationId xmlns:a16="http://schemas.microsoft.com/office/drawing/2014/main" id="{300CFC04-22BA-42B1-ACF6-BDD758896D0A}"/>
              </a:ext>
            </a:extLst>
          </p:cNvPr>
          <p:cNvSpPr/>
          <p:nvPr/>
        </p:nvSpPr>
        <p:spPr>
          <a:xfrm>
            <a:off x="5665547" y="877584"/>
            <a:ext cx="72000" cy="180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文本框 77">
            <a:extLst>
              <a:ext uri="{FF2B5EF4-FFF2-40B4-BE49-F238E27FC236}">
                <a16:creationId xmlns:a16="http://schemas.microsoft.com/office/drawing/2014/main" id="{C1F84CD4-C0E2-9C3E-357F-285287356AD1}"/>
              </a:ext>
            </a:extLst>
          </p:cNvPr>
          <p:cNvSpPr txBox="1"/>
          <p:nvPr/>
        </p:nvSpPr>
        <p:spPr>
          <a:xfrm>
            <a:off x="4193110" y="1438336"/>
            <a:ext cx="197361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调整形态：十字星（最多五柱）</a:t>
            </a:r>
          </a:p>
        </p:txBody>
      </p:sp>
      <p:cxnSp>
        <p:nvCxnSpPr>
          <p:cNvPr id="89" name="直接连接符 88">
            <a:extLst>
              <a:ext uri="{FF2B5EF4-FFF2-40B4-BE49-F238E27FC236}">
                <a16:creationId xmlns:a16="http://schemas.microsoft.com/office/drawing/2014/main" id="{CC349B30-2422-22FB-1A63-3CC739B71100}"/>
              </a:ext>
            </a:extLst>
          </p:cNvPr>
          <p:cNvCxnSpPr>
            <a:cxnSpLocks/>
          </p:cNvCxnSpPr>
          <p:nvPr/>
        </p:nvCxnSpPr>
        <p:spPr>
          <a:xfrm flipV="1">
            <a:off x="4415024" y="1902590"/>
            <a:ext cx="1438209" cy="133066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矩形 89">
            <a:extLst>
              <a:ext uri="{FF2B5EF4-FFF2-40B4-BE49-F238E27FC236}">
                <a16:creationId xmlns:a16="http://schemas.microsoft.com/office/drawing/2014/main" id="{1320BF31-3D4B-023D-695F-321A3DAE1523}"/>
              </a:ext>
            </a:extLst>
          </p:cNvPr>
          <p:cNvSpPr/>
          <p:nvPr/>
        </p:nvSpPr>
        <p:spPr>
          <a:xfrm>
            <a:off x="4613175" y="1972034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2" name="矩形 91">
            <a:extLst>
              <a:ext uri="{FF2B5EF4-FFF2-40B4-BE49-F238E27FC236}">
                <a16:creationId xmlns:a16="http://schemas.microsoft.com/office/drawing/2014/main" id="{055F32FD-217C-92B4-90E7-D06955D33010}"/>
              </a:ext>
            </a:extLst>
          </p:cNvPr>
          <p:cNvSpPr/>
          <p:nvPr/>
        </p:nvSpPr>
        <p:spPr>
          <a:xfrm>
            <a:off x="4728741" y="1930749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3" name="矩形 92">
            <a:extLst>
              <a:ext uri="{FF2B5EF4-FFF2-40B4-BE49-F238E27FC236}">
                <a16:creationId xmlns:a16="http://schemas.microsoft.com/office/drawing/2014/main" id="{2D03A259-4528-0F6D-DC40-8AF10494545F}"/>
              </a:ext>
            </a:extLst>
          </p:cNvPr>
          <p:cNvSpPr/>
          <p:nvPr/>
        </p:nvSpPr>
        <p:spPr>
          <a:xfrm>
            <a:off x="4858104" y="1768346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矩形 93">
            <a:extLst>
              <a:ext uri="{FF2B5EF4-FFF2-40B4-BE49-F238E27FC236}">
                <a16:creationId xmlns:a16="http://schemas.microsoft.com/office/drawing/2014/main" id="{79E37D58-646D-7546-8ED9-C349085B88CD}"/>
              </a:ext>
            </a:extLst>
          </p:cNvPr>
          <p:cNvSpPr/>
          <p:nvPr/>
        </p:nvSpPr>
        <p:spPr>
          <a:xfrm>
            <a:off x="5255010" y="1902590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矩形 94">
            <a:extLst>
              <a:ext uri="{FF2B5EF4-FFF2-40B4-BE49-F238E27FC236}">
                <a16:creationId xmlns:a16="http://schemas.microsoft.com/office/drawing/2014/main" id="{D5ABC8B9-F89B-6787-FEF2-87BD79CB5089}"/>
              </a:ext>
            </a:extLst>
          </p:cNvPr>
          <p:cNvSpPr/>
          <p:nvPr/>
        </p:nvSpPr>
        <p:spPr>
          <a:xfrm>
            <a:off x="5373583" y="1879887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6" name="矩形 95">
            <a:extLst>
              <a:ext uri="{FF2B5EF4-FFF2-40B4-BE49-F238E27FC236}">
                <a16:creationId xmlns:a16="http://schemas.microsoft.com/office/drawing/2014/main" id="{64A0AE96-86D9-3C7D-7E4C-8AAC41A0B7D8}"/>
              </a:ext>
            </a:extLst>
          </p:cNvPr>
          <p:cNvSpPr/>
          <p:nvPr/>
        </p:nvSpPr>
        <p:spPr>
          <a:xfrm>
            <a:off x="5507736" y="1861305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矩形 96">
            <a:extLst>
              <a:ext uri="{FF2B5EF4-FFF2-40B4-BE49-F238E27FC236}">
                <a16:creationId xmlns:a16="http://schemas.microsoft.com/office/drawing/2014/main" id="{56E4A8C3-F67C-8EFA-A7DC-6EE53F0DFEBA}"/>
              </a:ext>
            </a:extLst>
          </p:cNvPr>
          <p:cNvSpPr/>
          <p:nvPr/>
        </p:nvSpPr>
        <p:spPr>
          <a:xfrm>
            <a:off x="5637099" y="1698902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8" name="文本框 97">
            <a:extLst>
              <a:ext uri="{FF2B5EF4-FFF2-40B4-BE49-F238E27FC236}">
                <a16:creationId xmlns:a16="http://schemas.microsoft.com/office/drawing/2014/main" id="{8C4C35F0-AB49-F9B6-FEE0-8C17F2DE14C6}"/>
              </a:ext>
            </a:extLst>
          </p:cNvPr>
          <p:cNvSpPr txBox="1"/>
          <p:nvPr/>
        </p:nvSpPr>
        <p:spPr>
          <a:xfrm>
            <a:off x="4170860" y="2291362"/>
            <a:ext cx="151195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调整形态：四柱栅变体</a:t>
            </a:r>
          </a:p>
        </p:txBody>
      </p:sp>
      <p:cxnSp>
        <p:nvCxnSpPr>
          <p:cNvPr id="99" name="直接连接符 98">
            <a:extLst>
              <a:ext uri="{FF2B5EF4-FFF2-40B4-BE49-F238E27FC236}">
                <a16:creationId xmlns:a16="http://schemas.microsoft.com/office/drawing/2014/main" id="{F9C08E79-C30F-E911-0060-3D71D92EDDC8}"/>
              </a:ext>
            </a:extLst>
          </p:cNvPr>
          <p:cNvCxnSpPr>
            <a:cxnSpLocks/>
          </p:cNvCxnSpPr>
          <p:nvPr/>
        </p:nvCxnSpPr>
        <p:spPr>
          <a:xfrm flipV="1">
            <a:off x="4392774" y="2755616"/>
            <a:ext cx="1438209" cy="133066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矩形 102">
            <a:extLst>
              <a:ext uri="{FF2B5EF4-FFF2-40B4-BE49-F238E27FC236}">
                <a16:creationId xmlns:a16="http://schemas.microsoft.com/office/drawing/2014/main" id="{3CD72E9C-7A57-BD86-1EE8-969B715D2B35}"/>
              </a:ext>
            </a:extLst>
          </p:cNvPr>
          <p:cNvSpPr/>
          <p:nvPr/>
        </p:nvSpPr>
        <p:spPr>
          <a:xfrm>
            <a:off x="5232760" y="2755616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4" name="矩形 103">
            <a:extLst>
              <a:ext uri="{FF2B5EF4-FFF2-40B4-BE49-F238E27FC236}">
                <a16:creationId xmlns:a16="http://schemas.microsoft.com/office/drawing/2014/main" id="{A5E26E47-F250-B663-650F-6BABC96F8705}"/>
              </a:ext>
            </a:extLst>
          </p:cNvPr>
          <p:cNvSpPr/>
          <p:nvPr/>
        </p:nvSpPr>
        <p:spPr>
          <a:xfrm>
            <a:off x="5351333" y="2732913"/>
            <a:ext cx="72000" cy="36000"/>
          </a:xfrm>
          <a:prstGeom prst="rect">
            <a:avLst/>
          </a:prstGeom>
          <a:solidFill>
            <a:srgbClr val="548235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5" name="矩形 104">
            <a:extLst>
              <a:ext uri="{FF2B5EF4-FFF2-40B4-BE49-F238E27FC236}">
                <a16:creationId xmlns:a16="http://schemas.microsoft.com/office/drawing/2014/main" id="{DCEAF6CF-9211-CDF9-B037-4587A83D2DF9}"/>
              </a:ext>
            </a:extLst>
          </p:cNvPr>
          <p:cNvSpPr/>
          <p:nvPr/>
        </p:nvSpPr>
        <p:spPr>
          <a:xfrm>
            <a:off x="5485486" y="2714331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6" name="矩形 105">
            <a:extLst>
              <a:ext uri="{FF2B5EF4-FFF2-40B4-BE49-F238E27FC236}">
                <a16:creationId xmlns:a16="http://schemas.microsoft.com/office/drawing/2014/main" id="{EF727C34-1804-686C-472C-D3D2F43AE24C}"/>
              </a:ext>
            </a:extLst>
          </p:cNvPr>
          <p:cNvSpPr/>
          <p:nvPr/>
        </p:nvSpPr>
        <p:spPr>
          <a:xfrm>
            <a:off x="5614849" y="2551928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8" name="矩形 107">
            <a:extLst>
              <a:ext uri="{FF2B5EF4-FFF2-40B4-BE49-F238E27FC236}">
                <a16:creationId xmlns:a16="http://schemas.microsoft.com/office/drawing/2014/main" id="{874BAD89-AC1D-D82B-FD91-8D1F8D354E12}"/>
              </a:ext>
            </a:extLst>
          </p:cNvPr>
          <p:cNvSpPr/>
          <p:nvPr/>
        </p:nvSpPr>
        <p:spPr>
          <a:xfrm>
            <a:off x="4749970" y="2732892"/>
            <a:ext cx="72000" cy="10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9" name="矩形 108">
            <a:extLst>
              <a:ext uri="{FF2B5EF4-FFF2-40B4-BE49-F238E27FC236}">
                <a16:creationId xmlns:a16="http://schemas.microsoft.com/office/drawing/2014/main" id="{CF850C83-66A0-3A7D-4954-A01C0C8CE941}"/>
              </a:ext>
            </a:extLst>
          </p:cNvPr>
          <p:cNvSpPr/>
          <p:nvPr/>
        </p:nvSpPr>
        <p:spPr>
          <a:xfrm>
            <a:off x="4900610" y="2552892"/>
            <a:ext cx="72000" cy="28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0" name="矩形 109">
            <a:extLst>
              <a:ext uri="{FF2B5EF4-FFF2-40B4-BE49-F238E27FC236}">
                <a16:creationId xmlns:a16="http://schemas.microsoft.com/office/drawing/2014/main" id="{8C232EBC-9FAC-FD80-F1D1-982AD2A61B70}"/>
              </a:ext>
            </a:extLst>
          </p:cNvPr>
          <p:cNvSpPr/>
          <p:nvPr/>
        </p:nvSpPr>
        <p:spPr>
          <a:xfrm>
            <a:off x="4631485" y="2684130"/>
            <a:ext cx="72000" cy="10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1" name="矩形 110">
            <a:extLst>
              <a:ext uri="{FF2B5EF4-FFF2-40B4-BE49-F238E27FC236}">
                <a16:creationId xmlns:a16="http://schemas.microsoft.com/office/drawing/2014/main" id="{C2856F6D-CBB6-D78B-F1B5-C274876B5CF7}"/>
              </a:ext>
            </a:extLst>
          </p:cNvPr>
          <p:cNvSpPr/>
          <p:nvPr/>
        </p:nvSpPr>
        <p:spPr>
          <a:xfrm>
            <a:off x="4488742" y="2714892"/>
            <a:ext cx="72000" cy="21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2" name="文本框 111">
            <a:extLst>
              <a:ext uri="{FF2B5EF4-FFF2-40B4-BE49-F238E27FC236}">
                <a16:creationId xmlns:a16="http://schemas.microsoft.com/office/drawing/2014/main" id="{CF6F5208-E86E-BE7A-228F-CA2717E11894}"/>
              </a:ext>
            </a:extLst>
          </p:cNvPr>
          <p:cNvSpPr txBox="1"/>
          <p:nvPr/>
        </p:nvSpPr>
        <p:spPr>
          <a:xfrm>
            <a:off x="4170860" y="3151206"/>
            <a:ext cx="116570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调整形态：跌吞</a:t>
            </a:r>
          </a:p>
        </p:txBody>
      </p:sp>
      <p:cxnSp>
        <p:nvCxnSpPr>
          <p:cNvPr id="113" name="直接连接符 112">
            <a:extLst>
              <a:ext uri="{FF2B5EF4-FFF2-40B4-BE49-F238E27FC236}">
                <a16:creationId xmlns:a16="http://schemas.microsoft.com/office/drawing/2014/main" id="{64EF91D1-FB33-2D73-820C-54284EB5CF2A}"/>
              </a:ext>
            </a:extLst>
          </p:cNvPr>
          <p:cNvCxnSpPr>
            <a:cxnSpLocks/>
          </p:cNvCxnSpPr>
          <p:nvPr/>
        </p:nvCxnSpPr>
        <p:spPr>
          <a:xfrm flipV="1">
            <a:off x="4392774" y="3615460"/>
            <a:ext cx="1438209" cy="133066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矩形 115">
            <a:extLst>
              <a:ext uri="{FF2B5EF4-FFF2-40B4-BE49-F238E27FC236}">
                <a16:creationId xmlns:a16="http://schemas.microsoft.com/office/drawing/2014/main" id="{E296D048-D890-B61B-DF38-E1C877E2B6B6}"/>
              </a:ext>
            </a:extLst>
          </p:cNvPr>
          <p:cNvSpPr/>
          <p:nvPr/>
        </p:nvSpPr>
        <p:spPr>
          <a:xfrm>
            <a:off x="4769722" y="3514119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8" name="矩形 117">
            <a:extLst>
              <a:ext uri="{FF2B5EF4-FFF2-40B4-BE49-F238E27FC236}">
                <a16:creationId xmlns:a16="http://schemas.microsoft.com/office/drawing/2014/main" id="{ECD9B664-B289-6CDC-B63A-3FE5F89D8D66}"/>
              </a:ext>
            </a:extLst>
          </p:cNvPr>
          <p:cNvSpPr/>
          <p:nvPr/>
        </p:nvSpPr>
        <p:spPr>
          <a:xfrm>
            <a:off x="4883420" y="3500741"/>
            <a:ext cx="72000" cy="180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矩形 119">
            <a:extLst>
              <a:ext uri="{FF2B5EF4-FFF2-40B4-BE49-F238E27FC236}">
                <a16:creationId xmlns:a16="http://schemas.microsoft.com/office/drawing/2014/main" id="{98F43C67-DE1B-B34E-0C67-F9C8D3CE538F}"/>
              </a:ext>
            </a:extLst>
          </p:cNvPr>
          <p:cNvSpPr/>
          <p:nvPr/>
        </p:nvSpPr>
        <p:spPr>
          <a:xfrm>
            <a:off x="5015360" y="4376382"/>
            <a:ext cx="72000" cy="10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1" name="矩形 120">
            <a:extLst>
              <a:ext uri="{FF2B5EF4-FFF2-40B4-BE49-F238E27FC236}">
                <a16:creationId xmlns:a16="http://schemas.microsoft.com/office/drawing/2014/main" id="{9E6E4812-7773-9734-12E3-7EBBBBC55C75}"/>
              </a:ext>
            </a:extLst>
          </p:cNvPr>
          <p:cNvSpPr/>
          <p:nvPr/>
        </p:nvSpPr>
        <p:spPr>
          <a:xfrm>
            <a:off x="4532899" y="3651831"/>
            <a:ext cx="72000" cy="21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矩形 121">
            <a:extLst>
              <a:ext uri="{FF2B5EF4-FFF2-40B4-BE49-F238E27FC236}">
                <a16:creationId xmlns:a16="http://schemas.microsoft.com/office/drawing/2014/main" id="{1885CC5E-ECE0-C8A2-09D5-87030E5F6FC8}"/>
              </a:ext>
            </a:extLst>
          </p:cNvPr>
          <p:cNvSpPr/>
          <p:nvPr/>
        </p:nvSpPr>
        <p:spPr>
          <a:xfrm>
            <a:off x="4649175" y="3560316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矩形 125">
            <a:extLst>
              <a:ext uri="{FF2B5EF4-FFF2-40B4-BE49-F238E27FC236}">
                <a16:creationId xmlns:a16="http://schemas.microsoft.com/office/drawing/2014/main" id="{9C02E241-291B-F14D-73AD-F0D8AE32110B}"/>
              </a:ext>
            </a:extLst>
          </p:cNvPr>
          <p:cNvSpPr/>
          <p:nvPr/>
        </p:nvSpPr>
        <p:spPr>
          <a:xfrm>
            <a:off x="4989121" y="3616713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7" name="矩形 126">
            <a:extLst>
              <a:ext uri="{FF2B5EF4-FFF2-40B4-BE49-F238E27FC236}">
                <a16:creationId xmlns:a16="http://schemas.microsoft.com/office/drawing/2014/main" id="{366360EE-6497-1BA8-C2B3-55FAF96BFA56}"/>
              </a:ext>
            </a:extLst>
          </p:cNvPr>
          <p:cNvSpPr/>
          <p:nvPr/>
        </p:nvSpPr>
        <p:spPr>
          <a:xfrm>
            <a:off x="5108199" y="3562713"/>
            <a:ext cx="72000" cy="72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矩形 127">
            <a:extLst>
              <a:ext uri="{FF2B5EF4-FFF2-40B4-BE49-F238E27FC236}">
                <a16:creationId xmlns:a16="http://schemas.microsoft.com/office/drawing/2014/main" id="{53D07CE5-C212-C62C-FB91-CDA887FDB440}"/>
              </a:ext>
            </a:extLst>
          </p:cNvPr>
          <p:cNvSpPr/>
          <p:nvPr/>
        </p:nvSpPr>
        <p:spPr>
          <a:xfrm>
            <a:off x="5233743" y="3500741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文本框 128">
            <a:extLst>
              <a:ext uri="{FF2B5EF4-FFF2-40B4-BE49-F238E27FC236}">
                <a16:creationId xmlns:a16="http://schemas.microsoft.com/office/drawing/2014/main" id="{0970E690-2C8B-9780-7420-39B27CC0551C}"/>
              </a:ext>
            </a:extLst>
          </p:cNvPr>
          <p:cNvSpPr txBox="1"/>
          <p:nvPr/>
        </p:nvSpPr>
        <p:spPr>
          <a:xfrm>
            <a:off x="4171018" y="3993537"/>
            <a:ext cx="116570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调整形态：跌连</a:t>
            </a:r>
          </a:p>
        </p:txBody>
      </p:sp>
      <p:cxnSp>
        <p:nvCxnSpPr>
          <p:cNvPr id="130" name="直接连接符 129">
            <a:extLst>
              <a:ext uri="{FF2B5EF4-FFF2-40B4-BE49-F238E27FC236}">
                <a16:creationId xmlns:a16="http://schemas.microsoft.com/office/drawing/2014/main" id="{7A7507CB-6341-B3ED-656A-13537DB5EECB}"/>
              </a:ext>
            </a:extLst>
          </p:cNvPr>
          <p:cNvCxnSpPr>
            <a:cxnSpLocks/>
          </p:cNvCxnSpPr>
          <p:nvPr/>
        </p:nvCxnSpPr>
        <p:spPr>
          <a:xfrm flipV="1">
            <a:off x="4392932" y="4457791"/>
            <a:ext cx="1438209" cy="133066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矩形 130">
            <a:extLst>
              <a:ext uri="{FF2B5EF4-FFF2-40B4-BE49-F238E27FC236}">
                <a16:creationId xmlns:a16="http://schemas.microsoft.com/office/drawing/2014/main" id="{37B094A2-CF7F-D5BD-CCEB-FB2AB96FAF0F}"/>
              </a:ext>
            </a:extLst>
          </p:cNvPr>
          <p:cNvSpPr/>
          <p:nvPr/>
        </p:nvSpPr>
        <p:spPr>
          <a:xfrm>
            <a:off x="4769880" y="4356450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" name="矩形 132">
            <a:extLst>
              <a:ext uri="{FF2B5EF4-FFF2-40B4-BE49-F238E27FC236}">
                <a16:creationId xmlns:a16="http://schemas.microsoft.com/office/drawing/2014/main" id="{7D752704-56A6-C0C0-91B9-C7ABC860A61D}"/>
              </a:ext>
            </a:extLst>
          </p:cNvPr>
          <p:cNvSpPr/>
          <p:nvPr/>
        </p:nvSpPr>
        <p:spPr>
          <a:xfrm>
            <a:off x="4533057" y="4494162"/>
            <a:ext cx="72000" cy="21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" name="矩形 133">
            <a:extLst>
              <a:ext uri="{FF2B5EF4-FFF2-40B4-BE49-F238E27FC236}">
                <a16:creationId xmlns:a16="http://schemas.microsoft.com/office/drawing/2014/main" id="{2ED060AA-C3D6-1D10-395D-5D6E4889C6BB}"/>
              </a:ext>
            </a:extLst>
          </p:cNvPr>
          <p:cNvSpPr/>
          <p:nvPr/>
        </p:nvSpPr>
        <p:spPr>
          <a:xfrm>
            <a:off x="4649333" y="4402647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5" name="矩形 134">
            <a:extLst>
              <a:ext uri="{FF2B5EF4-FFF2-40B4-BE49-F238E27FC236}">
                <a16:creationId xmlns:a16="http://schemas.microsoft.com/office/drawing/2014/main" id="{DBD690AE-4FAE-CDEC-0B9A-9B9955232FCA}"/>
              </a:ext>
            </a:extLst>
          </p:cNvPr>
          <p:cNvSpPr/>
          <p:nvPr/>
        </p:nvSpPr>
        <p:spPr>
          <a:xfrm>
            <a:off x="5263114" y="4426585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6" name="矩形 135">
            <a:extLst>
              <a:ext uri="{FF2B5EF4-FFF2-40B4-BE49-F238E27FC236}">
                <a16:creationId xmlns:a16="http://schemas.microsoft.com/office/drawing/2014/main" id="{735B151C-50E4-2F3D-3AA8-F741D83A802B}"/>
              </a:ext>
            </a:extLst>
          </p:cNvPr>
          <p:cNvSpPr/>
          <p:nvPr/>
        </p:nvSpPr>
        <p:spPr>
          <a:xfrm>
            <a:off x="5382192" y="4372585"/>
            <a:ext cx="72000" cy="72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7" name="矩形 136">
            <a:extLst>
              <a:ext uri="{FF2B5EF4-FFF2-40B4-BE49-F238E27FC236}">
                <a16:creationId xmlns:a16="http://schemas.microsoft.com/office/drawing/2014/main" id="{EC3A33B6-E876-B898-507C-36C76A0FCD8C}"/>
              </a:ext>
            </a:extLst>
          </p:cNvPr>
          <p:cNvSpPr/>
          <p:nvPr/>
        </p:nvSpPr>
        <p:spPr>
          <a:xfrm>
            <a:off x="5507736" y="4310613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8" name="矩形 137">
            <a:extLst>
              <a:ext uri="{FF2B5EF4-FFF2-40B4-BE49-F238E27FC236}">
                <a16:creationId xmlns:a16="http://schemas.microsoft.com/office/drawing/2014/main" id="{06B87CED-53AC-3BE9-AEF3-3B6EF116AA07}"/>
              </a:ext>
            </a:extLst>
          </p:cNvPr>
          <p:cNvSpPr/>
          <p:nvPr/>
        </p:nvSpPr>
        <p:spPr>
          <a:xfrm>
            <a:off x="4896532" y="4353664"/>
            <a:ext cx="72000" cy="36000"/>
          </a:xfrm>
          <a:prstGeom prst="rect">
            <a:avLst/>
          </a:prstGeom>
          <a:solidFill>
            <a:srgbClr val="548235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9" name="矩形 138">
            <a:extLst>
              <a:ext uri="{FF2B5EF4-FFF2-40B4-BE49-F238E27FC236}">
                <a16:creationId xmlns:a16="http://schemas.microsoft.com/office/drawing/2014/main" id="{C294F314-1089-DB6F-01BA-C8E1215156BD}"/>
              </a:ext>
            </a:extLst>
          </p:cNvPr>
          <p:cNvSpPr/>
          <p:nvPr/>
        </p:nvSpPr>
        <p:spPr>
          <a:xfrm>
            <a:off x="5134128" y="4449045"/>
            <a:ext cx="72000" cy="36000"/>
          </a:xfrm>
          <a:prstGeom prst="rect">
            <a:avLst/>
          </a:prstGeom>
          <a:solidFill>
            <a:srgbClr val="548235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2" name="文本框 171">
            <a:extLst>
              <a:ext uri="{FF2B5EF4-FFF2-40B4-BE49-F238E27FC236}">
                <a16:creationId xmlns:a16="http://schemas.microsoft.com/office/drawing/2014/main" id="{7D7363AE-35AE-6224-D1AA-A92292F4138C}"/>
              </a:ext>
            </a:extLst>
          </p:cNvPr>
          <p:cNvSpPr txBox="1"/>
          <p:nvPr/>
        </p:nvSpPr>
        <p:spPr>
          <a:xfrm>
            <a:off x="6095733" y="701230"/>
            <a:ext cx="6105600" cy="430887"/>
          </a:xfrm>
          <a:prstGeom prst="rect">
            <a:avLst/>
          </a:prstGeom>
          <a:solidFill>
            <a:schemeClr val="bg1">
              <a:lumMod val="65000"/>
            </a:schemeClr>
          </a:solidFill>
        </p:spPr>
        <p:txBody>
          <a:bodyPr vert="horz" wrap="square" rtlCol="0">
            <a:spAutoFit/>
          </a:bodyPr>
          <a:lstStyle/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衍生：四柱栅变体</a:t>
            </a:r>
            <a:endParaRPr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特征：四柱栅实际是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丘的衔接过程，最好是两段升排的连接。</a:t>
            </a:r>
            <a:endParaRPr lang="zh-CN" altLang="en-US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3" name="矩形 172">
            <a:extLst>
              <a:ext uri="{FF2B5EF4-FFF2-40B4-BE49-F238E27FC236}">
                <a16:creationId xmlns:a16="http://schemas.microsoft.com/office/drawing/2014/main" id="{403FCE52-95FD-96EF-DBF7-90C851EF44F8}"/>
              </a:ext>
            </a:extLst>
          </p:cNvPr>
          <p:cNvSpPr/>
          <p:nvPr/>
        </p:nvSpPr>
        <p:spPr>
          <a:xfrm>
            <a:off x="7262722" y="2505562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4" name="矩形 173">
            <a:extLst>
              <a:ext uri="{FF2B5EF4-FFF2-40B4-BE49-F238E27FC236}">
                <a16:creationId xmlns:a16="http://schemas.microsoft.com/office/drawing/2014/main" id="{97A4531A-8FB5-C812-4F6C-2C666D7361DF}"/>
              </a:ext>
            </a:extLst>
          </p:cNvPr>
          <p:cNvSpPr/>
          <p:nvPr/>
        </p:nvSpPr>
        <p:spPr>
          <a:xfrm>
            <a:off x="7117787" y="2528750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5" name="矩形 174">
            <a:extLst>
              <a:ext uri="{FF2B5EF4-FFF2-40B4-BE49-F238E27FC236}">
                <a16:creationId xmlns:a16="http://schemas.microsoft.com/office/drawing/2014/main" id="{FF72C5E5-866D-CFDA-96D2-8D3BBCCFAD74}"/>
              </a:ext>
            </a:extLst>
          </p:cNvPr>
          <p:cNvSpPr/>
          <p:nvPr/>
        </p:nvSpPr>
        <p:spPr>
          <a:xfrm>
            <a:off x="7552593" y="2435403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6" name="矩形 175">
            <a:extLst>
              <a:ext uri="{FF2B5EF4-FFF2-40B4-BE49-F238E27FC236}">
                <a16:creationId xmlns:a16="http://schemas.microsoft.com/office/drawing/2014/main" id="{C1A6FEA7-2BA2-14B1-E733-881332B0AF1C}"/>
              </a:ext>
            </a:extLst>
          </p:cNvPr>
          <p:cNvSpPr/>
          <p:nvPr/>
        </p:nvSpPr>
        <p:spPr>
          <a:xfrm>
            <a:off x="7407657" y="2521031"/>
            <a:ext cx="72000" cy="10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77" name="直接连接符 176">
            <a:extLst>
              <a:ext uri="{FF2B5EF4-FFF2-40B4-BE49-F238E27FC236}">
                <a16:creationId xmlns:a16="http://schemas.microsoft.com/office/drawing/2014/main" id="{AB38E7A6-82CC-4E28-6300-F046D3219AD9}"/>
              </a:ext>
            </a:extLst>
          </p:cNvPr>
          <p:cNvCxnSpPr>
            <a:cxnSpLocks/>
          </p:cNvCxnSpPr>
          <p:nvPr/>
        </p:nvCxnSpPr>
        <p:spPr>
          <a:xfrm flipV="1">
            <a:off x="6922663" y="2568860"/>
            <a:ext cx="903959" cy="176543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8" name="文本框 177">
            <a:extLst>
              <a:ext uri="{FF2B5EF4-FFF2-40B4-BE49-F238E27FC236}">
                <a16:creationId xmlns:a16="http://schemas.microsoft.com/office/drawing/2014/main" id="{201631A0-2467-8902-4A20-52688BCE0D65}"/>
              </a:ext>
            </a:extLst>
          </p:cNvPr>
          <p:cNvSpPr txBox="1"/>
          <p:nvPr/>
        </p:nvSpPr>
        <p:spPr>
          <a:xfrm>
            <a:off x="6218048" y="2629031"/>
            <a:ext cx="369332" cy="1246575"/>
          </a:xfrm>
          <a:prstGeom prst="rect">
            <a:avLst/>
          </a:prstGeom>
          <a:noFill/>
        </p:spPr>
        <p:txBody>
          <a:bodyPr vert="eaVert" wrap="square" anchor="ctr">
            <a:spAutoFit/>
          </a:bodyPr>
          <a:lstStyle/>
          <a:p>
            <a:pPr algn="ctr"/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第三柱为阴柱</a:t>
            </a:r>
            <a:endParaRPr lang="en-US" altLang="zh-CN" sz="12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9" name="矩形 178">
            <a:extLst>
              <a:ext uri="{FF2B5EF4-FFF2-40B4-BE49-F238E27FC236}">
                <a16:creationId xmlns:a16="http://schemas.microsoft.com/office/drawing/2014/main" id="{6D3D052A-EF71-8073-B661-5065FD105EDC}"/>
              </a:ext>
            </a:extLst>
          </p:cNvPr>
          <p:cNvSpPr/>
          <p:nvPr/>
        </p:nvSpPr>
        <p:spPr>
          <a:xfrm>
            <a:off x="7262722" y="3349922"/>
            <a:ext cx="72000" cy="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0" name="矩形 179">
            <a:extLst>
              <a:ext uri="{FF2B5EF4-FFF2-40B4-BE49-F238E27FC236}">
                <a16:creationId xmlns:a16="http://schemas.microsoft.com/office/drawing/2014/main" id="{A93D63A9-D13D-0196-8670-939376EFD701}"/>
              </a:ext>
            </a:extLst>
          </p:cNvPr>
          <p:cNvSpPr/>
          <p:nvPr/>
        </p:nvSpPr>
        <p:spPr>
          <a:xfrm>
            <a:off x="7117787" y="3355692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1" name="矩形 180">
            <a:extLst>
              <a:ext uri="{FF2B5EF4-FFF2-40B4-BE49-F238E27FC236}">
                <a16:creationId xmlns:a16="http://schemas.microsoft.com/office/drawing/2014/main" id="{C8737B4D-A7A1-2867-D9E4-4467A71CC279}"/>
              </a:ext>
            </a:extLst>
          </p:cNvPr>
          <p:cNvSpPr/>
          <p:nvPr/>
        </p:nvSpPr>
        <p:spPr>
          <a:xfrm>
            <a:off x="7552593" y="3262345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2" name="矩形 181">
            <a:extLst>
              <a:ext uri="{FF2B5EF4-FFF2-40B4-BE49-F238E27FC236}">
                <a16:creationId xmlns:a16="http://schemas.microsoft.com/office/drawing/2014/main" id="{D782B7C7-7BF6-BE1E-97D9-B77F6019037C}"/>
              </a:ext>
            </a:extLst>
          </p:cNvPr>
          <p:cNvSpPr/>
          <p:nvPr/>
        </p:nvSpPr>
        <p:spPr>
          <a:xfrm>
            <a:off x="7407657" y="3347973"/>
            <a:ext cx="72000" cy="10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83" name="直接连接符 182">
            <a:extLst>
              <a:ext uri="{FF2B5EF4-FFF2-40B4-BE49-F238E27FC236}">
                <a16:creationId xmlns:a16="http://schemas.microsoft.com/office/drawing/2014/main" id="{D64703A8-04F7-5567-B52D-304898ACEA99}"/>
              </a:ext>
            </a:extLst>
          </p:cNvPr>
          <p:cNvCxnSpPr>
            <a:cxnSpLocks/>
          </p:cNvCxnSpPr>
          <p:nvPr/>
        </p:nvCxnSpPr>
        <p:spPr>
          <a:xfrm flipV="1">
            <a:off x="6922663" y="3395802"/>
            <a:ext cx="903959" cy="176543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直接连接符 183">
            <a:extLst>
              <a:ext uri="{FF2B5EF4-FFF2-40B4-BE49-F238E27FC236}">
                <a16:creationId xmlns:a16="http://schemas.microsoft.com/office/drawing/2014/main" id="{A0BD518A-741A-C504-49EB-74C6DF8CBBD8}"/>
              </a:ext>
            </a:extLst>
          </p:cNvPr>
          <p:cNvCxnSpPr>
            <a:cxnSpLocks/>
          </p:cNvCxnSpPr>
          <p:nvPr/>
        </p:nvCxnSpPr>
        <p:spPr>
          <a:xfrm>
            <a:off x="7299886" y="3262345"/>
            <a:ext cx="0" cy="1440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矩形 184">
            <a:extLst>
              <a:ext uri="{FF2B5EF4-FFF2-40B4-BE49-F238E27FC236}">
                <a16:creationId xmlns:a16="http://schemas.microsoft.com/office/drawing/2014/main" id="{72FBA47A-2689-54FD-B23A-9D430EADBA95}"/>
              </a:ext>
            </a:extLst>
          </p:cNvPr>
          <p:cNvSpPr/>
          <p:nvPr/>
        </p:nvSpPr>
        <p:spPr>
          <a:xfrm>
            <a:off x="7117787" y="3764916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6" name="矩形 185">
            <a:extLst>
              <a:ext uri="{FF2B5EF4-FFF2-40B4-BE49-F238E27FC236}">
                <a16:creationId xmlns:a16="http://schemas.microsoft.com/office/drawing/2014/main" id="{B4657366-B81B-106B-6CC6-987E9D41A881}"/>
              </a:ext>
            </a:extLst>
          </p:cNvPr>
          <p:cNvSpPr/>
          <p:nvPr/>
        </p:nvSpPr>
        <p:spPr>
          <a:xfrm>
            <a:off x="7552593" y="3671569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7" name="矩形 186">
            <a:extLst>
              <a:ext uri="{FF2B5EF4-FFF2-40B4-BE49-F238E27FC236}">
                <a16:creationId xmlns:a16="http://schemas.microsoft.com/office/drawing/2014/main" id="{B55E04AE-94E2-94E3-3D09-40C94FCE02E3}"/>
              </a:ext>
            </a:extLst>
          </p:cNvPr>
          <p:cNvSpPr/>
          <p:nvPr/>
        </p:nvSpPr>
        <p:spPr>
          <a:xfrm>
            <a:off x="7407657" y="3757197"/>
            <a:ext cx="72000" cy="10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88" name="直接连接符 187">
            <a:extLst>
              <a:ext uri="{FF2B5EF4-FFF2-40B4-BE49-F238E27FC236}">
                <a16:creationId xmlns:a16="http://schemas.microsoft.com/office/drawing/2014/main" id="{166D4666-4318-75BF-0B44-E94A603CDC53}"/>
              </a:ext>
            </a:extLst>
          </p:cNvPr>
          <p:cNvCxnSpPr>
            <a:cxnSpLocks/>
          </p:cNvCxnSpPr>
          <p:nvPr/>
        </p:nvCxnSpPr>
        <p:spPr>
          <a:xfrm flipV="1">
            <a:off x="6922663" y="3813735"/>
            <a:ext cx="903959" cy="176543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9" name="矩形 188">
            <a:extLst>
              <a:ext uri="{FF2B5EF4-FFF2-40B4-BE49-F238E27FC236}">
                <a16:creationId xmlns:a16="http://schemas.microsoft.com/office/drawing/2014/main" id="{E4CD1A32-5CC6-82D8-6643-7429F77EC56A}"/>
              </a:ext>
            </a:extLst>
          </p:cNvPr>
          <p:cNvSpPr/>
          <p:nvPr/>
        </p:nvSpPr>
        <p:spPr>
          <a:xfrm>
            <a:off x="7262722" y="3698769"/>
            <a:ext cx="72000" cy="10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0" name="矩形 189">
            <a:extLst>
              <a:ext uri="{FF2B5EF4-FFF2-40B4-BE49-F238E27FC236}">
                <a16:creationId xmlns:a16="http://schemas.microsoft.com/office/drawing/2014/main" id="{B2122903-DC35-3D08-2527-8CCBFE64F555}"/>
              </a:ext>
            </a:extLst>
          </p:cNvPr>
          <p:cNvSpPr/>
          <p:nvPr/>
        </p:nvSpPr>
        <p:spPr>
          <a:xfrm>
            <a:off x="7268064" y="2912763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1" name="矩形 190">
            <a:extLst>
              <a:ext uri="{FF2B5EF4-FFF2-40B4-BE49-F238E27FC236}">
                <a16:creationId xmlns:a16="http://schemas.microsoft.com/office/drawing/2014/main" id="{9EB395AE-8A95-BD6F-DFD3-291E2E5A81DA}"/>
              </a:ext>
            </a:extLst>
          </p:cNvPr>
          <p:cNvSpPr/>
          <p:nvPr/>
        </p:nvSpPr>
        <p:spPr>
          <a:xfrm>
            <a:off x="7123129" y="2935951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2" name="矩形 191">
            <a:extLst>
              <a:ext uri="{FF2B5EF4-FFF2-40B4-BE49-F238E27FC236}">
                <a16:creationId xmlns:a16="http://schemas.microsoft.com/office/drawing/2014/main" id="{65F9A801-D477-2F4C-08FE-1ABB400118D7}"/>
              </a:ext>
            </a:extLst>
          </p:cNvPr>
          <p:cNvSpPr/>
          <p:nvPr/>
        </p:nvSpPr>
        <p:spPr>
          <a:xfrm>
            <a:off x="7557935" y="2842604"/>
            <a:ext cx="72000" cy="21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3" name="矩形 192">
            <a:extLst>
              <a:ext uri="{FF2B5EF4-FFF2-40B4-BE49-F238E27FC236}">
                <a16:creationId xmlns:a16="http://schemas.microsoft.com/office/drawing/2014/main" id="{216AA4D2-B821-34FF-49D3-E62B384897D8}"/>
              </a:ext>
            </a:extLst>
          </p:cNvPr>
          <p:cNvSpPr/>
          <p:nvPr/>
        </p:nvSpPr>
        <p:spPr>
          <a:xfrm>
            <a:off x="7412999" y="2928232"/>
            <a:ext cx="72000" cy="180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cxnSp>
        <p:nvCxnSpPr>
          <p:cNvPr id="194" name="直接连接符 193">
            <a:extLst>
              <a:ext uri="{FF2B5EF4-FFF2-40B4-BE49-F238E27FC236}">
                <a16:creationId xmlns:a16="http://schemas.microsoft.com/office/drawing/2014/main" id="{6844D419-A1DB-5747-0AD7-5FB135826DCE}"/>
              </a:ext>
            </a:extLst>
          </p:cNvPr>
          <p:cNvCxnSpPr>
            <a:cxnSpLocks/>
          </p:cNvCxnSpPr>
          <p:nvPr/>
        </p:nvCxnSpPr>
        <p:spPr>
          <a:xfrm flipV="1">
            <a:off x="6928005" y="2976061"/>
            <a:ext cx="903959" cy="176543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5" name="文本框 194">
            <a:extLst>
              <a:ext uri="{FF2B5EF4-FFF2-40B4-BE49-F238E27FC236}">
                <a16:creationId xmlns:a16="http://schemas.microsoft.com/office/drawing/2014/main" id="{3268AB67-5031-22D0-D2EB-75DF9A30B8C2}"/>
              </a:ext>
            </a:extLst>
          </p:cNvPr>
          <p:cNvSpPr txBox="1"/>
          <p:nvPr/>
        </p:nvSpPr>
        <p:spPr>
          <a:xfrm>
            <a:off x="7858434" y="2822942"/>
            <a:ext cx="180270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第三柱下破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为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2e</a:t>
            </a:r>
            <a:endParaRPr lang="zh-CN" altLang="en-US" sz="900" dirty="0"/>
          </a:p>
        </p:txBody>
      </p:sp>
      <p:sp>
        <p:nvSpPr>
          <p:cNvPr id="196" name="左大括号 195">
            <a:extLst>
              <a:ext uri="{FF2B5EF4-FFF2-40B4-BE49-F238E27FC236}">
                <a16:creationId xmlns:a16="http://schemas.microsoft.com/office/drawing/2014/main" id="{98A43E39-1AEE-1B87-3182-D3ADDA62DA0B}"/>
              </a:ext>
            </a:extLst>
          </p:cNvPr>
          <p:cNvSpPr/>
          <p:nvPr/>
        </p:nvSpPr>
        <p:spPr>
          <a:xfrm>
            <a:off x="6553191" y="2481858"/>
            <a:ext cx="286309" cy="1564286"/>
          </a:xfrm>
          <a:prstGeom prst="leftBrace">
            <a:avLst>
              <a:gd name="adj1" fmla="val 42689"/>
              <a:gd name="adj2" fmla="val 50000"/>
            </a:avLst>
          </a:prstGeom>
          <a:ln w="190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7" name="文本框 196">
            <a:extLst>
              <a:ext uri="{FF2B5EF4-FFF2-40B4-BE49-F238E27FC236}">
                <a16:creationId xmlns:a16="http://schemas.microsoft.com/office/drawing/2014/main" id="{40890CF3-9AF1-751A-3F3D-DE4651053BA3}"/>
              </a:ext>
            </a:extLst>
          </p:cNvPr>
          <p:cNvSpPr txBox="1"/>
          <p:nvPr/>
        </p:nvSpPr>
        <p:spPr>
          <a:xfrm>
            <a:off x="6226455" y="1175614"/>
            <a:ext cx="369332" cy="1148720"/>
          </a:xfrm>
          <a:prstGeom prst="rect">
            <a:avLst/>
          </a:prstGeom>
          <a:noFill/>
        </p:spPr>
        <p:txBody>
          <a:bodyPr vert="eaVert" wrap="square" anchor="ctr">
            <a:spAutoFit/>
          </a:bodyPr>
          <a:lstStyle/>
          <a:p>
            <a:pPr algn="ctr"/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第三柱为阳柱</a:t>
            </a:r>
            <a:endParaRPr lang="en-US" altLang="zh-CN" sz="12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8" name="左大括号 197">
            <a:extLst>
              <a:ext uri="{FF2B5EF4-FFF2-40B4-BE49-F238E27FC236}">
                <a16:creationId xmlns:a16="http://schemas.microsoft.com/office/drawing/2014/main" id="{2B2EB9C6-9C3A-79D5-D54A-363E1B1C04C3}"/>
              </a:ext>
            </a:extLst>
          </p:cNvPr>
          <p:cNvSpPr/>
          <p:nvPr/>
        </p:nvSpPr>
        <p:spPr>
          <a:xfrm>
            <a:off x="6544039" y="1256473"/>
            <a:ext cx="286309" cy="1023498"/>
          </a:xfrm>
          <a:prstGeom prst="leftBrace">
            <a:avLst>
              <a:gd name="adj1" fmla="val 42689"/>
              <a:gd name="adj2" fmla="val 50000"/>
            </a:avLst>
          </a:prstGeom>
          <a:ln w="190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9" name="矩形 198">
            <a:extLst>
              <a:ext uri="{FF2B5EF4-FFF2-40B4-BE49-F238E27FC236}">
                <a16:creationId xmlns:a16="http://schemas.microsoft.com/office/drawing/2014/main" id="{32F03F73-22F7-67BE-C310-38D54B02DEEE}"/>
              </a:ext>
            </a:extLst>
          </p:cNvPr>
          <p:cNvSpPr/>
          <p:nvPr/>
        </p:nvSpPr>
        <p:spPr>
          <a:xfrm>
            <a:off x="7087569" y="1280834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0" name="矩形 199">
            <a:extLst>
              <a:ext uri="{FF2B5EF4-FFF2-40B4-BE49-F238E27FC236}">
                <a16:creationId xmlns:a16="http://schemas.microsoft.com/office/drawing/2014/main" id="{109158C5-C103-F087-6B09-5093EB6B78A1}"/>
              </a:ext>
            </a:extLst>
          </p:cNvPr>
          <p:cNvSpPr/>
          <p:nvPr/>
        </p:nvSpPr>
        <p:spPr>
          <a:xfrm>
            <a:off x="7522375" y="1187487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1" name="矩形 200">
            <a:extLst>
              <a:ext uri="{FF2B5EF4-FFF2-40B4-BE49-F238E27FC236}">
                <a16:creationId xmlns:a16="http://schemas.microsoft.com/office/drawing/2014/main" id="{95C4DF91-CE75-5573-CEE7-56D6B7477A22}"/>
              </a:ext>
            </a:extLst>
          </p:cNvPr>
          <p:cNvSpPr/>
          <p:nvPr/>
        </p:nvSpPr>
        <p:spPr>
          <a:xfrm>
            <a:off x="7377439" y="1273115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02" name="直接连接符 201">
            <a:extLst>
              <a:ext uri="{FF2B5EF4-FFF2-40B4-BE49-F238E27FC236}">
                <a16:creationId xmlns:a16="http://schemas.microsoft.com/office/drawing/2014/main" id="{C7BDD230-A9F3-8285-7BCD-98964B67DABB}"/>
              </a:ext>
            </a:extLst>
          </p:cNvPr>
          <p:cNvCxnSpPr>
            <a:cxnSpLocks/>
          </p:cNvCxnSpPr>
          <p:nvPr/>
        </p:nvCxnSpPr>
        <p:spPr>
          <a:xfrm flipV="1">
            <a:off x="6892445" y="1320944"/>
            <a:ext cx="903959" cy="176543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矩形 202">
            <a:extLst>
              <a:ext uri="{FF2B5EF4-FFF2-40B4-BE49-F238E27FC236}">
                <a16:creationId xmlns:a16="http://schemas.microsoft.com/office/drawing/2014/main" id="{A390DE89-28ED-2FF0-E4B1-1C3628A95295}"/>
              </a:ext>
            </a:extLst>
          </p:cNvPr>
          <p:cNvSpPr/>
          <p:nvPr/>
        </p:nvSpPr>
        <p:spPr>
          <a:xfrm>
            <a:off x="7232504" y="1214687"/>
            <a:ext cx="72000" cy="144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4" name="矩形 203">
            <a:extLst>
              <a:ext uri="{FF2B5EF4-FFF2-40B4-BE49-F238E27FC236}">
                <a16:creationId xmlns:a16="http://schemas.microsoft.com/office/drawing/2014/main" id="{004397FC-F6C1-B286-7EAB-C07F0870B308}"/>
              </a:ext>
            </a:extLst>
          </p:cNvPr>
          <p:cNvSpPr/>
          <p:nvPr/>
        </p:nvSpPr>
        <p:spPr>
          <a:xfrm>
            <a:off x="7117787" y="2065449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5" name="矩形 204">
            <a:extLst>
              <a:ext uri="{FF2B5EF4-FFF2-40B4-BE49-F238E27FC236}">
                <a16:creationId xmlns:a16="http://schemas.microsoft.com/office/drawing/2014/main" id="{B794FE17-ED01-5332-7038-2AE7ECFCC7AD}"/>
              </a:ext>
            </a:extLst>
          </p:cNvPr>
          <p:cNvSpPr/>
          <p:nvPr/>
        </p:nvSpPr>
        <p:spPr>
          <a:xfrm>
            <a:off x="7552593" y="1972102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6" name="矩形 205">
            <a:extLst>
              <a:ext uri="{FF2B5EF4-FFF2-40B4-BE49-F238E27FC236}">
                <a16:creationId xmlns:a16="http://schemas.microsoft.com/office/drawing/2014/main" id="{4D709F1C-E29D-9662-7AA9-092231F76F4B}"/>
              </a:ext>
            </a:extLst>
          </p:cNvPr>
          <p:cNvSpPr/>
          <p:nvPr/>
        </p:nvSpPr>
        <p:spPr>
          <a:xfrm>
            <a:off x="7407657" y="2092566"/>
            <a:ext cx="72000" cy="72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07" name="直接连接符 206">
            <a:extLst>
              <a:ext uri="{FF2B5EF4-FFF2-40B4-BE49-F238E27FC236}">
                <a16:creationId xmlns:a16="http://schemas.microsoft.com/office/drawing/2014/main" id="{D6D7FE45-7F81-9B29-FA80-FF026D9F6BF3}"/>
              </a:ext>
            </a:extLst>
          </p:cNvPr>
          <p:cNvCxnSpPr>
            <a:cxnSpLocks/>
          </p:cNvCxnSpPr>
          <p:nvPr/>
        </p:nvCxnSpPr>
        <p:spPr>
          <a:xfrm flipV="1">
            <a:off x="6922663" y="2105559"/>
            <a:ext cx="903959" cy="176543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8" name="矩形 207">
            <a:extLst>
              <a:ext uri="{FF2B5EF4-FFF2-40B4-BE49-F238E27FC236}">
                <a16:creationId xmlns:a16="http://schemas.microsoft.com/office/drawing/2014/main" id="{0CE3B4A0-54B0-75D3-1C26-AC30FAAE20DB}"/>
              </a:ext>
            </a:extLst>
          </p:cNvPr>
          <p:cNvSpPr/>
          <p:nvPr/>
        </p:nvSpPr>
        <p:spPr>
          <a:xfrm>
            <a:off x="7262722" y="1947048"/>
            <a:ext cx="72000" cy="144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9" name="文本框 208">
            <a:extLst>
              <a:ext uri="{FF2B5EF4-FFF2-40B4-BE49-F238E27FC236}">
                <a16:creationId xmlns:a16="http://schemas.microsoft.com/office/drawing/2014/main" id="{CBB09DA0-D560-5331-BF09-05B7446D02D7}"/>
              </a:ext>
            </a:extLst>
          </p:cNvPr>
          <p:cNvSpPr txBox="1"/>
          <p:nvPr/>
        </p:nvSpPr>
        <p:spPr>
          <a:xfrm>
            <a:off x="7858434" y="1971948"/>
            <a:ext cx="180270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假阳柱：实际为跌连</a:t>
            </a:r>
            <a:endParaRPr lang="zh-CN" altLang="en-US" sz="900" dirty="0"/>
          </a:p>
        </p:txBody>
      </p:sp>
      <p:sp>
        <p:nvSpPr>
          <p:cNvPr id="210" name="文本框 209">
            <a:extLst>
              <a:ext uri="{FF2B5EF4-FFF2-40B4-BE49-F238E27FC236}">
                <a16:creationId xmlns:a16="http://schemas.microsoft.com/office/drawing/2014/main" id="{7560E113-5B1B-F935-C345-0B4FFB83EC35}"/>
              </a:ext>
            </a:extLst>
          </p:cNvPr>
          <p:cNvSpPr txBox="1"/>
          <p:nvPr/>
        </p:nvSpPr>
        <p:spPr>
          <a:xfrm>
            <a:off x="7858434" y="1186157"/>
            <a:ext cx="180270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最好情况：调整为跌孕</a:t>
            </a:r>
            <a:endParaRPr lang="zh-CN" altLang="en-US" sz="900" dirty="0"/>
          </a:p>
        </p:txBody>
      </p:sp>
      <p:pic>
        <p:nvPicPr>
          <p:cNvPr id="211" name="图片 210">
            <a:extLst>
              <a:ext uri="{FF2B5EF4-FFF2-40B4-BE49-F238E27FC236}">
                <a16:creationId xmlns:a16="http://schemas.microsoft.com/office/drawing/2014/main" id="{66A35C13-B664-154A-7F68-350EC74C975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356574" y="1121424"/>
            <a:ext cx="1800000" cy="472451"/>
          </a:xfrm>
          <a:prstGeom prst="rect">
            <a:avLst/>
          </a:prstGeom>
        </p:spPr>
      </p:pic>
      <p:sp>
        <p:nvSpPr>
          <p:cNvPr id="212" name="矩形 211">
            <a:extLst>
              <a:ext uri="{FF2B5EF4-FFF2-40B4-BE49-F238E27FC236}">
                <a16:creationId xmlns:a16="http://schemas.microsoft.com/office/drawing/2014/main" id="{D23AC188-C1CC-2879-BBCF-39DE92431D98}"/>
              </a:ext>
            </a:extLst>
          </p:cNvPr>
          <p:cNvSpPr/>
          <p:nvPr/>
        </p:nvSpPr>
        <p:spPr>
          <a:xfrm>
            <a:off x="7117787" y="1658181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3" name="矩形 212">
            <a:extLst>
              <a:ext uri="{FF2B5EF4-FFF2-40B4-BE49-F238E27FC236}">
                <a16:creationId xmlns:a16="http://schemas.microsoft.com/office/drawing/2014/main" id="{F84E7D23-3854-E9F3-98FD-A8C19C38C9FF}"/>
              </a:ext>
            </a:extLst>
          </p:cNvPr>
          <p:cNvSpPr/>
          <p:nvPr/>
        </p:nvSpPr>
        <p:spPr>
          <a:xfrm>
            <a:off x="7552593" y="1600694"/>
            <a:ext cx="72000" cy="144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14" name="直接连接符 213">
            <a:extLst>
              <a:ext uri="{FF2B5EF4-FFF2-40B4-BE49-F238E27FC236}">
                <a16:creationId xmlns:a16="http://schemas.microsoft.com/office/drawing/2014/main" id="{08C3AE8C-FC2C-CEE6-6BE1-E9D1FD65D47A}"/>
              </a:ext>
            </a:extLst>
          </p:cNvPr>
          <p:cNvCxnSpPr>
            <a:cxnSpLocks/>
          </p:cNvCxnSpPr>
          <p:nvPr/>
        </p:nvCxnSpPr>
        <p:spPr>
          <a:xfrm flipV="1">
            <a:off x="6922663" y="1698291"/>
            <a:ext cx="903959" cy="176543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5" name="矩形 214">
            <a:extLst>
              <a:ext uri="{FF2B5EF4-FFF2-40B4-BE49-F238E27FC236}">
                <a16:creationId xmlns:a16="http://schemas.microsoft.com/office/drawing/2014/main" id="{FBF68547-9666-5476-BD37-1B141B6F6A71}"/>
              </a:ext>
            </a:extLst>
          </p:cNvPr>
          <p:cNvSpPr/>
          <p:nvPr/>
        </p:nvSpPr>
        <p:spPr>
          <a:xfrm>
            <a:off x="7262722" y="1592034"/>
            <a:ext cx="72000" cy="180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6" name="文本框 215">
            <a:extLst>
              <a:ext uri="{FF2B5EF4-FFF2-40B4-BE49-F238E27FC236}">
                <a16:creationId xmlns:a16="http://schemas.microsoft.com/office/drawing/2014/main" id="{6D095804-C181-AB90-9890-E6B48ED34DF4}"/>
              </a:ext>
            </a:extLst>
          </p:cNvPr>
          <p:cNvSpPr txBox="1"/>
          <p:nvPr/>
        </p:nvSpPr>
        <p:spPr>
          <a:xfrm>
            <a:off x="7858434" y="1563504"/>
            <a:ext cx="180270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较好情况</a:t>
            </a:r>
            <a:endParaRPr lang="zh-CN" altLang="en-US" sz="900" dirty="0"/>
          </a:p>
        </p:txBody>
      </p:sp>
      <p:sp>
        <p:nvSpPr>
          <p:cNvPr id="217" name="矩形 216">
            <a:extLst>
              <a:ext uri="{FF2B5EF4-FFF2-40B4-BE49-F238E27FC236}">
                <a16:creationId xmlns:a16="http://schemas.microsoft.com/office/drawing/2014/main" id="{72DE22E7-C7C8-4157-DAD1-279EEBAB10D8}"/>
              </a:ext>
            </a:extLst>
          </p:cNvPr>
          <p:cNvSpPr/>
          <p:nvPr/>
        </p:nvSpPr>
        <p:spPr>
          <a:xfrm>
            <a:off x="7407657" y="1744834"/>
            <a:ext cx="72000" cy="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18" name="直接连接符 217">
            <a:extLst>
              <a:ext uri="{FF2B5EF4-FFF2-40B4-BE49-F238E27FC236}">
                <a16:creationId xmlns:a16="http://schemas.microsoft.com/office/drawing/2014/main" id="{3A578F47-94BB-4F8B-72D3-ACB57890D5A6}"/>
              </a:ext>
            </a:extLst>
          </p:cNvPr>
          <p:cNvCxnSpPr>
            <a:cxnSpLocks/>
          </p:cNvCxnSpPr>
          <p:nvPr/>
        </p:nvCxnSpPr>
        <p:spPr>
          <a:xfrm>
            <a:off x="7444821" y="1657257"/>
            <a:ext cx="0" cy="1440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19" name="图片 218">
            <a:extLst>
              <a:ext uri="{FF2B5EF4-FFF2-40B4-BE49-F238E27FC236}">
                <a16:creationId xmlns:a16="http://schemas.microsoft.com/office/drawing/2014/main" id="{8E5FE5A6-CC26-A614-1885-9FB69595BF2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2478" y="3030835"/>
            <a:ext cx="1800000" cy="938692"/>
          </a:xfrm>
          <a:prstGeom prst="rect">
            <a:avLst/>
          </a:prstGeom>
        </p:spPr>
      </p:pic>
      <p:sp>
        <p:nvSpPr>
          <p:cNvPr id="227" name="文本框 226">
            <a:extLst>
              <a:ext uri="{FF2B5EF4-FFF2-40B4-BE49-F238E27FC236}">
                <a16:creationId xmlns:a16="http://schemas.microsoft.com/office/drawing/2014/main" id="{45D16E05-4E71-0050-4A12-8997C3035781}"/>
              </a:ext>
            </a:extLst>
          </p:cNvPr>
          <p:cNvSpPr txBox="1"/>
          <p:nvPr/>
        </p:nvSpPr>
        <p:spPr>
          <a:xfrm>
            <a:off x="7858434" y="3588224"/>
            <a:ext cx="213566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出现跌连情况：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要求前期有连续阳柱形成趋势</a:t>
            </a:r>
            <a:endParaRPr lang="zh-CN" altLang="en-US" sz="900" dirty="0"/>
          </a:p>
        </p:txBody>
      </p:sp>
      <p:pic>
        <p:nvPicPr>
          <p:cNvPr id="228" name="图片 227">
            <a:extLst>
              <a:ext uri="{FF2B5EF4-FFF2-40B4-BE49-F238E27FC236}">
                <a16:creationId xmlns:a16="http://schemas.microsoft.com/office/drawing/2014/main" id="{47204AF9-4F77-F0E9-861D-C443B8DBDA5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72478" y="2302320"/>
            <a:ext cx="1800000" cy="717958"/>
          </a:xfrm>
          <a:prstGeom prst="rect">
            <a:avLst/>
          </a:prstGeom>
        </p:spPr>
      </p:pic>
      <p:sp>
        <p:nvSpPr>
          <p:cNvPr id="229" name="矩形 228">
            <a:extLst>
              <a:ext uri="{FF2B5EF4-FFF2-40B4-BE49-F238E27FC236}">
                <a16:creationId xmlns:a16="http://schemas.microsoft.com/office/drawing/2014/main" id="{96F76C72-A54D-2617-7B3F-9F1625D70210}"/>
              </a:ext>
            </a:extLst>
          </p:cNvPr>
          <p:cNvSpPr/>
          <p:nvPr/>
        </p:nvSpPr>
        <p:spPr>
          <a:xfrm>
            <a:off x="6096251" y="4092744"/>
            <a:ext cx="5615621" cy="903804"/>
          </a:xfrm>
          <a:prstGeom prst="rect">
            <a:avLst/>
          </a:prstGeom>
          <a:noFill/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罗列四柱栅形态的柱排：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标准形态（升排）：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升连跌孕升吞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标准形态（升排后人排） 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升连跌孕升孕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跌孕升吞跌孕升孕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变体形态（升排后人排） 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升连跌吞升孕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变体形态（升排后人排） 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升连跌吞升吞 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升连跌吞升吞跌孕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变体形态（跌排后人排） 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跌连升吞 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跌连升吞跌孕（需要跟在升连之后）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32" name="图片 231">
            <a:extLst>
              <a:ext uri="{FF2B5EF4-FFF2-40B4-BE49-F238E27FC236}">
                <a16:creationId xmlns:a16="http://schemas.microsoft.com/office/drawing/2014/main" id="{FC2A6AC0-3605-F116-0F47-C72F43FE27E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425805" y="2693820"/>
            <a:ext cx="1800000" cy="830445"/>
          </a:xfrm>
          <a:prstGeom prst="rect">
            <a:avLst/>
          </a:prstGeom>
        </p:spPr>
      </p:pic>
      <p:sp>
        <p:nvSpPr>
          <p:cNvPr id="233" name="文本框 232">
            <a:extLst>
              <a:ext uri="{FF2B5EF4-FFF2-40B4-BE49-F238E27FC236}">
                <a16:creationId xmlns:a16="http://schemas.microsoft.com/office/drawing/2014/main" id="{18F79FAA-94F5-80A0-B51A-6B765A17C205}"/>
              </a:ext>
            </a:extLst>
          </p:cNvPr>
          <p:cNvSpPr txBox="1"/>
          <p:nvPr/>
        </p:nvSpPr>
        <p:spPr>
          <a:xfrm>
            <a:off x="-2426694" y="2621743"/>
            <a:ext cx="116259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8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国药股份</a:t>
            </a:r>
            <a:r>
              <a:rPr lang="en-US" altLang="zh-CN" sz="8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20130107</a:t>
            </a:r>
            <a:endParaRPr lang="zh-CN" altLang="en-US" sz="800" dirty="0">
              <a:solidFill>
                <a:schemeClr val="bg1">
                  <a:lumMod val="95000"/>
                </a:schemeClr>
              </a:solidFill>
            </a:endParaRPr>
          </a:p>
        </p:txBody>
      </p:sp>
      <p:grpSp>
        <p:nvGrpSpPr>
          <p:cNvPr id="235" name="组合 234">
            <a:extLst>
              <a:ext uri="{FF2B5EF4-FFF2-40B4-BE49-F238E27FC236}">
                <a16:creationId xmlns:a16="http://schemas.microsoft.com/office/drawing/2014/main" id="{CF0A16B7-DECA-4869-89BB-689A55DCDFC8}"/>
              </a:ext>
            </a:extLst>
          </p:cNvPr>
          <p:cNvGrpSpPr/>
          <p:nvPr/>
        </p:nvGrpSpPr>
        <p:grpSpPr>
          <a:xfrm>
            <a:off x="-2420454" y="3513039"/>
            <a:ext cx="1800000" cy="810362"/>
            <a:chOff x="4292270" y="4006336"/>
            <a:chExt cx="1800000" cy="810362"/>
          </a:xfrm>
        </p:grpSpPr>
        <p:pic>
          <p:nvPicPr>
            <p:cNvPr id="236" name="图片 235">
              <a:extLst>
                <a:ext uri="{FF2B5EF4-FFF2-40B4-BE49-F238E27FC236}">
                  <a16:creationId xmlns:a16="http://schemas.microsoft.com/office/drawing/2014/main" id="{0FF0DF9D-6724-4403-7991-1DEBBE067AD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292270" y="4021162"/>
              <a:ext cx="1800000" cy="795536"/>
            </a:xfrm>
            <a:prstGeom prst="rect">
              <a:avLst/>
            </a:prstGeom>
          </p:spPr>
        </p:pic>
        <p:sp>
          <p:nvSpPr>
            <p:cNvPr id="237" name="文本框 236">
              <a:extLst>
                <a:ext uri="{FF2B5EF4-FFF2-40B4-BE49-F238E27FC236}">
                  <a16:creationId xmlns:a16="http://schemas.microsoft.com/office/drawing/2014/main" id="{A37C66DF-8DE8-A8CB-350B-3BAF5BB41F6F}"/>
                </a:ext>
              </a:extLst>
            </p:cNvPr>
            <p:cNvSpPr txBox="1"/>
            <p:nvPr/>
          </p:nvSpPr>
          <p:spPr>
            <a:xfrm>
              <a:off x="4295111" y="4006336"/>
              <a:ext cx="116259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国药股份</a:t>
              </a:r>
              <a:r>
                <a:rPr lang="en-US" altLang="zh-CN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20141218</a:t>
              </a:r>
              <a:endParaRPr lang="zh-CN" altLang="en-US" sz="8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238" name="图片 237">
            <a:extLst>
              <a:ext uri="{FF2B5EF4-FFF2-40B4-BE49-F238E27FC236}">
                <a16:creationId xmlns:a16="http://schemas.microsoft.com/office/drawing/2014/main" id="{A9FC1B4B-03D9-B372-FDBE-D264E7E08CD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2421445" y="4327001"/>
            <a:ext cx="1800000" cy="608354"/>
          </a:xfrm>
          <a:prstGeom prst="rect">
            <a:avLst/>
          </a:prstGeom>
        </p:spPr>
      </p:pic>
      <p:sp>
        <p:nvSpPr>
          <p:cNvPr id="239" name="文本框 238">
            <a:extLst>
              <a:ext uri="{FF2B5EF4-FFF2-40B4-BE49-F238E27FC236}">
                <a16:creationId xmlns:a16="http://schemas.microsoft.com/office/drawing/2014/main" id="{6A9CC646-2924-CA83-A21B-794CB892B160}"/>
              </a:ext>
            </a:extLst>
          </p:cNvPr>
          <p:cNvSpPr txBox="1"/>
          <p:nvPr/>
        </p:nvSpPr>
        <p:spPr>
          <a:xfrm>
            <a:off x="-2448876" y="4309346"/>
            <a:ext cx="116259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8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国药股份</a:t>
            </a:r>
            <a:r>
              <a:rPr lang="en-US" altLang="zh-CN" sz="8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20200604</a:t>
            </a:r>
            <a:endParaRPr lang="zh-CN" altLang="en-US" sz="800" dirty="0">
              <a:solidFill>
                <a:schemeClr val="bg1">
                  <a:lumMod val="95000"/>
                </a:schemeClr>
              </a:solidFill>
            </a:endParaRPr>
          </a:p>
        </p:txBody>
      </p:sp>
      <p:cxnSp>
        <p:nvCxnSpPr>
          <p:cNvPr id="35" name="直接连接符 34">
            <a:extLst>
              <a:ext uri="{FF2B5EF4-FFF2-40B4-BE49-F238E27FC236}">
                <a16:creationId xmlns:a16="http://schemas.microsoft.com/office/drawing/2014/main" id="{9F5B063D-2FFE-E168-663A-FA35B85AD1EF}"/>
              </a:ext>
            </a:extLst>
          </p:cNvPr>
          <p:cNvCxnSpPr>
            <a:cxnSpLocks/>
          </p:cNvCxnSpPr>
          <p:nvPr/>
        </p:nvCxnSpPr>
        <p:spPr>
          <a:xfrm>
            <a:off x="6096000" y="692263"/>
            <a:ext cx="0" cy="6165737"/>
          </a:xfrm>
          <a:prstGeom prst="line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7" name="表格 26">
            <a:extLst>
              <a:ext uri="{FF2B5EF4-FFF2-40B4-BE49-F238E27FC236}">
                <a16:creationId xmlns:a16="http://schemas.microsoft.com/office/drawing/2014/main" id="{E7F22972-8F11-283C-CAB7-4D707BF087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8494"/>
              </p:ext>
            </p:extLst>
          </p:nvPr>
        </p:nvGraphicFramePr>
        <p:xfrm>
          <a:off x="7780" y="701230"/>
          <a:ext cx="4098242" cy="3901440"/>
        </p:xfrm>
        <a:graphic>
          <a:graphicData uri="http://schemas.openxmlformats.org/drawingml/2006/table">
            <a:tbl>
              <a:tblPr firstRow="1" bandRow="1">
                <a:tableStyleId>{D7AC3CCA-C797-4891-BE02-D94E43425B78}</a:tableStyleId>
              </a:tblPr>
              <a:tblGrid>
                <a:gridCol w="794273">
                  <a:extLst>
                    <a:ext uri="{9D8B030D-6E8A-4147-A177-3AD203B41FA5}">
                      <a16:colId xmlns:a16="http://schemas.microsoft.com/office/drawing/2014/main" val="183652820"/>
                    </a:ext>
                  </a:extLst>
                </a:gridCol>
                <a:gridCol w="3303969">
                  <a:extLst>
                    <a:ext uri="{9D8B030D-6E8A-4147-A177-3AD203B41FA5}">
                      <a16:colId xmlns:a16="http://schemas.microsoft.com/office/drawing/2014/main" val="2660156965"/>
                    </a:ext>
                  </a:extLst>
                </a:gridCol>
              </a:tblGrid>
              <a:tr h="24979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2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主升阶段中的调整结构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43435632"/>
                  </a:ext>
                </a:extLst>
              </a:tr>
              <a:tr h="30796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调整结构分为三个组成部分：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第一部分：连阳或中阳，指明方向。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第二部分：洗盘，回踩。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第三部分：拉升，是升幅最大的部分。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428538"/>
                  </a:ext>
                </a:extLst>
              </a:tr>
              <a:tr h="71857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调整结构的典型形态：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主升结构一般包含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连阳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或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大阳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，主要依赖是否保持升排或调整形态（如四柱栅）。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调整形态：单个悬阴。可以是三柱栅。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调整形态：十字星。可以是横盘十字星，一般不超三个。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调整形态：四柱栅变体，单柱或两柱调整，形成四柱栅变体。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调整形态：连升后出现跌吞，止跌得到支撑后连阳。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调整形态：连升后出现跌连，回归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后止跌并再次拉升。注意跌连后出现单阳柱很可能是诱多。跌连很可能由升势转为平震。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2895907"/>
                  </a:ext>
                </a:extLst>
              </a:tr>
              <a:tr h="30796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调整结构的适用区域：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最优：突破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不久的调整结构，后续主升成功率最高。</a:t>
                      </a:r>
                      <a:endParaRPr lang="en-US" altLang="zh-CN" sz="800" dirty="0">
                        <a:solidFill>
                          <a:schemeClr val="tx1"/>
                        </a:solidFill>
                      </a:endParaRPr>
                    </a:p>
                    <a:p>
                      <a:pPr marL="742950" lvl="1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节能风电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20161017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：四柱栅</a:t>
                      </a:r>
                      <a:endParaRPr lang="en-US" altLang="zh-CN" sz="800" dirty="0">
                        <a:solidFill>
                          <a:schemeClr val="tx1"/>
                        </a:solidFill>
                      </a:endParaRP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次优：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WXZA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劫后再次上破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，出现调整结构。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010646"/>
                  </a:ext>
                </a:extLst>
              </a:tr>
              <a:tr h="63645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调整结构的后续衔接情况：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主升结构：可能继续衔接主升结构，但需要谨慎。</a:t>
                      </a:r>
                      <a:endParaRPr lang="en-US" altLang="zh-CN" sz="800" dirty="0">
                        <a:solidFill>
                          <a:schemeClr val="tx1"/>
                        </a:solidFill>
                      </a:endParaRP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震荡模式：等待选择方向。</a:t>
                      </a:r>
                      <a:endParaRPr lang="en-US" altLang="zh-CN" sz="800" dirty="0">
                        <a:solidFill>
                          <a:schemeClr val="tx1"/>
                        </a:solidFill>
                      </a:endParaRP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顶部结构：如已有巨大涨幅，调整结构可能做顶。</a:t>
                      </a:r>
                      <a:endParaRPr lang="en-US" altLang="zh-CN" sz="800" dirty="0">
                        <a:solidFill>
                          <a:schemeClr val="tx1"/>
                        </a:solidFill>
                      </a:endParaRP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调整结构失败情况：	</a:t>
                      </a:r>
                    </a:p>
                    <a:p>
                      <a:pPr marL="742950" lvl="1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防止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M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头：要防止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/XZB/XAB/XAC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调整，转变为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M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头。</a:t>
                      </a:r>
                    </a:p>
                    <a:p>
                      <a:pPr marL="742950" lvl="1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四柱栅失效情况：最后阳柱要足够大，尽量不选孕阳。</a:t>
                      </a:r>
                    </a:p>
                    <a:p>
                      <a:pPr marL="742950" lvl="1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含十字星五柱栅：还未拉升需要警惕下跌。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7856336"/>
                  </a:ext>
                </a:extLst>
              </a:tr>
              <a:tr h="47220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</a:rPr>
                        <a:t>能够提高成功率的有利因素：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连阳后衔接调整结构：后续大升概率较高。</a:t>
                      </a:r>
                      <a:endParaRPr lang="en-US" altLang="zh-CN" sz="800" dirty="0">
                        <a:solidFill>
                          <a:schemeClr val="tx1"/>
                        </a:solidFill>
                      </a:endParaRP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调整结构后衔接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跌孕：非常好机会。</a:t>
                      </a:r>
                      <a:endParaRPr lang="en-US" altLang="zh-CN" sz="800" dirty="0">
                        <a:solidFill>
                          <a:schemeClr val="tx1"/>
                        </a:solidFill>
                      </a:endParaRPr>
                    </a:p>
                    <a:p>
                      <a:pPr marL="742950" lvl="1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四柱栅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+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跌孕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+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升吞：民和股份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20140714</a:t>
                      </a:r>
                    </a:p>
                    <a:p>
                      <a:pPr marL="285750" lvl="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连续四柱栅：成功率更高。</a:t>
                      </a:r>
                      <a:endParaRPr lang="en-US" altLang="zh-CN" sz="800" dirty="0">
                        <a:solidFill>
                          <a:schemeClr val="tx1"/>
                        </a:solidFill>
                      </a:endParaRPr>
                    </a:p>
                    <a:p>
                      <a:pPr marL="742950" lvl="1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四柱栅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+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真四柱栅：方大炭素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20040116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652123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6589234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933C0A-0320-AFE3-B056-D1778116C1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>
            <a:extLst>
              <a:ext uri="{FF2B5EF4-FFF2-40B4-BE49-F238E27FC236}">
                <a16:creationId xmlns:a16="http://schemas.microsoft.com/office/drawing/2014/main" id="{2D81C368-1015-5469-5E29-E9F8D60559A4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】&lt;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地型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.3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余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</a:p>
          <a:p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主题：汇总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之上左侧退出条件，特别是长久连阳之后的逃顶条件。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表格 1">
            <a:extLst>
              <a:ext uri="{FF2B5EF4-FFF2-40B4-BE49-F238E27FC236}">
                <a16:creationId xmlns:a16="http://schemas.microsoft.com/office/drawing/2014/main" id="{E379D746-0190-02CA-DF52-0B8B7BB0C7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4126303"/>
              </p:ext>
            </p:extLst>
          </p:nvPr>
        </p:nvGraphicFramePr>
        <p:xfrm>
          <a:off x="1" y="722746"/>
          <a:ext cx="6104090" cy="3787408"/>
        </p:xfrm>
        <a:graphic>
          <a:graphicData uri="http://schemas.openxmlformats.org/drawingml/2006/table">
            <a:tbl>
              <a:tblPr firstRow="1" bandRow="1">
                <a:tableStyleId>{22838BEF-8BB2-4498-84A7-C5851F593DF1}</a:tableStyleId>
              </a:tblPr>
              <a:tblGrid>
                <a:gridCol w="883210">
                  <a:extLst>
                    <a:ext uri="{9D8B030D-6E8A-4147-A177-3AD203B41FA5}">
                      <a16:colId xmlns:a16="http://schemas.microsoft.com/office/drawing/2014/main" val="1340599598"/>
                    </a:ext>
                  </a:extLst>
                </a:gridCol>
                <a:gridCol w="5220880">
                  <a:extLst>
                    <a:ext uri="{9D8B030D-6E8A-4147-A177-3AD203B41FA5}">
                      <a16:colId xmlns:a16="http://schemas.microsoft.com/office/drawing/2014/main" val="3428373017"/>
                    </a:ext>
                  </a:extLst>
                </a:gridCol>
              </a:tblGrid>
              <a:tr h="266968">
                <a:tc gridSpan="2"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@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顶部结构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34180251"/>
                  </a:ext>
                </a:extLst>
              </a:tr>
              <a:tr h="36205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判定依据的选择：</a:t>
                      </a:r>
                      <a:endParaRPr lang="en-US" altLang="zh-CN" sz="9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一定要出现逆向信号，但各种信号（包含：离顶、升排转为非升排、下破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、下破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）只是等级不同，例如将某条规则（如下破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）作为通用规则没有意义，必须要结合波段走势进行判断，酌情使用。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原趋势停止：可以利用周级别出现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跌连，代表原上升趋势停止，进入震荡行情，择机退出。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73104949"/>
                  </a:ext>
                </a:extLst>
              </a:tr>
              <a:tr h="266968">
                <a:tc rowSpan="3"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顶部结构的标志：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之上，出现以下情况，可以确认进入顶部结构（震荡区域）。注意不是调整结构，而是即将下跌。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251654"/>
                  </a:ext>
                </a:extLst>
              </a:tr>
              <a:tr h="1053245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异常情况： 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之上非升排（顶部震荡）→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地型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余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久丘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久在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之上，针对非连阳情况（阴阳交错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震荡上行）。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非升排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久丘后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遇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反弹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冲高回落遇到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，会反弹形成阳柱，并后跟阴柱，继而下破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平移震荡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从远离回归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后贴附于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。（天宸股份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202505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特殊形态：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三连阴：三连阴代表已逆转趋势。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阴阳阴：且第三个阴柱应为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两阴夹多阳：典型顶部剧震。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阴阳交错：毫无规律，是典型震荡形态。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42545073"/>
                  </a:ext>
                </a:extLst>
              </a:tr>
              <a:tr h="757020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异常情况：下破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：→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地形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破线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快速回归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后下破：单大阴下破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后，小孕阳柱未站上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（极度危险）。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破线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回落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后下破：从远离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到逐步贴附于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，然后下破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破线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频繁贯穿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震荡，贯穿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阴阳交错。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连阳后破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，可能由主升转变为震荡。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连跌下破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后反弹：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反弹遇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后继续下跌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反弹站上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后再次下破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之下多柱。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918069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9350470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616F10-83F6-F7E6-DEB8-11C52F87D6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矩形 47">
            <a:extLst>
              <a:ext uri="{FF2B5EF4-FFF2-40B4-BE49-F238E27FC236}">
                <a16:creationId xmlns:a16="http://schemas.microsoft.com/office/drawing/2014/main" id="{775B1984-6109-3CFF-B43D-89C3F35C76EE}"/>
              </a:ext>
            </a:extLst>
          </p:cNvPr>
          <p:cNvSpPr/>
          <p:nvPr/>
        </p:nvSpPr>
        <p:spPr>
          <a:xfrm>
            <a:off x="12371237" y="1867863"/>
            <a:ext cx="4570563" cy="2489200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37" name="矩形 236">
            <a:extLst>
              <a:ext uri="{FF2B5EF4-FFF2-40B4-BE49-F238E27FC236}">
                <a16:creationId xmlns:a16="http://schemas.microsoft.com/office/drawing/2014/main" id="{6371176C-CD29-B196-EC40-EF75D59B46C6}"/>
              </a:ext>
            </a:extLst>
          </p:cNvPr>
          <p:cNvSpPr/>
          <p:nvPr/>
        </p:nvSpPr>
        <p:spPr>
          <a:xfrm>
            <a:off x="6102643" y="5932777"/>
            <a:ext cx="6089356" cy="9252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）上破失败（柱收到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阻碍）：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与（下破失败）呈现镜面对称。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：初上破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后又下破。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：未站稳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且反复贯穿。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6C976067-4788-D2A4-6BF2-800CAF8229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】&lt;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地型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.4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暂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&amp;4</a:t>
            </a:r>
            <a:r>
              <a:rPr lang="zh-CN" altLang="en-US" sz="28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蛀</a:t>
            </a:r>
            <a:r>
              <a:rPr lang="en-US" altLang="zh-CN" sz="28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穿越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的典型模式 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针对穿越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的典型模式，汇集总结典型图谱。利用穿越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，辅助判断趋势的状态。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4" name="组合 93">
            <a:extLst>
              <a:ext uri="{FF2B5EF4-FFF2-40B4-BE49-F238E27FC236}">
                <a16:creationId xmlns:a16="http://schemas.microsoft.com/office/drawing/2014/main" id="{0101329F-C602-92BD-30B4-EA64569B24F8}"/>
              </a:ext>
            </a:extLst>
          </p:cNvPr>
          <p:cNvGrpSpPr/>
          <p:nvPr/>
        </p:nvGrpSpPr>
        <p:grpSpPr>
          <a:xfrm>
            <a:off x="8390594" y="6142622"/>
            <a:ext cx="1315754" cy="604235"/>
            <a:chOff x="9121536" y="4443363"/>
            <a:chExt cx="1315754" cy="604235"/>
          </a:xfrm>
        </p:grpSpPr>
        <p:sp>
          <p:nvSpPr>
            <p:cNvPr id="95" name="任意多边形: 形状 94">
              <a:extLst>
                <a:ext uri="{FF2B5EF4-FFF2-40B4-BE49-F238E27FC236}">
                  <a16:creationId xmlns:a16="http://schemas.microsoft.com/office/drawing/2014/main" id="{1802B8D6-CE2B-DDAA-14D5-CAB74D789570}"/>
                </a:ext>
              </a:extLst>
            </p:cNvPr>
            <p:cNvSpPr/>
            <p:nvPr/>
          </p:nvSpPr>
          <p:spPr>
            <a:xfrm flipV="1">
              <a:off x="9121536" y="4605833"/>
              <a:ext cx="1312303" cy="292451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96" name="直接箭头连接符 95">
              <a:extLst>
                <a:ext uri="{FF2B5EF4-FFF2-40B4-BE49-F238E27FC236}">
                  <a16:creationId xmlns:a16="http://schemas.microsoft.com/office/drawing/2014/main" id="{DA5172DD-2DB4-0051-7D81-810AFB3D9B88}"/>
                </a:ext>
              </a:extLst>
            </p:cNvPr>
            <p:cNvCxnSpPr>
              <a:cxnSpLocks/>
            </p:cNvCxnSpPr>
            <p:nvPr/>
          </p:nvCxnSpPr>
          <p:spPr>
            <a:xfrm>
              <a:off x="9144581" y="4709127"/>
              <a:ext cx="468783" cy="19618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矩形 96">
              <a:extLst>
                <a:ext uri="{FF2B5EF4-FFF2-40B4-BE49-F238E27FC236}">
                  <a16:creationId xmlns:a16="http://schemas.microsoft.com/office/drawing/2014/main" id="{87AB51CA-4988-A096-C4BD-DB654A6AA1D6}"/>
                </a:ext>
              </a:extLst>
            </p:cNvPr>
            <p:cNvSpPr/>
            <p:nvPr/>
          </p:nvSpPr>
          <p:spPr>
            <a:xfrm>
              <a:off x="9663891" y="4718284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98" name="直接箭头连接符 97">
              <a:extLst>
                <a:ext uri="{FF2B5EF4-FFF2-40B4-BE49-F238E27FC236}">
                  <a16:creationId xmlns:a16="http://schemas.microsoft.com/office/drawing/2014/main" id="{13209F6F-0702-AF1D-4E96-024DD1D9210C}"/>
                </a:ext>
              </a:extLst>
            </p:cNvPr>
            <p:cNvCxnSpPr>
              <a:cxnSpLocks/>
            </p:cNvCxnSpPr>
            <p:nvPr/>
          </p:nvCxnSpPr>
          <p:spPr>
            <a:xfrm>
              <a:off x="9837852" y="4807217"/>
              <a:ext cx="172955" cy="240381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文本框 98">
              <a:extLst>
                <a:ext uri="{FF2B5EF4-FFF2-40B4-BE49-F238E27FC236}">
                  <a16:creationId xmlns:a16="http://schemas.microsoft.com/office/drawing/2014/main" id="{AAAE28C5-4748-423A-4E1F-7426F497F43D}"/>
                </a:ext>
              </a:extLst>
            </p:cNvPr>
            <p:cNvSpPr txBox="1"/>
            <p:nvPr/>
          </p:nvSpPr>
          <p:spPr>
            <a:xfrm>
              <a:off x="9483183" y="4443363"/>
              <a:ext cx="95410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dirty="0"/>
                <a:t>单柱很难站上</a:t>
              </a:r>
            </a:p>
          </p:txBody>
        </p:sp>
      </p:grpSp>
      <p:grpSp>
        <p:nvGrpSpPr>
          <p:cNvPr id="121" name="组合 120">
            <a:extLst>
              <a:ext uri="{FF2B5EF4-FFF2-40B4-BE49-F238E27FC236}">
                <a16:creationId xmlns:a16="http://schemas.microsoft.com/office/drawing/2014/main" id="{5BE2B7EB-73DE-99BF-628A-02283E16DCFD}"/>
              </a:ext>
            </a:extLst>
          </p:cNvPr>
          <p:cNvGrpSpPr/>
          <p:nvPr/>
        </p:nvGrpSpPr>
        <p:grpSpPr>
          <a:xfrm>
            <a:off x="10175395" y="6019991"/>
            <a:ext cx="1308659" cy="759402"/>
            <a:chOff x="8568750" y="5744735"/>
            <a:chExt cx="1308659" cy="759402"/>
          </a:xfrm>
        </p:grpSpPr>
        <p:sp>
          <p:nvSpPr>
            <p:cNvPr id="122" name="任意多边形: 形状 121">
              <a:extLst>
                <a:ext uri="{FF2B5EF4-FFF2-40B4-BE49-F238E27FC236}">
                  <a16:creationId xmlns:a16="http://schemas.microsoft.com/office/drawing/2014/main" id="{38336E38-D058-0678-778B-A567EB8A981D}"/>
                </a:ext>
              </a:extLst>
            </p:cNvPr>
            <p:cNvSpPr/>
            <p:nvPr/>
          </p:nvSpPr>
          <p:spPr>
            <a:xfrm>
              <a:off x="8648801" y="5758610"/>
              <a:ext cx="1114927" cy="731350"/>
            </a:xfrm>
            <a:custGeom>
              <a:avLst/>
              <a:gdLst>
                <a:gd name="connsiteX0" fmla="*/ 0 w 1114927"/>
                <a:gd name="connsiteY0" fmla="*/ 731350 h 731350"/>
                <a:gd name="connsiteX1" fmla="*/ 657727 w 1114927"/>
                <a:gd name="connsiteY1" fmla="*/ 9455 h 731350"/>
                <a:gd name="connsiteX2" fmla="*/ 1026695 w 1114927"/>
                <a:gd name="connsiteY2" fmla="*/ 322276 h 731350"/>
                <a:gd name="connsiteX3" fmla="*/ 1114927 w 1114927"/>
                <a:gd name="connsiteY3" fmla="*/ 370403 h 73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4927" h="731350">
                  <a:moveTo>
                    <a:pt x="0" y="731350"/>
                  </a:moveTo>
                  <a:cubicBezTo>
                    <a:pt x="243305" y="404492"/>
                    <a:pt x="486611" y="77634"/>
                    <a:pt x="657727" y="9455"/>
                  </a:cubicBezTo>
                  <a:cubicBezTo>
                    <a:pt x="828843" y="-58724"/>
                    <a:pt x="950495" y="262118"/>
                    <a:pt x="1026695" y="322276"/>
                  </a:cubicBezTo>
                  <a:cubicBezTo>
                    <a:pt x="1102895" y="382434"/>
                    <a:pt x="1108911" y="376418"/>
                    <a:pt x="1114927" y="370403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" name="矩形 122">
              <a:extLst>
                <a:ext uri="{FF2B5EF4-FFF2-40B4-BE49-F238E27FC236}">
                  <a16:creationId xmlns:a16="http://schemas.microsoft.com/office/drawing/2014/main" id="{45095C19-DECB-2BE1-CF09-AAB88560DAAF}"/>
                </a:ext>
              </a:extLst>
            </p:cNvPr>
            <p:cNvSpPr/>
            <p:nvPr/>
          </p:nvSpPr>
          <p:spPr>
            <a:xfrm>
              <a:off x="8568750" y="6138000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4" name="矩形 123">
              <a:extLst>
                <a:ext uri="{FF2B5EF4-FFF2-40B4-BE49-F238E27FC236}">
                  <a16:creationId xmlns:a16="http://schemas.microsoft.com/office/drawing/2014/main" id="{F36A2E8C-0ACF-C75C-00EF-56B5B5DC7D56}"/>
                </a:ext>
              </a:extLst>
            </p:cNvPr>
            <p:cNvSpPr/>
            <p:nvPr/>
          </p:nvSpPr>
          <p:spPr>
            <a:xfrm>
              <a:off x="8827326" y="5886087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5" name="矩形 124">
              <a:extLst>
                <a:ext uri="{FF2B5EF4-FFF2-40B4-BE49-F238E27FC236}">
                  <a16:creationId xmlns:a16="http://schemas.microsoft.com/office/drawing/2014/main" id="{0D4DF02A-043A-648A-EAB8-1E391B839E8B}"/>
                </a:ext>
              </a:extLst>
            </p:cNvPr>
            <p:cNvSpPr/>
            <p:nvPr/>
          </p:nvSpPr>
          <p:spPr>
            <a:xfrm>
              <a:off x="8956614" y="5783527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6" name="矩形 125">
              <a:extLst>
                <a:ext uri="{FF2B5EF4-FFF2-40B4-BE49-F238E27FC236}">
                  <a16:creationId xmlns:a16="http://schemas.microsoft.com/office/drawing/2014/main" id="{61773327-B80A-7E07-9CBD-6E99DFAF0718}"/>
                </a:ext>
              </a:extLst>
            </p:cNvPr>
            <p:cNvSpPr/>
            <p:nvPr/>
          </p:nvSpPr>
          <p:spPr>
            <a:xfrm>
              <a:off x="8698038" y="5994000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7" name="矩形 126">
              <a:extLst>
                <a:ext uri="{FF2B5EF4-FFF2-40B4-BE49-F238E27FC236}">
                  <a16:creationId xmlns:a16="http://schemas.microsoft.com/office/drawing/2014/main" id="{1D72C3AA-EF23-CA97-6172-55ED5989A8D6}"/>
                </a:ext>
              </a:extLst>
            </p:cNvPr>
            <p:cNvSpPr/>
            <p:nvPr/>
          </p:nvSpPr>
          <p:spPr>
            <a:xfrm>
              <a:off x="9079524" y="5744735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8" name="矩形 127">
              <a:extLst>
                <a:ext uri="{FF2B5EF4-FFF2-40B4-BE49-F238E27FC236}">
                  <a16:creationId xmlns:a16="http://schemas.microsoft.com/office/drawing/2014/main" id="{ADF6A6F9-940C-EFF5-F991-3123620F4BF0}"/>
                </a:ext>
              </a:extLst>
            </p:cNvPr>
            <p:cNvSpPr/>
            <p:nvPr/>
          </p:nvSpPr>
          <p:spPr>
            <a:xfrm>
              <a:off x="9215187" y="5811763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" name="矩形 128">
              <a:extLst>
                <a:ext uri="{FF2B5EF4-FFF2-40B4-BE49-F238E27FC236}">
                  <a16:creationId xmlns:a16="http://schemas.microsoft.com/office/drawing/2014/main" id="{8240FB74-045E-2E38-6036-E03E4FF9577A}"/>
                </a:ext>
              </a:extLst>
            </p:cNvPr>
            <p:cNvSpPr/>
            <p:nvPr/>
          </p:nvSpPr>
          <p:spPr>
            <a:xfrm>
              <a:off x="9335943" y="5922087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0" name="矩形 129">
              <a:extLst>
                <a:ext uri="{FF2B5EF4-FFF2-40B4-BE49-F238E27FC236}">
                  <a16:creationId xmlns:a16="http://schemas.microsoft.com/office/drawing/2014/main" id="{0BE7C72D-FEE0-CB53-345C-42E5D9FAD273}"/>
                </a:ext>
              </a:extLst>
            </p:cNvPr>
            <p:cNvSpPr/>
            <p:nvPr/>
          </p:nvSpPr>
          <p:spPr>
            <a:xfrm>
              <a:off x="9465231" y="5902523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31" name="直接箭头连接符 130">
              <a:extLst>
                <a:ext uri="{FF2B5EF4-FFF2-40B4-BE49-F238E27FC236}">
                  <a16:creationId xmlns:a16="http://schemas.microsoft.com/office/drawing/2014/main" id="{95B4F193-BD5E-59D0-0312-C0F11DF6368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14249" y="6094419"/>
              <a:ext cx="0" cy="371519"/>
            </a:xfrm>
            <a:prstGeom prst="straightConnector1">
              <a:avLst/>
            </a:prstGeom>
            <a:ln w="317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文本框 131">
              <a:extLst>
                <a:ext uri="{FF2B5EF4-FFF2-40B4-BE49-F238E27FC236}">
                  <a16:creationId xmlns:a16="http://schemas.microsoft.com/office/drawing/2014/main" id="{1A37B02A-27E0-B68D-282F-E1490B61594B}"/>
                </a:ext>
              </a:extLst>
            </p:cNvPr>
            <p:cNvSpPr txBox="1"/>
            <p:nvPr/>
          </p:nvSpPr>
          <p:spPr>
            <a:xfrm>
              <a:off x="9179782" y="6257916"/>
              <a:ext cx="69762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dirty="0">
                  <a:solidFill>
                    <a:srgbClr val="FF0000"/>
                  </a:solidFill>
                </a:rPr>
                <a:t>特别小心</a:t>
              </a:r>
            </a:p>
          </p:txBody>
        </p:sp>
      </p:grpSp>
      <p:sp>
        <p:nvSpPr>
          <p:cNvPr id="10" name="矩形 9">
            <a:extLst>
              <a:ext uri="{FF2B5EF4-FFF2-40B4-BE49-F238E27FC236}">
                <a16:creationId xmlns:a16="http://schemas.microsoft.com/office/drawing/2014/main" id="{5185D9F7-E7B1-DF3B-68E9-3DAFB48D2733}"/>
              </a:ext>
            </a:extLst>
          </p:cNvPr>
          <p:cNvSpPr/>
          <p:nvPr/>
        </p:nvSpPr>
        <p:spPr>
          <a:xfrm>
            <a:off x="6102643" y="2015211"/>
            <a:ext cx="6089356" cy="219450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）柱穿越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的图谱：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特别注意主升结束后下破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的出管方式：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锐角下破：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钝角下破：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阴阳阴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BC81D464-00AB-8728-4971-53B17FFEFFC6}"/>
              </a:ext>
            </a:extLst>
          </p:cNvPr>
          <p:cNvSpPr/>
          <p:nvPr/>
        </p:nvSpPr>
        <p:spPr>
          <a:xfrm>
            <a:off x="6102643" y="720000"/>
            <a:ext cx="6102644" cy="129271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对柱的阻碍与支撑作用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公理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：在主升阶段，很少出现下破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，特别是不会出现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负交的情况。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公理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：在经历长时间远离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后，穿越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时常有反复，可能会先做一个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头再确认穿越。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若以单一均线（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WJA/WJB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）为标准判断趋势，会因（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频繁贯穿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诱多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诱空）所误导，所以要参考柱排。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公理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：穿越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的提前指示作用：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之下呈现长时间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空头排列后，出现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多柱站上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WJA/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短暂下破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后又站上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，是逆转趋势的前导信号。但不需提前介入，需等待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上破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WJC/WXAB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正交再介入。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初始冲高：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/W1w/W1v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可能出现巨阳冲高，但会迅速回落至，随后沿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贴伏运动。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三柱成势：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穿越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时会有反复贯穿。至少三柱才能确认站稳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6" name="组合 175">
            <a:extLst>
              <a:ext uri="{FF2B5EF4-FFF2-40B4-BE49-F238E27FC236}">
                <a16:creationId xmlns:a16="http://schemas.microsoft.com/office/drawing/2014/main" id="{5CD3E877-61F4-DB85-5948-3E1027C8D98E}"/>
              </a:ext>
            </a:extLst>
          </p:cNvPr>
          <p:cNvGrpSpPr/>
          <p:nvPr/>
        </p:nvGrpSpPr>
        <p:grpSpPr>
          <a:xfrm>
            <a:off x="6951327" y="2621487"/>
            <a:ext cx="878457" cy="368963"/>
            <a:chOff x="2960112" y="2019477"/>
            <a:chExt cx="878457" cy="368963"/>
          </a:xfrm>
        </p:grpSpPr>
        <p:sp>
          <p:nvSpPr>
            <p:cNvPr id="5" name="任意多边形: 形状 4">
              <a:extLst>
                <a:ext uri="{FF2B5EF4-FFF2-40B4-BE49-F238E27FC236}">
                  <a16:creationId xmlns:a16="http://schemas.microsoft.com/office/drawing/2014/main" id="{382B85D4-8D35-2A66-FF1F-AA5E6DC61C65}"/>
                </a:ext>
              </a:extLst>
            </p:cNvPr>
            <p:cNvSpPr/>
            <p:nvPr/>
          </p:nvSpPr>
          <p:spPr>
            <a:xfrm>
              <a:off x="2960112" y="2171699"/>
              <a:ext cx="878457" cy="216741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6" name="直接箭头连接符 5">
              <a:extLst>
                <a:ext uri="{FF2B5EF4-FFF2-40B4-BE49-F238E27FC236}">
                  <a16:creationId xmlns:a16="http://schemas.microsoft.com/office/drawing/2014/main" id="{CFD50FA2-8CD0-6F02-D039-0EF8E8A8CB6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972354" y="2019477"/>
              <a:ext cx="604756" cy="327283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箭头连接符 12">
              <a:extLst>
                <a:ext uri="{FF2B5EF4-FFF2-40B4-BE49-F238E27FC236}">
                  <a16:creationId xmlns:a16="http://schemas.microsoft.com/office/drawing/2014/main" id="{2E0B6C40-D951-6BEF-0AED-705B1316F685}"/>
                </a:ext>
              </a:extLst>
            </p:cNvPr>
            <p:cNvCxnSpPr>
              <a:cxnSpLocks/>
            </p:cNvCxnSpPr>
            <p:nvPr/>
          </p:nvCxnSpPr>
          <p:spPr>
            <a:xfrm>
              <a:off x="3589352" y="2019477"/>
              <a:ext cx="0" cy="327283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7" name="组合 176">
            <a:extLst>
              <a:ext uri="{FF2B5EF4-FFF2-40B4-BE49-F238E27FC236}">
                <a16:creationId xmlns:a16="http://schemas.microsoft.com/office/drawing/2014/main" id="{A1BEA06E-2C3D-84CB-8D41-1FE9219F2306}"/>
              </a:ext>
            </a:extLst>
          </p:cNvPr>
          <p:cNvGrpSpPr/>
          <p:nvPr/>
        </p:nvGrpSpPr>
        <p:grpSpPr>
          <a:xfrm>
            <a:off x="6911096" y="3202290"/>
            <a:ext cx="878457" cy="368963"/>
            <a:chOff x="3977156" y="2019477"/>
            <a:chExt cx="878457" cy="368963"/>
          </a:xfrm>
        </p:grpSpPr>
        <p:sp>
          <p:nvSpPr>
            <p:cNvPr id="16" name="任意多边形: 形状 15">
              <a:extLst>
                <a:ext uri="{FF2B5EF4-FFF2-40B4-BE49-F238E27FC236}">
                  <a16:creationId xmlns:a16="http://schemas.microsoft.com/office/drawing/2014/main" id="{9489C287-3EDA-0607-F5FB-7BAC951EFE73}"/>
                </a:ext>
              </a:extLst>
            </p:cNvPr>
            <p:cNvSpPr/>
            <p:nvPr/>
          </p:nvSpPr>
          <p:spPr>
            <a:xfrm>
              <a:off x="3977156" y="2171699"/>
              <a:ext cx="878457" cy="216741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7" name="直接箭头连接符 16">
              <a:extLst>
                <a:ext uri="{FF2B5EF4-FFF2-40B4-BE49-F238E27FC236}">
                  <a16:creationId xmlns:a16="http://schemas.microsoft.com/office/drawing/2014/main" id="{855E0493-124E-FEFE-D306-93E581789B2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89398" y="2019477"/>
              <a:ext cx="604756" cy="327283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接箭头连接符 17">
              <a:extLst>
                <a:ext uri="{FF2B5EF4-FFF2-40B4-BE49-F238E27FC236}">
                  <a16:creationId xmlns:a16="http://schemas.microsoft.com/office/drawing/2014/main" id="{60202CC5-59A0-2A5F-EBDB-7D0FB54BC463}"/>
                </a:ext>
              </a:extLst>
            </p:cNvPr>
            <p:cNvCxnSpPr>
              <a:cxnSpLocks/>
            </p:cNvCxnSpPr>
            <p:nvPr/>
          </p:nvCxnSpPr>
          <p:spPr>
            <a:xfrm>
              <a:off x="4606396" y="2019477"/>
              <a:ext cx="249217" cy="247473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1" name="组合 150">
            <a:extLst>
              <a:ext uri="{FF2B5EF4-FFF2-40B4-BE49-F238E27FC236}">
                <a16:creationId xmlns:a16="http://schemas.microsoft.com/office/drawing/2014/main" id="{BFDAF303-9063-E5B9-2EF0-5433B3758E2D}"/>
              </a:ext>
            </a:extLst>
          </p:cNvPr>
          <p:cNvGrpSpPr/>
          <p:nvPr/>
        </p:nvGrpSpPr>
        <p:grpSpPr>
          <a:xfrm>
            <a:off x="8059878" y="2627446"/>
            <a:ext cx="1233996" cy="403009"/>
            <a:chOff x="325338" y="2635745"/>
            <a:chExt cx="1233996" cy="403009"/>
          </a:xfrm>
        </p:grpSpPr>
        <p:sp>
          <p:nvSpPr>
            <p:cNvPr id="33" name="任意多边形: 形状 32">
              <a:extLst>
                <a:ext uri="{FF2B5EF4-FFF2-40B4-BE49-F238E27FC236}">
                  <a16:creationId xmlns:a16="http://schemas.microsoft.com/office/drawing/2014/main" id="{765CACC0-42E4-9B1C-0D38-884D4FD374A6}"/>
                </a:ext>
              </a:extLst>
            </p:cNvPr>
            <p:cNvSpPr/>
            <p:nvPr/>
          </p:nvSpPr>
          <p:spPr>
            <a:xfrm>
              <a:off x="325338" y="2701402"/>
              <a:ext cx="1233996" cy="337352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34" name="直接箭头连接符 33">
              <a:extLst>
                <a:ext uri="{FF2B5EF4-FFF2-40B4-BE49-F238E27FC236}">
                  <a16:creationId xmlns:a16="http://schemas.microsoft.com/office/drawing/2014/main" id="{3DC8C604-CFCA-2A4C-4F73-7222672CB0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37580" y="2669790"/>
              <a:ext cx="604756" cy="327283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矩形 34">
              <a:extLst>
                <a:ext uri="{FF2B5EF4-FFF2-40B4-BE49-F238E27FC236}">
                  <a16:creationId xmlns:a16="http://schemas.microsoft.com/office/drawing/2014/main" id="{360D0882-2E48-B87D-96C5-0DE686199246}"/>
                </a:ext>
              </a:extLst>
            </p:cNvPr>
            <p:cNvSpPr/>
            <p:nvPr/>
          </p:nvSpPr>
          <p:spPr>
            <a:xfrm>
              <a:off x="970388" y="2635745"/>
              <a:ext cx="72000" cy="216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6" name="矩形 35">
              <a:extLst>
                <a:ext uri="{FF2B5EF4-FFF2-40B4-BE49-F238E27FC236}">
                  <a16:creationId xmlns:a16="http://schemas.microsoft.com/office/drawing/2014/main" id="{DF7EDDD5-5F16-5763-8303-682909718D6E}"/>
                </a:ext>
              </a:extLst>
            </p:cNvPr>
            <p:cNvSpPr/>
            <p:nvPr/>
          </p:nvSpPr>
          <p:spPr>
            <a:xfrm>
              <a:off x="1098373" y="2698158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2" name="矩形 31">
              <a:extLst>
                <a:ext uri="{FF2B5EF4-FFF2-40B4-BE49-F238E27FC236}">
                  <a16:creationId xmlns:a16="http://schemas.microsoft.com/office/drawing/2014/main" id="{7BDB9110-DB37-19F9-6A1A-7B9A100B15D9}"/>
                </a:ext>
              </a:extLst>
            </p:cNvPr>
            <p:cNvSpPr/>
            <p:nvPr/>
          </p:nvSpPr>
          <p:spPr>
            <a:xfrm>
              <a:off x="1241248" y="2745783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37" name="直接箭头连接符 36">
              <a:extLst>
                <a:ext uri="{FF2B5EF4-FFF2-40B4-BE49-F238E27FC236}">
                  <a16:creationId xmlns:a16="http://schemas.microsoft.com/office/drawing/2014/main" id="{1C6AD6C4-D012-68A3-09B6-EC3DA69D4C8F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1347823" y="2817975"/>
              <a:ext cx="180000" cy="17874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2" name="组合 151">
            <a:extLst>
              <a:ext uri="{FF2B5EF4-FFF2-40B4-BE49-F238E27FC236}">
                <a16:creationId xmlns:a16="http://schemas.microsoft.com/office/drawing/2014/main" id="{BEE37637-DD3E-A56E-6A58-B70169089802}"/>
              </a:ext>
            </a:extLst>
          </p:cNvPr>
          <p:cNvGrpSpPr/>
          <p:nvPr/>
        </p:nvGrpSpPr>
        <p:grpSpPr>
          <a:xfrm>
            <a:off x="9423829" y="2627446"/>
            <a:ext cx="1233996" cy="403009"/>
            <a:chOff x="1689289" y="2635745"/>
            <a:chExt cx="1233996" cy="403009"/>
          </a:xfrm>
        </p:grpSpPr>
        <p:sp>
          <p:nvSpPr>
            <p:cNvPr id="45" name="任意多边形: 形状 44">
              <a:extLst>
                <a:ext uri="{FF2B5EF4-FFF2-40B4-BE49-F238E27FC236}">
                  <a16:creationId xmlns:a16="http://schemas.microsoft.com/office/drawing/2014/main" id="{57DD0A36-34C8-D45E-72E3-926AA2F3DDA5}"/>
                </a:ext>
              </a:extLst>
            </p:cNvPr>
            <p:cNvSpPr/>
            <p:nvPr/>
          </p:nvSpPr>
          <p:spPr>
            <a:xfrm>
              <a:off x="1689289" y="2701402"/>
              <a:ext cx="1233996" cy="337352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46" name="直接箭头连接符 45">
              <a:extLst>
                <a:ext uri="{FF2B5EF4-FFF2-40B4-BE49-F238E27FC236}">
                  <a16:creationId xmlns:a16="http://schemas.microsoft.com/office/drawing/2014/main" id="{726C0F17-C32C-CA24-6801-0BA20D4F145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701531" y="2669790"/>
              <a:ext cx="604756" cy="327283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矩形 46">
              <a:extLst>
                <a:ext uri="{FF2B5EF4-FFF2-40B4-BE49-F238E27FC236}">
                  <a16:creationId xmlns:a16="http://schemas.microsoft.com/office/drawing/2014/main" id="{FB8B5137-0E90-301C-2E6D-34DFF0306D4E}"/>
                </a:ext>
              </a:extLst>
            </p:cNvPr>
            <p:cNvSpPr/>
            <p:nvPr/>
          </p:nvSpPr>
          <p:spPr>
            <a:xfrm>
              <a:off x="2334339" y="2635745"/>
              <a:ext cx="72000" cy="216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3" name="矩形 132">
              <a:extLst>
                <a:ext uri="{FF2B5EF4-FFF2-40B4-BE49-F238E27FC236}">
                  <a16:creationId xmlns:a16="http://schemas.microsoft.com/office/drawing/2014/main" id="{F80C1280-7102-D025-FE35-8B65AD1476F2}"/>
                </a:ext>
              </a:extLst>
            </p:cNvPr>
            <p:cNvSpPr/>
            <p:nvPr/>
          </p:nvSpPr>
          <p:spPr>
            <a:xfrm>
              <a:off x="2462324" y="2698158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4" name="矩形 133">
              <a:extLst>
                <a:ext uri="{FF2B5EF4-FFF2-40B4-BE49-F238E27FC236}">
                  <a16:creationId xmlns:a16="http://schemas.microsoft.com/office/drawing/2014/main" id="{3AF16783-1A63-999F-5DD9-E0637DFD8975}"/>
                </a:ext>
              </a:extLst>
            </p:cNvPr>
            <p:cNvSpPr/>
            <p:nvPr/>
          </p:nvSpPr>
          <p:spPr>
            <a:xfrm>
              <a:off x="2595674" y="2698158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35" name="直接箭头连接符 134">
              <a:extLst>
                <a:ext uri="{FF2B5EF4-FFF2-40B4-BE49-F238E27FC236}">
                  <a16:creationId xmlns:a16="http://schemas.microsoft.com/office/drawing/2014/main" id="{1FCB5CD6-B0EE-172E-925D-B3C2ABE87A22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2692724" y="2817975"/>
              <a:ext cx="180000" cy="17874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3" name="组合 152">
            <a:extLst>
              <a:ext uri="{FF2B5EF4-FFF2-40B4-BE49-F238E27FC236}">
                <a16:creationId xmlns:a16="http://schemas.microsoft.com/office/drawing/2014/main" id="{DE8EA4CE-984E-7AAA-8012-6A131079441F}"/>
              </a:ext>
            </a:extLst>
          </p:cNvPr>
          <p:cNvGrpSpPr/>
          <p:nvPr/>
        </p:nvGrpSpPr>
        <p:grpSpPr>
          <a:xfrm>
            <a:off x="10758624" y="2627446"/>
            <a:ext cx="1233996" cy="403009"/>
            <a:chOff x="3024084" y="2635745"/>
            <a:chExt cx="1233996" cy="403009"/>
          </a:xfrm>
        </p:grpSpPr>
        <p:sp>
          <p:nvSpPr>
            <p:cNvPr id="137" name="任意多边形: 形状 136">
              <a:extLst>
                <a:ext uri="{FF2B5EF4-FFF2-40B4-BE49-F238E27FC236}">
                  <a16:creationId xmlns:a16="http://schemas.microsoft.com/office/drawing/2014/main" id="{99881F67-1DDC-7E70-DB58-13016AEA7536}"/>
                </a:ext>
              </a:extLst>
            </p:cNvPr>
            <p:cNvSpPr/>
            <p:nvPr/>
          </p:nvSpPr>
          <p:spPr>
            <a:xfrm>
              <a:off x="3024084" y="2701402"/>
              <a:ext cx="1233996" cy="337352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38" name="直接箭头连接符 137">
              <a:extLst>
                <a:ext uri="{FF2B5EF4-FFF2-40B4-BE49-F238E27FC236}">
                  <a16:creationId xmlns:a16="http://schemas.microsoft.com/office/drawing/2014/main" id="{FB0C0AD5-2477-1304-9F83-FDC25402798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36326" y="2669790"/>
              <a:ext cx="604756" cy="327283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" name="矩形 138">
              <a:extLst>
                <a:ext uri="{FF2B5EF4-FFF2-40B4-BE49-F238E27FC236}">
                  <a16:creationId xmlns:a16="http://schemas.microsoft.com/office/drawing/2014/main" id="{877EEA39-E3F0-6BF9-026D-8D306799AFB6}"/>
                </a:ext>
              </a:extLst>
            </p:cNvPr>
            <p:cNvSpPr/>
            <p:nvPr/>
          </p:nvSpPr>
          <p:spPr>
            <a:xfrm>
              <a:off x="3669134" y="2635745"/>
              <a:ext cx="72000" cy="28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0" name="矩形 139">
              <a:extLst>
                <a:ext uri="{FF2B5EF4-FFF2-40B4-BE49-F238E27FC236}">
                  <a16:creationId xmlns:a16="http://schemas.microsoft.com/office/drawing/2014/main" id="{25E8BDE5-85BC-9A52-E9B6-B334DEFCD2CC}"/>
                </a:ext>
              </a:extLst>
            </p:cNvPr>
            <p:cNvSpPr/>
            <p:nvPr/>
          </p:nvSpPr>
          <p:spPr>
            <a:xfrm>
              <a:off x="3797119" y="2812458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42" name="直接箭头连接符 141">
              <a:extLst>
                <a:ext uri="{FF2B5EF4-FFF2-40B4-BE49-F238E27FC236}">
                  <a16:creationId xmlns:a16="http://schemas.microsoft.com/office/drawing/2014/main" id="{34F33200-DD05-480D-7ADA-3D5DA615F793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3922744" y="2817975"/>
              <a:ext cx="180000" cy="17874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8" name="组合 157">
            <a:extLst>
              <a:ext uri="{FF2B5EF4-FFF2-40B4-BE49-F238E27FC236}">
                <a16:creationId xmlns:a16="http://schemas.microsoft.com/office/drawing/2014/main" id="{BCE7933A-EE67-8341-2266-DA4F97B4F6B3}"/>
              </a:ext>
            </a:extLst>
          </p:cNvPr>
          <p:cNvGrpSpPr/>
          <p:nvPr/>
        </p:nvGrpSpPr>
        <p:grpSpPr>
          <a:xfrm>
            <a:off x="6875180" y="3716520"/>
            <a:ext cx="1413996" cy="439085"/>
            <a:chOff x="1765730" y="3191419"/>
            <a:chExt cx="1413996" cy="439085"/>
          </a:xfrm>
        </p:grpSpPr>
        <p:sp>
          <p:nvSpPr>
            <p:cNvPr id="146" name="任意多边形: 形状 145">
              <a:extLst>
                <a:ext uri="{FF2B5EF4-FFF2-40B4-BE49-F238E27FC236}">
                  <a16:creationId xmlns:a16="http://schemas.microsoft.com/office/drawing/2014/main" id="{D0CEEC59-D4BD-E680-974A-E894B7B30C60}"/>
                </a:ext>
              </a:extLst>
            </p:cNvPr>
            <p:cNvSpPr/>
            <p:nvPr/>
          </p:nvSpPr>
          <p:spPr>
            <a:xfrm>
              <a:off x="1765730" y="3293152"/>
              <a:ext cx="1233996" cy="337352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47" name="直接箭头连接符 146">
              <a:extLst>
                <a:ext uri="{FF2B5EF4-FFF2-40B4-BE49-F238E27FC236}">
                  <a16:creationId xmlns:a16="http://schemas.microsoft.com/office/drawing/2014/main" id="{58AF8057-82D2-30B5-CF60-60E5848303E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777972" y="3261540"/>
              <a:ext cx="604756" cy="327283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8" name="矩形 147">
              <a:extLst>
                <a:ext uri="{FF2B5EF4-FFF2-40B4-BE49-F238E27FC236}">
                  <a16:creationId xmlns:a16="http://schemas.microsoft.com/office/drawing/2014/main" id="{E3BF5EF2-F1CA-D73E-FF82-9F1F111656FF}"/>
                </a:ext>
              </a:extLst>
            </p:cNvPr>
            <p:cNvSpPr/>
            <p:nvPr/>
          </p:nvSpPr>
          <p:spPr>
            <a:xfrm>
              <a:off x="2410780" y="3227495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9" name="矩形 148">
              <a:extLst>
                <a:ext uri="{FF2B5EF4-FFF2-40B4-BE49-F238E27FC236}">
                  <a16:creationId xmlns:a16="http://schemas.microsoft.com/office/drawing/2014/main" id="{8BE008DC-B02F-6A5F-A4D5-E368A49CA53B}"/>
                </a:ext>
              </a:extLst>
            </p:cNvPr>
            <p:cNvSpPr/>
            <p:nvPr/>
          </p:nvSpPr>
          <p:spPr>
            <a:xfrm>
              <a:off x="2538765" y="3270858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5" name="矩形 144">
              <a:extLst>
                <a:ext uri="{FF2B5EF4-FFF2-40B4-BE49-F238E27FC236}">
                  <a16:creationId xmlns:a16="http://schemas.microsoft.com/office/drawing/2014/main" id="{23005B69-39EA-A64B-B0BD-BA58B9CEE22B}"/>
                </a:ext>
              </a:extLst>
            </p:cNvPr>
            <p:cNvSpPr/>
            <p:nvPr/>
          </p:nvSpPr>
          <p:spPr>
            <a:xfrm>
              <a:off x="2655227" y="3191419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" name="矩形 154">
              <a:extLst>
                <a:ext uri="{FF2B5EF4-FFF2-40B4-BE49-F238E27FC236}">
                  <a16:creationId xmlns:a16="http://schemas.microsoft.com/office/drawing/2014/main" id="{7D88086B-D073-AE0E-A082-6A3D6F1E6855}"/>
                </a:ext>
              </a:extLst>
            </p:cNvPr>
            <p:cNvSpPr/>
            <p:nvPr/>
          </p:nvSpPr>
          <p:spPr>
            <a:xfrm>
              <a:off x="2763484" y="3227495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" name="矩形 155">
              <a:extLst>
                <a:ext uri="{FF2B5EF4-FFF2-40B4-BE49-F238E27FC236}">
                  <a16:creationId xmlns:a16="http://schemas.microsoft.com/office/drawing/2014/main" id="{3A7AF6EB-6C86-EFF5-2B50-2CB1D4089ADA}"/>
                </a:ext>
              </a:extLst>
            </p:cNvPr>
            <p:cNvSpPr/>
            <p:nvPr/>
          </p:nvSpPr>
          <p:spPr>
            <a:xfrm>
              <a:off x="2891469" y="3270858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57" name="直接箭头连接符 156">
              <a:extLst>
                <a:ext uri="{FF2B5EF4-FFF2-40B4-BE49-F238E27FC236}">
                  <a16:creationId xmlns:a16="http://schemas.microsoft.com/office/drawing/2014/main" id="{A9B05FB1-AF34-3986-DB78-4D4C4FBC9604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2999726" y="3389298"/>
              <a:ext cx="180000" cy="17874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9" name="组合 168">
            <a:extLst>
              <a:ext uri="{FF2B5EF4-FFF2-40B4-BE49-F238E27FC236}">
                <a16:creationId xmlns:a16="http://schemas.microsoft.com/office/drawing/2014/main" id="{134954FE-07FB-840F-8E6E-71C019B906B4}"/>
              </a:ext>
            </a:extLst>
          </p:cNvPr>
          <p:cNvGrpSpPr/>
          <p:nvPr/>
        </p:nvGrpSpPr>
        <p:grpSpPr>
          <a:xfrm>
            <a:off x="8078928" y="3219196"/>
            <a:ext cx="1233996" cy="470340"/>
            <a:chOff x="344388" y="3227495"/>
            <a:chExt cx="1233996" cy="470340"/>
          </a:xfrm>
        </p:grpSpPr>
        <p:grpSp>
          <p:nvGrpSpPr>
            <p:cNvPr id="154" name="组合 153">
              <a:extLst>
                <a:ext uri="{FF2B5EF4-FFF2-40B4-BE49-F238E27FC236}">
                  <a16:creationId xmlns:a16="http://schemas.microsoft.com/office/drawing/2014/main" id="{35221D12-5417-05BA-D14A-DE703760767F}"/>
                </a:ext>
              </a:extLst>
            </p:cNvPr>
            <p:cNvGrpSpPr/>
            <p:nvPr/>
          </p:nvGrpSpPr>
          <p:grpSpPr>
            <a:xfrm>
              <a:off x="344388" y="3227495"/>
              <a:ext cx="1233996" cy="403009"/>
              <a:chOff x="344388" y="3227495"/>
              <a:chExt cx="1233996" cy="403009"/>
            </a:xfrm>
          </p:grpSpPr>
          <p:grpSp>
            <p:nvGrpSpPr>
              <p:cNvPr id="29" name="组合 28">
                <a:extLst>
                  <a:ext uri="{FF2B5EF4-FFF2-40B4-BE49-F238E27FC236}">
                    <a16:creationId xmlns:a16="http://schemas.microsoft.com/office/drawing/2014/main" id="{81E06821-2AB9-E65F-B893-9D5A86C5A18B}"/>
                  </a:ext>
                </a:extLst>
              </p:cNvPr>
              <p:cNvGrpSpPr/>
              <p:nvPr/>
            </p:nvGrpSpPr>
            <p:grpSpPr>
              <a:xfrm>
                <a:off x="344388" y="3227495"/>
                <a:ext cx="1233996" cy="403009"/>
                <a:chOff x="344388" y="3227495"/>
                <a:chExt cx="1233996" cy="403009"/>
              </a:xfrm>
            </p:grpSpPr>
            <p:grpSp>
              <p:nvGrpSpPr>
                <p:cNvPr id="20" name="组合 19">
                  <a:extLst>
                    <a:ext uri="{FF2B5EF4-FFF2-40B4-BE49-F238E27FC236}">
                      <a16:creationId xmlns:a16="http://schemas.microsoft.com/office/drawing/2014/main" id="{05D9FE27-4F6E-7662-A8B4-2CE4387B7DCA}"/>
                    </a:ext>
                  </a:extLst>
                </p:cNvPr>
                <p:cNvGrpSpPr/>
                <p:nvPr/>
              </p:nvGrpSpPr>
              <p:grpSpPr>
                <a:xfrm>
                  <a:off x="344388" y="3227495"/>
                  <a:ext cx="1233996" cy="403009"/>
                  <a:chOff x="4190262" y="4637854"/>
                  <a:chExt cx="1233996" cy="403009"/>
                </a:xfrm>
              </p:grpSpPr>
              <p:sp>
                <p:nvSpPr>
                  <p:cNvPr id="21" name="任意多边形: 形状 20">
                    <a:extLst>
                      <a:ext uri="{FF2B5EF4-FFF2-40B4-BE49-F238E27FC236}">
                        <a16:creationId xmlns:a16="http://schemas.microsoft.com/office/drawing/2014/main" id="{8DBC6466-DFE0-7251-E817-1A2ACA2EF682}"/>
                      </a:ext>
                    </a:extLst>
                  </p:cNvPr>
                  <p:cNvSpPr/>
                  <p:nvPr/>
                </p:nvSpPr>
                <p:spPr>
                  <a:xfrm>
                    <a:off x="4190262" y="4703511"/>
                    <a:ext cx="1233996" cy="337352"/>
                  </a:xfrm>
                  <a:custGeom>
                    <a:avLst/>
                    <a:gdLst>
                      <a:gd name="connsiteX0" fmla="*/ 0 w 1260629"/>
                      <a:gd name="connsiteY0" fmla="*/ 230820 h 230820"/>
                      <a:gd name="connsiteX1" fmla="*/ 1260629 w 1260629"/>
                      <a:gd name="connsiteY1" fmla="*/ 0 h 230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60629" h="230820">
                        <a:moveTo>
                          <a:pt x="0" y="230820"/>
                        </a:moveTo>
                        <a:lnTo>
                          <a:pt x="1260629" y="0"/>
                        </a:lnTo>
                      </a:path>
                    </a:pathLst>
                  </a:custGeom>
                  <a:noFill/>
                  <a:ln w="28575">
                    <a:solidFill>
                      <a:schemeClr val="tx1">
                        <a:lumMod val="95000"/>
                        <a:lumOff val="5000"/>
                      </a:schemeClr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cxnSp>
                <p:nvCxnSpPr>
                  <p:cNvPr id="22" name="直接箭头连接符 21">
                    <a:extLst>
                      <a:ext uri="{FF2B5EF4-FFF2-40B4-BE49-F238E27FC236}">
                        <a16:creationId xmlns:a16="http://schemas.microsoft.com/office/drawing/2014/main" id="{CCED166B-F486-8A8F-0048-8EBEEAECF9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4202504" y="4671899"/>
                    <a:ext cx="604756" cy="327283"/>
                  </a:xfrm>
                  <a:prstGeom prst="straightConnector1">
                    <a:avLst/>
                  </a:prstGeom>
                  <a:ln w="34925">
                    <a:solidFill>
                      <a:schemeClr val="accent5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" name="矩形 22">
                    <a:extLst>
                      <a:ext uri="{FF2B5EF4-FFF2-40B4-BE49-F238E27FC236}">
                        <a16:creationId xmlns:a16="http://schemas.microsoft.com/office/drawing/2014/main" id="{854C3851-9176-4BDE-AEAC-919E1538AB59}"/>
                      </a:ext>
                    </a:extLst>
                  </p:cNvPr>
                  <p:cNvSpPr/>
                  <p:nvPr/>
                </p:nvSpPr>
                <p:spPr>
                  <a:xfrm>
                    <a:off x="4835312" y="4637854"/>
                    <a:ext cx="72000" cy="108000"/>
                  </a:xfrm>
                  <a:prstGeom prst="rect">
                    <a:avLst/>
                  </a:prstGeom>
                  <a:solidFill>
                    <a:schemeClr val="accent6">
                      <a:lumMod val="75000"/>
                    </a:schemeClr>
                  </a:solidFill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24" name="矩形 23">
                    <a:extLst>
                      <a:ext uri="{FF2B5EF4-FFF2-40B4-BE49-F238E27FC236}">
                        <a16:creationId xmlns:a16="http://schemas.microsoft.com/office/drawing/2014/main" id="{13BD20B8-9FC8-34E1-7219-471C0F9ED937}"/>
                      </a:ext>
                    </a:extLst>
                  </p:cNvPr>
                  <p:cNvSpPr/>
                  <p:nvPr/>
                </p:nvSpPr>
                <p:spPr>
                  <a:xfrm>
                    <a:off x="4963297" y="4681217"/>
                    <a:ext cx="72000" cy="108000"/>
                  </a:xfrm>
                  <a:prstGeom prst="rect">
                    <a:avLst/>
                  </a:prstGeom>
                  <a:solidFill>
                    <a:schemeClr val="accent6">
                      <a:lumMod val="75000"/>
                    </a:schemeClr>
                  </a:solidFill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28" name="矩形 27">
                  <a:extLst>
                    <a:ext uri="{FF2B5EF4-FFF2-40B4-BE49-F238E27FC236}">
                      <a16:creationId xmlns:a16="http://schemas.microsoft.com/office/drawing/2014/main" id="{9C1AC4C9-2C15-9B75-C32E-F99DEE54BBC4}"/>
                    </a:ext>
                  </a:extLst>
                </p:cNvPr>
                <p:cNvSpPr/>
                <p:nvPr/>
              </p:nvSpPr>
              <p:spPr>
                <a:xfrm>
                  <a:off x="1260298" y="3337533"/>
                  <a:ext cx="72000" cy="108000"/>
                </a:xfrm>
                <a:prstGeom prst="rect">
                  <a:avLst/>
                </a:prstGeom>
                <a:solidFill>
                  <a:schemeClr val="accent6">
                    <a:lumMod val="75000"/>
                  </a:schemeClr>
                </a:solid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cxnSp>
            <p:nvCxnSpPr>
              <p:cNvPr id="150" name="直接箭头连接符 149">
                <a:extLst>
                  <a:ext uri="{FF2B5EF4-FFF2-40B4-BE49-F238E27FC236}">
                    <a16:creationId xmlns:a16="http://schemas.microsoft.com/office/drawing/2014/main" id="{6F477AE6-2251-26C8-7224-8BE4C9AC50E1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>
                <a:off x="1379334" y="3429000"/>
                <a:ext cx="180000" cy="178740"/>
              </a:xfrm>
              <a:prstGeom prst="straightConnector1">
                <a:avLst/>
              </a:prstGeom>
              <a:ln w="34925">
                <a:solidFill>
                  <a:schemeClr val="accent5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8" name="文本框 167">
              <a:extLst>
                <a:ext uri="{FF2B5EF4-FFF2-40B4-BE49-F238E27FC236}">
                  <a16:creationId xmlns:a16="http://schemas.microsoft.com/office/drawing/2014/main" id="{BC0C7164-0F29-F573-DD1D-46A00C6FE32C}"/>
                </a:ext>
              </a:extLst>
            </p:cNvPr>
            <p:cNvSpPr txBox="1"/>
            <p:nvPr/>
          </p:nvSpPr>
          <p:spPr>
            <a:xfrm>
              <a:off x="1010542" y="3451614"/>
              <a:ext cx="44114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dirty="0"/>
                <a:t>跌连</a:t>
              </a:r>
            </a:p>
          </p:txBody>
        </p:sp>
      </p:grpSp>
      <p:sp>
        <p:nvSpPr>
          <p:cNvPr id="171" name="文本框 170">
            <a:extLst>
              <a:ext uri="{FF2B5EF4-FFF2-40B4-BE49-F238E27FC236}">
                <a16:creationId xmlns:a16="http://schemas.microsoft.com/office/drawing/2014/main" id="{F339E32B-4D21-AE29-3AE6-41B8EA3F1D33}"/>
              </a:ext>
            </a:extLst>
          </p:cNvPr>
          <p:cNvSpPr txBox="1"/>
          <p:nvPr/>
        </p:nvSpPr>
        <p:spPr>
          <a:xfrm>
            <a:off x="6139042" y="2661124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000" b="1" dirty="0"/>
              <a:t>锐角</a:t>
            </a:r>
          </a:p>
        </p:txBody>
      </p:sp>
      <p:sp>
        <p:nvSpPr>
          <p:cNvPr id="172" name="文本框 171">
            <a:extLst>
              <a:ext uri="{FF2B5EF4-FFF2-40B4-BE49-F238E27FC236}">
                <a16:creationId xmlns:a16="http://schemas.microsoft.com/office/drawing/2014/main" id="{C2D1C176-63A3-9F09-D231-79DD5FF3EEE3}"/>
              </a:ext>
            </a:extLst>
          </p:cNvPr>
          <p:cNvSpPr txBox="1"/>
          <p:nvPr/>
        </p:nvSpPr>
        <p:spPr>
          <a:xfrm>
            <a:off x="6139042" y="3350126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000" b="1" dirty="0"/>
              <a:t>钝角</a:t>
            </a:r>
          </a:p>
        </p:txBody>
      </p:sp>
      <p:sp>
        <p:nvSpPr>
          <p:cNvPr id="173" name="文本框 172">
            <a:extLst>
              <a:ext uri="{FF2B5EF4-FFF2-40B4-BE49-F238E27FC236}">
                <a16:creationId xmlns:a16="http://schemas.microsoft.com/office/drawing/2014/main" id="{E02D1DCA-B414-1C51-5857-A85EC98883EE}"/>
              </a:ext>
            </a:extLst>
          </p:cNvPr>
          <p:cNvSpPr txBox="1"/>
          <p:nvPr/>
        </p:nvSpPr>
        <p:spPr>
          <a:xfrm>
            <a:off x="6139042" y="3885307"/>
            <a:ext cx="82586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000" b="1" dirty="0"/>
              <a:t>反弹后下破</a:t>
            </a:r>
          </a:p>
        </p:txBody>
      </p:sp>
      <p:grpSp>
        <p:nvGrpSpPr>
          <p:cNvPr id="175" name="组合 174">
            <a:extLst>
              <a:ext uri="{FF2B5EF4-FFF2-40B4-BE49-F238E27FC236}">
                <a16:creationId xmlns:a16="http://schemas.microsoft.com/office/drawing/2014/main" id="{1177C746-B2B3-C308-7D94-402A04CAB164}"/>
              </a:ext>
            </a:extLst>
          </p:cNvPr>
          <p:cNvGrpSpPr/>
          <p:nvPr/>
        </p:nvGrpSpPr>
        <p:grpSpPr>
          <a:xfrm>
            <a:off x="9472898" y="3152440"/>
            <a:ext cx="1238343" cy="495494"/>
            <a:chOff x="1738358" y="3160739"/>
            <a:chExt cx="1238343" cy="495494"/>
          </a:xfrm>
        </p:grpSpPr>
        <p:sp>
          <p:nvSpPr>
            <p:cNvPr id="164" name="任意多边形: 形状 163">
              <a:extLst>
                <a:ext uri="{FF2B5EF4-FFF2-40B4-BE49-F238E27FC236}">
                  <a16:creationId xmlns:a16="http://schemas.microsoft.com/office/drawing/2014/main" id="{8819638A-18C6-F800-1078-4B11CE200993}"/>
                </a:ext>
              </a:extLst>
            </p:cNvPr>
            <p:cNvSpPr/>
            <p:nvPr/>
          </p:nvSpPr>
          <p:spPr>
            <a:xfrm>
              <a:off x="1738358" y="3226396"/>
              <a:ext cx="1233996" cy="337352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65" name="直接箭头连接符 164">
              <a:extLst>
                <a:ext uri="{FF2B5EF4-FFF2-40B4-BE49-F238E27FC236}">
                  <a16:creationId xmlns:a16="http://schemas.microsoft.com/office/drawing/2014/main" id="{F2E624FF-D66F-839F-26C6-DB5EEC560F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750600" y="3194784"/>
              <a:ext cx="604756" cy="327283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6" name="矩形 165">
              <a:extLst>
                <a:ext uri="{FF2B5EF4-FFF2-40B4-BE49-F238E27FC236}">
                  <a16:creationId xmlns:a16="http://schemas.microsoft.com/office/drawing/2014/main" id="{A1783490-441F-4F0B-F13B-63F71F14CF1A}"/>
                </a:ext>
              </a:extLst>
            </p:cNvPr>
            <p:cNvSpPr/>
            <p:nvPr/>
          </p:nvSpPr>
          <p:spPr>
            <a:xfrm>
              <a:off x="2383408" y="3160739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7" name="矩形 166">
              <a:extLst>
                <a:ext uri="{FF2B5EF4-FFF2-40B4-BE49-F238E27FC236}">
                  <a16:creationId xmlns:a16="http://schemas.microsoft.com/office/drawing/2014/main" id="{6449B78B-5E75-5981-D2E8-3797FEE60906}"/>
                </a:ext>
              </a:extLst>
            </p:cNvPr>
            <p:cNvSpPr/>
            <p:nvPr/>
          </p:nvSpPr>
          <p:spPr>
            <a:xfrm>
              <a:off x="2518838" y="3191338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3" name="矩形 162">
              <a:extLst>
                <a:ext uri="{FF2B5EF4-FFF2-40B4-BE49-F238E27FC236}">
                  <a16:creationId xmlns:a16="http://schemas.microsoft.com/office/drawing/2014/main" id="{BDD08A11-BA13-6D77-FFBA-316A5C1F46D0}"/>
                </a:ext>
              </a:extLst>
            </p:cNvPr>
            <p:cNvSpPr/>
            <p:nvPr/>
          </p:nvSpPr>
          <p:spPr>
            <a:xfrm>
              <a:off x="2654268" y="3270777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61" name="直接箭头连接符 160">
              <a:extLst>
                <a:ext uri="{FF2B5EF4-FFF2-40B4-BE49-F238E27FC236}">
                  <a16:creationId xmlns:a16="http://schemas.microsoft.com/office/drawing/2014/main" id="{ED6E38A1-91AD-CFB3-FADE-A91CCADE12FC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2773304" y="3362244"/>
              <a:ext cx="180000" cy="17874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4" name="文本框 173">
              <a:extLst>
                <a:ext uri="{FF2B5EF4-FFF2-40B4-BE49-F238E27FC236}">
                  <a16:creationId xmlns:a16="http://schemas.microsoft.com/office/drawing/2014/main" id="{254C92B3-32CD-DB3D-0976-9236F5A822D5}"/>
                </a:ext>
              </a:extLst>
            </p:cNvPr>
            <p:cNvSpPr txBox="1"/>
            <p:nvPr/>
          </p:nvSpPr>
          <p:spPr>
            <a:xfrm>
              <a:off x="2407314" y="3410012"/>
              <a:ext cx="56938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dirty="0"/>
                <a:t>阴阳阴</a:t>
              </a:r>
            </a:p>
          </p:txBody>
        </p:sp>
      </p:grpSp>
      <p:sp>
        <p:nvSpPr>
          <p:cNvPr id="178" name="矩形 177">
            <a:extLst>
              <a:ext uri="{FF2B5EF4-FFF2-40B4-BE49-F238E27FC236}">
                <a16:creationId xmlns:a16="http://schemas.microsoft.com/office/drawing/2014/main" id="{BC5AE613-47DA-9F42-86AC-1ABA2C5CE623}"/>
              </a:ext>
            </a:extLst>
          </p:cNvPr>
          <p:cNvSpPr/>
          <p:nvPr/>
        </p:nvSpPr>
        <p:spPr>
          <a:xfrm>
            <a:off x="6102643" y="4208657"/>
            <a:ext cx="6089356" cy="174086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）下破失败（柱得到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支撑）：参考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《WXZA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劫恢复的典型模式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：未下破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即恢复升势。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：受大盘影响，短暂下破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后再次快速站上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，不会出现下破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的小碎步。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9" name="文本框 178">
            <a:extLst>
              <a:ext uri="{FF2B5EF4-FFF2-40B4-BE49-F238E27FC236}">
                <a16:creationId xmlns:a16="http://schemas.microsoft.com/office/drawing/2014/main" id="{BF175E1D-9EA0-F1BE-C924-539D0B2243BB}"/>
              </a:ext>
            </a:extLst>
          </p:cNvPr>
          <p:cNvSpPr txBox="1"/>
          <p:nvPr/>
        </p:nvSpPr>
        <p:spPr>
          <a:xfrm>
            <a:off x="6303225" y="4845133"/>
            <a:ext cx="92685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000" dirty="0"/>
              <a:t>WJA</a:t>
            </a:r>
            <a:r>
              <a:rPr lang="zh-CN" altLang="en-US" sz="1000" dirty="0"/>
              <a:t>之上支撑</a:t>
            </a:r>
          </a:p>
        </p:txBody>
      </p:sp>
      <p:grpSp>
        <p:nvGrpSpPr>
          <p:cNvPr id="180" name="组合 179">
            <a:extLst>
              <a:ext uri="{FF2B5EF4-FFF2-40B4-BE49-F238E27FC236}">
                <a16:creationId xmlns:a16="http://schemas.microsoft.com/office/drawing/2014/main" id="{5A0366C1-E1DA-8201-EC8E-F43291D36014}"/>
              </a:ext>
            </a:extLst>
          </p:cNvPr>
          <p:cNvGrpSpPr/>
          <p:nvPr/>
        </p:nvGrpSpPr>
        <p:grpSpPr>
          <a:xfrm>
            <a:off x="7418820" y="4842251"/>
            <a:ext cx="903959" cy="415683"/>
            <a:chOff x="10988586" y="4539371"/>
            <a:chExt cx="903959" cy="415683"/>
          </a:xfrm>
        </p:grpSpPr>
        <p:sp>
          <p:nvSpPr>
            <p:cNvPr id="181" name="矩形 180">
              <a:extLst>
                <a:ext uri="{FF2B5EF4-FFF2-40B4-BE49-F238E27FC236}">
                  <a16:creationId xmlns:a16="http://schemas.microsoft.com/office/drawing/2014/main" id="{F0D8C57E-6E51-134A-C5DE-FACE791CA4A0}"/>
                </a:ext>
              </a:extLst>
            </p:cNvPr>
            <p:cNvSpPr/>
            <p:nvPr/>
          </p:nvSpPr>
          <p:spPr>
            <a:xfrm>
              <a:off x="11330466" y="4675689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2" name="矩形 181">
              <a:extLst>
                <a:ext uri="{FF2B5EF4-FFF2-40B4-BE49-F238E27FC236}">
                  <a16:creationId xmlns:a16="http://schemas.microsoft.com/office/drawing/2014/main" id="{6B560B2D-563C-7A91-DCE7-B6969FE1D0F1}"/>
                </a:ext>
              </a:extLst>
            </p:cNvPr>
            <p:cNvSpPr/>
            <p:nvPr/>
          </p:nvSpPr>
          <p:spPr>
            <a:xfrm>
              <a:off x="11200436" y="4739054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3" name="矩形 182">
              <a:extLst>
                <a:ext uri="{FF2B5EF4-FFF2-40B4-BE49-F238E27FC236}">
                  <a16:creationId xmlns:a16="http://schemas.microsoft.com/office/drawing/2014/main" id="{7BB239CE-CB2A-B80F-4973-7F1DB7DD895C}"/>
                </a:ext>
              </a:extLst>
            </p:cNvPr>
            <p:cNvSpPr/>
            <p:nvPr/>
          </p:nvSpPr>
          <p:spPr>
            <a:xfrm>
              <a:off x="11479298" y="4645217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84" name="直接连接符 183">
              <a:extLst>
                <a:ext uri="{FF2B5EF4-FFF2-40B4-BE49-F238E27FC236}">
                  <a16:creationId xmlns:a16="http://schemas.microsoft.com/office/drawing/2014/main" id="{C9F2112C-F27A-D852-4F7E-1B67C90E285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988586" y="4746954"/>
              <a:ext cx="903959" cy="176543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直接箭头连接符 184">
              <a:extLst>
                <a:ext uri="{FF2B5EF4-FFF2-40B4-BE49-F238E27FC236}">
                  <a16:creationId xmlns:a16="http://schemas.microsoft.com/office/drawing/2014/main" id="{DC3A7751-FD6D-5D0A-82D7-E32ADB87D8B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610564" y="4539371"/>
              <a:ext cx="202191" cy="16414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6" name="文本框 185">
            <a:extLst>
              <a:ext uri="{FF2B5EF4-FFF2-40B4-BE49-F238E27FC236}">
                <a16:creationId xmlns:a16="http://schemas.microsoft.com/office/drawing/2014/main" id="{F93EA16B-5074-CF76-ABBD-29797DFF8F8C}"/>
              </a:ext>
            </a:extLst>
          </p:cNvPr>
          <p:cNvSpPr txBox="1"/>
          <p:nvPr/>
        </p:nvSpPr>
        <p:spPr>
          <a:xfrm>
            <a:off x="7343171" y="4705986"/>
            <a:ext cx="69762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000" dirty="0"/>
              <a:t>回踩站稳</a:t>
            </a:r>
          </a:p>
        </p:txBody>
      </p:sp>
      <p:grpSp>
        <p:nvGrpSpPr>
          <p:cNvPr id="199" name="组合 198">
            <a:extLst>
              <a:ext uri="{FF2B5EF4-FFF2-40B4-BE49-F238E27FC236}">
                <a16:creationId xmlns:a16="http://schemas.microsoft.com/office/drawing/2014/main" id="{7DF580D1-CC17-06A8-2E97-E8C232AF42F8}"/>
              </a:ext>
            </a:extLst>
          </p:cNvPr>
          <p:cNvGrpSpPr/>
          <p:nvPr/>
        </p:nvGrpSpPr>
        <p:grpSpPr>
          <a:xfrm>
            <a:off x="8476763" y="4705986"/>
            <a:ext cx="932879" cy="520391"/>
            <a:chOff x="2418623" y="4812062"/>
            <a:chExt cx="932879" cy="520391"/>
          </a:xfrm>
        </p:grpSpPr>
        <p:sp>
          <p:nvSpPr>
            <p:cNvPr id="188" name="矩形 187">
              <a:extLst>
                <a:ext uri="{FF2B5EF4-FFF2-40B4-BE49-F238E27FC236}">
                  <a16:creationId xmlns:a16="http://schemas.microsoft.com/office/drawing/2014/main" id="{9FF43129-9FBA-6B9D-CFDF-BA435A52DFB8}"/>
                </a:ext>
              </a:extLst>
            </p:cNvPr>
            <p:cNvSpPr/>
            <p:nvPr/>
          </p:nvSpPr>
          <p:spPr>
            <a:xfrm>
              <a:off x="2810778" y="5124353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9" name="矩形 188">
              <a:extLst>
                <a:ext uri="{FF2B5EF4-FFF2-40B4-BE49-F238E27FC236}">
                  <a16:creationId xmlns:a16="http://schemas.microsoft.com/office/drawing/2014/main" id="{60795741-AE6F-9FFF-9877-3A4283294D80}"/>
                </a:ext>
              </a:extLst>
            </p:cNvPr>
            <p:cNvSpPr/>
            <p:nvPr/>
          </p:nvSpPr>
          <p:spPr>
            <a:xfrm>
              <a:off x="2663182" y="5068220"/>
              <a:ext cx="72000" cy="216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91" name="直接连接符 190">
              <a:extLst>
                <a:ext uri="{FF2B5EF4-FFF2-40B4-BE49-F238E27FC236}">
                  <a16:creationId xmlns:a16="http://schemas.microsoft.com/office/drawing/2014/main" id="{83108B4C-74E2-BFF3-3556-68B3192A9F0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447543" y="5155910"/>
              <a:ext cx="903959" cy="176543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接箭头连接符 191">
              <a:extLst>
                <a:ext uri="{FF2B5EF4-FFF2-40B4-BE49-F238E27FC236}">
                  <a16:creationId xmlns:a16="http://schemas.microsoft.com/office/drawing/2014/main" id="{5C4CB358-CAD5-01D0-FDCC-418779D1F2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958374" y="4986150"/>
              <a:ext cx="202191" cy="16414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3" name="文本框 192">
              <a:extLst>
                <a:ext uri="{FF2B5EF4-FFF2-40B4-BE49-F238E27FC236}">
                  <a16:creationId xmlns:a16="http://schemas.microsoft.com/office/drawing/2014/main" id="{C3A9874B-C9F6-18C3-9516-BE85E7FFCD7A}"/>
                </a:ext>
              </a:extLst>
            </p:cNvPr>
            <p:cNvSpPr txBox="1"/>
            <p:nvPr/>
          </p:nvSpPr>
          <p:spPr>
            <a:xfrm>
              <a:off x="2418623" y="4812062"/>
              <a:ext cx="56938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dirty="0"/>
                <a:t>跌吞后</a:t>
              </a:r>
            </a:p>
          </p:txBody>
        </p:sp>
      </p:grpSp>
      <p:sp>
        <p:nvSpPr>
          <p:cNvPr id="202" name="文本框 201">
            <a:extLst>
              <a:ext uri="{FF2B5EF4-FFF2-40B4-BE49-F238E27FC236}">
                <a16:creationId xmlns:a16="http://schemas.microsoft.com/office/drawing/2014/main" id="{715C6FF5-28C5-FD2D-CDA9-B020A346BB5C}"/>
              </a:ext>
            </a:extLst>
          </p:cNvPr>
          <p:cNvSpPr txBox="1"/>
          <p:nvPr/>
        </p:nvSpPr>
        <p:spPr>
          <a:xfrm>
            <a:off x="6303225" y="5457575"/>
            <a:ext cx="105509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000" dirty="0"/>
              <a:t>下破</a:t>
            </a:r>
            <a:r>
              <a:rPr lang="en-US" altLang="zh-CN" sz="1000" dirty="0"/>
              <a:t>WJA</a:t>
            </a:r>
            <a:r>
              <a:rPr lang="zh-CN" altLang="en-US" sz="1000" dirty="0"/>
              <a:t>后站回</a:t>
            </a:r>
          </a:p>
        </p:txBody>
      </p:sp>
      <p:grpSp>
        <p:nvGrpSpPr>
          <p:cNvPr id="215" name="组合 214">
            <a:extLst>
              <a:ext uri="{FF2B5EF4-FFF2-40B4-BE49-F238E27FC236}">
                <a16:creationId xmlns:a16="http://schemas.microsoft.com/office/drawing/2014/main" id="{22366476-4D55-E408-7A0B-0C7568363C1E}"/>
              </a:ext>
            </a:extLst>
          </p:cNvPr>
          <p:cNvGrpSpPr/>
          <p:nvPr/>
        </p:nvGrpSpPr>
        <p:grpSpPr>
          <a:xfrm>
            <a:off x="9483486" y="4705986"/>
            <a:ext cx="1157610" cy="533305"/>
            <a:chOff x="3425346" y="4812062"/>
            <a:chExt cx="1157610" cy="533305"/>
          </a:xfrm>
        </p:grpSpPr>
        <p:sp>
          <p:nvSpPr>
            <p:cNvPr id="57" name="任意多边形: 形状 56">
              <a:extLst>
                <a:ext uri="{FF2B5EF4-FFF2-40B4-BE49-F238E27FC236}">
                  <a16:creationId xmlns:a16="http://schemas.microsoft.com/office/drawing/2014/main" id="{9C378155-3721-E28D-0619-9B93AE3DAA04}"/>
                </a:ext>
              </a:extLst>
            </p:cNvPr>
            <p:cNvSpPr/>
            <p:nvPr/>
          </p:nvSpPr>
          <p:spPr>
            <a:xfrm>
              <a:off x="3531304" y="5058283"/>
              <a:ext cx="926858" cy="287084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58" name="直接箭头连接符 57">
              <a:extLst>
                <a:ext uri="{FF2B5EF4-FFF2-40B4-BE49-F238E27FC236}">
                  <a16:creationId xmlns:a16="http://schemas.microsoft.com/office/drawing/2014/main" id="{D4B80291-7699-D39C-7FC9-189B51B7340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544907" y="5026671"/>
              <a:ext cx="296257" cy="223974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矩形 58">
              <a:extLst>
                <a:ext uri="{FF2B5EF4-FFF2-40B4-BE49-F238E27FC236}">
                  <a16:creationId xmlns:a16="http://schemas.microsoft.com/office/drawing/2014/main" id="{02917A93-76A3-3AE7-FAE7-C9FD30D9F218}"/>
                </a:ext>
              </a:extLst>
            </p:cNvPr>
            <p:cNvSpPr/>
            <p:nvPr/>
          </p:nvSpPr>
          <p:spPr>
            <a:xfrm>
              <a:off x="3869216" y="4992626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矩形 59">
              <a:extLst>
                <a:ext uri="{FF2B5EF4-FFF2-40B4-BE49-F238E27FC236}">
                  <a16:creationId xmlns:a16="http://schemas.microsoft.com/office/drawing/2014/main" id="{22400502-E6EC-6C74-76FD-4F3B990C3E1B}"/>
                </a:ext>
              </a:extLst>
            </p:cNvPr>
            <p:cNvSpPr/>
            <p:nvPr/>
          </p:nvSpPr>
          <p:spPr>
            <a:xfrm>
              <a:off x="3997201" y="5035989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1" name="矩形 60">
              <a:extLst>
                <a:ext uri="{FF2B5EF4-FFF2-40B4-BE49-F238E27FC236}">
                  <a16:creationId xmlns:a16="http://schemas.microsoft.com/office/drawing/2014/main" id="{7729494A-25AD-907A-60B7-9ADD845F9E64}"/>
                </a:ext>
              </a:extLst>
            </p:cNvPr>
            <p:cNvSpPr/>
            <p:nvPr/>
          </p:nvSpPr>
          <p:spPr>
            <a:xfrm>
              <a:off x="4125186" y="5038945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62" name="直接箭头连接符 61">
              <a:extLst>
                <a:ext uri="{FF2B5EF4-FFF2-40B4-BE49-F238E27FC236}">
                  <a16:creationId xmlns:a16="http://schemas.microsoft.com/office/drawing/2014/main" id="{EF192E5E-B542-DAA2-CC53-263BA6812B1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74774" y="4840961"/>
              <a:ext cx="208182" cy="18571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文本框 197">
              <a:extLst>
                <a:ext uri="{FF2B5EF4-FFF2-40B4-BE49-F238E27FC236}">
                  <a16:creationId xmlns:a16="http://schemas.microsoft.com/office/drawing/2014/main" id="{E892EC7F-1843-BB53-4AAE-AA72C9645531}"/>
                </a:ext>
              </a:extLst>
            </p:cNvPr>
            <p:cNvSpPr txBox="1"/>
            <p:nvPr/>
          </p:nvSpPr>
          <p:spPr>
            <a:xfrm>
              <a:off x="3425346" y="4812062"/>
              <a:ext cx="56938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dirty="0"/>
                <a:t>跌连后</a:t>
              </a:r>
            </a:p>
          </p:txBody>
        </p:sp>
        <p:sp>
          <p:nvSpPr>
            <p:cNvPr id="214" name="矩形 213">
              <a:extLst>
                <a:ext uri="{FF2B5EF4-FFF2-40B4-BE49-F238E27FC236}">
                  <a16:creationId xmlns:a16="http://schemas.microsoft.com/office/drawing/2014/main" id="{31E448C6-8B6B-54B9-4126-14593C42B59E}"/>
                </a:ext>
              </a:extLst>
            </p:cNvPr>
            <p:cNvSpPr/>
            <p:nvPr/>
          </p:nvSpPr>
          <p:spPr>
            <a:xfrm>
              <a:off x="4249980" y="4992626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25" name="组合 224">
            <a:extLst>
              <a:ext uri="{FF2B5EF4-FFF2-40B4-BE49-F238E27FC236}">
                <a16:creationId xmlns:a16="http://schemas.microsoft.com/office/drawing/2014/main" id="{BC8EBD0F-C42F-23BF-C4A1-6E0124F735F6}"/>
              </a:ext>
            </a:extLst>
          </p:cNvPr>
          <p:cNvGrpSpPr/>
          <p:nvPr/>
        </p:nvGrpSpPr>
        <p:grpSpPr>
          <a:xfrm>
            <a:off x="7423800" y="5371179"/>
            <a:ext cx="1233996" cy="550691"/>
            <a:chOff x="1365660" y="5431535"/>
            <a:chExt cx="1233996" cy="550691"/>
          </a:xfrm>
        </p:grpSpPr>
        <p:sp>
          <p:nvSpPr>
            <p:cNvPr id="217" name="任意多边形: 形状 216">
              <a:extLst>
                <a:ext uri="{FF2B5EF4-FFF2-40B4-BE49-F238E27FC236}">
                  <a16:creationId xmlns:a16="http://schemas.microsoft.com/office/drawing/2014/main" id="{F90E2EDF-FE26-1296-F46E-996CA16E7DC4}"/>
                </a:ext>
              </a:extLst>
            </p:cNvPr>
            <p:cNvSpPr/>
            <p:nvPr/>
          </p:nvSpPr>
          <p:spPr>
            <a:xfrm>
              <a:off x="1365660" y="5541769"/>
              <a:ext cx="1233996" cy="337352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218" name="直接箭头连接符 217">
              <a:extLst>
                <a:ext uri="{FF2B5EF4-FFF2-40B4-BE49-F238E27FC236}">
                  <a16:creationId xmlns:a16="http://schemas.microsoft.com/office/drawing/2014/main" id="{BA05B17C-5672-499E-2E6C-809A9338C7C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377902" y="5510157"/>
              <a:ext cx="604756" cy="327283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9" name="矩形 218">
              <a:extLst>
                <a:ext uri="{FF2B5EF4-FFF2-40B4-BE49-F238E27FC236}">
                  <a16:creationId xmlns:a16="http://schemas.microsoft.com/office/drawing/2014/main" id="{4F73C6C6-4F31-9B7B-7D92-9D53DD0F87C7}"/>
                </a:ext>
              </a:extLst>
            </p:cNvPr>
            <p:cNvSpPr/>
            <p:nvPr/>
          </p:nvSpPr>
          <p:spPr>
            <a:xfrm>
              <a:off x="2010710" y="5476112"/>
              <a:ext cx="72000" cy="28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0" name="矩形 219">
              <a:extLst>
                <a:ext uri="{FF2B5EF4-FFF2-40B4-BE49-F238E27FC236}">
                  <a16:creationId xmlns:a16="http://schemas.microsoft.com/office/drawing/2014/main" id="{ED607B5B-D9B6-A6B7-D99F-D5F43BD1835D}"/>
                </a:ext>
              </a:extLst>
            </p:cNvPr>
            <p:cNvSpPr/>
            <p:nvPr/>
          </p:nvSpPr>
          <p:spPr>
            <a:xfrm>
              <a:off x="2138695" y="5624250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222" name="直接箭头连接符 221">
              <a:extLst>
                <a:ext uri="{FF2B5EF4-FFF2-40B4-BE49-F238E27FC236}">
                  <a16:creationId xmlns:a16="http://schemas.microsoft.com/office/drawing/2014/main" id="{8C760205-4E4B-E092-695F-5F05DCAC753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52925" y="5431535"/>
              <a:ext cx="202191" cy="16414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文本框 222">
              <a:extLst>
                <a:ext uri="{FF2B5EF4-FFF2-40B4-BE49-F238E27FC236}">
                  <a16:creationId xmlns:a16="http://schemas.microsoft.com/office/drawing/2014/main" id="{341E817F-0C20-5C2F-1D04-6FD86653EFB0}"/>
                </a:ext>
              </a:extLst>
            </p:cNvPr>
            <p:cNvSpPr txBox="1"/>
            <p:nvPr/>
          </p:nvSpPr>
          <p:spPr>
            <a:xfrm>
              <a:off x="1711564" y="5736005"/>
              <a:ext cx="69762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dirty="0"/>
                <a:t>单柱下破</a:t>
              </a:r>
            </a:p>
          </p:txBody>
        </p:sp>
      </p:grpSp>
      <p:grpSp>
        <p:nvGrpSpPr>
          <p:cNvPr id="234" name="组合 233">
            <a:extLst>
              <a:ext uri="{FF2B5EF4-FFF2-40B4-BE49-F238E27FC236}">
                <a16:creationId xmlns:a16="http://schemas.microsoft.com/office/drawing/2014/main" id="{2D5075ED-4088-58EB-D07E-160AF65296BE}"/>
              </a:ext>
            </a:extLst>
          </p:cNvPr>
          <p:cNvGrpSpPr/>
          <p:nvPr/>
        </p:nvGrpSpPr>
        <p:grpSpPr>
          <a:xfrm>
            <a:off x="8663955" y="5369668"/>
            <a:ext cx="1233996" cy="552202"/>
            <a:chOff x="2605815" y="5430024"/>
            <a:chExt cx="1233996" cy="552202"/>
          </a:xfrm>
        </p:grpSpPr>
        <p:grpSp>
          <p:nvGrpSpPr>
            <p:cNvPr id="211" name="组合 210">
              <a:extLst>
                <a:ext uri="{FF2B5EF4-FFF2-40B4-BE49-F238E27FC236}">
                  <a16:creationId xmlns:a16="http://schemas.microsoft.com/office/drawing/2014/main" id="{5277D0BD-A51E-9286-D22B-05B9188E1CB2}"/>
                </a:ext>
              </a:extLst>
            </p:cNvPr>
            <p:cNvGrpSpPr/>
            <p:nvPr/>
          </p:nvGrpSpPr>
          <p:grpSpPr>
            <a:xfrm>
              <a:off x="2605815" y="5430024"/>
              <a:ext cx="1233996" cy="476161"/>
              <a:chOff x="1285031" y="5408350"/>
              <a:chExt cx="1233996" cy="476161"/>
            </a:xfrm>
          </p:grpSpPr>
          <p:sp>
            <p:nvSpPr>
              <p:cNvPr id="204" name="任意多边形: 形状 203">
                <a:extLst>
                  <a:ext uri="{FF2B5EF4-FFF2-40B4-BE49-F238E27FC236}">
                    <a16:creationId xmlns:a16="http://schemas.microsoft.com/office/drawing/2014/main" id="{D0E31E52-E0BE-1764-3734-5F40CB4BE874}"/>
                  </a:ext>
                </a:extLst>
              </p:cNvPr>
              <p:cNvSpPr/>
              <p:nvPr/>
            </p:nvSpPr>
            <p:spPr>
              <a:xfrm>
                <a:off x="1285031" y="5547159"/>
                <a:ext cx="1233996" cy="337352"/>
              </a:xfrm>
              <a:custGeom>
                <a:avLst/>
                <a:gdLst>
                  <a:gd name="connsiteX0" fmla="*/ 0 w 1260629"/>
                  <a:gd name="connsiteY0" fmla="*/ 230820 h 230820"/>
                  <a:gd name="connsiteX1" fmla="*/ 1260629 w 1260629"/>
                  <a:gd name="connsiteY1" fmla="*/ 0 h 230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0629" h="230820">
                    <a:moveTo>
                      <a:pt x="0" y="230820"/>
                    </a:moveTo>
                    <a:lnTo>
                      <a:pt x="1260629" y="0"/>
                    </a:lnTo>
                  </a:path>
                </a:pathLst>
              </a:custGeom>
              <a:noFill/>
              <a:ln w="285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cxnSp>
            <p:nvCxnSpPr>
              <p:cNvPr id="205" name="直接箭头连接符 204">
                <a:extLst>
                  <a:ext uri="{FF2B5EF4-FFF2-40B4-BE49-F238E27FC236}">
                    <a16:creationId xmlns:a16="http://schemas.microsoft.com/office/drawing/2014/main" id="{A0B98BE1-35D9-C1EC-D663-43177CBF6E7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297273" y="5515547"/>
                <a:ext cx="604756" cy="327283"/>
              </a:xfrm>
              <a:prstGeom prst="straightConnector1">
                <a:avLst/>
              </a:prstGeom>
              <a:ln w="34925">
                <a:solidFill>
                  <a:schemeClr val="accent5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矩形 205">
                <a:extLst>
                  <a:ext uri="{FF2B5EF4-FFF2-40B4-BE49-F238E27FC236}">
                    <a16:creationId xmlns:a16="http://schemas.microsoft.com/office/drawing/2014/main" id="{8E7D0CF1-CF76-84DD-76F9-FB761B2A39D6}"/>
                  </a:ext>
                </a:extLst>
              </p:cNvPr>
              <p:cNvSpPr/>
              <p:nvPr/>
            </p:nvSpPr>
            <p:spPr>
              <a:xfrm>
                <a:off x="1930081" y="5481502"/>
                <a:ext cx="72000" cy="288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07" name="矩形 206">
                <a:extLst>
                  <a:ext uri="{FF2B5EF4-FFF2-40B4-BE49-F238E27FC236}">
                    <a16:creationId xmlns:a16="http://schemas.microsoft.com/office/drawing/2014/main" id="{6A03D30E-B057-5BE1-4DDC-6376224E2E0F}"/>
                  </a:ext>
                </a:extLst>
              </p:cNvPr>
              <p:cNvSpPr/>
              <p:nvPr/>
            </p:nvSpPr>
            <p:spPr>
              <a:xfrm>
                <a:off x="2058066" y="5667740"/>
                <a:ext cx="72000" cy="108000"/>
              </a:xfrm>
              <a:prstGeom prst="rect">
                <a:avLst/>
              </a:prstGeom>
              <a:solidFill>
                <a:srgbClr val="C00000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08" name="矩形 207">
                <a:extLst>
                  <a:ext uri="{FF2B5EF4-FFF2-40B4-BE49-F238E27FC236}">
                    <a16:creationId xmlns:a16="http://schemas.microsoft.com/office/drawing/2014/main" id="{3C733801-B61F-2FFF-3D8D-FF0CF10311C0}"/>
                  </a:ext>
                </a:extLst>
              </p:cNvPr>
              <p:cNvSpPr/>
              <p:nvPr/>
            </p:nvSpPr>
            <p:spPr>
              <a:xfrm>
                <a:off x="2181891" y="5572490"/>
                <a:ext cx="72000" cy="108000"/>
              </a:xfrm>
              <a:prstGeom prst="rect">
                <a:avLst/>
              </a:prstGeom>
              <a:solidFill>
                <a:srgbClr val="C00000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cxnSp>
            <p:nvCxnSpPr>
              <p:cNvPr id="210" name="直接箭头连接符 209">
                <a:extLst>
                  <a:ext uri="{FF2B5EF4-FFF2-40B4-BE49-F238E27FC236}">
                    <a16:creationId xmlns:a16="http://schemas.microsoft.com/office/drawing/2014/main" id="{BAAD70EF-B3B8-84A7-3301-F4116AF0C51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15171" y="5408350"/>
                <a:ext cx="202191" cy="164140"/>
              </a:xfrm>
              <a:prstGeom prst="straightConnector1">
                <a:avLst/>
              </a:prstGeom>
              <a:ln w="34925">
                <a:solidFill>
                  <a:schemeClr val="accent5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4" name="文本框 223">
              <a:extLst>
                <a:ext uri="{FF2B5EF4-FFF2-40B4-BE49-F238E27FC236}">
                  <a16:creationId xmlns:a16="http://schemas.microsoft.com/office/drawing/2014/main" id="{36C9F41F-A207-2776-3E05-29EBF22ABC56}"/>
                </a:ext>
              </a:extLst>
            </p:cNvPr>
            <p:cNvSpPr txBox="1"/>
            <p:nvPr/>
          </p:nvSpPr>
          <p:spPr>
            <a:xfrm>
              <a:off x="3128198" y="5736005"/>
              <a:ext cx="69762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dirty="0"/>
                <a:t>两柱下破</a:t>
              </a:r>
            </a:p>
          </p:txBody>
        </p:sp>
      </p:grpSp>
      <p:sp>
        <p:nvSpPr>
          <p:cNvPr id="227" name="任意多边形: 形状 226">
            <a:extLst>
              <a:ext uri="{FF2B5EF4-FFF2-40B4-BE49-F238E27FC236}">
                <a16:creationId xmlns:a16="http://schemas.microsoft.com/office/drawing/2014/main" id="{D67E0E56-FE28-CB3D-9118-31819157A62A}"/>
              </a:ext>
            </a:extLst>
          </p:cNvPr>
          <p:cNvSpPr/>
          <p:nvPr/>
        </p:nvSpPr>
        <p:spPr>
          <a:xfrm>
            <a:off x="10064130" y="5508477"/>
            <a:ext cx="1233996" cy="337352"/>
          </a:xfrm>
          <a:custGeom>
            <a:avLst/>
            <a:gdLst>
              <a:gd name="connsiteX0" fmla="*/ 0 w 1260629"/>
              <a:gd name="connsiteY0" fmla="*/ 230820 h 230820"/>
              <a:gd name="connsiteX1" fmla="*/ 1260629 w 1260629"/>
              <a:gd name="connsiteY1" fmla="*/ 0 h 230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60629" h="230820">
                <a:moveTo>
                  <a:pt x="0" y="230820"/>
                </a:moveTo>
                <a:lnTo>
                  <a:pt x="1260629" y="0"/>
                </a:lnTo>
              </a:path>
            </a:pathLst>
          </a:custGeom>
          <a:noFill/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28" name="直接箭头连接符 227">
            <a:extLst>
              <a:ext uri="{FF2B5EF4-FFF2-40B4-BE49-F238E27FC236}">
                <a16:creationId xmlns:a16="http://schemas.microsoft.com/office/drawing/2014/main" id="{D64D1416-C103-D538-3B59-C31D9A149E7C}"/>
              </a:ext>
            </a:extLst>
          </p:cNvPr>
          <p:cNvCxnSpPr>
            <a:cxnSpLocks/>
          </p:cNvCxnSpPr>
          <p:nvPr/>
        </p:nvCxnSpPr>
        <p:spPr>
          <a:xfrm flipV="1">
            <a:off x="10076372" y="5476865"/>
            <a:ext cx="604756" cy="327283"/>
          </a:xfrm>
          <a:prstGeom prst="straightConnector1">
            <a:avLst/>
          </a:prstGeom>
          <a:ln w="34925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矩形 228">
            <a:extLst>
              <a:ext uri="{FF2B5EF4-FFF2-40B4-BE49-F238E27FC236}">
                <a16:creationId xmlns:a16="http://schemas.microsoft.com/office/drawing/2014/main" id="{57BAF472-9344-7B0B-B831-3384D8ECBF0B}"/>
              </a:ext>
            </a:extLst>
          </p:cNvPr>
          <p:cNvSpPr/>
          <p:nvPr/>
        </p:nvSpPr>
        <p:spPr>
          <a:xfrm>
            <a:off x="10709180" y="5442820"/>
            <a:ext cx="72000" cy="28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30" name="矩形 229">
            <a:extLst>
              <a:ext uri="{FF2B5EF4-FFF2-40B4-BE49-F238E27FC236}">
                <a16:creationId xmlns:a16="http://schemas.microsoft.com/office/drawing/2014/main" id="{23E0CEFE-95A7-C7F8-EF25-D72E702F8BE4}"/>
              </a:ext>
            </a:extLst>
          </p:cNvPr>
          <p:cNvSpPr/>
          <p:nvPr/>
        </p:nvSpPr>
        <p:spPr>
          <a:xfrm>
            <a:off x="10829725" y="5674361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32" name="直接箭头连接符 231">
            <a:extLst>
              <a:ext uri="{FF2B5EF4-FFF2-40B4-BE49-F238E27FC236}">
                <a16:creationId xmlns:a16="http://schemas.microsoft.com/office/drawing/2014/main" id="{8A348776-36C4-09D5-23F9-9A1BD217F5BE}"/>
              </a:ext>
            </a:extLst>
          </p:cNvPr>
          <p:cNvCxnSpPr>
            <a:cxnSpLocks/>
          </p:cNvCxnSpPr>
          <p:nvPr/>
        </p:nvCxnSpPr>
        <p:spPr>
          <a:xfrm flipV="1">
            <a:off x="11103795" y="5369668"/>
            <a:ext cx="202191" cy="164140"/>
          </a:xfrm>
          <a:prstGeom prst="straightConnector1">
            <a:avLst/>
          </a:prstGeom>
          <a:ln w="34925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文本框 232">
            <a:extLst>
              <a:ext uri="{FF2B5EF4-FFF2-40B4-BE49-F238E27FC236}">
                <a16:creationId xmlns:a16="http://schemas.microsoft.com/office/drawing/2014/main" id="{C2E8D555-95C0-4887-74C5-40B1B452DA00}"/>
              </a:ext>
            </a:extLst>
          </p:cNvPr>
          <p:cNvSpPr txBox="1"/>
          <p:nvPr/>
        </p:nvSpPr>
        <p:spPr>
          <a:xfrm>
            <a:off x="10165912" y="5716005"/>
            <a:ext cx="195277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000" dirty="0"/>
              <a:t>三柱下破：对比下破</a:t>
            </a:r>
            <a:r>
              <a:rPr lang="en-US" altLang="zh-CN" sz="1000" dirty="0"/>
              <a:t>WJA</a:t>
            </a:r>
            <a:r>
              <a:rPr lang="zh-CN" altLang="en-US" sz="1000" dirty="0"/>
              <a:t>阴阳阴</a:t>
            </a:r>
          </a:p>
        </p:txBody>
      </p:sp>
      <p:sp>
        <p:nvSpPr>
          <p:cNvPr id="235" name="矩形 234">
            <a:extLst>
              <a:ext uri="{FF2B5EF4-FFF2-40B4-BE49-F238E27FC236}">
                <a16:creationId xmlns:a16="http://schemas.microsoft.com/office/drawing/2014/main" id="{30F2C8E0-00C6-3BD7-C55F-FBABCC7C890E}"/>
              </a:ext>
            </a:extLst>
          </p:cNvPr>
          <p:cNvSpPr/>
          <p:nvPr/>
        </p:nvSpPr>
        <p:spPr>
          <a:xfrm>
            <a:off x="10951781" y="5629058"/>
            <a:ext cx="72000" cy="108000"/>
          </a:xfrm>
          <a:prstGeom prst="rect">
            <a:avLst/>
          </a:prstGeom>
          <a:solidFill>
            <a:srgbClr val="548235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36" name="矩形 235">
            <a:extLst>
              <a:ext uri="{FF2B5EF4-FFF2-40B4-BE49-F238E27FC236}">
                <a16:creationId xmlns:a16="http://schemas.microsoft.com/office/drawing/2014/main" id="{5772FBEE-5D92-032E-8F60-D5A03588D613}"/>
              </a:ext>
            </a:extLst>
          </p:cNvPr>
          <p:cNvSpPr/>
          <p:nvPr/>
        </p:nvSpPr>
        <p:spPr>
          <a:xfrm>
            <a:off x="11052953" y="5532820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BAFC58A8-77F5-7B65-9D4D-132AC11605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2031223"/>
              </p:ext>
            </p:extLst>
          </p:nvPr>
        </p:nvGraphicFramePr>
        <p:xfrm>
          <a:off x="2177" y="709192"/>
          <a:ext cx="6097946" cy="4846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0085">
                  <a:extLst>
                    <a:ext uri="{9D8B030D-6E8A-4147-A177-3AD203B41FA5}">
                      <a16:colId xmlns:a16="http://schemas.microsoft.com/office/drawing/2014/main" val="158178089"/>
                    </a:ext>
                  </a:extLst>
                </a:gridCol>
                <a:gridCol w="4058095">
                  <a:extLst>
                    <a:ext uri="{9D8B030D-6E8A-4147-A177-3AD203B41FA5}">
                      <a16:colId xmlns:a16="http://schemas.microsoft.com/office/drawing/2014/main" val="2465877500"/>
                    </a:ext>
                  </a:extLst>
                </a:gridCol>
                <a:gridCol w="1609766">
                  <a:extLst>
                    <a:ext uri="{9D8B030D-6E8A-4147-A177-3AD203B41FA5}">
                      <a16:colId xmlns:a16="http://schemas.microsoft.com/office/drawing/2014/main" val="3045414227"/>
                    </a:ext>
                  </a:extLst>
                </a:gridCol>
              </a:tblGrid>
              <a:tr h="195748">
                <a:tc gridSpan="3">
                  <a:txBody>
                    <a:bodyPr/>
                    <a:lstStyle/>
                    <a:p>
                      <a:r>
                        <a:rPr lang="zh-CN" altLang="en-US" sz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将</a:t>
                      </a:r>
                      <a:r>
                        <a:rPr lang="en-US" altLang="zh-CN" sz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上破均线</a:t>
                      </a:r>
                      <a:r>
                        <a:rPr lang="en-US" altLang="zh-CN" sz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&gt;&lt;</a:t>
                      </a:r>
                      <a:r>
                        <a:rPr lang="zh-CN" altLang="en-US" sz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下破均线</a:t>
                      </a:r>
                      <a:r>
                        <a:rPr lang="en-US" altLang="zh-CN" sz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做镜面对称分析</a:t>
                      </a:r>
                      <a:endParaRPr lang="en-US" altLang="zh-CN" sz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注：根据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周奏型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归类：将上破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、上破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，归类为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归类：将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WJA1-3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归类为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蛀暂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；将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多柱后站上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WJA&gt;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，归类为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蛀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4631905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主题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趋势向上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按镜面对称原则思考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7203025"/>
                  </a:ext>
                </a:extLst>
              </a:tr>
              <a:tr h="356952">
                <a:tc rowSpan="3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突破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有四种方式：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突后启动：突破确定性最大；可能开启升势。</a:t>
                      </a: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突后回踩：等待站稳。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742950" marR="0" lvl="1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若前柱为单柱贯穿：可能后续下破。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742950" marR="0" lvl="1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若前柱为连柱贯穿：可能站稳。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贯连柱：连升或回踩；但上破的确定性较大。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贯单柱：面临方向选择。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也有四种方式。可用于判断是否已下破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7866271"/>
                  </a:ext>
                </a:extLst>
              </a:tr>
              <a:tr h="218777">
                <a:tc vMerge="1">
                  <a:txBody>
                    <a:bodyPr/>
                    <a:lstStyle/>
                    <a:p>
                      <a:endParaRPr lang="zh-CN" altLang="en-US" sz="12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如何确定已上破？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看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是否正交？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负交。上破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须两柱确认或等待回踩确认。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正交。可单柱上破就介入；同时也要防止震荡诱多。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对称考虑。当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正交时，下破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可等待第二柱确认后再操作。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39442056"/>
                  </a:ext>
                </a:extLst>
              </a:tr>
              <a:tr h="679361">
                <a:tc vMerge="1">
                  <a:txBody>
                    <a:bodyPr/>
                    <a:lstStyle/>
                    <a:p>
                      <a:endParaRPr lang="zh-CN" altLang="en-US" sz="12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后是否退出？即，如何判断能否从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劫恢复？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：可在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之上跌连，或下破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时退出。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已整弧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：可在下破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时退出。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其他：应按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止损。也可按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正交时是否下破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进行判断。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单柱：相当于负向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贯单柱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。面临方向选择：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下柱上破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，可能以鼎，开启连阳。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下柱上破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，也可能构成（跌吞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升孕）开启跌排模式。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二柱：相当于负向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突后回踩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，须根据下破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时的柱排判断。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时为跌连，即使阳柱反弹，仍可能确认跌破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时为单跌吞，且之前为升排。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marR="0" lvl="3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可能单阳柱回弹，止跌，随后站上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marR="0" lvl="3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可能单阳柱回弹，随后继续形成跌势。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三柱：按镜面原则，对比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进行判断。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多柱：不认为是短暂下破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。须上破回踩后再介入。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单柱不能确认站稳；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两柱可介入；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三柱可确认站稳。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横向调整在得到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支撑前不应超过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95153"/>
                  </a:ext>
                </a:extLst>
              </a:tr>
              <a:tr h="126661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突破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如何确定已上破？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看在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之上的柱排：是否已站稳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？是否均匀分布？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时，应立即退出，不要等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894050"/>
                  </a:ext>
                </a:extLst>
              </a:tr>
              <a:tr h="172719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突破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如何确定已上破？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看在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之上的柱排。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看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是否已正交。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不适用。已在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829533"/>
                  </a:ext>
                </a:extLst>
              </a:tr>
            </a:tbl>
          </a:graphicData>
        </a:graphic>
      </p:graphicFrame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9041D878-E074-D93E-9D39-7B4878970501}"/>
              </a:ext>
            </a:extLst>
          </p:cNvPr>
          <p:cNvSpPr/>
          <p:nvPr/>
        </p:nvSpPr>
        <p:spPr>
          <a:xfrm>
            <a:off x="12539799" y="2375046"/>
            <a:ext cx="1233996" cy="337352"/>
          </a:xfrm>
          <a:custGeom>
            <a:avLst/>
            <a:gdLst>
              <a:gd name="connsiteX0" fmla="*/ 0 w 1260629"/>
              <a:gd name="connsiteY0" fmla="*/ 230820 h 230820"/>
              <a:gd name="connsiteX1" fmla="*/ 1260629 w 1260629"/>
              <a:gd name="connsiteY1" fmla="*/ 0 h 230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60629" h="230820">
                <a:moveTo>
                  <a:pt x="0" y="230820"/>
                </a:moveTo>
                <a:lnTo>
                  <a:pt x="1260629" y="0"/>
                </a:lnTo>
              </a:path>
            </a:pathLst>
          </a:custGeom>
          <a:noFill/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箭头连接符 8">
            <a:extLst>
              <a:ext uri="{FF2B5EF4-FFF2-40B4-BE49-F238E27FC236}">
                <a16:creationId xmlns:a16="http://schemas.microsoft.com/office/drawing/2014/main" id="{5365E357-EE13-42A0-FBB6-CC399BA14B75}"/>
              </a:ext>
            </a:extLst>
          </p:cNvPr>
          <p:cNvCxnSpPr>
            <a:cxnSpLocks/>
          </p:cNvCxnSpPr>
          <p:nvPr/>
        </p:nvCxnSpPr>
        <p:spPr>
          <a:xfrm flipV="1">
            <a:off x="12552041" y="2248184"/>
            <a:ext cx="604756" cy="327283"/>
          </a:xfrm>
          <a:prstGeom prst="straightConnector1">
            <a:avLst/>
          </a:prstGeom>
          <a:ln w="34925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矩形 10">
            <a:extLst>
              <a:ext uri="{FF2B5EF4-FFF2-40B4-BE49-F238E27FC236}">
                <a16:creationId xmlns:a16="http://schemas.microsoft.com/office/drawing/2014/main" id="{13660C2C-8F63-2B8C-B077-2626B084BC5C}"/>
              </a:ext>
            </a:extLst>
          </p:cNvPr>
          <p:cNvSpPr/>
          <p:nvPr/>
        </p:nvSpPr>
        <p:spPr>
          <a:xfrm>
            <a:off x="13184849" y="2214139"/>
            <a:ext cx="72000" cy="28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5DE67A3F-BC50-13A9-84C1-20BBC7302C32}"/>
              </a:ext>
            </a:extLst>
          </p:cNvPr>
          <p:cNvSpPr/>
          <p:nvPr/>
        </p:nvSpPr>
        <p:spPr>
          <a:xfrm>
            <a:off x="13312834" y="2390852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4" name="直接箭头连接符 13">
            <a:extLst>
              <a:ext uri="{FF2B5EF4-FFF2-40B4-BE49-F238E27FC236}">
                <a16:creationId xmlns:a16="http://schemas.microsoft.com/office/drawing/2014/main" id="{5F42D168-EB23-B637-69CF-5740A29A8381}"/>
              </a:ext>
            </a:extLst>
          </p:cNvPr>
          <p:cNvCxnSpPr>
            <a:cxnSpLocks noChangeAspect="1"/>
          </p:cNvCxnSpPr>
          <p:nvPr/>
        </p:nvCxnSpPr>
        <p:spPr>
          <a:xfrm>
            <a:off x="13438459" y="2396369"/>
            <a:ext cx="259362" cy="257546"/>
          </a:xfrm>
          <a:prstGeom prst="straightConnector1">
            <a:avLst/>
          </a:prstGeom>
          <a:ln w="34925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4" name="组合 43">
            <a:extLst>
              <a:ext uri="{FF2B5EF4-FFF2-40B4-BE49-F238E27FC236}">
                <a16:creationId xmlns:a16="http://schemas.microsoft.com/office/drawing/2014/main" id="{9D321E14-9A8C-AABD-3E61-5A8A0574D796}"/>
              </a:ext>
            </a:extLst>
          </p:cNvPr>
          <p:cNvGrpSpPr/>
          <p:nvPr/>
        </p:nvGrpSpPr>
        <p:grpSpPr>
          <a:xfrm>
            <a:off x="12526100" y="3475201"/>
            <a:ext cx="1233996" cy="656327"/>
            <a:chOff x="12593424" y="2907345"/>
            <a:chExt cx="1233996" cy="656327"/>
          </a:xfrm>
        </p:grpSpPr>
        <p:sp>
          <p:nvSpPr>
            <p:cNvPr id="19" name="任意多边形: 形状 18">
              <a:extLst>
                <a:ext uri="{FF2B5EF4-FFF2-40B4-BE49-F238E27FC236}">
                  <a16:creationId xmlns:a16="http://schemas.microsoft.com/office/drawing/2014/main" id="{6E63F009-9488-0C19-1A5C-DC10DDA81870}"/>
                </a:ext>
              </a:extLst>
            </p:cNvPr>
            <p:cNvSpPr/>
            <p:nvPr/>
          </p:nvSpPr>
          <p:spPr>
            <a:xfrm>
              <a:off x="12593424" y="3226320"/>
              <a:ext cx="1233996" cy="337352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25" name="直接箭头连接符 24">
              <a:extLst>
                <a:ext uri="{FF2B5EF4-FFF2-40B4-BE49-F238E27FC236}">
                  <a16:creationId xmlns:a16="http://schemas.microsoft.com/office/drawing/2014/main" id="{2A24E8C7-E7A7-BC78-7510-407E855CFA5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3525042" y="2907345"/>
              <a:ext cx="302378" cy="456219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矩形 25">
              <a:extLst>
                <a:ext uri="{FF2B5EF4-FFF2-40B4-BE49-F238E27FC236}">
                  <a16:creationId xmlns:a16="http://schemas.microsoft.com/office/drawing/2014/main" id="{652040EF-2D9F-C0A7-9186-AEC1613CB672}"/>
                </a:ext>
              </a:extLst>
            </p:cNvPr>
            <p:cNvSpPr/>
            <p:nvPr/>
          </p:nvSpPr>
          <p:spPr>
            <a:xfrm>
              <a:off x="12798353" y="3199923"/>
              <a:ext cx="72000" cy="144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1" name="矩形 30">
              <a:extLst>
                <a:ext uri="{FF2B5EF4-FFF2-40B4-BE49-F238E27FC236}">
                  <a16:creationId xmlns:a16="http://schemas.microsoft.com/office/drawing/2014/main" id="{5F3ECCDA-79B9-46F6-B830-687ACE62F7CD}"/>
                </a:ext>
              </a:extLst>
            </p:cNvPr>
            <p:cNvSpPr/>
            <p:nvPr/>
          </p:nvSpPr>
          <p:spPr>
            <a:xfrm>
              <a:off x="12923978" y="3285000"/>
              <a:ext cx="72000" cy="144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8" name="矩形 37">
              <a:extLst>
                <a:ext uri="{FF2B5EF4-FFF2-40B4-BE49-F238E27FC236}">
                  <a16:creationId xmlns:a16="http://schemas.microsoft.com/office/drawing/2014/main" id="{D0194FF5-B192-6E49-381A-A373EB3254FA}"/>
                </a:ext>
              </a:extLst>
            </p:cNvPr>
            <p:cNvSpPr/>
            <p:nvPr/>
          </p:nvSpPr>
          <p:spPr>
            <a:xfrm>
              <a:off x="13049603" y="3384682"/>
              <a:ext cx="72000" cy="72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9" name="矩形 38">
              <a:extLst>
                <a:ext uri="{FF2B5EF4-FFF2-40B4-BE49-F238E27FC236}">
                  <a16:creationId xmlns:a16="http://schemas.microsoft.com/office/drawing/2014/main" id="{2F44E8B0-2A31-99D8-4367-BDF78967F00B}"/>
                </a:ext>
              </a:extLst>
            </p:cNvPr>
            <p:cNvSpPr/>
            <p:nvPr/>
          </p:nvSpPr>
          <p:spPr>
            <a:xfrm>
              <a:off x="13173847" y="3393858"/>
              <a:ext cx="72000" cy="144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0" name="矩形 39">
              <a:extLst>
                <a:ext uri="{FF2B5EF4-FFF2-40B4-BE49-F238E27FC236}">
                  <a16:creationId xmlns:a16="http://schemas.microsoft.com/office/drawing/2014/main" id="{42F67FFE-102D-A558-6020-E6E9E9311EE3}"/>
                </a:ext>
              </a:extLst>
            </p:cNvPr>
            <p:cNvSpPr/>
            <p:nvPr/>
          </p:nvSpPr>
          <p:spPr>
            <a:xfrm>
              <a:off x="13294459" y="3365932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" name="矩形 40">
              <a:extLst>
                <a:ext uri="{FF2B5EF4-FFF2-40B4-BE49-F238E27FC236}">
                  <a16:creationId xmlns:a16="http://schemas.microsoft.com/office/drawing/2014/main" id="{D55A42F8-9B97-A0E7-4F49-6E7D6C3187B9}"/>
                </a:ext>
              </a:extLst>
            </p:cNvPr>
            <p:cNvSpPr/>
            <p:nvPr/>
          </p:nvSpPr>
          <p:spPr>
            <a:xfrm>
              <a:off x="13416157" y="3365932"/>
              <a:ext cx="72000" cy="72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3" name="箭头: 左右 42">
            <a:extLst>
              <a:ext uri="{FF2B5EF4-FFF2-40B4-BE49-F238E27FC236}">
                <a16:creationId xmlns:a16="http://schemas.microsoft.com/office/drawing/2014/main" id="{4886DFE4-828B-7147-356E-34CF9FA39B61}"/>
              </a:ext>
            </a:extLst>
          </p:cNvPr>
          <p:cNvSpPr/>
          <p:nvPr/>
        </p:nvSpPr>
        <p:spPr>
          <a:xfrm rot="5400000">
            <a:off x="14425324" y="853257"/>
            <a:ext cx="589388" cy="4697563"/>
          </a:xfrm>
          <a:prstGeom prst="leftRightArrow">
            <a:avLst>
              <a:gd name="adj1" fmla="val 52607"/>
              <a:gd name="adj2" fmla="val 50000"/>
            </a:avLst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dirty="0">
                <a:solidFill>
                  <a:sysClr val="windowText" lastClr="000000"/>
                </a:solidFill>
              </a:rPr>
              <a:t>镜面映射</a:t>
            </a:r>
          </a:p>
        </p:txBody>
      </p:sp>
      <p:sp>
        <p:nvSpPr>
          <p:cNvPr id="7" name="任意多边形: 形状 6">
            <a:extLst>
              <a:ext uri="{FF2B5EF4-FFF2-40B4-BE49-F238E27FC236}">
                <a16:creationId xmlns:a16="http://schemas.microsoft.com/office/drawing/2014/main" id="{09987843-B568-4688-7036-BF59D897E3B2}"/>
              </a:ext>
            </a:extLst>
          </p:cNvPr>
          <p:cNvSpPr/>
          <p:nvPr/>
        </p:nvSpPr>
        <p:spPr>
          <a:xfrm>
            <a:off x="14086133" y="2375046"/>
            <a:ext cx="1233996" cy="337352"/>
          </a:xfrm>
          <a:custGeom>
            <a:avLst/>
            <a:gdLst>
              <a:gd name="connsiteX0" fmla="*/ 0 w 1260629"/>
              <a:gd name="connsiteY0" fmla="*/ 230820 h 230820"/>
              <a:gd name="connsiteX1" fmla="*/ 1260629 w 1260629"/>
              <a:gd name="connsiteY1" fmla="*/ 0 h 230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60629" h="230820">
                <a:moveTo>
                  <a:pt x="0" y="230820"/>
                </a:moveTo>
                <a:lnTo>
                  <a:pt x="1260629" y="0"/>
                </a:lnTo>
              </a:path>
            </a:pathLst>
          </a:custGeom>
          <a:noFill/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5" name="直接箭头连接符 14">
            <a:extLst>
              <a:ext uri="{FF2B5EF4-FFF2-40B4-BE49-F238E27FC236}">
                <a16:creationId xmlns:a16="http://schemas.microsoft.com/office/drawing/2014/main" id="{D637EBE3-AE65-DF64-81EE-4B33DF0C1A24}"/>
              </a:ext>
            </a:extLst>
          </p:cNvPr>
          <p:cNvCxnSpPr>
            <a:cxnSpLocks/>
          </p:cNvCxnSpPr>
          <p:nvPr/>
        </p:nvCxnSpPr>
        <p:spPr>
          <a:xfrm flipV="1">
            <a:off x="14098375" y="2248184"/>
            <a:ext cx="604756" cy="327283"/>
          </a:xfrm>
          <a:prstGeom prst="straightConnector1">
            <a:avLst/>
          </a:prstGeom>
          <a:ln w="34925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矩形 26">
            <a:extLst>
              <a:ext uri="{FF2B5EF4-FFF2-40B4-BE49-F238E27FC236}">
                <a16:creationId xmlns:a16="http://schemas.microsoft.com/office/drawing/2014/main" id="{B82A82CB-75E3-DA8E-91D5-D13E7BA92C41}"/>
              </a:ext>
            </a:extLst>
          </p:cNvPr>
          <p:cNvSpPr/>
          <p:nvPr/>
        </p:nvSpPr>
        <p:spPr>
          <a:xfrm>
            <a:off x="14731183" y="2214139"/>
            <a:ext cx="72000" cy="144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矩形 29">
            <a:extLst>
              <a:ext uri="{FF2B5EF4-FFF2-40B4-BE49-F238E27FC236}">
                <a16:creationId xmlns:a16="http://schemas.microsoft.com/office/drawing/2014/main" id="{CBC9B21F-E67C-2EA1-EFB0-E3D4E8AFA4B3}"/>
              </a:ext>
            </a:extLst>
          </p:cNvPr>
          <p:cNvSpPr/>
          <p:nvPr/>
        </p:nvSpPr>
        <p:spPr>
          <a:xfrm>
            <a:off x="14991711" y="2375906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矩形 41">
            <a:extLst>
              <a:ext uri="{FF2B5EF4-FFF2-40B4-BE49-F238E27FC236}">
                <a16:creationId xmlns:a16="http://schemas.microsoft.com/office/drawing/2014/main" id="{D76F236A-24FF-BC30-5969-E97247979E5E}"/>
              </a:ext>
            </a:extLst>
          </p:cNvPr>
          <p:cNvSpPr/>
          <p:nvPr/>
        </p:nvSpPr>
        <p:spPr>
          <a:xfrm>
            <a:off x="14859168" y="2339906"/>
            <a:ext cx="72000" cy="144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9" name="组合 48">
            <a:extLst>
              <a:ext uri="{FF2B5EF4-FFF2-40B4-BE49-F238E27FC236}">
                <a16:creationId xmlns:a16="http://schemas.microsoft.com/office/drawing/2014/main" id="{267DDD7D-4CCE-0ABF-81FE-F727743ACB4E}"/>
              </a:ext>
            </a:extLst>
          </p:cNvPr>
          <p:cNvGrpSpPr/>
          <p:nvPr/>
        </p:nvGrpSpPr>
        <p:grpSpPr>
          <a:xfrm>
            <a:off x="13931613" y="3514677"/>
            <a:ext cx="1233996" cy="656327"/>
            <a:chOff x="12593424" y="2907345"/>
            <a:chExt cx="1233996" cy="656327"/>
          </a:xfrm>
        </p:grpSpPr>
        <p:sp>
          <p:nvSpPr>
            <p:cNvPr id="50" name="任意多边形: 形状 49">
              <a:extLst>
                <a:ext uri="{FF2B5EF4-FFF2-40B4-BE49-F238E27FC236}">
                  <a16:creationId xmlns:a16="http://schemas.microsoft.com/office/drawing/2014/main" id="{1BBA36F8-0C5F-192F-E779-6CADB92E7791}"/>
                </a:ext>
              </a:extLst>
            </p:cNvPr>
            <p:cNvSpPr/>
            <p:nvPr/>
          </p:nvSpPr>
          <p:spPr>
            <a:xfrm>
              <a:off x="12593424" y="3226320"/>
              <a:ext cx="1233996" cy="337352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51" name="直接箭头连接符 50">
              <a:extLst>
                <a:ext uri="{FF2B5EF4-FFF2-40B4-BE49-F238E27FC236}">
                  <a16:creationId xmlns:a16="http://schemas.microsoft.com/office/drawing/2014/main" id="{C663137C-1F0E-4547-DB9E-1D3C961F10D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3525042" y="2907345"/>
              <a:ext cx="302378" cy="456219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矩形 51">
              <a:extLst>
                <a:ext uri="{FF2B5EF4-FFF2-40B4-BE49-F238E27FC236}">
                  <a16:creationId xmlns:a16="http://schemas.microsoft.com/office/drawing/2014/main" id="{1B3F8315-B7C4-6C36-8F49-23A1C3648C31}"/>
                </a:ext>
              </a:extLst>
            </p:cNvPr>
            <p:cNvSpPr/>
            <p:nvPr/>
          </p:nvSpPr>
          <p:spPr>
            <a:xfrm>
              <a:off x="12798353" y="3199923"/>
              <a:ext cx="72000" cy="144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3" name="矩形 52">
              <a:extLst>
                <a:ext uri="{FF2B5EF4-FFF2-40B4-BE49-F238E27FC236}">
                  <a16:creationId xmlns:a16="http://schemas.microsoft.com/office/drawing/2014/main" id="{4525BB53-CBEC-808C-BA6A-B8C436732EA6}"/>
                </a:ext>
              </a:extLst>
            </p:cNvPr>
            <p:cNvSpPr/>
            <p:nvPr/>
          </p:nvSpPr>
          <p:spPr>
            <a:xfrm>
              <a:off x="12923978" y="3285000"/>
              <a:ext cx="72000" cy="144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" name="矩形 53">
              <a:extLst>
                <a:ext uri="{FF2B5EF4-FFF2-40B4-BE49-F238E27FC236}">
                  <a16:creationId xmlns:a16="http://schemas.microsoft.com/office/drawing/2014/main" id="{B815DF86-1BF6-A667-4A57-B6A6BFA12608}"/>
                </a:ext>
              </a:extLst>
            </p:cNvPr>
            <p:cNvSpPr/>
            <p:nvPr/>
          </p:nvSpPr>
          <p:spPr>
            <a:xfrm>
              <a:off x="13049603" y="3384682"/>
              <a:ext cx="72000" cy="72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矩形 54">
              <a:extLst>
                <a:ext uri="{FF2B5EF4-FFF2-40B4-BE49-F238E27FC236}">
                  <a16:creationId xmlns:a16="http://schemas.microsoft.com/office/drawing/2014/main" id="{9A441F63-2A82-8B7C-1D3F-B0213CDBCF3B}"/>
                </a:ext>
              </a:extLst>
            </p:cNvPr>
            <p:cNvSpPr/>
            <p:nvPr/>
          </p:nvSpPr>
          <p:spPr>
            <a:xfrm>
              <a:off x="13173847" y="3393858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矩形 55">
              <a:extLst>
                <a:ext uri="{FF2B5EF4-FFF2-40B4-BE49-F238E27FC236}">
                  <a16:creationId xmlns:a16="http://schemas.microsoft.com/office/drawing/2014/main" id="{2E9262F7-AA1A-9CD5-2C90-A6583F4B1EC6}"/>
                </a:ext>
              </a:extLst>
            </p:cNvPr>
            <p:cNvSpPr/>
            <p:nvPr/>
          </p:nvSpPr>
          <p:spPr>
            <a:xfrm>
              <a:off x="13294459" y="3340532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3" name="矩形 62">
              <a:extLst>
                <a:ext uri="{FF2B5EF4-FFF2-40B4-BE49-F238E27FC236}">
                  <a16:creationId xmlns:a16="http://schemas.microsoft.com/office/drawing/2014/main" id="{2461A970-57F1-CAA1-9C50-D2BF01FA1477}"/>
                </a:ext>
              </a:extLst>
            </p:cNvPr>
            <p:cNvSpPr/>
            <p:nvPr/>
          </p:nvSpPr>
          <p:spPr>
            <a:xfrm>
              <a:off x="13416157" y="3332064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64" name="任意多边形: 形状 63">
            <a:extLst>
              <a:ext uri="{FF2B5EF4-FFF2-40B4-BE49-F238E27FC236}">
                <a16:creationId xmlns:a16="http://schemas.microsoft.com/office/drawing/2014/main" id="{A86D84F7-8176-CE1A-0B80-98570AC6FF5B}"/>
              </a:ext>
            </a:extLst>
          </p:cNvPr>
          <p:cNvSpPr/>
          <p:nvPr/>
        </p:nvSpPr>
        <p:spPr>
          <a:xfrm>
            <a:off x="15526718" y="2448139"/>
            <a:ext cx="1233996" cy="107999"/>
          </a:xfrm>
          <a:custGeom>
            <a:avLst/>
            <a:gdLst>
              <a:gd name="connsiteX0" fmla="*/ 0 w 1260629"/>
              <a:gd name="connsiteY0" fmla="*/ 230820 h 230820"/>
              <a:gd name="connsiteX1" fmla="*/ 1260629 w 1260629"/>
              <a:gd name="connsiteY1" fmla="*/ 0 h 230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60629" h="230820">
                <a:moveTo>
                  <a:pt x="0" y="230820"/>
                </a:moveTo>
                <a:lnTo>
                  <a:pt x="1260629" y="0"/>
                </a:lnTo>
              </a:path>
            </a:pathLst>
          </a:custGeom>
          <a:noFill/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6" name="矩形 65">
            <a:extLst>
              <a:ext uri="{FF2B5EF4-FFF2-40B4-BE49-F238E27FC236}">
                <a16:creationId xmlns:a16="http://schemas.microsoft.com/office/drawing/2014/main" id="{F392B043-50DC-3B0D-D079-F2415B65C6C0}"/>
              </a:ext>
            </a:extLst>
          </p:cNvPr>
          <p:cNvSpPr/>
          <p:nvPr/>
        </p:nvSpPr>
        <p:spPr>
          <a:xfrm>
            <a:off x="16213061" y="2358139"/>
            <a:ext cx="72000" cy="144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7" name="矩形 66">
            <a:extLst>
              <a:ext uri="{FF2B5EF4-FFF2-40B4-BE49-F238E27FC236}">
                <a16:creationId xmlns:a16="http://schemas.microsoft.com/office/drawing/2014/main" id="{A18CE72A-8049-C485-C81E-08EC324CA132}"/>
              </a:ext>
            </a:extLst>
          </p:cNvPr>
          <p:cNvSpPr/>
          <p:nvPr/>
        </p:nvSpPr>
        <p:spPr>
          <a:xfrm>
            <a:off x="16473589" y="2477571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8" name="矩形 67">
            <a:extLst>
              <a:ext uri="{FF2B5EF4-FFF2-40B4-BE49-F238E27FC236}">
                <a16:creationId xmlns:a16="http://schemas.microsoft.com/office/drawing/2014/main" id="{560CAF0E-28E0-036A-6F7D-986A3F028059}"/>
              </a:ext>
            </a:extLst>
          </p:cNvPr>
          <p:cNvSpPr/>
          <p:nvPr/>
        </p:nvSpPr>
        <p:spPr>
          <a:xfrm>
            <a:off x="16341046" y="2483906"/>
            <a:ext cx="72000" cy="144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69" name="直接箭头连接符 68">
            <a:extLst>
              <a:ext uri="{FF2B5EF4-FFF2-40B4-BE49-F238E27FC236}">
                <a16:creationId xmlns:a16="http://schemas.microsoft.com/office/drawing/2014/main" id="{7CD4EEFC-219E-0FE9-4CD6-0D60D6678550}"/>
              </a:ext>
            </a:extLst>
          </p:cNvPr>
          <p:cNvCxnSpPr>
            <a:cxnSpLocks/>
          </p:cNvCxnSpPr>
          <p:nvPr/>
        </p:nvCxnSpPr>
        <p:spPr>
          <a:xfrm flipV="1">
            <a:off x="15557052" y="2212729"/>
            <a:ext cx="604756" cy="327283"/>
          </a:xfrm>
          <a:prstGeom prst="straightConnector1">
            <a:avLst/>
          </a:prstGeom>
          <a:ln w="34925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文本框 69">
            <a:extLst>
              <a:ext uri="{FF2B5EF4-FFF2-40B4-BE49-F238E27FC236}">
                <a16:creationId xmlns:a16="http://schemas.microsoft.com/office/drawing/2014/main" id="{29B1D21D-0705-32C3-E8D3-489F3DEFEEF5}"/>
              </a:ext>
            </a:extLst>
          </p:cNvPr>
          <p:cNvSpPr txBox="1"/>
          <p:nvPr/>
        </p:nvSpPr>
        <p:spPr>
          <a:xfrm>
            <a:off x="14043582" y="1998344"/>
            <a:ext cx="115929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跌排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单阳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zh-CN" altLang="en-US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文本框 70">
            <a:extLst>
              <a:ext uri="{FF2B5EF4-FFF2-40B4-BE49-F238E27FC236}">
                <a16:creationId xmlns:a16="http://schemas.microsoft.com/office/drawing/2014/main" id="{C6949CEE-5FD7-3F30-1656-D517EEDCC84D}"/>
              </a:ext>
            </a:extLst>
          </p:cNvPr>
          <p:cNvSpPr txBox="1"/>
          <p:nvPr/>
        </p:nvSpPr>
        <p:spPr>
          <a:xfrm>
            <a:off x="15641452" y="1970262"/>
            <a:ext cx="115929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跌排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单阳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zh-CN" altLang="en-US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2" name="组合 71">
            <a:extLst>
              <a:ext uri="{FF2B5EF4-FFF2-40B4-BE49-F238E27FC236}">
                <a16:creationId xmlns:a16="http://schemas.microsoft.com/office/drawing/2014/main" id="{547C840B-BDBB-7611-BDB6-00A8A034A702}"/>
              </a:ext>
            </a:extLst>
          </p:cNvPr>
          <p:cNvGrpSpPr/>
          <p:nvPr/>
        </p:nvGrpSpPr>
        <p:grpSpPr>
          <a:xfrm>
            <a:off x="15641630" y="3706583"/>
            <a:ext cx="903959" cy="415683"/>
            <a:chOff x="10988586" y="4539371"/>
            <a:chExt cx="903959" cy="415683"/>
          </a:xfrm>
        </p:grpSpPr>
        <p:sp>
          <p:nvSpPr>
            <p:cNvPr id="73" name="矩形 72">
              <a:extLst>
                <a:ext uri="{FF2B5EF4-FFF2-40B4-BE49-F238E27FC236}">
                  <a16:creationId xmlns:a16="http://schemas.microsoft.com/office/drawing/2014/main" id="{6BD47B77-F40E-A636-D3FB-52D4719BA7F7}"/>
                </a:ext>
              </a:extLst>
            </p:cNvPr>
            <p:cNvSpPr/>
            <p:nvPr/>
          </p:nvSpPr>
          <p:spPr>
            <a:xfrm>
              <a:off x="11330466" y="4675689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4" name="矩形 73">
              <a:extLst>
                <a:ext uri="{FF2B5EF4-FFF2-40B4-BE49-F238E27FC236}">
                  <a16:creationId xmlns:a16="http://schemas.microsoft.com/office/drawing/2014/main" id="{7193763C-4BD5-792B-A79B-AEECF881F940}"/>
                </a:ext>
              </a:extLst>
            </p:cNvPr>
            <p:cNvSpPr/>
            <p:nvPr/>
          </p:nvSpPr>
          <p:spPr>
            <a:xfrm>
              <a:off x="11200436" y="4739054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5" name="矩形 74">
              <a:extLst>
                <a:ext uri="{FF2B5EF4-FFF2-40B4-BE49-F238E27FC236}">
                  <a16:creationId xmlns:a16="http://schemas.microsoft.com/office/drawing/2014/main" id="{E7061EA1-3C05-39C7-299B-77A74C3DD4A8}"/>
                </a:ext>
              </a:extLst>
            </p:cNvPr>
            <p:cNvSpPr/>
            <p:nvPr/>
          </p:nvSpPr>
          <p:spPr>
            <a:xfrm>
              <a:off x="11479298" y="4645217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76" name="直接连接符 75">
              <a:extLst>
                <a:ext uri="{FF2B5EF4-FFF2-40B4-BE49-F238E27FC236}">
                  <a16:creationId xmlns:a16="http://schemas.microsoft.com/office/drawing/2014/main" id="{D859BE04-1818-0531-8180-606F0616E1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988586" y="4746954"/>
              <a:ext cx="903959" cy="176543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接箭头连接符 76">
              <a:extLst>
                <a:ext uri="{FF2B5EF4-FFF2-40B4-BE49-F238E27FC236}">
                  <a16:creationId xmlns:a16="http://schemas.microsoft.com/office/drawing/2014/main" id="{270949C7-9E76-9C84-B450-156A6CC935F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610564" y="4539371"/>
              <a:ext cx="202191" cy="16414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" name="直接箭头连接符 77">
            <a:extLst>
              <a:ext uri="{FF2B5EF4-FFF2-40B4-BE49-F238E27FC236}">
                <a16:creationId xmlns:a16="http://schemas.microsoft.com/office/drawing/2014/main" id="{356DE5AC-9C1E-399D-024A-927CDEB51BE5}"/>
              </a:ext>
            </a:extLst>
          </p:cNvPr>
          <p:cNvCxnSpPr>
            <a:cxnSpLocks noChangeAspect="1"/>
          </p:cNvCxnSpPr>
          <p:nvPr/>
        </p:nvCxnSpPr>
        <p:spPr>
          <a:xfrm>
            <a:off x="16580333" y="2517485"/>
            <a:ext cx="180000" cy="178740"/>
          </a:xfrm>
          <a:prstGeom prst="straightConnector1">
            <a:avLst/>
          </a:prstGeom>
          <a:ln w="34925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3244705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CEF847-F96F-7D23-C8BA-4F262940E8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4299E1A-033D-47C8-8868-7913C5CE51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 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陷阱汇总</a:t>
            </a:r>
            <a:b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本页主题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：汇总主升操盘过程中的陷阱，防止踏空、失去仓位、错误加仓、该走不走。理解有容乃大的重要性。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13" name="表格 12">
            <a:extLst>
              <a:ext uri="{FF2B5EF4-FFF2-40B4-BE49-F238E27FC236}">
                <a16:creationId xmlns:a16="http://schemas.microsoft.com/office/drawing/2014/main" id="{0929BE62-6F51-248C-80FD-286FBE32C206}"/>
              </a:ext>
            </a:extLst>
          </p:cNvPr>
          <p:cNvGraphicFramePr>
            <a:graphicFrameLocks noGrp="1"/>
          </p:cNvGraphicFramePr>
          <p:nvPr/>
        </p:nvGraphicFramePr>
        <p:xfrm>
          <a:off x="0" y="720000"/>
          <a:ext cx="6815580" cy="5198967"/>
        </p:xfrm>
        <a:graphic>
          <a:graphicData uri="http://schemas.openxmlformats.org/drawingml/2006/table">
            <a:tbl>
              <a:tblPr firstRow="1" bandRow="1">
                <a:tableStyleId>{22838BEF-8BB2-4498-84A7-C5851F593DF1}</a:tableStyleId>
              </a:tblPr>
              <a:tblGrid>
                <a:gridCol w="654936">
                  <a:extLst>
                    <a:ext uri="{9D8B030D-6E8A-4147-A177-3AD203B41FA5}">
                      <a16:colId xmlns:a16="http://schemas.microsoft.com/office/drawing/2014/main" val="511287155"/>
                    </a:ext>
                  </a:extLst>
                </a:gridCol>
                <a:gridCol w="6160644">
                  <a:extLst>
                    <a:ext uri="{9D8B030D-6E8A-4147-A177-3AD203B41FA5}">
                      <a16:colId xmlns:a16="http://schemas.microsoft.com/office/drawing/2014/main" val="2177216081"/>
                    </a:ext>
                  </a:extLst>
                </a:gridCol>
              </a:tblGrid>
              <a:tr h="2325873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陷阱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：垒升幻想陷阱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情况描述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当在主升阶段。周柱排列为阳柱，此时日柱排列也是升排，以为下周会继续形成阳柱，但实际走势为周级别阴阳相间。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应对措施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结论公理：主升状态时，柱在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之上的排列方式为，（在一个管内）连阳或阴阳相间，而非大阳柱（直上直下）。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重要结论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：在主升过程中，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之上阳柱，不要加仓，要防止阴阳相间。⇒寻找形成垒阳的典型形态。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之上阴柱，不要减仓，要防止阴阳相间。⇒寻找必然下跌的典型形态。（如连续小阴柱）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首柱，不要减仓，可能随后会贯穿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后再确认下破。⇒找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之下的反攻形态。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重要结论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：要把止损设置得足够大（有容乃大）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要顺大势：从而足以扭转震荡。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要有容乃大。由于短期走势难以预料⇒要增大容错。在主升中，以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替代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作为截断损失的止损线。</a:t>
                      </a: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进攻过程：可能直接拉升；也可能调整后再拉升。</a:t>
                      </a: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退守过程：可能重整后再攻；也可能继续向下成为尾部。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31271544"/>
                  </a:ext>
                </a:extLst>
              </a:tr>
              <a:tr h="1953733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如何躲避“柱排为升排”陷阱？</a:t>
                      </a:r>
                    </a:p>
                    <a:p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情况描述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如何让“柱排为升排”成为辅助而非陷阱？要找出那些“虽为升排（特别是叠垒），但实为最后一柱的情况”。不要因柱排徒增信心，要将（均线、柱排、触顶）相结合。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应对措施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如何躲避“柱排为升排”陷阱？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通过设置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周地型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，可以躲避虽为升排，但只是反弹的情况。前期涨幅巨大，已导致形成（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BS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）巨大偏离，即使（周柱排适合形成主升，也容易演变成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本波走势可以明显区分（主升）（震荡）区域。在震荡区域，可能存在（天劫）（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劫）后连阳，其实为震荡过程中正常现象，不应依据此柱排断定后续将进入主升。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具体示例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诱多连阳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：虽然属于叠垒式柱排，但可能是震荡中的诱多情形。需要梳理汇总虽为连阳但实属诱多的情况。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第一波上涨：主升波中的典型诱多。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冲高过程的左侧：符合最后一柱特征，如连阳衰竭（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柱变小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长上影）。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冲高后回落过程：下跌遇到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反弹出现矮幅连阳。很可能属于平移诱多后再下破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第二波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头：属于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劫或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对于第一波已经历冲高或完整弧后，第二波反弹很可能属于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对于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劫：第二波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头，很可能不会持久，尽量不介入或等待变为（周层主）后再介入。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对于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劫：要防止在第二波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纠缠时依据突破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而介入，很可能诱多。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89527285"/>
                  </a:ext>
                </a:extLst>
              </a:tr>
              <a:tr h="837314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如何躲避“触顶”陷阱？</a:t>
                      </a: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情况描述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甄别“龙猪”中不持续触顶的情况。如何让“触顶（龙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）”成为辅助而非陷阱？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要找出那些“虽为触顶，但实为最后一柱的情况”。不要因触顶徒增信心，要将（均线、柱排、触顶）相结合。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应对措施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如何躲避“触顶”陷阱？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相隔很久，忽然单次触顶，但不会连续触顶的情况。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从劫恢复的柱排，未能形成连阳或升排，而是无规律的柱排，仅单柱触顶，而非连续多次触顶或触哼。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20251123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）不要担心周类离顶。在（离顶情况），只要从劫恢复，且形成升排，就有可能拉升。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90815865"/>
                  </a:ext>
                </a:extLst>
              </a:tr>
            </a:tbl>
          </a:graphicData>
        </a:graphic>
      </p:graphicFrame>
      <p:grpSp>
        <p:nvGrpSpPr>
          <p:cNvPr id="19" name="组合 18">
            <a:extLst>
              <a:ext uri="{FF2B5EF4-FFF2-40B4-BE49-F238E27FC236}">
                <a16:creationId xmlns:a16="http://schemas.microsoft.com/office/drawing/2014/main" id="{B8B49678-A985-6531-C1D4-93D965BE0734}"/>
              </a:ext>
            </a:extLst>
          </p:cNvPr>
          <p:cNvGrpSpPr/>
          <p:nvPr/>
        </p:nvGrpSpPr>
        <p:grpSpPr>
          <a:xfrm>
            <a:off x="1839774" y="2332957"/>
            <a:ext cx="2251708" cy="760238"/>
            <a:chOff x="351845" y="2568928"/>
            <a:chExt cx="2251708" cy="760238"/>
          </a:xfrm>
        </p:grpSpPr>
        <p:cxnSp>
          <p:nvCxnSpPr>
            <p:cNvPr id="36" name="直接箭头连接符 35">
              <a:extLst>
                <a:ext uri="{FF2B5EF4-FFF2-40B4-BE49-F238E27FC236}">
                  <a16:creationId xmlns:a16="http://schemas.microsoft.com/office/drawing/2014/main" id="{753F4966-B705-C0DA-A0D3-7A74C5DB1C1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401362" y="2851864"/>
              <a:ext cx="202191" cy="16414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矩形 13">
              <a:extLst>
                <a:ext uri="{FF2B5EF4-FFF2-40B4-BE49-F238E27FC236}">
                  <a16:creationId xmlns:a16="http://schemas.microsoft.com/office/drawing/2014/main" id="{1E23862D-779F-CF74-2F1D-0F5B6B9BD7E9}"/>
                </a:ext>
              </a:extLst>
            </p:cNvPr>
            <p:cNvSpPr/>
            <p:nvPr/>
          </p:nvSpPr>
          <p:spPr>
            <a:xfrm>
              <a:off x="478245" y="3021005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" name="矩形 14">
              <a:extLst>
                <a:ext uri="{FF2B5EF4-FFF2-40B4-BE49-F238E27FC236}">
                  <a16:creationId xmlns:a16="http://schemas.microsoft.com/office/drawing/2014/main" id="{FCD17712-193C-D32D-04C6-FB244C64C144}"/>
                </a:ext>
              </a:extLst>
            </p:cNvPr>
            <p:cNvSpPr/>
            <p:nvPr/>
          </p:nvSpPr>
          <p:spPr>
            <a:xfrm>
              <a:off x="596818" y="2998302"/>
              <a:ext cx="72000" cy="3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矩形 15">
              <a:extLst>
                <a:ext uri="{FF2B5EF4-FFF2-40B4-BE49-F238E27FC236}">
                  <a16:creationId xmlns:a16="http://schemas.microsoft.com/office/drawing/2014/main" id="{44A58DAB-C22F-F9A5-C3B6-BDC13C8E66A5}"/>
                </a:ext>
              </a:extLst>
            </p:cNvPr>
            <p:cNvSpPr/>
            <p:nvPr/>
          </p:nvSpPr>
          <p:spPr>
            <a:xfrm>
              <a:off x="730971" y="2979720"/>
              <a:ext cx="72000" cy="3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矩形 16">
              <a:extLst>
                <a:ext uri="{FF2B5EF4-FFF2-40B4-BE49-F238E27FC236}">
                  <a16:creationId xmlns:a16="http://schemas.microsoft.com/office/drawing/2014/main" id="{7E29FCA2-275F-B259-60D9-F08ADE3F6624}"/>
                </a:ext>
              </a:extLst>
            </p:cNvPr>
            <p:cNvSpPr/>
            <p:nvPr/>
          </p:nvSpPr>
          <p:spPr>
            <a:xfrm>
              <a:off x="860334" y="2901137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CEE1B6A-B18F-AA8B-EF5D-F1025E1718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4044" y="2945998"/>
              <a:ext cx="880876" cy="243651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矩形 21">
              <a:extLst>
                <a:ext uri="{FF2B5EF4-FFF2-40B4-BE49-F238E27FC236}">
                  <a16:creationId xmlns:a16="http://schemas.microsoft.com/office/drawing/2014/main" id="{381ECFDB-04FB-19CE-4926-49F760FB96F8}"/>
                </a:ext>
              </a:extLst>
            </p:cNvPr>
            <p:cNvSpPr/>
            <p:nvPr/>
          </p:nvSpPr>
          <p:spPr>
            <a:xfrm>
              <a:off x="1669210" y="2830505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矩形 22">
              <a:extLst>
                <a:ext uri="{FF2B5EF4-FFF2-40B4-BE49-F238E27FC236}">
                  <a16:creationId xmlns:a16="http://schemas.microsoft.com/office/drawing/2014/main" id="{33BA7C02-6247-7E8D-4733-EE5100B0F6B1}"/>
                </a:ext>
              </a:extLst>
            </p:cNvPr>
            <p:cNvSpPr/>
            <p:nvPr/>
          </p:nvSpPr>
          <p:spPr>
            <a:xfrm>
              <a:off x="1787783" y="2807802"/>
              <a:ext cx="72000" cy="3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矩形 23">
              <a:extLst>
                <a:ext uri="{FF2B5EF4-FFF2-40B4-BE49-F238E27FC236}">
                  <a16:creationId xmlns:a16="http://schemas.microsoft.com/office/drawing/2014/main" id="{166FCF2A-4F0E-7405-2D9B-65B03E12BBBB}"/>
                </a:ext>
              </a:extLst>
            </p:cNvPr>
            <p:cNvSpPr/>
            <p:nvPr/>
          </p:nvSpPr>
          <p:spPr>
            <a:xfrm>
              <a:off x="1921936" y="2789220"/>
              <a:ext cx="72000" cy="3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矩形 24">
              <a:extLst>
                <a:ext uri="{FF2B5EF4-FFF2-40B4-BE49-F238E27FC236}">
                  <a16:creationId xmlns:a16="http://schemas.microsoft.com/office/drawing/2014/main" id="{B928518A-9B9B-194C-776B-0DDF7680DEDE}"/>
                </a:ext>
              </a:extLst>
            </p:cNvPr>
            <p:cNvSpPr/>
            <p:nvPr/>
          </p:nvSpPr>
          <p:spPr>
            <a:xfrm>
              <a:off x="2051299" y="2710637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26" name="直接连接符 25">
              <a:extLst>
                <a:ext uri="{FF2B5EF4-FFF2-40B4-BE49-F238E27FC236}">
                  <a16:creationId xmlns:a16="http://schemas.microsoft.com/office/drawing/2014/main" id="{0A6EB6F0-E43A-617E-89C4-4099B7A074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575009" y="2755498"/>
              <a:ext cx="880876" cy="243651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接箭头连接符 26">
              <a:extLst>
                <a:ext uri="{FF2B5EF4-FFF2-40B4-BE49-F238E27FC236}">
                  <a16:creationId xmlns:a16="http://schemas.microsoft.com/office/drawing/2014/main" id="{E92E1159-2FEB-F97F-85BD-7A4A3515B85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80662" y="2568928"/>
              <a:ext cx="202191" cy="16414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矩形 27">
              <a:extLst>
                <a:ext uri="{FF2B5EF4-FFF2-40B4-BE49-F238E27FC236}">
                  <a16:creationId xmlns:a16="http://schemas.microsoft.com/office/drawing/2014/main" id="{1CE57F64-ABAA-B0CA-1E7D-9E6B05F4CBA0}"/>
                </a:ext>
              </a:extLst>
            </p:cNvPr>
            <p:cNvSpPr/>
            <p:nvPr/>
          </p:nvSpPr>
          <p:spPr>
            <a:xfrm>
              <a:off x="1669210" y="3152739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9" name="矩形 28">
              <a:extLst>
                <a:ext uri="{FF2B5EF4-FFF2-40B4-BE49-F238E27FC236}">
                  <a16:creationId xmlns:a16="http://schemas.microsoft.com/office/drawing/2014/main" id="{00D22B1B-4E61-E124-C9B7-BCA4F17B6894}"/>
                </a:ext>
              </a:extLst>
            </p:cNvPr>
            <p:cNvSpPr/>
            <p:nvPr/>
          </p:nvSpPr>
          <p:spPr>
            <a:xfrm>
              <a:off x="1787783" y="3130036"/>
              <a:ext cx="72000" cy="3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0" name="矩形 29">
              <a:extLst>
                <a:ext uri="{FF2B5EF4-FFF2-40B4-BE49-F238E27FC236}">
                  <a16:creationId xmlns:a16="http://schemas.microsoft.com/office/drawing/2014/main" id="{4B1466BF-E3F4-88CC-1933-42E99BA394B6}"/>
                </a:ext>
              </a:extLst>
            </p:cNvPr>
            <p:cNvSpPr/>
            <p:nvPr/>
          </p:nvSpPr>
          <p:spPr>
            <a:xfrm>
              <a:off x="1921936" y="3111454"/>
              <a:ext cx="72000" cy="3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1" name="矩形 30">
              <a:extLst>
                <a:ext uri="{FF2B5EF4-FFF2-40B4-BE49-F238E27FC236}">
                  <a16:creationId xmlns:a16="http://schemas.microsoft.com/office/drawing/2014/main" id="{BE873D6D-385C-078C-9E8C-576B303F23E0}"/>
                </a:ext>
              </a:extLst>
            </p:cNvPr>
            <p:cNvSpPr/>
            <p:nvPr/>
          </p:nvSpPr>
          <p:spPr>
            <a:xfrm>
              <a:off x="2051299" y="3032871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35" name="直接连接符 34">
              <a:extLst>
                <a:ext uri="{FF2B5EF4-FFF2-40B4-BE49-F238E27FC236}">
                  <a16:creationId xmlns:a16="http://schemas.microsoft.com/office/drawing/2014/main" id="{EA4C3232-D3FF-AE7E-B595-19D3271916B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575009" y="3077732"/>
              <a:ext cx="880876" cy="243651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矩形 36">
              <a:extLst>
                <a:ext uri="{FF2B5EF4-FFF2-40B4-BE49-F238E27FC236}">
                  <a16:creationId xmlns:a16="http://schemas.microsoft.com/office/drawing/2014/main" id="{4D1E1715-E6D0-ED08-8E64-486DA92BF176}"/>
                </a:ext>
              </a:extLst>
            </p:cNvPr>
            <p:cNvSpPr/>
            <p:nvPr/>
          </p:nvSpPr>
          <p:spPr>
            <a:xfrm>
              <a:off x="2169872" y="3003454"/>
              <a:ext cx="72000" cy="108000"/>
            </a:xfrm>
            <a:prstGeom prst="rect">
              <a:avLst/>
            </a:prstGeom>
            <a:solidFill>
              <a:schemeClr val="accent6">
                <a:lumMod val="5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8" name="矩形 37">
              <a:extLst>
                <a:ext uri="{FF2B5EF4-FFF2-40B4-BE49-F238E27FC236}">
                  <a16:creationId xmlns:a16="http://schemas.microsoft.com/office/drawing/2014/main" id="{D35A5C6C-309F-8919-5C19-355520F89731}"/>
                </a:ext>
              </a:extLst>
            </p:cNvPr>
            <p:cNvSpPr/>
            <p:nvPr/>
          </p:nvSpPr>
          <p:spPr>
            <a:xfrm>
              <a:off x="2299305" y="2944004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9" name="左大括号 38">
              <a:extLst>
                <a:ext uri="{FF2B5EF4-FFF2-40B4-BE49-F238E27FC236}">
                  <a16:creationId xmlns:a16="http://schemas.microsoft.com/office/drawing/2014/main" id="{F6CED874-CD5E-CAD1-E049-04E3A5DE9EC0}"/>
                </a:ext>
              </a:extLst>
            </p:cNvPr>
            <p:cNvSpPr/>
            <p:nvPr/>
          </p:nvSpPr>
          <p:spPr>
            <a:xfrm>
              <a:off x="1287617" y="2568928"/>
              <a:ext cx="239580" cy="760238"/>
            </a:xfrm>
            <a:prstGeom prst="leftBrace">
              <a:avLst>
                <a:gd name="adj1" fmla="val 36958"/>
                <a:gd name="adj2" fmla="val 50000"/>
              </a:avLst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0" name="文本框 39">
              <a:extLst>
                <a:ext uri="{FF2B5EF4-FFF2-40B4-BE49-F238E27FC236}">
                  <a16:creationId xmlns:a16="http://schemas.microsoft.com/office/drawing/2014/main" id="{2083EBB9-30E8-8F9F-636F-60BB1AD75770}"/>
                </a:ext>
              </a:extLst>
            </p:cNvPr>
            <p:cNvSpPr txBox="1"/>
            <p:nvPr/>
          </p:nvSpPr>
          <p:spPr>
            <a:xfrm>
              <a:off x="351845" y="2628246"/>
              <a:ext cx="69762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进攻过程</a:t>
              </a:r>
            </a:p>
          </p:txBody>
        </p:sp>
      </p:grp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779380DC-976F-874A-E371-2FE844655899}"/>
              </a:ext>
            </a:extLst>
          </p:cNvPr>
          <p:cNvGrpSpPr/>
          <p:nvPr/>
        </p:nvGrpSpPr>
        <p:grpSpPr>
          <a:xfrm>
            <a:off x="4279197" y="2211670"/>
            <a:ext cx="2248257" cy="880080"/>
            <a:chOff x="3206323" y="3020261"/>
            <a:chExt cx="2248257" cy="880080"/>
          </a:xfrm>
        </p:grpSpPr>
        <p:sp>
          <p:nvSpPr>
            <p:cNvPr id="42" name="矩形 41">
              <a:extLst>
                <a:ext uri="{FF2B5EF4-FFF2-40B4-BE49-F238E27FC236}">
                  <a16:creationId xmlns:a16="http://schemas.microsoft.com/office/drawing/2014/main" id="{40124898-3851-71E9-ED5D-66DD48E62CB8}"/>
                </a:ext>
              </a:extLst>
            </p:cNvPr>
            <p:cNvSpPr/>
            <p:nvPr/>
          </p:nvSpPr>
          <p:spPr>
            <a:xfrm>
              <a:off x="5004765" y="3218357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矩形 42">
              <a:extLst>
                <a:ext uri="{FF2B5EF4-FFF2-40B4-BE49-F238E27FC236}">
                  <a16:creationId xmlns:a16="http://schemas.microsoft.com/office/drawing/2014/main" id="{DEF0A4E7-59CA-C673-917D-DC0550A4904D}"/>
                </a:ext>
              </a:extLst>
            </p:cNvPr>
            <p:cNvSpPr/>
            <p:nvPr/>
          </p:nvSpPr>
          <p:spPr>
            <a:xfrm>
              <a:off x="4880953" y="3116124"/>
              <a:ext cx="72000" cy="216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44" name="直接连接符 43">
              <a:extLst>
                <a:ext uri="{FF2B5EF4-FFF2-40B4-BE49-F238E27FC236}">
                  <a16:creationId xmlns:a16="http://schemas.microsoft.com/office/drawing/2014/main" id="{30B3386C-FCF8-2BD9-4EEC-CB2E200CC21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00973" y="3252677"/>
              <a:ext cx="903959" cy="176543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接箭头连接符 44">
              <a:extLst>
                <a:ext uri="{FF2B5EF4-FFF2-40B4-BE49-F238E27FC236}">
                  <a16:creationId xmlns:a16="http://schemas.microsoft.com/office/drawing/2014/main" id="{5868B5B3-8B1D-27AE-BA0B-0EE57D83962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252389" y="3020261"/>
              <a:ext cx="202191" cy="16414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接箭头连接符 55">
              <a:extLst>
                <a:ext uri="{FF2B5EF4-FFF2-40B4-BE49-F238E27FC236}">
                  <a16:creationId xmlns:a16="http://schemas.microsoft.com/office/drawing/2014/main" id="{71B8267F-E188-6927-8B9C-4CAFF56A8A8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32884" y="3137880"/>
              <a:ext cx="296257" cy="223974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矩形 57">
              <a:extLst>
                <a:ext uri="{FF2B5EF4-FFF2-40B4-BE49-F238E27FC236}">
                  <a16:creationId xmlns:a16="http://schemas.microsoft.com/office/drawing/2014/main" id="{B1D5351E-F0AF-0BDB-334C-5D5F98A50909}"/>
                </a:ext>
              </a:extLst>
            </p:cNvPr>
            <p:cNvSpPr/>
            <p:nvPr/>
          </p:nvSpPr>
          <p:spPr>
            <a:xfrm>
              <a:off x="3650905" y="3388425"/>
              <a:ext cx="72000" cy="216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59" name="直接连接符 58">
              <a:extLst>
                <a:ext uri="{FF2B5EF4-FFF2-40B4-BE49-F238E27FC236}">
                  <a16:creationId xmlns:a16="http://schemas.microsoft.com/office/drawing/2014/main" id="{C1DEBD49-3CF5-5365-022C-3CE045CAE0C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42875" y="3532756"/>
              <a:ext cx="903959" cy="176543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接箭头连接符 60">
              <a:extLst>
                <a:ext uri="{FF2B5EF4-FFF2-40B4-BE49-F238E27FC236}">
                  <a16:creationId xmlns:a16="http://schemas.microsoft.com/office/drawing/2014/main" id="{03A9E61A-A659-0B3A-8C38-0B3E47E1C3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302836" y="3410181"/>
              <a:ext cx="296257" cy="223974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矩形 61">
              <a:extLst>
                <a:ext uri="{FF2B5EF4-FFF2-40B4-BE49-F238E27FC236}">
                  <a16:creationId xmlns:a16="http://schemas.microsoft.com/office/drawing/2014/main" id="{C00E2845-1AA2-560F-E7C0-109DD5EE898C}"/>
                </a:ext>
              </a:extLst>
            </p:cNvPr>
            <p:cNvSpPr/>
            <p:nvPr/>
          </p:nvSpPr>
          <p:spPr>
            <a:xfrm>
              <a:off x="5128577" y="3171436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3" name="矩形 62">
              <a:extLst>
                <a:ext uri="{FF2B5EF4-FFF2-40B4-BE49-F238E27FC236}">
                  <a16:creationId xmlns:a16="http://schemas.microsoft.com/office/drawing/2014/main" id="{9BF235DA-F315-DC77-D741-E5448C6E1D21}"/>
                </a:ext>
              </a:extLst>
            </p:cNvPr>
            <p:cNvSpPr/>
            <p:nvPr/>
          </p:nvSpPr>
          <p:spPr>
            <a:xfrm>
              <a:off x="5004765" y="3594124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4" name="矩形 63">
              <a:extLst>
                <a:ext uri="{FF2B5EF4-FFF2-40B4-BE49-F238E27FC236}">
                  <a16:creationId xmlns:a16="http://schemas.microsoft.com/office/drawing/2014/main" id="{300C4E5B-F51C-09FD-1FCB-9986CA2F70C1}"/>
                </a:ext>
              </a:extLst>
            </p:cNvPr>
            <p:cNvSpPr/>
            <p:nvPr/>
          </p:nvSpPr>
          <p:spPr>
            <a:xfrm>
              <a:off x="4880953" y="3476651"/>
              <a:ext cx="72000" cy="216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65" name="直接连接符 64">
              <a:extLst>
                <a:ext uri="{FF2B5EF4-FFF2-40B4-BE49-F238E27FC236}">
                  <a16:creationId xmlns:a16="http://schemas.microsoft.com/office/drawing/2014/main" id="{471E3F76-0414-A64F-FAB4-D63759DA307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00973" y="3613204"/>
              <a:ext cx="903959" cy="176543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接箭头连接符 65">
              <a:extLst>
                <a:ext uri="{FF2B5EF4-FFF2-40B4-BE49-F238E27FC236}">
                  <a16:creationId xmlns:a16="http://schemas.microsoft.com/office/drawing/2014/main" id="{408E9211-0DA7-6663-BAF3-B133E5FBA962}"/>
                </a:ext>
              </a:extLst>
            </p:cNvPr>
            <p:cNvCxnSpPr>
              <a:cxnSpLocks/>
            </p:cNvCxnSpPr>
            <p:nvPr/>
          </p:nvCxnSpPr>
          <p:spPr>
            <a:xfrm>
              <a:off x="5128577" y="3666124"/>
              <a:ext cx="276355" cy="213382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接箭头连接符 66">
              <a:extLst>
                <a:ext uri="{FF2B5EF4-FFF2-40B4-BE49-F238E27FC236}">
                  <a16:creationId xmlns:a16="http://schemas.microsoft.com/office/drawing/2014/main" id="{A3162B30-BC8D-70C9-7234-DD2354A82E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32884" y="3498407"/>
              <a:ext cx="296257" cy="223974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左大括号 70">
              <a:extLst>
                <a:ext uri="{FF2B5EF4-FFF2-40B4-BE49-F238E27FC236}">
                  <a16:creationId xmlns:a16="http://schemas.microsoft.com/office/drawing/2014/main" id="{6E178987-D719-6417-BEFC-02506663977C}"/>
                </a:ext>
              </a:extLst>
            </p:cNvPr>
            <p:cNvSpPr/>
            <p:nvPr/>
          </p:nvSpPr>
          <p:spPr>
            <a:xfrm>
              <a:off x="4120048" y="3140103"/>
              <a:ext cx="239580" cy="760238"/>
            </a:xfrm>
            <a:prstGeom prst="leftBrace">
              <a:avLst>
                <a:gd name="adj1" fmla="val 36958"/>
                <a:gd name="adj2" fmla="val 50000"/>
              </a:avLst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2" name="文本框 71">
              <a:extLst>
                <a:ext uri="{FF2B5EF4-FFF2-40B4-BE49-F238E27FC236}">
                  <a16:creationId xmlns:a16="http://schemas.microsoft.com/office/drawing/2014/main" id="{91B05EC7-2FB5-A7E6-010E-EC2133F9D951}"/>
                </a:ext>
              </a:extLst>
            </p:cNvPr>
            <p:cNvSpPr txBox="1"/>
            <p:nvPr/>
          </p:nvSpPr>
          <p:spPr>
            <a:xfrm>
              <a:off x="3206323" y="3119399"/>
              <a:ext cx="69762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退守过程</a:t>
              </a:r>
            </a:p>
          </p:txBody>
        </p:sp>
      </p:grpSp>
      <p:sp>
        <p:nvSpPr>
          <p:cNvPr id="3" name="矩形 2">
            <a:extLst>
              <a:ext uri="{FF2B5EF4-FFF2-40B4-BE49-F238E27FC236}">
                <a16:creationId xmlns:a16="http://schemas.microsoft.com/office/drawing/2014/main" id="{DA7C95B7-18D2-5E82-D0A7-46FFB781E481}"/>
              </a:ext>
            </a:extLst>
          </p:cNvPr>
          <p:cNvSpPr/>
          <p:nvPr/>
        </p:nvSpPr>
        <p:spPr>
          <a:xfrm>
            <a:off x="6815581" y="720000"/>
            <a:ext cx="5376420" cy="141995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周级别典型的诱多形态汇总：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相关：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久下破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后首上破：很可能是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&lt;WXZA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诱多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暂下破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后上破：若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已整弧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，很可能是诱多。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后升孕：：未站上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，可能是诱多。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后连阳：上升缓慢，可能是诱多。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后跌连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忽然上破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：可能是诱多。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之上跌连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单阳：若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已整弧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，很可能是诱多。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阴阳阴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已整弧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，很可能是诱多。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已整弧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，很可能是诱多。出现跌吞后，即使升吞也可能诱多。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劫：属于周波“头”，可能是诱多。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8" name="组合 67">
            <a:extLst>
              <a:ext uri="{FF2B5EF4-FFF2-40B4-BE49-F238E27FC236}">
                <a16:creationId xmlns:a16="http://schemas.microsoft.com/office/drawing/2014/main" id="{B32C2C98-99CD-D478-5FEA-F418F2AA3790}"/>
              </a:ext>
            </a:extLst>
          </p:cNvPr>
          <p:cNvGrpSpPr/>
          <p:nvPr/>
        </p:nvGrpSpPr>
        <p:grpSpPr>
          <a:xfrm>
            <a:off x="7039847" y="2296389"/>
            <a:ext cx="1273571" cy="529175"/>
            <a:chOff x="412968" y="4334020"/>
            <a:chExt cx="1273571" cy="529175"/>
          </a:xfrm>
        </p:grpSpPr>
        <p:cxnSp>
          <p:nvCxnSpPr>
            <p:cNvPr id="4" name="直接连接符 3">
              <a:extLst>
                <a:ext uri="{FF2B5EF4-FFF2-40B4-BE49-F238E27FC236}">
                  <a16:creationId xmlns:a16="http://schemas.microsoft.com/office/drawing/2014/main" id="{119BCABB-EC7D-1095-7B7E-9943C4B35D6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4717" y="4536162"/>
              <a:ext cx="1237629" cy="319637"/>
            </a:xfrm>
            <a:prstGeom prst="line">
              <a:avLst/>
            </a:prstGeom>
            <a:ln w="38100">
              <a:solidFill>
                <a:schemeClr val="accent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直接箭头连接符 4">
              <a:extLst>
                <a:ext uri="{FF2B5EF4-FFF2-40B4-BE49-F238E27FC236}">
                  <a16:creationId xmlns:a16="http://schemas.microsoft.com/office/drawing/2014/main" id="{6724FDB5-182A-D7CC-692F-EAC95FB4730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2968" y="4340784"/>
              <a:ext cx="692564" cy="431241"/>
            </a:xfrm>
            <a:prstGeom prst="straightConnector1">
              <a:avLst/>
            </a:prstGeom>
            <a:ln w="285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矩形 46">
              <a:extLst>
                <a:ext uri="{FF2B5EF4-FFF2-40B4-BE49-F238E27FC236}">
                  <a16:creationId xmlns:a16="http://schemas.microsoft.com/office/drawing/2014/main" id="{FE6551E5-B412-0578-CA6D-EA2FDD6B47BB}"/>
                </a:ext>
              </a:extLst>
            </p:cNvPr>
            <p:cNvSpPr/>
            <p:nvPr/>
          </p:nvSpPr>
          <p:spPr>
            <a:xfrm>
              <a:off x="1129783" y="4334020"/>
              <a:ext cx="72000" cy="28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8" name="矩形 47">
              <a:extLst>
                <a:ext uri="{FF2B5EF4-FFF2-40B4-BE49-F238E27FC236}">
                  <a16:creationId xmlns:a16="http://schemas.microsoft.com/office/drawing/2014/main" id="{BC73A2B5-C5DC-CD95-6B52-1FD9382AE90B}"/>
                </a:ext>
              </a:extLst>
            </p:cNvPr>
            <p:cNvSpPr/>
            <p:nvPr/>
          </p:nvSpPr>
          <p:spPr>
            <a:xfrm>
              <a:off x="1258813" y="4569125"/>
              <a:ext cx="72000" cy="3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57" name="直接箭头连接符 56">
              <a:extLst>
                <a:ext uri="{FF2B5EF4-FFF2-40B4-BE49-F238E27FC236}">
                  <a16:creationId xmlns:a16="http://schemas.microsoft.com/office/drawing/2014/main" id="{18FC7CE0-3094-91BF-9A78-B6BDD20359A8}"/>
                </a:ext>
              </a:extLst>
            </p:cNvPr>
            <p:cNvCxnSpPr/>
            <p:nvPr/>
          </p:nvCxnSpPr>
          <p:spPr>
            <a:xfrm>
              <a:off x="1402072" y="4587125"/>
              <a:ext cx="284467" cy="276070"/>
            </a:xfrm>
            <a:prstGeom prst="straightConnector1">
              <a:avLst/>
            </a:prstGeom>
            <a:ln w="254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组合 5">
            <a:extLst>
              <a:ext uri="{FF2B5EF4-FFF2-40B4-BE49-F238E27FC236}">
                <a16:creationId xmlns:a16="http://schemas.microsoft.com/office/drawing/2014/main" id="{2C6EA768-9F1B-878D-911B-A86D892311C1}"/>
              </a:ext>
            </a:extLst>
          </p:cNvPr>
          <p:cNvGrpSpPr/>
          <p:nvPr/>
        </p:nvGrpSpPr>
        <p:grpSpPr>
          <a:xfrm>
            <a:off x="8722583" y="2274513"/>
            <a:ext cx="1402325" cy="548501"/>
            <a:chOff x="2095704" y="4312144"/>
            <a:chExt cx="1402325" cy="548501"/>
          </a:xfrm>
        </p:grpSpPr>
        <p:cxnSp>
          <p:nvCxnSpPr>
            <p:cNvPr id="50" name="直接连接符 49">
              <a:extLst>
                <a:ext uri="{FF2B5EF4-FFF2-40B4-BE49-F238E27FC236}">
                  <a16:creationId xmlns:a16="http://schemas.microsoft.com/office/drawing/2014/main" id="{5C6D45CF-82B3-7534-1E2E-3B8E4A2FBD0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97453" y="4514286"/>
              <a:ext cx="1237629" cy="319637"/>
            </a:xfrm>
            <a:prstGeom prst="line">
              <a:avLst/>
            </a:prstGeom>
            <a:ln w="38100">
              <a:solidFill>
                <a:schemeClr val="accent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接箭头连接符 50">
              <a:extLst>
                <a:ext uri="{FF2B5EF4-FFF2-40B4-BE49-F238E27FC236}">
                  <a16:creationId xmlns:a16="http://schemas.microsoft.com/office/drawing/2014/main" id="{351EACAA-22F8-2EA1-A9D1-2E75934EE9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95704" y="4318908"/>
              <a:ext cx="692564" cy="431241"/>
            </a:xfrm>
            <a:prstGeom prst="straightConnector1">
              <a:avLst/>
            </a:prstGeom>
            <a:ln w="285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矩形 51">
              <a:extLst>
                <a:ext uri="{FF2B5EF4-FFF2-40B4-BE49-F238E27FC236}">
                  <a16:creationId xmlns:a16="http://schemas.microsoft.com/office/drawing/2014/main" id="{A3732C0C-8D23-AB9C-9B01-F6EDA69B3540}"/>
                </a:ext>
              </a:extLst>
            </p:cNvPr>
            <p:cNvSpPr/>
            <p:nvPr/>
          </p:nvSpPr>
          <p:spPr>
            <a:xfrm>
              <a:off x="2812519" y="4312144"/>
              <a:ext cx="72000" cy="28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" name="矩形 53">
              <a:extLst>
                <a:ext uri="{FF2B5EF4-FFF2-40B4-BE49-F238E27FC236}">
                  <a16:creationId xmlns:a16="http://schemas.microsoft.com/office/drawing/2014/main" id="{E23BE2CB-9341-B9B1-0BCA-FE1BA9BD42C7}"/>
                </a:ext>
              </a:extLst>
            </p:cNvPr>
            <p:cNvSpPr/>
            <p:nvPr/>
          </p:nvSpPr>
          <p:spPr>
            <a:xfrm>
              <a:off x="3079881" y="4385249"/>
              <a:ext cx="72000" cy="28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矩形 54">
              <a:extLst>
                <a:ext uri="{FF2B5EF4-FFF2-40B4-BE49-F238E27FC236}">
                  <a16:creationId xmlns:a16="http://schemas.microsoft.com/office/drawing/2014/main" id="{2904A2C8-B5D1-9D8B-2CE1-9F939D5AD708}"/>
                </a:ext>
              </a:extLst>
            </p:cNvPr>
            <p:cNvSpPr/>
            <p:nvPr/>
          </p:nvSpPr>
          <p:spPr>
            <a:xfrm>
              <a:off x="2946200" y="4385249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7" name="直接箭头连接符 6">
              <a:extLst>
                <a:ext uri="{FF2B5EF4-FFF2-40B4-BE49-F238E27FC236}">
                  <a16:creationId xmlns:a16="http://schemas.microsoft.com/office/drawing/2014/main" id="{981E1702-DD47-059D-242E-CF7B500A8681}"/>
                </a:ext>
              </a:extLst>
            </p:cNvPr>
            <p:cNvCxnSpPr/>
            <p:nvPr/>
          </p:nvCxnSpPr>
          <p:spPr>
            <a:xfrm>
              <a:off x="3213562" y="4584575"/>
              <a:ext cx="284467" cy="276070"/>
            </a:xfrm>
            <a:prstGeom prst="straightConnector1">
              <a:avLst/>
            </a:prstGeom>
            <a:ln w="254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9" name="组合 68">
            <a:extLst>
              <a:ext uri="{FF2B5EF4-FFF2-40B4-BE49-F238E27FC236}">
                <a16:creationId xmlns:a16="http://schemas.microsoft.com/office/drawing/2014/main" id="{6CE67A3C-96F4-7FA0-1C66-B94F43AD7A94}"/>
              </a:ext>
            </a:extLst>
          </p:cNvPr>
          <p:cNvGrpSpPr/>
          <p:nvPr/>
        </p:nvGrpSpPr>
        <p:grpSpPr>
          <a:xfrm>
            <a:off x="10388568" y="2303153"/>
            <a:ext cx="1427901" cy="515015"/>
            <a:chOff x="3761689" y="4340784"/>
            <a:chExt cx="1427901" cy="515015"/>
          </a:xfrm>
        </p:grpSpPr>
        <p:cxnSp>
          <p:nvCxnSpPr>
            <p:cNvPr id="8" name="直接连接符 7">
              <a:extLst>
                <a:ext uri="{FF2B5EF4-FFF2-40B4-BE49-F238E27FC236}">
                  <a16:creationId xmlns:a16="http://schemas.microsoft.com/office/drawing/2014/main" id="{9939D29B-2E3E-8FB5-F2B1-9543795E90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63438" y="4536162"/>
              <a:ext cx="1237629" cy="319637"/>
            </a:xfrm>
            <a:prstGeom prst="line">
              <a:avLst/>
            </a:prstGeom>
            <a:ln w="38100">
              <a:solidFill>
                <a:schemeClr val="accent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接箭头连接符 59">
              <a:extLst>
                <a:ext uri="{FF2B5EF4-FFF2-40B4-BE49-F238E27FC236}">
                  <a16:creationId xmlns:a16="http://schemas.microsoft.com/office/drawing/2014/main" id="{644D5135-7B8A-B43C-06AA-0C269530E2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61689" y="4340784"/>
              <a:ext cx="692564" cy="431241"/>
            </a:xfrm>
            <a:prstGeom prst="straightConnector1">
              <a:avLst/>
            </a:prstGeom>
            <a:ln w="285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接箭头连接符 8">
              <a:extLst>
                <a:ext uri="{FF2B5EF4-FFF2-40B4-BE49-F238E27FC236}">
                  <a16:creationId xmlns:a16="http://schemas.microsoft.com/office/drawing/2014/main" id="{396DD5A6-364D-350E-447E-C4A2B680341A}"/>
                </a:ext>
              </a:extLst>
            </p:cNvPr>
            <p:cNvCxnSpPr/>
            <p:nvPr/>
          </p:nvCxnSpPr>
          <p:spPr>
            <a:xfrm>
              <a:off x="4905123" y="4541353"/>
              <a:ext cx="284467" cy="276070"/>
            </a:xfrm>
            <a:prstGeom prst="straightConnector1">
              <a:avLst/>
            </a:prstGeom>
            <a:ln w="254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矩形 9">
              <a:extLst>
                <a:ext uri="{FF2B5EF4-FFF2-40B4-BE49-F238E27FC236}">
                  <a16:creationId xmlns:a16="http://schemas.microsoft.com/office/drawing/2014/main" id="{F2914B6D-7174-92A6-033C-60F721609A89}"/>
                </a:ext>
              </a:extLst>
            </p:cNvPr>
            <p:cNvSpPr/>
            <p:nvPr/>
          </p:nvSpPr>
          <p:spPr>
            <a:xfrm>
              <a:off x="4509990" y="4349226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" name="矩形 11">
              <a:extLst>
                <a:ext uri="{FF2B5EF4-FFF2-40B4-BE49-F238E27FC236}">
                  <a16:creationId xmlns:a16="http://schemas.microsoft.com/office/drawing/2014/main" id="{7548DF39-0700-3855-78A3-045A06618371}"/>
                </a:ext>
              </a:extLst>
            </p:cNvPr>
            <p:cNvSpPr/>
            <p:nvPr/>
          </p:nvSpPr>
          <p:spPr>
            <a:xfrm>
              <a:off x="4634945" y="4429209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矩形 19">
              <a:extLst>
                <a:ext uri="{FF2B5EF4-FFF2-40B4-BE49-F238E27FC236}">
                  <a16:creationId xmlns:a16="http://schemas.microsoft.com/office/drawing/2014/main" id="{6C8C413A-0B69-A484-9B57-200A7B73BF5C}"/>
                </a:ext>
              </a:extLst>
            </p:cNvPr>
            <p:cNvSpPr/>
            <p:nvPr/>
          </p:nvSpPr>
          <p:spPr>
            <a:xfrm>
              <a:off x="4770034" y="4463293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矩形 20">
            <a:extLst>
              <a:ext uri="{FF2B5EF4-FFF2-40B4-BE49-F238E27FC236}">
                <a16:creationId xmlns:a16="http://schemas.microsoft.com/office/drawing/2014/main" id="{0BD252BF-7A9C-87FC-5C3F-39C3F3BA0889}"/>
              </a:ext>
            </a:extLst>
          </p:cNvPr>
          <p:cNvSpPr/>
          <p:nvPr/>
        </p:nvSpPr>
        <p:spPr>
          <a:xfrm>
            <a:off x="6815580" y="3621950"/>
            <a:ext cx="5376420" cy="141995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何时必须坚持（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定趋势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+WJB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止损）？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应坚持：在趋势形成初期，明知会形成大级别升势，但出现较多低级别劫（如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劫与日级别劫）。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主要用于坚定持仓信心。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出现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劫，如何处理？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主升过程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之上出现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跌吞等异常柱排，是否退出？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不要轻易止盈减仓。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面对单巨阳柱，是否应止盈或退出？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应坚持：尚未冲高或经历完整弧情况下，不知道是否会形成大级别升势，可按此规则进行持仓。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劫恢复过程：不确定是否（形成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顶）或（形成下一波主升）。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不应坚持：明知下柱必跌的情况。如，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已冲高或已经历完整弧，且已出现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阴阳阴等下跌前兆，应躲避可预见的下跌。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已出现最后一柱，应适当止盈减仓。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22037143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大局观附注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以镜面对称原则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来醍醐灌顶⇒负向扩展</a:t>
            </a:r>
            <a:b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主题：将困扰已久的操盘疑问与思维陷阱，按照对称逻辑进行映射，检视规则设置的合理性。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7F1D0788-3E14-BF1D-9D94-BCB5696CDC6A}"/>
              </a:ext>
            </a:extLst>
          </p:cNvPr>
          <p:cNvSpPr/>
          <p:nvPr/>
        </p:nvSpPr>
        <p:spPr>
          <a:xfrm>
            <a:off x="0" y="720000"/>
            <a:ext cx="6089399" cy="613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以对称视角解答困扰已久的操盘疑问与思维陷阱：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买入点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阳柱之后不会总是阳柱，否则会一直升上去。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⇒按对称原理⇒ 阴柱之后也不会一直是阴柱。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醍醐灌顶：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应尽量在阴柱买入，首选上升趋势的调整；次选下跌到关键支撑位置。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如何应对快速波动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当快速下跌时不要买入，而要等待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止跌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走平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站上低级别均线。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⇒按对称原理⇒当快速上升时不要卖出，而要等待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止升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走平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下破低级别均线。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醍醐灌顶：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做交易初期经常在下探时介入，以为是捡漏，实际是在下跌趋势的初期错误介入。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曾有错误尝试，按连跌数来筛选标的，以为连跌就会反弹，实际应按重要均线做升势。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对于追涨，符合此条逻辑，即追涨成功的逻辑是选择对的上升趋势，并在初期介入。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真正赚钱的方式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抓牢上升趋势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以高容忍度守住趋势。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醍醐灌顶：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⇒按对称原理⇒赔钱方式一，总去追寻下降趋势，以小级别突破作为介入点。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推而广之，事业成功的模式，是抓住上升趋势，不苛求同行者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可犯小错别犯大错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得道者：刘邦，朱元璋。操盘优化者，毛泽东。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要明白：大势难得，要顺大势容小错。理解“有容乃大”的深层含义。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【WJCDE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决定大势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时，可以容忍各种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WXBC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以下级别的劫。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⇒按对称原理⇒当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时，对于各种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WXBC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以下级别的突破都不要动心。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醍醐灌顶：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WXCDE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决定月级别的局，是最高级别的大势。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所有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WXBC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以下级别的劫，都属于周级别，都可在大势为升的情况下被容忍。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丘必赢）原则中要求下破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立刻退出。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⇒按对称原理⇒ 是否上破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应该立刻介入。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醍醐灌顶：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止损不应依赖于单个均线，而应在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视角按周局判断是否已中止上升趋势。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再次上破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，属于周层（再），已违背了正常的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走势，必然是庄家的操纵，可根据实际情况判断是否介入。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（穿越均线</a:t>
            </a:r>
            <a:r>
              <a:rPr lang="en-US" altLang="zh-CN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会先贯穿震荡再站稳单边）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之上，下破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，会先围绕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贯穿，再下破站稳</a:t>
            </a:r>
            <a:r>
              <a:rPr lang="zh-CN" altLang="en-US" sz="7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7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⇒按对称原理⇒从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之下，上破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，会先围绕</a:t>
            </a:r>
            <a:r>
              <a:rPr lang="en-US" altLang="zh-CN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贯穿，再上破站稳。</a:t>
            </a: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7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CE63B301-AF21-803B-A94A-7991E5A481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7063215"/>
              </p:ext>
            </p:extLst>
          </p:nvPr>
        </p:nvGraphicFramePr>
        <p:xfrm>
          <a:off x="6102601" y="720000"/>
          <a:ext cx="6102601" cy="2164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9445">
                  <a:extLst>
                    <a:ext uri="{9D8B030D-6E8A-4147-A177-3AD203B41FA5}">
                      <a16:colId xmlns:a16="http://schemas.microsoft.com/office/drawing/2014/main" val="3918441178"/>
                    </a:ext>
                  </a:extLst>
                </a:gridCol>
                <a:gridCol w="2571227">
                  <a:extLst>
                    <a:ext uri="{9D8B030D-6E8A-4147-A177-3AD203B41FA5}">
                      <a16:colId xmlns:a16="http://schemas.microsoft.com/office/drawing/2014/main" val="3224650423"/>
                    </a:ext>
                  </a:extLst>
                </a:gridCol>
                <a:gridCol w="2731929">
                  <a:extLst>
                    <a:ext uri="{9D8B030D-6E8A-4147-A177-3AD203B41FA5}">
                      <a16:colId xmlns:a16="http://schemas.microsoft.com/office/drawing/2014/main" val="3653353349"/>
                    </a:ext>
                  </a:extLst>
                </a:gridCol>
              </a:tblGrid>
              <a:tr h="142214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阴阳镜面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7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正向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7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负向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7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5347654"/>
                  </a:ext>
                </a:extLst>
              </a:tr>
              <a:tr h="213320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分析收益损失比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为界进行分析。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之上介入，收益无限，损失为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BSHC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之上介入，收益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BSHC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极度有限，损失无限。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8860671"/>
                  </a:ext>
                </a:extLst>
              </a:tr>
              <a:tr h="142214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是否关注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之上，不要放弃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之下，很可能转升。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之下，不要尝试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之上。忠告是，要依赖大趋势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3053295"/>
                  </a:ext>
                </a:extLst>
              </a:tr>
              <a:tr h="142214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是否关注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之上不要退出，从而保证经过最高点。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之下，不要尝试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之下。忠告是，要依赖大趋势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6211347"/>
                  </a:ext>
                </a:extLst>
              </a:tr>
              <a:tr h="568854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可操作区域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退出程序：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退出，是底线。牢记祖训。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退出，是强制止损要求。下破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后进入方向选择区。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退出，可保证经过最高点。退出原因是可能导致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负交，但为保留回旋余地，应下破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后再止损退出。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介入程序：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时，至少等上破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再介入。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，可观察勿介入。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之下，至少上破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，才可观察，勿介入。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6203085"/>
                  </a:ext>
                </a:extLst>
              </a:tr>
            </a:tbl>
          </a:graphicData>
        </a:graphic>
      </p:graphicFrame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2CD506D0-E0AA-1B41-08C8-DC864F69DB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0614596"/>
              </p:ext>
            </p:extLst>
          </p:nvPr>
        </p:nvGraphicFramePr>
        <p:xfrm>
          <a:off x="6601" y="3901441"/>
          <a:ext cx="12192000" cy="3200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096000">
                  <a:extLst>
                    <a:ext uri="{9D8B030D-6E8A-4147-A177-3AD203B41FA5}">
                      <a16:colId xmlns:a16="http://schemas.microsoft.com/office/drawing/2014/main" val="3315983324"/>
                    </a:ext>
                  </a:extLst>
                </a:gridCol>
                <a:gridCol w="6096000">
                  <a:extLst>
                    <a:ext uri="{9D8B030D-6E8A-4147-A177-3AD203B41FA5}">
                      <a16:colId xmlns:a16="http://schemas.microsoft.com/office/drawing/2014/main" val="2070165747"/>
                    </a:ext>
                  </a:extLst>
                </a:gridCol>
              </a:tblGrid>
              <a:tr h="13664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12571"/>
                  </a:ext>
                </a:extLst>
              </a:tr>
              <a:tr h="370881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主升阶段：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触顶。代表正在主升，但不代表后续会继续触顶。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要满足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DXBC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DXBC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可判定不是主升。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要守住主升。以固定仓位，勿重仓，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主降阶段：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触底。不要在触底时介入，是主降阶段。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要摒弃主降。坚决勿参与，勿被诱惑，最基本条件是上破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再关注。主降，其周中符必为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EF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，至少等待其上破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后再考虑是否介入。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08429"/>
                  </a:ext>
                </a:extLst>
              </a:tr>
              <a:tr h="292801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震荡阶段：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经过拉升后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逐渐靠近贴附于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：靠近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，且存在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贯穿。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之上阴阳交错，或频繁贯穿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：代表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丘结束。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震荡阶段：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靠近贴附于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：最好等待已验证的周类机会。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2309817"/>
                  </a:ext>
                </a:extLst>
              </a:tr>
              <a:tr h="448961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大势：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：不是启动主升的环境。弃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M5e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顶部结构：可能经过多次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丘，从而转为跌势。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宁要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之上的阴柱或跌排（可能为震荡），也不要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之下的阳柱。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仓位控制：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之上可不卖，破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才可卖，除非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大势：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M2e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：虽未完全走坏，但也要舍弃。等待站上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再介入。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底部结构：可能经过多次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丘，从而转为升势。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600762"/>
                  </a:ext>
                </a:extLst>
              </a:tr>
              <a:tr h="292801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：可恢复。考虑“再上破”与“再入管”。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久上破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：不可信。等待回踩、启动结构。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运：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WJCBA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未多头排列，不可重仓，不一定是机会。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久下破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后上破：很难一次就上破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就成功，很可能转为围绕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837760"/>
                  </a:ext>
                </a:extLst>
              </a:tr>
              <a:tr h="292801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周柱排：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（跌排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单阳）：需谨慎。若前已主升，须谨慎。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（大阴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单阳）：需谨慎。若前已主升，须谨慎。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周柱排：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（升排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单阴）：当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WJCBA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空头排列，可能是机会。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6155780"/>
                  </a:ext>
                </a:extLst>
              </a:tr>
              <a:tr h="214721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日级别：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之上不要关注下破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。→对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，只在满足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DXEF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时考虑。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日级别：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重要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之下不要关注上破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。→对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，只在满足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DXEF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时考虑。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89204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7311978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48C4C-370F-8162-13ED-0D28A91FB0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>
            <a:extLst>
              <a:ext uri="{FF2B5EF4-FFF2-40B4-BE49-F238E27FC236}">
                <a16:creationId xmlns:a16="http://schemas.microsoft.com/office/drawing/2014/main" id="{42596035-1602-4253-C3B4-FD04C45B70A5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 fontScale="85000"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垒升の定位方法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步：日类展开模式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日周联动（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DJC+DXAB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br>
              <a:rPr lang="en-US" altLang="zh-CN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主题：日类展开主要有两种模式：①对所有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之上展开为日类，主要参考日类（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DJC+DXAB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）。②针对特殊周柱排（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之上特定柱排），筛选日漏。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8" name="表格 7">
            <a:extLst>
              <a:ext uri="{FF2B5EF4-FFF2-40B4-BE49-F238E27FC236}">
                <a16:creationId xmlns:a16="http://schemas.microsoft.com/office/drawing/2014/main" id="{C72E7884-96F3-7BC6-531D-230AB9BDF3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737167"/>
              </p:ext>
            </p:extLst>
          </p:nvPr>
        </p:nvGraphicFramePr>
        <p:xfrm>
          <a:off x="-1" y="2930042"/>
          <a:ext cx="5374101" cy="1813560"/>
        </p:xfrm>
        <a:graphic>
          <a:graphicData uri="http://schemas.openxmlformats.org/drawingml/2006/table">
            <a:tbl>
              <a:tblPr firstRow="1" bandRow="1">
                <a:tableStyleId>{22838BEF-8BB2-4498-84A7-C5851F593DF1}</a:tableStyleId>
              </a:tblPr>
              <a:tblGrid>
                <a:gridCol w="565943">
                  <a:extLst>
                    <a:ext uri="{9D8B030D-6E8A-4147-A177-3AD203B41FA5}">
                      <a16:colId xmlns:a16="http://schemas.microsoft.com/office/drawing/2014/main" val="2687699368"/>
                    </a:ext>
                  </a:extLst>
                </a:gridCol>
                <a:gridCol w="673054">
                  <a:extLst>
                    <a:ext uri="{9D8B030D-6E8A-4147-A177-3AD203B41FA5}">
                      <a16:colId xmlns:a16="http://schemas.microsoft.com/office/drawing/2014/main" val="2502250123"/>
                    </a:ext>
                  </a:extLst>
                </a:gridCol>
                <a:gridCol w="4135104">
                  <a:extLst>
                    <a:ext uri="{9D8B030D-6E8A-4147-A177-3AD203B41FA5}">
                      <a16:colId xmlns:a16="http://schemas.microsoft.com/office/drawing/2014/main" val="734020211"/>
                    </a:ext>
                  </a:extLst>
                </a:gridCol>
              </a:tblGrid>
              <a:tr h="0">
                <a:tc gridSpan="3"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日类展开模式</a:t>
                      </a:r>
                      <a:r>
                        <a:rPr lang="en-US" altLang="zh-CN" sz="7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7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：日周联动の</a:t>
                      </a:r>
                      <a:r>
                        <a:rPr lang="en-US" altLang="zh-CN" sz="7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VBA</a:t>
                      </a:r>
                      <a:r>
                        <a:rPr lang="zh-CN" altLang="en-US" sz="7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实现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847854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VBA</a:t>
                      </a:r>
                      <a:r>
                        <a:rPr lang="zh-CN" altLang="en-US" sz="7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变量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所含元素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作用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463737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日周联动</a:t>
                      </a:r>
                    </a:p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大置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主要关注：金银铜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日类展示时不限制输出，只标记颜色：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金（靛黄绿）银（三橙）铜（五橙）屎尿屁（深红）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912108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仓类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判断：是否在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之上（在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之上前缀为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_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14433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日层护型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判断：是否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正交是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正交的先导。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刚正交可作为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之上的介入点。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持有判断：优选（甲乙）次选（己）被动持有（丙）被动持有警告（丁戊）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890888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日层护型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日层护型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判断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DTZA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7062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日层波型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日层波型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判断是否为日级别主升。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0656498"/>
                  </a:ext>
                </a:extLst>
              </a:tr>
            </a:tbl>
          </a:graphicData>
        </a:graphic>
      </p:graphicFrame>
      <p:graphicFrame>
        <p:nvGraphicFramePr>
          <p:cNvPr id="7" name="表格 6">
            <a:extLst>
              <a:ext uri="{FF2B5EF4-FFF2-40B4-BE49-F238E27FC236}">
                <a16:creationId xmlns:a16="http://schemas.microsoft.com/office/drawing/2014/main" id="{6E793FE3-DE04-6C2F-8242-4914C1BEA5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5948377"/>
              </p:ext>
            </p:extLst>
          </p:nvPr>
        </p:nvGraphicFramePr>
        <p:xfrm>
          <a:off x="5374103" y="722746"/>
          <a:ext cx="6829427" cy="613250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0934">
                  <a:extLst>
                    <a:ext uri="{9D8B030D-6E8A-4147-A177-3AD203B41FA5}">
                      <a16:colId xmlns:a16="http://schemas.microsoft.com/office/drawing/2014/main" val="3709643593"/>
                    </a:ext>
                  </a:extLst>
                </a:gridCol>
                <a:gridCol w="1897513">
                  <a:extLst>
                    <a:ext uri="{9D8B030D-6E8A-4147-A177-3AD203B41FA5}">
                      <a16:colId xmlns:a16="http://schemas.microsoft.com/office/drawing/2014/main" val="3768731053"/>
                    </a:ext>
                  </a:extLst>
                </a:gridCol>
                <a:gridCol w="1955800">
                  <a:extLst>
                    <a:ext uri="{9D8B030D-6E8A-4147-A177-3AD203B41FA5}">
                      <a16:colId xmlns:a16="http://schemas.microsoft.com/office/drawing/2014/main" val="1725826316"/>
                    </a:ext>
                  </a:extLst>
                </a:gridCol>
                <a:gridCol w="2545180">
                  <a:extLst>
                    <a:ext uri="{9D8B030D-6E8A-4147-A177-3AD203B41FA5}">
                      <a16:colId xmlns:a16="http://schemas.microsoft.com/office/drawing/2014/main" val="2516650885"/>
                    </a:ext>
                  </a:extLst>
                </a:gridCol>
              </a:tblGrid>
              <a:tr h="346826">
                <a:tc gridSpan="4">
                  <a:txBody>
                    <a:bodyPr/>
                    <a:lstStyle/>
                    <a:p>
                      <a:r>
                        <a:rPr lang="en-US" altLang="zh-CN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视角转变</a:t>
                      </a:r>
                      <a:r>
                        <a:rPr lang="en-US" altLang="zh-CN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dirty="0">
                          <a:solidFill>
                            <a:schemeClr val="accent4">
                              <a:lumMod val="40000"/>
                              <a:lumOff val="6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重塑上升过程中的退出步骤：核心是按（下降过程的介入步骤）经镜面映射重塑（上升过程的退出步骤）</a:t>
                      </a:r>
                      <a:endParaRPr lang="en-US" altLang="zh-CN" sz="900" dirty="0">
                        <a:solidFill>
                          <a:schemeClr val="accent4">
                            <a:lumMod val="40000"/>
                            <a:lumOff val="60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制作本表目的：对比，“下降趋势中，连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都未形成，为何介入？”，醍醐灌顶，“上升趋势中，连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都未形成，为何退出？”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12343530"/>
                  </a:ext>
                </a:extLst>
              </a:tr>
              <a:tr h="867064"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对比思维变化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原思维：总是忽视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多头排列的意义，总是夸大（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之上阴柱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）的危险性，一出现阴柱就认为后续会天崩地裂。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唯有借助镜面对称视角，才能改变原思维，形成在上升过程中正确思维：简要讲，在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之上都是机会。具体讲如下：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之上，阳柱不要轻易止盈，阴柱禁止止损。→镜面对应于，下跌过程不要在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空头排列时在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之下介入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，不构成止损，不要随意退出。→镜面对应于，下跌过程中仅上破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，不要介入。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，不构成止损，不要随意退出。→镜面对应于，与基本介入条件（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）还有距离，不要介入。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满足日类退出条件（ 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 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），可暂时退，也可不退。 →镜面对应于，在下跌过程中，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之下会有多波反复，一定要等周级别满足（ 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 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）后才可介入。</a:t>
                      </a:r>
                      <a:endParaRPr lang="zh-CN" altLang="en-US" sz="700"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60026490"/>
                  </a:ext>
                </a:extLst>
              </a:tr>
              <a:tr h="315296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过程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周级别节点</a:t>
                      </a:r>
                      <a:endParaRPr lang="en-US" altLang="zh-CN" sz="7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（以</a:t>
                      </a:r>
                      <a:r>
                        <a:rPr lang="en-US" altLang="zh-CN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为核心，</a:t>
                      </a:r>
                      <a:r>
                        <a:rPr lang="en-US" altLang="zh-CN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为阈线）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日级别节点</a:t>
                      </a:r>
                      <a:endParaRPr lang="en-US" altLang="zh-CN" sz="7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（以</a:t>
                      </a:r>
                      <a:r>
                        <a:rPr lang="en-US" altLang="zh-CN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</a:t>
                      </a: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为核心，</a:t>
                      </a:r>
                      <a:r>
                        <a:rPr lang="en-US" altLang="zh-CN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只提供参考）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92131728"/>
                  </a:ext>
                </a:extLst>
              </a:tr>
              <a:tr h="536003">
                <a:tc rowSpan="3"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跌势过程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，至少等待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甲乙己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再介入超短线。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空头排列，且在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空头排列，与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交叉。处于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鳄鱼嘴，勿介入。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空头排列，与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交叉。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或有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]DJCBA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空头排列，与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6093212"/>
                  </a:ext>
                </a:extLst>
              </a:tr>
              <a:tr h="204942">
                <a:tc vMerge="1">
                  <a:txBody>
                    <a:bodyPr/>
                    <a:lstStyle/>
                    <a:p>
                      <a:endParaRPr lang="zh-CN" altLang="en-US" sz="8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。与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交叉。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&lt;DXCD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鳄鱼嘴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，待选择方向。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zh-CN" altLang="en-US" sz="700"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7414895"/>
                  </a:ext>
                </a:extLst>
              </a:tr>
              <a:tr h="315296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交叉。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之下可能存在多次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护型，已选择方向。但在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护型，仍属于空头方向。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交叉。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8514541"/>
                  </a:ext>
                </a:extLst>
              </a:tr>
              <a:tr h="315296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结束跌势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鳄鱼嘴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，待选择方向。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先周后日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当周级别进入上升过程后，开始考虑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，且满足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5982211"/>
                  </a:ext>
                </a:extLst>
              </a:tr>
              <a:tr h="315296">
                <a:tc rowSpan="7"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升势过程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当周类为主升时，日柱组合是配合周柱的工具，分情况利用日类信息进行辅助判断。</a:t>
                      </a:r>
                      <a:endParaRPr lang="en-US" altLang="zh-CN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评价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之上排列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的质量：看日类柱排所处的位置。（参考盐田港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200409-12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好（全部在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之上）</a:t>
                      </a:r>
                      <a:endParaRPr lang="en-US" altLang="zh-CN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中（贯穿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/DJA/DJB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差（在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之下） 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多头排列。在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之上，日柱排列逐渐变化，可能出现天劫。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当处于周主升的快速拉升阶段时，以日不破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/DJA/DJB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为辅助判断依据。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61591454"/>
                  </a:ext>
                </a:extLst>
              </a:tr>
              <a:tr h="425650">
                <a:tc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多头排列。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劫。在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之下，日柱不是沿弧逐渐变化，而是可能毫无规律，不按均线束缚。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当处于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之下，处于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护型乙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，待选择方向。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如果要在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之下介入，必须存在周柱组合进行配合。要把日类下降看做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a-b-c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浪，谨慎在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浪被诱多。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75689090"/>
                  </a:ext>
                </a:extLst>
              </a:tr>
              <a:tr h="204942">
                <a:tc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多头排列。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已选择方向向下；但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&lt;DXCD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扔方向向上。已经历小高点。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79235289"/>
                  </a:ext>
                </a:extLst>
              </a:tr>
              <a:tr h="252237">
                <a:tc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altLang="zh-CN" sz="700" kern="1200" dirty="0">
                          <a:solidFill>
                            <a:schemeClr val="dk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DJCBA</a:t>
                      </a:r>
                      <a:r>
                        <a:rPr lang="zh-CN" altLang="en-US" sz="700" kern="1200" dirty="0">
                          <a:solidFill>
                            <a:schemeClr val="dk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多头排列。</a:t>
                      </a:r>
                      <a:r>
                        <a:rPr lang="en-US" altLang="zh-CN" sz="700" kern="1200" dirty="0">
                          <a:solidFill>
                            <a:schemeClr val="dk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DXAB</a:t>
                      </a:r>
                      <a:r>
                        <a:rPr lang="zh-CN" altLang="en-US" sz="700" kern="1200" dirty="0">
                          <a:solidFill>
                            <a:schemeClr val="dk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劫。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已选择方向向下；但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&lt;DXCD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扔方向向上。</a:t>
                      </a:r>
                      <a:r>
                        <a:rPr lang="zh-CN" altLang="en-US" sz="700" kern="1200" dirty="0">
                          <a:solidFill>
                            <a:schemeClr val="dk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须警示。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44055825"/>
                  </a:ext>
                </a:extLst>
              </a:tr>
              <a:tr h="867064">
                <a:tc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。与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交叉。</a:t>
                      </a:r>
                      <a:endParaRPr lang="en-US" altLang="zh-CN" sz="7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周下破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。注意，处于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&lt;DXCD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“鳄鱼嘴”，待选择方向，不退出。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若之前已冲高，可在此退出。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若之前未冲高，可以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作退出线。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需明确当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正交时，下破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后仍属于上升过程。需要依赖周柱排列判定方向，除非周柱排列呈现跌排，可不退出。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最佳实践：在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之上，躲避下跌过程，抓住上升过程。而（下破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）就是最明显下跌过程，可以在此先退出，等再次满足（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）时可再介入。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73322696"/>
                  </a:ext>
                </a:extLst>
              </a:tr>
              <a:tr h="315296">
                <a:tc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交叉。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不退出，可保证经过最高点。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若之前下破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时未退出，则此时应退出。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。且下破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6731328"/>
                  </a:ext>
                </a:extLst>
              </a:tr>
              <a:tr h="536003">
                <a:tc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或有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]WXZC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。再次站上</a:t>
                      </a:r>
                      <a:r>
                        <a:rPr lang="en-US" altLang="zh-CN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或有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经调整后，再次满足（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须参考周类。若认为有冲高可能，可再介入。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日类介入条件的修正案。若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未正交，而是（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），则不一定要介入，仅可试仓，应等待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正交后再介入；且应保证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持续较长时间。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2643598"/>
                  </a:ext>
                </a:extLst>
              </a:tr>
              <a:tr h="315296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结束升势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WXZC&lt;0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WXAB&lt;0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&lt;WXCD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鳄鱼嘴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，待选择方向。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先周后日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此时进入跌趋势。关注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的共振。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，且满足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520560"/>
                  </a:ext>
                </a:extLst>
              </a:tr>
            </a:tbl>
          </a:graphicData>
        </a:graphic>
      </p:graphicFrame>
      <p:graphicFrame>
        <p:nvGraphicFramePr>
          <p:cNvPr id="2" name="表格 1">
            <a:extLst>
              <a:ext uri="{FF2B5EF4-FFF2-40B4-BE49-F238E27FC236}">
                <a16:creationId xmlns:a16="http://schemas.microsoft.com/office/drawing/2014/main" id="{4EF10B7E-D694-5116-5DBB-B955E40674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148597"/>
              </p:ext>
            </p:extLst>
          </p:nvPr>
        </p:nvGraphicFramePr>
        <p:xfrm>
          <a:off x="1" y="730767"/>
          <a:ext cx="5374102" cy="1600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6116">
                  <a:extLst>
                    <a:ext uri="{9D8B030D-6E8A-4147-A177-3AD203B41FA5}">
                      <a16:colId xmlns:a16="http://schemas.microsoft.com/office/drawing/2014/main" val="1442785897"/>
                    </a:ext>
                  </a:extLst>
                </a:gridCol>
                <a:gridCol w="4667986">
                  <a:extLst>
                    <a:ext uri="{9D8B030D-6E8A-4147-A177-3AD203B41FA5}">
                      <a16:colId xmlns:a16="http://schemas.microsoft.com/office/drawing/2014/main" val="2494261479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日类展开，主要包含两种模式。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950184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日周联动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针对全时段，不进行筛选，展开为日级别映射。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在周类算法（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WXCD+WJC+WXAB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）基础上，借助（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DJC+DXAB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）辅助判定进出点。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作用：在上升过程中，（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正交）与（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正交）重合。但需注意，要先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正交，再考虑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日级别重要均线：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：对应于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。是周级别阈值。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：对应于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。周级别要求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正交，从而日级别要求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：是日级别阈值。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：应要求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正交。从而满足（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）的基本要求。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：用于当满足日类退出条件（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）时，在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处提前退出。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281292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日漏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参考专页。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51220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7558457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105016-682B-F445-D89E-C8E31F6A3B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>
            <a:extLst>
              <a:ext uri="{FF2B5EF4-FFF2-40B4-BE49-F238E27FC236}">
                <a16:creationId xmlns:a16="http://schemas.microsoft.com/office/drawing/2014/main" id="{E63AEDFC-1F4D-3224-7366-1666FABFEA2E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垒升の定位方法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步：日类展开模式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日漏</a:t>
            </a:r>
            <a:endParaRPr lang="en-US" altLang="zh-CN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主题：日类展开主要有两种模式：①对所有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之上展开为日类，主要参考日类（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DJC+DXAB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）。②针对特殊周柱排（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之上特定柱排），筛选日漏。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4F311399-89CD-BA89-C1A7-5BFE9F5B8D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0493019"/>
              </p:ext>
            </p:extLst>
          </p:nvPr>
        </p:nvGraphicFramePr>
        <p:xfrm>
          <a:off x="0" y="722746"/>
          <a:ext cx="6096000" cy="4434840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272716">
                  <a:extLst>
                    <a:ext uri="{9D8B030D-6E8A-4147-A177-3AD203B41FA5}">
                      <a16:colId xmlns:a16="http://schemas.microsoft.com/office/drawing/2014/main" val="367982256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675758416"/>
                    </a:ext>
                  </a:extLst>
                </a:gridCol>
                <a:gridCol w="1324892">
                  <a:extLst>
                    <a:ext uri="{9D8B030D-6E8A-4147-A177-3AD203B41FA5}">
                      <a16:colId xmlns:a16="http://schemas.microsoft.com/office/drawing/2014/main" val="1681775418"/>
                    </a:ext>
                  </a:extLst>
                </a:gridCol>
                <a:gridCol w="3888792">
                  <a:extLst>
                    <a:ext uri="{9D8B030D-6E8A-4147-A177-3AD203B41FA5}">
                      <a16:colId xmlns:a16="http://schemas.microsoft.com/office/drawing/2014/main" val="1690117310"/>
                    </a:ext>
                  </a:extLst>
                </a:gridCol>
              </a:tblGrid>
              <a:tr h="0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zh-CN" sz="7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日漏</a:t>
                      </a:r>
                      <a:r>
                        <a:rPr lang="en-US" altLang="zh-CN" sz="7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394827604"/>
                  </a:ext>
                </a:extLst>
              </a:tr>
              <a:tr h="208882">
                <a:tc gridSpan="4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定义：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针对（主升阶段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&amp;WJA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&amp;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特定周柱排），进行日漏筛选。目标是选取周类下柱有可能冲高（阳柱或上影）的机会。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条件：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要先有周预期阳柱，再在未如期上涨时寻找日漏机会。显然，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之上连跌，或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之下，很难找到日漏机会。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思路：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只在周线趋势确定的情况下寻找日线机会；若周线不确定，则只关注周线，不要关注日线。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43504550"/>
                  </a:ext>
                </a:extLst>
              </a:tr>
              <a:tr h="182880"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限定条件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核心条件：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正交，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。且当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代表方向正确，要坚决守住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之上的主升，寻找日线机会。</a:t>
                      </a:r>
                      <a:endParaRPr lang="zh-CN" altLang="en-US" sz="7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602423942"/>
                  </a:ext>
                </a:extLst>
              </a:tr>
              <a:tr h="12192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周级别基本条件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不要修改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zh-CN" altLang="en-US" sz="700" b="1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基本条件（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WXCD+WJC+WXAB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特殊柱排预期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①大置为（金）：要求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；一定要舍弃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（因为此时是考虑日漏，而非整体走势）；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②周护型为（甲乙）：要求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对于（己）：仅提示，等待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已正交再介入。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其他情况：</a:t>
                      </a:r>
                      <a:r>
                        <a:rPr lang="pl-PL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WXAB&lt;0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zh-CN" altLang="pl-PL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包含</a:t>
                      </a:r>
                      <a:r>
                        <a:rPr lang="pl-PL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/W1v/W3w/W3h/W2I/W3u/W2i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）：不定义为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日漏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③前周柱在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之上：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前柱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：在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上（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，应持有），刚上破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WTZA=1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，可介入），刚下破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WTZA=-1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，按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止损），将上破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且价上破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，弃）。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④根据不同周柱排定制预期：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前周柱排为升连：需排除“最后一柱”。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前周柱排为阳后阴：须排除变为跌连（不要已冲高）。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前周柱排为单阳鼎：需排除诱多情况。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剔除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周柱排为：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阴阳阴。</a:t>
                      </a:r>
                      <a:endParaRPr lang="zh-CN" altLang="en-US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4270414263"/>
                  </a:ext>
                </a:extLst>
              </a:tr>
              <a:tr h="24384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日级别基本条件：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⑤符合日类持有条件：（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⑥日类条件：</a:t>
                      </a:r>
                      <a:endParaRPr lang="en-US" altLang="zh-CN" sz="7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日地型</a:t>
                      </a: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日柱型：梯栏栅</a:t>
                      </a: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日特殊情况：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鼎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继鼎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首下破</a:t>
                      </a:r>
                      <a:r>
                        <a:rPr lang="en-US" altLang="zh-CN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zh-CN" altLang="en-US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70510347"/>
                  </a:ext>
                </a:extLst>
              </a:tr>
              <a:tr h="12192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可选条件：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周主升（优选，附加信息，不强制要求为主升）。</a:t>
                      </a:r>
                      <a:endParaRPr lang="zh-CN" altLang="en-US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34879651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前柱状态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7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今日柱状态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是否为</a:t>
                      </a:r>
                      <a:r>
                        <a:rPr lang="en-US" altLang="zh-CN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漏</a:t>
                      </a:r>
                      <a:r>
                        <a:rPr lang="en-US" altLang="zh-CN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endParaRPr lang="zh-CN" altLang="en-US" sz="7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4207780"/>
                  </a:ext>
                </a:extLst>
              </a:tr>
              <a:tr h="153180">
                <a:tc rowSpan="2" gridSpan="2"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前柱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满足（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不定义为漏：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之上连阳。</a:t>
                      </a:r>
                      <a:r>
                        <a:rPr lang="zh-CN" altLang="en-US" sz="7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日线退出：日线级别主升代表可卖点，可在冲高时止盈。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定义为漏：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9824871"/>
                  </a:ext>
                </a:extLst>
              </a:tr>
              <a:tr h="208882">
                <a:tc gridSpan="2" v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满足（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定义为漏：所有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之下均为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&lt;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漏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定义为漏（机会）：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（赌下柱反弹，低吸高抛）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定义为漏（机会）：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之下价上破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（赌下柱站上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，低吸高抛）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4926194"/>
                  </a:ext>
                </a:extLst>
              </a:tr>
              <a:tr h="153180">
                <a:tc gridSpan="2"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前柱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WTZA&lt;0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包含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：观察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之下：不参与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(W2e)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：不定义为漏，勿主动介入。等站上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再考虑。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(W3v)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：不定义为漏，勿主动介入。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6908529"/>
                  </a:ext>
                </a:extLst>
              </a:tr>
            </a:tbl>
          </a:graphicData>
        </a:graphic>
      </p:graphicFrame>
      <p:sp>
        <p:nvSpPr>
          <p:cNvPr id="2" name="文本框 1">
            <a:extLst>
              <a:ext uri="{FF2B5EF4-FFF2-40B4-BE49-F238E27FC236}">
                <a16:creationId xmlns:a16="http://schemas.microsoft.com/office/drawing/2014/main" id="{D59A7E05-602F-B9B4-5447-4EB3011882CD}"/>
              </a:ext>
            </a:extLst>
          </p:cNvPr>
          <p:cNvSpPr txBox="1"/>
          <p:nvPr/>
        </p:nvSpPr>
        <p:spPr>
          <a:xfrm>
            <a:off x="7676147" y="1812758"/>
            <a:ext cx="180049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/>
              <a:t>经典日周配合</a:t>
            </a:r>
            <a:endParaRPr lang="en-US" altLang="zh-CN" dirty="0"/>
          </a:p>
          <a:p>
            <a:r>
              <a:rPr lang="zh-CN" altLang="en-US" dirty="0"/>
              <a:t>日类展开的模式</a:t>
            </a:r>
          </a:p>
        </p:txBody>
      </p:sp>
    </p:spTree>
    <p:extLst>
      <p:ext uri="{BB962C8B-B14F-4D97-AF65-F5344CB8AC3E}">
        <p14:creationId xmlns:p14="http://schemas.microsoft.com/office/powerpoint/2010/main" val="238555333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文本框 4">
            <a:extLst>
              <a:ext uri="{FF2B5EF4-FFF2-40B4-BE49-F238E27FC236}">
                <a16:creationId xmlns:a16="http://schemas.microsoft.com/office/drawing/2014/main" id="{9F641D86-F6F0-4A16-E2AE-2978AD4DE8D9}"/>
              </a:ext>
            </a:extLst>
          </p:cNvPr>
          <p:cNvSpPr txBox="1"/>
          <p:nvPr/>
        </p:nvSpPr>
        <p:spPr>
          <a:xfrm>
            <a:off x="1200" y="6920313"/>
            <a:ext cx="6094800" cy="861774"/>
          </a:xfrm>
          <a:prstGeom prst="rect">
            <a:avLst/>
          </a:prstGeom>
          <a:solidFill>
            <a:schemeClr val="accent5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en-US" altLang="zh-CN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形态相关</a:t>
            </a:r>
            <a:r>
              <a:rPr lang="en-US" altLang="zh-CN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寻找日周联动的典型模式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命名规则：所在区域</a:t>
            </a:r>
            <a:r>
              <a:rPr lang="en-US" altLang="zh-CN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上周形态</a:t>
            </a:r>
            <a:r>
              <a:rPr lang="en-US" altLang="zh-CN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本周形态</a:t>
            </a:r>
            <a:r>
              <a:rPr lang="en-US" altLang="zh-CN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本日形态 ⇒股名称</a:t>
            </a:r>
            <a:r>
              <a:rPr lang="en-US" altLang="zh-CN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日期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机会组合：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顶型</a:t>
            </a:r>
            <a:r>
              <a:rPr lang="en-US" altLang="zh-CN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周局</a:t>
            </a:r>
            <a:r>
              <a:rPr lang="en-US" altLang="zh-CN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)⇒</a:t>
            </a:r>
            <a:r>
              <a:rPr lang="zh-CN" altLang="en-US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周机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上周局</a:t>
            </a:r>
            <a:r>
              <a:rPr lang="en-US" altLang="zh-CN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本周局</a:t>
            </a:r>
            <a:r>
              <a:rPr lang="en-US" altLang="zh-CN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日局 </a:t>
            </a:r>
            <a:r>
              <a:rPr lang="en-US" altLang="zh-CN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)⇒</a:t>
            </a:r>
            <a:r>
              <a:rPr lang="zh-CN" altLang="en-US" sz="1000" b="1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日机</a:t>
            </a:r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 fontScale="90000"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垒升の定位方法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步：日类展开模式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日漏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→日周联动图谱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典型形态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主题：总结各种日周联动的特殊形态，截图、命名、程序自动识别。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7DAE4767-707C-C635-7D42-C7F747FF26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4903758"/>
              </p:ext>
            </p:extLst>
          </p:nvPr>
        </p:nvGraphicFramePr>
        <p:xfrm>
          <a:off x="-1927" y="720000"/>
          <a:ext cx="7545883" cy="2563368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1139514">
                  <a:extLst>
                    <a:ext uri="{9D8B030D-6E8A-4147-A177-3AD203B41FA5}">
                      <a16:colId xmlns:a16="http://schemas.microsoft.com/office/drawing/2014/main" val="2496404481"/>
                    </a:ext>
                  </a:extLst>
                </a:gridCol>
                <a:gridCol w="6406369">
                  <a:extLst>
                    <a:ext uri="{9D8B030D-6E8A-4147-A177-3AD203B41FA5}">
                      <a16:colId xmlns:a16="http://schemas.microsoft.com/office/drawing/2014/main" val="3189601740"/>
                    </a:ext>
                  </a:extLst>
                </a:gridCol>
              </a:tblGrid>
              <a:tr h="135894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日周联动典型形态（找出下周冲高的典型形态）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30158175"/>
                  </a:ext>
                </a:extLst>
              </a:tr>
              <a:tr h="301574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上周为阳柱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情况描述：选取周类下柱有可能冲高（阳柱或上影）的机会。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前柱为升连阳柱。本周五前任意一天，形成本周临柱为下跌情况。赌本周会反弹，以形成阳柱，延续升连排列。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何时介入：最有可能在周三至周五买入，基本要求是在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之上，最好在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上周鼎首：不要赌本周大阳柱，要关注是否诱多，最好回踩站稳。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上周为鼎，本周为十字星或小柱站稳：下柱可期待冲高。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预测本周应冲高，但本周初下跌：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本周下跌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/D2d/D2e/D3v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：赌本周反转上升形成（带下影周柱）。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本日鼎：赌本周下影。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9347524"/>
                  </a:ext>
                </a:extLst>
              </a:tr>
              <a:tr h="569639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上周为阴柱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前周柱下跌（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跌连），本周柱为首鼎或继鼎：很可能出现调整形态，看日柱是否站稳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，并结合周柱组合判断周柱是否会形成升排。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742950" lvl="1" indent="-285750" defTabSz="9144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站上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且离顶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&amp;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未触哼：不确定情况应观望。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742950" lvl="1" indent="-285750" defTabSz="9144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站上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且离顶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&amp;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触哼单次：不确定情况应观望。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742950" lvl="1" indent="-285750" defTabSz="9144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站上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且离顶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&amp;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触哼多次：试仓。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742950" lvl="1" indent="-285750" defTabSz="9144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站上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且合顶：应介入。但需要注意与前合顶比较高度，对于降低的合顶应谨慎。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上周为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W2d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：对应上周产生的日劫可能为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天劫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/WXZB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/WXAB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742950" lvl="1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本日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站上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DJA/D2e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返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/D3h/D2I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：赌本周阳柱，依赖周线。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742950" lvl="1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本日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/D3v/DJC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以下：赌不会形成周级别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上周首下破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，本周上破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：很可能是诱多，要以周类柱排为参考。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7092538"/>
                  </a:ext>
                </a:extLst>
              </a:tr>
              <a:tr h="135894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上周柱在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之上，本周未结束但已下破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捡漏，赌回站上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9695000"/>
                  </a:ext>
                </a:extLst>
              </a:tr>
            </a:tbl>
          </a:graphicData>
        </a:graphic>
      </p:graphicFrame>
      <p:graphicFrame>
        <p:nvGraphicFramePr>
          <p:cNvPr id="7" name="表格 6">
            <a:extLst>
              <a:ext uri="{FF2B5EF4-FFF2-40B4-BE49-F238E27FC236}">
                <a16:creationId xmlns:a16="http://schemas.microsoft.com/office/drawing/2014/main" id="{2ACF1E8F-DB06-F6D8-C8B2-F0DD824F1B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2211333"/>
              </p:ext>
            </p:extLst>
          </p:nvPr>
        </p:nvGraphicFramePr>
        <p:xfrm>
          <a:off x="-1927" y="3698600"/>
          <a:ext cx="7547810" cy="2003646"/>
        </p:xfrm>
        <a:graphic>
          <a:graphicData uri="http://schemas.openxmlformats.org/drawingml/2006/table">
            <a:tbl>
              <a:tblPr/>
              <a:tblGrid>
                <a:gridCol w="843444">
                  <a:extLst>
                    <a:ext uri="{9D8B030D-6E8A-4147-A177-3AD203B41FA5}">
                      <a16:colId xmlns:a16="http://schemas.microsoft.com/office/drawing/2014/main" val="550292735"/>
                    </a:ext>
                  </a:extLst>
                </a:gridCol>
                <a:gridCol w="1153780">
                  <a:extLst>
                    <a:ext uri="{9D8B030D-6E8A-4147-A177-3AD203B41FA5}">
                      <a16:colId xmlns:a16="http://schemas.microsoft.com/office/drawing/2014/main" val="3129235847"/>
                    </a:ext>
                  </a:extLst>
                </a:gridCol>
                <a:gridCol w="3974576">
                  <a:extLst>
                    <a:ext uri="{9D8B030D-6E8A-4147-A177-3AD203B41FA5}">
                      <a16:colId xmlns:a16="http://schemas.microsoft.com/office/drawing/2014/main" val="3810030502"/>
                    </a:ext>
                  </a:extLst>
                </a:gridCol>
                <a:gridCol w="1576010">
                  <a:extLst>
                    <a:ext uri="{9D8B030D-6E8A-4147-A177-3AD203B41FA5}">
                      <a16:colId xmlns:a16="http://schemas.microsoft.com/office/drawing/2014/main" val="1046956052"/>
                    </a:ext>
                  </a:extLst>
                </a:gridCol>
              </a:tblGrid>
              <a:tr h="162514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日周联合模式汇总 </a:t>
                      </a:r>
                      <a:endParaRPr lang="en-US" altLang="zh-CN" sz="7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endParaRPr lang="zh-CN" altLang="en-US" sz="700" b="1" i="0" dirty="0">
                        <a:solidFill>
                          <a:srgbClr val="FFFFFF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endParaRPr lang="zh-CN" altLang="en-US" sz="700" b="1" i="0" dirty="0">
                        <a:solidFill>
                          <a:srgbClr val="FFFFFF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endParaRPr lang="zh-CN" altLang="en-US" sz="700" b="1" i="0" dirty="0">
                        <a:solidFill>
                          <a:srgbClr val="FFFFFF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6148559"/>
                  </a:ext>
                </a:extLst>
              </a:tr>
              <a:tr h="162514"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1" i="0" dirty="0">
                          <a:solidFill>
                            <a:srgbClr val="FFFFFF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周级别形态类别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1" i="0" dirty="0">
                          <a:solidFill>
                            <a:srgbClr val="FFFFFF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周级别形态具体情况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1" i="0" dirty="0">
                          <a:solidFill>
                            <a:srgbClr val="FFFFFF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日线展开情况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1" i="0" dirty="0">
                          <a:solidFill>
                            <a:srgbClr val="FFFFFF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参考示例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626029"/>
                  </a:ext>
                </a:extLst>
              </a:tr>
              <a:tr h="267670">
                <a:tc rowSpan="3"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1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周连阳后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1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周连阳后下影柱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当周前期下跌，日类下破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后，当周五大阳柱，形成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V</a:t>
                      </a: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反转。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德恩精工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202060112-0116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3699924"/>
                  </a:ext>
                </a:extLst>
              </a:tr>
              <a:tr h="162514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1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周连阳后</a:t>
                      </a:r>
                      <a:r>
                        <a:rPr lang="en-US" altLang="zh-CN" sz="700" b="1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b="1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当周五柱形成跌连，未下破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或未下破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思科瑞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20250801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0214450"/>
                  </a:ext>
                </a:extLst>
              </a:tr>
              <a:tr h="26767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1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周连阳后上影柱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当周前四柱上升，最后一柱下跌，且未破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。下个周柱可能为下影线（先跌后升）。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endParaRPr lang="zh-CN" altLang="en-US" sz="700" b="0" i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7628676"/>
                  </a:ext>
                </a:extLst>
              </a:tr>
              <a:tr h="162514"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1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周中继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1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周为（下影小柱）（十字星）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下跌后反弹，周末为向上状态。下周可能冲高。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通源环境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20260105-0109</a:t>
                      </a:r>
                    </a:p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艾可蓝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20260105-0109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127121"/>
                  </a:ext>
                </a:extLst>
              </a:tr>
              <a:tr h="267670"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1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周阳柱</a:t>
                      </a:r>
                      <a:endParaRPr lang="en-US" altLang="zh-CN" sz="700" b="1" i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l" fontAlgn="ctr" latinLnBrk="0">
                        <a:buNone/>
                      </a:pPr>
                      <a:r>
                        <a:rPr lang="zh-CN" altLang="en-US" sz="700" b="1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包含周内调整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endParaRPr lang="zh-CN" altLang="en-US" sz="700" b="1" i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周初为日类中阳线，随后日类回调，但不下破前周收盘价，周末再次拉升。⇒ 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"</a:t>
                      </a: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日帐篷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"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汤姆猫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20260105-0109</a:t>
                      </a:r>
                    </a:p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永吉股份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20260112-0116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1638391"/>
                  </a:ext>
                </a:extLst>
              </a:tr>
              <a:tr h="267670"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1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周巨阳后</a:t>
                      </a:r>
                      <a:r>
                        <a:rPr lang="en-US" altLang="zh-CN" sz="700" b="1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1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巨阴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endParaRPr lang="zh-CN" altLang="en-US" sz="700" b="1" i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日柱已下破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，后柱反弹会受到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压制，要等待周末站上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再择机介入。</a:t>
                      </a:r>
                      <a:endParaRPr lang="en-US" altLang="zh-CN" sz="700" b="0" i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后续走势：周级别要在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巨阳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)(</a:t>
                      </a: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巨阴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之后出现站稳小阳柱，同时日柱站上</a:t>
                      </a:r>
                      <a:r>
                        <a:rPr lang="en-US" altLang="zh-CN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后，再介入。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endParaRPr lang="zh-CN" altLang="en-US" sz="700" b="0" i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8299371"/>
                  </a:ext>
                </a:extLst>
              </a:tr>
              <a:tr h="162514"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1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周巨柱后</a:t>
                      </a:r>
                      <a:r>
                        <a:rPr lang="en-US" altLang="zh-CN" sz="700" b="1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1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小柱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endParaRPr lang="zh-CN" altLang="en-US" sz="700" b="1" i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>
                        <a:buNone/>
                      </a:pPr>
                      <a:r>
                        <a:rPr lang="zh-CN" altLang="en-US" sz="700" b="0" i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代表日线在远离均线后向均线靠拢。</a:t>
                      </a: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>
                        <a:buNone/>
                      </a:pPr>
                      <a:endParaRPr lang="zh-CN" altLang="en-US" sz="700" b="0" i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57358" marR="57358" marT="28679" marB="28679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25389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499195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077DF0-97D9-7620-1453-ABE5FF7C1C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9F84ADE-B1F7-EE73-AF33-CA41F55A10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日柱择入机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日护型：以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丘辅助的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丘（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+DJA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丘，给出开始信号、结束信号、典型形态。日类要服从周类，先周后日。日类只负责止盈，周类负责止损。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626AE309-AB27-10EB-3050-0219A4CA4CAE}"/>
              </a:ext>
            </a:extLst>
          </p:cNvPr>
          <p:cNvSpPr/>
          <p:nvPr/>
        </p:nvSpPr>
        <p:spPr>
          <a:xfrm>
            <a:off x="0" y="717112"/>
            <a:ext cx="6812280" cy="106088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日类信息：利用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配合周柱形态进行筛选。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基本要求：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DXZB&gt;0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；未偏离较大，未冲高回落。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操作规则：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之上买卖，无须担心；介于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寄希望于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之上周柱排列；破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暂退。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利用日类护型，优选上升趋势，但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反交或下破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不作为清仓条件。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重视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作用：基本所有上升都在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之上才是上升的主战场。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之上卖出，不要强制依据下破均线作为卖出规则，而要看下柱是否有上升机会。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日类中符：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作用主要为配合（周柱涨幅预期），寻找日类介入点。只用来止盈，不用来止损。</a:t>
            </a:r>
          </a:p>
          <a:p>
            <a:pPr lvl="2"/>
            <a:endParaRPr lang="zh-CN" altLang="en-US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9" name="文本框 178">
                <a:extLst>
                  <a:ext uri="{FF2B5EF4-FFF2-40B4-BE49-F238E27FC236}">
                    <a16:creationId xmlns:a16="http://schemas.microsoft.com/office/drawing/2014/main" id="{E57335A8-46A2-19B9-B509-C49C20B5BE46}"/>
                  </a:ext>
                </a:extLst>
              </p:cNvPr>
              <p:cNvSpPr txBox="1"/>
              <p:nvPr/>
            </p:nvSpPr>
            <p:spPr>
              <a:xfrm>
                <a:off x="6990691" y="4025576"/>
                <a:ext cx="4872552" cy="1959062"/>
              </a:xfrm>
              <a:prstGeom prst="rect">
                <a:avLst/>
              </a:prstGeom>
              <a:solidFill>
                <a:srgbClr val="FFCCCC"/>
              </a:solidFill>
            </p:spPr>
            <p:txBody>
              <a:bodyPr wrap="square" rtlCol="0">
                <a:spAutoFit/>
              </a:bodyPr>
              <a:lstStyle/>
              <a:p>
                <a:r>
                  <a:rPr lang="zh-CN" altLang="en-US" b="1" dirty="0">
                    <a:solidFill>
                      <a:srgbClr val="C00000"/>
                    </a:solidFill>
                  </a:rPr>
                  <a:t>待研究：在日主升过程中，要求（顶</a:t>
                </a:r>
                <a:r>
                  <a:rPr lang="en-US" altLang="zh-CN" b="1" dirty="0">
                    <a:solidFill>
                      <a:srgbClr val="C00000"/>
                    </a:solidFill>
                  </a:rPr>
                  <a:t>,DJA</a:t>
                </a:r>
                <a:r>
                  <a:rPr lang="zh-CN" altLang="en-US" b="1" dirty="0">
                    <a:solidFill>
                      <a:srgbClr val="C00000"/>
                    </a:solidFill>
                  </a:rPr>
                  <a:t>）角度≥</a:t>
                </a:r>
                <a:r>
                  <a:rPr lang="en-US" altLang="zh-CN" b="1" dirty="0">
                    <a:solidFill>
                      <a:srgbClr val="C00000"/>
                    </a:solidFill>
                  </a:rPr>
                  <a:t>45°</a:t>
                </a:r>
                <a:r>
                  <a:rPr lang="zh-CN" altLang="en-US" b="1" dirty="0">
                    <a:solidFill>
                      <a:srgbClr val="C00000"/>
                    </a:solidFill>
                  </a:rPr>
                  <a:t>，不要角度太小</a:t>
                </a:r>
                <a:endParaRPr lang="en-US" altLang="zh-CN" b="1" dirty="0">
                  <a:solidFill>
                    <a:srgbClr val="C00000"/>
                  </a:solidFill>
                </a:endParaRPr>
              </a:p>
              <a:p>
                <a:r>
                  <a:rPr lang="zh-CN" altLang="en-US" b="1" dirty="0">
                    <a:solidFill>
                      <a:srgbClr val="C00000"/>
                    </a:solidFill>
                  </a:rPr>
                  <a:t>定义角度为：需要研究哪种定义更好？</a:t>
                </a:r>
                <a:endParaRPr lang="en-US" altLang="zh-CN" b="1" dirty="0">
                  <a:solidFill>
                    <a:srgbClr val="C00000"/>
                  </a:solidFill>
                </a:endParaRPr>
              </a:p>
              <a:p>
                <a14:m>
                  <m:oMath xmlns:m="http://schemas.openxmlformats.org/officeDocument/2006/math">
                    <m:r>
                      <a:rPr lang="zh-CN" altLang="en-US" b="1" i="1" dirty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角度</m:t>
                    </m:r>
                    <m:r>
                      <a:rPr lang="en-US" altLang="zh-CN" b="1" i="1" dirty="0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r>
                  <a:rPr lang="en-US" altLang="zh-CN" b="1" dirty="0">
                    <a:solidFill>
                      <a:srgbClr val="C00000"/>
                    </a:solidFill>
                  </a:rPr>
                  <a:t>=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altLang="zh-CN" b="1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altLang="zh-CN" b="1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∆</m:t>
                        </m:r>
                        <m:r>
                          <a:rPr lang="zh-CN" altLang="en-US" b="1" i="1" dirty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顶</m:t>
                        </m:r>
                        <m:r>
                          <a:rPr lang="zh-CN" altLang="en-US" b="1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增</m:t>
                        </m:r>
                      </m:num>
                      <m:den>
                        <m:r>
                          <a:rPr lang="en-US" altLang="zh-CN" b="1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#</m:t>
                        </m:r>
                        <m:r>
                          <a:rPr lang="zh-CN" altLang="en-US" b="1" i="1" dirty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柱</m:t>
                        </m:r>
                        <m:r>
                          <a:rPr lang="zh-CN" altLang="en-US" b="1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数</m:t>
                        </m:r>
                      </m:den>
                    </m:f>
                  </m:oMath>
                </a14:m>
                <a:endParaRPr lang="en-US" altLang="zh-CN" b="1" dirty="0">
                  <a:solidFill>
                    <a:srgbClr val="C00000"/>
                  </a:solidFill>
                </a:endParaRPr>
              </a:p>
              <a:p>
                <a14:m>
                  <m:oMath xmlns:m="http://schemas.openxmlformats.org/officeDocument/2006/math">
                    <m:r>
                      <a:rPr lang="zh-CN" altLang="en-US" b="1" i="1" dirty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角度</m:t>
                    </m:r>
                  </m:oMath>
                </a14:m>
                <a:r>
                  <a:rPr lang="en-US" altLang="zh-CN" b="1" dirty="0">
                    <a:solidFill>
                      <a:srgbClr val="C00000"/>
                    </a:solidFill>
                  </a:rPr>
                  <a:t>2=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altLang="zh-CN" b="1" i="1" dirty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altLang="zh-CN" b="1" i="1" dirty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∆</m:t>
                        </m:r>
                        <m:r>
                          <a:rPr lang="zh-CN" altLang="en-US" b="1" i="1" dirty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顶增</m:t>
                        </m:r>
                      </m:num>
                      <m:den>
                        <m:r>
                          <a:rPr lang="zh-CN" altLang="en-US" b="1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∆</m:t>
                        </m:r>
                        <m:r>
                          <m:rPr>
                            <m:sty m:val="p"/>
                          </m:rPr>
                          <a:rPr lang="en-US" altLang="zh-CN" b="1" i="1" dirty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DJA</m:t>
                        </m:r>
                      </m:den>
                    </m:f>
                  </m:oMath>
                </a14:m>
                <a:endParaRPr lang="zh-CN" altLang="en-US" b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79" name="文本框 178">
                <a:extLst>
                  <a:ext uri="{FF2B5EF4-FFF2-40B4-BE49-F238E27FC236}">
                    <a16:creationId xmlns:a16="http://schemas.microsoft.com/office/drawing/2014/main" id="{E57335A8-46A2-19B9-B509-C49C20B5BE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90691" y="4025576"/>
                <a:ext cx="4872552" cy="1959062"/>
              </a:xfrm>
              <a:prstGeom prst="rect">
                <a:avLst/>
              </a:prstGeom>
              <a:blipFill>
                <a:blip r:embed="rId3"/>
                <a:stretch>
                  <a:fillRect l="-1126" t="-1553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3C5365EF-F0B4-69DC-EDCB-D51DE598F5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4172922"/>
              </p:ext>
            </p:extLst>
          </p:nvPr>
        </p:nvGraphicFramePr>
        <p:xfrm>
          <a:off x="0" y="1778000"/>
          <a:ext cx="6812280" cy="4312920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548640">
                  <a:extLst>
                    <a:ext uri="{9D8B030D-6E8A-4147-A177-3AD203B41FA5}">
                      <a16:colId xmlns:a16="http://schemas.microsoft.com/office/drawing/2014/main" val="1664798427"/>
                    </a:ext>
                  </a:extLst>
                </a:gridCol>
                <a:gridCol w="6263640">
                  <a:extLst>
                    <a:ext uri="{9D8B030D-6E8A-4147-A177-3AD203B41FA5}">
                      <a16:colId xmlns:a16="http://schemas.microsoft.com/office/drawing/2014/main" val="1247468116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丘的机与阱：</a:t>
                      </a:r>
                      <a:r>
                        <a:rPr lang="zh-CN" altLang="en-US" sz="7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★</a:t>
                      </a:r>
                      <a:r>
                        <a:rPr lang="zh-CN" altLang="en-US" sz="700" b="1" u="sng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重要方法是，找出哪些</a:t>
                      </a:r>
                      <a:r>
                        <a:rPr lang="en-US" altLang="zh-CN" sz="700" b="1" u="sng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1" u="sng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丘是不应介入的情况，排除这些情况的所有</a:t>
                      </a:r>
                      <a:r>
                        <a:rPr lang="en-US" altLang="zh-CN" sz="700" b="1" u="sng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1" u="sng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丘都应介入。</a:t>
                      </a:r>
                      <a:endParaRPr lang="en-US" altLang="zh-CN" sz="700" b="1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423487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  <a:p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应介入的情况：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初始突破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】DJA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之上阴柱（</a:t>
                      </a:r>
                      <a:r>
                        <a:rPr lang="en-US" altLang="zh-CN" sz="700" b="1" dirty="0" err="1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vVW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）通常不意味着下破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，更多仍在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之上运动。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初始上破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DJC/DJB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可能会有连续升排，甚至是推顶的垒升。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上破回踩：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DXZA/DXZB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劫后，鼎后以跌孕或跌连回踩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，特别是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DTZA=2/3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时，形成启动结构。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上升途中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入管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贴附于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以固定较小管宽向东北运行：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依托均线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形成行进队列，是最稳定情况。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在连升后的阴柱可介入：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在陡峭拉升过程中，阴柱回归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，有可能会立刻反包。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连升之后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，很可能是机会，特别是合顶情况。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下跌后在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附近形成小阳柱：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附近转好，且排除前期大幅拉升的情况。警惕，当阴后出现阳，后续不一定走好。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跌吞后继鼎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跌连后：需要前期未冲高，且下跌角度较小，最好以十字星平移下跌。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劫后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不要夸大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之上劫：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只是日护型（乙），连（丙）都不是，也未达到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负交或下破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。一旦遇到支撑位或出现转升阳柱，都可再次介入。直到遇到日级别退出信号（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劫后转好：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/DXZB/DXAB/DXAC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劫后，跌排已失效，初始突破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，可配合周柱排列介入。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暂下破的恢复模式：包括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单柱下破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两柱下破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线下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a-b-c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浪调整。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已在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下充分调整：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之下经过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a-b-c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浪充分调整后，再次站上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。要防止形成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5082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阱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  <a:p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不应介入的情况：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禁入情况是（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DSHA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较大）或（首上破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衡量标准是（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DSHA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较大）或（管宽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DSHC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较大）。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冲高情况：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要在冲高时止盈，不要猜测何时为最高点。配合周图检测是否为阻力位。单列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DSHA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9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冲高异常形态：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要防止冲高后的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长上影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阴柱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高开低走大阴柱。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顶部震荡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高位震荡情况：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DSAC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较大时（一般已经过拉升），此时上破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很可能形成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头诱多。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单柱偏离较大情况：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连升之后出现连跌，回归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后，再次出现中阳柱。此时，有可能形成四柱栅，也有可能此柱偏离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较大而不应介入。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升吞情况：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有可能是顶部剧烈震荡，不应在大阳后介入，可以在升孕后介入。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下跌过程中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右侧上破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可能是诱多。即使有小反弹或连阳，但不改变向下的大方向。也有可能与前顶构成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a-b-c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浪。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顶离情况：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当顶离时（一般已经横盘一段时间），此时上破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形成鼎，很可能诱多。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下跌过程的继鼎情况：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前已经出现连跌，此时出现继鼎，实际与前面的连跌形成跌排，不要介入。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下跌过程的首鼎情况：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当在下破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后再次形成首鼎，实际是与之前下跌形成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人排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，需要等待站稳后再介入。包括：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首鼎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/D2e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价上顶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/D2e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升排。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330189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疑</a:t>
                      </a:r>
                      <a:r>
                        <a:rPr lang="en-US" altLang="zh-CN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不确定是否应介入的情况：</a:t>
                      </a:r>
                      <a:endParaRPr lang="en-US" altLang="zh-CN" sz="7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或薡，开始重新计算下个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丘。注意，可能在下破阴柱之后立刻开启下个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后出现升孕阳柱：很可能是确认对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的下破；也可能后续连升上破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在日管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,DJA)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中，由远离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逐步向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靠近。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好的情况：平移调整后，得到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支撑（如继鼎、特升栅），然后继续上升。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坏的情况：如之前偏离较大，则可能会下破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坏的情况：如快速回归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后以较大阳柱反弹，则可能因偏离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DSHA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较大，然后下破</a:t>
                      </a:r>
                      <a:r>
                        <a:rPr lang="en-US" altLang="zh-CN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0654682"/>
                  </a:ext>
                </a:extLst>
              </a:tr>
            </a:tbl>
          </a:graphicData>
        </a:graphic>
      </p:graphicFrame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4376D567-9AF2-CA49-B16E-1256FC221D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2834158"/>
              </p:ext>
            </p:extLst>
          </p:nvPr>
        </p:nvGraphicFramePr>
        <p:xfrm>
          <a:off x="6812280" y="717112"/>
          <a:ext cx="5379720" cy="1986280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666429">
                  <a:extLst>
                    <a:ext uri="{9D8B030D-6E8A-4147-A177-3AD203B41FA5}">
                      <a16:colId xmlns:a16="http://schemas.microsoft.com/office/drawing/2014/main" val="1664798427"/>
                    </a:ext>
                  </a:extLst>
                </a:gridCol>
                <a:gridCol w="4713291">
                  <a:extLst>
                    <a:ext uri="{9D8B030D-6E8A-4147-A177-3AD203B41FA5}">
                      <a16:colId xmlns:a16="http://schemas.microsoft.com/office/drawing/2014/main" val="1247468116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丘典型形态：主升过程中的积木结构。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423487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丘关注要点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四柱栅实际是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丘的组合，即上一个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丘完结，并开启下一个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镜面对称：关注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之下丘、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空头排列时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丘变化规律。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5082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丘辅助判断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利用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护型进行辅助判断：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+DXAB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护型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丘，形成日类工具。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如何判定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丘扩张：价靠近顶，触顶或合顶。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如何确认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丘结束：将视野放大，以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做丘，下破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或薡不代表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丘的结束，需要等待（下破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两柱）或（下破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）后才能确认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丘结束。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330189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特殊情况列举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扩张：如果保持升排，则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丘就是在扩张。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平稳：当走势平稳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(DS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哼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稳定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，单个阳柱后出现同幅阴柱回到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，可以继续原方向运行。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冲高：当有一波拉升之后，升幅较大，后续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修复，很可能是诱多。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冲高：当有一波拉升之后，下破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后反弹，不要再介入。因为前一个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丘太大。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调整结构：当在上升途中，出现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连升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，有可能继续开启下一个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调整结构：如果出现（连升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单阳），后续有可能诱多或直接转为下跌。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065468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845649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日柱择入机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单独依靠日类特殊形态</a:t>
            </a:r>
            <a:b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日类特殊警报与机会汇总：总结各种特殊形态，截图、命名、程序自动识别。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6096000" y="723312"/>
            <a:ext cx="6096000" cy="861774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日线必赢策略：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进入时按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/DJC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入口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/DJB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入口进入。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20250501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改为周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BTZA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后介入。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涨了按日止盈。卖出原则：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DJCBA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均线距离作为超升的判断依据。（与现方案的利用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BSAC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作为回撤空间一致）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跌了按周类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止损。</a:t>
            </a:r>
            <a:endParaRPr lang="zh-CN" altLang="en-US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F2D424A7-250D-5DF8-E291-2BDC4785662E}"/>
              </a:ext>
            </a:extLst>
          </p:cNvPr>
          <p:cNvSpPr txBox="1"/>
          <p:nvPr/>
        </p:nvSpPr>
        <p:spPr>
          <a:xfrm>
            <a:off x="6096000" y="1591710"/>
            <a:ext cx="6096000" cy="3539430"/>
          </a:xfrm>
          <a:prstGeom prst="rect">
            <a:avLst/>
          </a:prstGeom>
          <a:noFill/>
          <a:ln w="25400">
            <a:solidFill>
              <a:schemeClr val="tx1">
                <a:lumMod val="95000"/>
                <a:lumOff val="5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zh-CN" sz="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单独依靠日类</a:t>
            </a:r>
            <a:r>
              <a:rPr lang="en-US" altLang="zh-CN" sz="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特殊形态汇总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特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鼎：不要过分重视日鼎。鼎是介于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丘中间态，是现在主要操盘方法，失败率高，应该舍弃。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对鼎：不按幅度进行划分，而按并符划分。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剔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BSHA≥5/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涨≤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1)</a:t>
            </a:r>
            <a:endParaRPr lang="zh-CN" altLang="en-US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鼎分类：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继鼎的并符分类</a:t>
            </a:r>
          </a:p>
          <a:p>
            <a:pPr marL="1657350" lvl="3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</a:p>
          <a:p>
            <a:pPr marL="1657350" lvl="3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吞鼎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1657350" lvl="3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孕鼎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前有两阴有可能大跌 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注意诱多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1657350" lvl="3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假鼎：跟在阴柱之后，虽然为鼎但是下跌形态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首鼎：问题在于第一柱未必能站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。等待回踩站稳。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鼎后阴：要鼎后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内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要结合周柱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特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薡：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D2e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首下破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特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四柱栅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三柱栅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在初突破 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时是机会。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在久运行于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之上时是顶部标志，如多柱远离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后以鼎靠近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：此为警诱。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兼容情况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始终在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之上：最后柱为中阳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有一柱下破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：最后为首鼎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仅此情况考虑首鼎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zh-CN" altLang="en-US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初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管中阴：孕阴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(DTZC≤6/DTZA≤4)</a:t>
            </a:r>
            <a:endParaRPr lang="zh-CN" altLang="en-US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初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 D1b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特殊形态：</a:t>
            </a:r>
            <a:r>
              <a:rPr lang="zh-CN" altLang="en-US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待完成程序实现</a:t>
            </a:r>
            <a:endParaRPr lang="en-US" altLang="zh-CN" sz="800" b="1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D1b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鼎：在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时更有效。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D1b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四柱栅：华数传媒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20191216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zh-CN" altLang="en-US" sz="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柱组合：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并符仅是参考信号，不能作为买入决策，而应在周类决策满足时参考这些信号。</a:t>
            </a:r>
          </a:p>
          <a:p>
            <a:pPr marL="800100" lvl="1" indent="-342900">
              <a:buFont typeface="Arial" panose="020B0604020202020204" pitchFamily="34" charset="0"/>
              <a:buChar char="•"/>
            </a:pP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向上突破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1257300" lvl="2" indent="-34290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要找突破之后回踩：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回踩跌孕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鼎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鼎后阴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800100" lvl="1" indent="-342900">
              <a:buFont typeface="Arial" panose="020B0604020202020204" pitchFamily="34" charset="0"/>
              <a:buChar char="•"/>
            </a:pP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向下突破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endParaRPr lang="zh-CN" altLang="en-US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要找下跌之后的止跌再升：止跌（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阴柱变小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升孕）回升（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升连）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要找突然下跌：首下破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D2e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。放入（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+DXAB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护型）考虑。</a:t>
            </a:r>
          </a:p>
        </p:txBody>
      </p:sp>
      <p:grpSp>
        <p:nvGrpSpPr>
          <p:cNvPr id="18" name="组合 17">
            <a:extLst>
              <a:ext uri="{FF2B5EF4-FFF2-40B4-BE49-F238E27FC236}">
                <a16:creationId xmlns:a16="http://schemas.microsoft.com/office/drawing/2014/main" id="{CF9558F0-87EC-1EA0-E3AA-D130C69DED23}"/>
              </a:ext>
            </a:extLst>
          </p:cNvPr>
          <p:cNvGrpSpPr/>
          <p:nvPr/>
        </p:nvGrpSpPr>
        <p:grpSpPr>
          <a:xfrm>
            <a:off x="11359300" y="3774577"/>
            <a:ext cx="714895" cy="274321"/>
            <a:chOff x="7838899" y="2036618"/>
            <a:chExt cx="714895" cy="274321"/>
          </a:xfrm>
        </p:grpSpPr>
        <p:cxnSp>
          <p:nvCxnSpPr>
            <p:cNvPr id="6" name="直接连接符 5">
              <a:extLst>
                <a:ext uri="{FF2B5EF4-FFF2-40B4-BE49-F238E27FC236}">
                  <a16:creationId xmlns:a16="http://schemas.microsoft.com/office/drawing/2014/main" id="{4B23974A-C317-4321-C5AD-D81963E2AEE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38899" y="2211186"/>
              <a:ext cx="714895" cy="99753"/>
            </a:xfrm>
            <a:prstGeom prst="line">
              <a:avLst/>
            </a:prstGeom>
            <a:ln w="25400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矩形 7">
              <a:extLst>
                <a:ext uri="{FF2B5EF4-FFF2-40B4-BE49-F238E27FC236}">
                  <a16:creationId xmlns:a16="http://schemas.microsoft.com/office/drawing/2014/main" id="{C4BE06C3-3F15-157C-AA3A-90905AA7D0FD}"/>
                </a:ext>
              </a:extLst>
            </p:cNvPr>
            <p:cNvSpPr/>
            <p:nvPr/>
          </p:nvSpPr>
          <p:spPr>
            <a:xfrm>
              <a:off x="7951122" y="2036618"/>
              <a:ext cx="72000" cy="249382"/>
            </a:xfrm>
            <a:prstGeom prst="rect">
              <a:avLst/>
            </a:prstGeom>
            <a:solidFill>
              <a:srgbClr val="C00000"/>
            </a:solidFill>
            <a:ln w="63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" name="矩形 8">
              <a:extLst>
                <a:ext uri="{FF2B5EF4-FFF2-40B4-BE49-F238E27FC236}">
                  <a16:creationId xmlns:a16="http://schemas.microsoft.com/office/drawing/2014/main" id="{97EA343B-2544-757A-0408-61714A55DC26}"/>
                </a:ext>
              </a:extLst>
            </p:cNvPr>
            <p:cNvSpPr/>
            <p:nvPr/>
          </p:nvSpPr>
          <p:spPr>
            <a:xfrm>
              <a:off x="8067501" y="2036618"/>
              <a:ext cx="72000" cy="99753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63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" name="矩形 9">
              <a:extLst>
                <a:ext uri="{FF2B5EF4-FFF2-40B4-BE49-F238E27FC236}">
                  <a16:creationId xmlns:a16="http://schemas.microsoft.com/office/drawing/2014/main" id="{689562BD-4968-03BA-14E5-C393122D989C}"/>
                </a:ext>
              </a:extLst>
            </p:cNvPr>
            <p:cNvSpPr/>
            <p:nvPr/>
          </p:nvSpPr>
          <p:spPr>
            <a:xfrm>
              <a:off x="8183880" y="2136371"/>
              <a:ext cx="72000" cy="99753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63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" name="矩形 10">
              <a:extLst>
                <a:ext uri="{FF2B5EF4-FFF2-40B4-BE49-F238E27FC236}">
                  <a16:creationId xmlns:a16="http://schemas.microsoft.com/office/drawing/2014/main" id="{BBB34EF9-166D-9F93-4B44-4FAF5E551A43}"/>
                </a:ext>
              </a:extLst>
            </p:cNvPr>
            <p:cNvSpPr/>
            <p:nvPr/>
          </p:nvSpPr>
          <p:spPr>
            <a:xfrm>
              <a:off x="8300259" y="2036618"/>
              <a:ext cx="72000" cy="199506"/>
            </a:xfrm>
            <a:prstGeom prst="rect">
              <a:avLst/>
            </a:prstGeom>
            <a:solidFill>
              <a:srgbClr val="C00000"/>
            </a:solidFill>
            <a:ln w="63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" name="组合 16">
            <a:extLst>
              <a:ext uri="{FF2B5EF4-FFF2-40B4-BE49-F238E27FC236}">
                <a16:creationId xmlns:a16="http://schemas.microsoft.com/office/drawing/2014/main" id="{BAF17AF0-5BD9-6093-F6CF-26DB5B118E46}"/>
              </a:ext>
            </a:extLst>
          </p:cNvPr>
          <p:cNvGrpSpPr/>
          <p:nvPr/>
        </p:nvGrpSpPr>
        <p:grpSpPr>
          <a:xfrm>
            <a:off x="11370424" y="4073837"/>
            <a:ext cx="714895" cy="341259"/>
            <a:chOff x="5727464" y="2286000"/>
            <a:chExt cx="714895" cy="341259"/>
          </a:xfrm>
        </p:grpSpPr>
        <p:cxnSp>
          <p:nvCxnSpPr>
            <p:cNvPr id="12" name="直接连接符 11">
              <a:extLst>
                <a:ext uri="{FF2B5EF4-FFF2-40B4-BE49-F238E27FC236}">
                  <a16:creationId xmlns:a16="http://schemas.microsoft.com/office/drawing/2014/main" id="{D2390BDB-8C78-6581-DAD6-7D4C52E5CA0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7464" y="2460568"/>
              <a:ext cx="714895" cy="99753"/>
            </a:xfrm>
            <a:prstGeom prst="line">
              <a:avLst/>
            </a:prstGeom>
            <a:ln w="25400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矩形 12">
              <a:extLst>
                <a:ext uri="{FF2B5EF4-FFF2-40B4-BE49-F238E27FC236}">
                  <a16:creationId xmlns:a16="http://schemas.microsoft.com/office/drawing/2014/main" id="{868C0720-ED94-B33D-82A6-CEA989FBCF72}"/>
                </a:ext>
              </a:extLst>
            </p:cNvPr>
            <p:cNvSpPr/>
            <p:nvPr/>
          </p:nvSpPr>
          <p:spPr>
            <a:xfrm>
              <a:off x="5839687" y="2286000"/>
              <a:ext cx="72000" cy="249382"/>
            </a:xfrm>
            <a:prstGeom prst="rect">
              <a:avLst/>
            </a:prstGeom>
            <a:solidFill>
              <a:srgbClr val="C00000"/>
            </a:solidFill>
            <a:ln w="63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" name="矩形 13">
              <a:extLst>
                <a:ext uri="{FF2B5EF4-FFF2-40B4-BE49-F238E27FC236}">
                  <a16:creationId xmlns:a16="http://schemas.microsoft.com/office/drawing/2014/main" id="{7FBED3BF-9D17-96FC-14AD-2A6BEA11F558}"/>
                </a:ext>
              </a:extLst>
            </p:cNvPr>
            <p:cNvSpPr/>
            <p:nvPr/>
          </p:nvSpPr>
          <p:spPr>
            <a:xfrm>
              <a:off x="5960223" y="2286000"/>
              <a:ext cx="72000" cy="341259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63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矩形 15">
              <a:extLst>
                <a:ext uri="{FF2B5EF4-FFF2-40B4-BE49-F238E27FC236}">
                  <a16:creationId xmlns:a16="http://schemas.microsoft.com/office/drawing/2014/main" id="{E6E164DB-CDC8-BD28-78D1-8E3BE2FDBEAC}"/>
                </a:ext>
              </a:extLst>
            </p:cNvPr>
            <p:cNvSpPr/>
            <p:nvPr/>
          </p:nvSpPr>
          <p:spPr>
            <a:xfrm>
              <a:off x="6080759" y="2286000"/>
              <a:ext cx="72000" cy="199506"/>
            </a:xfrm>
            <a:prstGeom prst="rect">
              <a:avLst/>
            </a:prstGeom>
            <a:solidFill>
              <a:srgbClr val="C00000"/>
            </a:solidFill>
            <a:ln w="63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6" name="组合 25">
            <a:extLst>
              <a:ext uri="{FF2B5EF4-FFF2-40B4-BE49-F238E27FC236}">
                <a16:creationId xmlns:a16="http://schemas.microsoft.com/office/drawing/2014/main" id="{0C1F95D0-FB89-ED2E-92D4-535CB9E06AEE}"/>
              </a:ext>
            </a:extLst>
          </p:cNvPr>
          <p:cNvGrpSpPr/>
          <p:nvPr/>
        </p:nvGrpSpPr>
        <p:grpSpPr>
          <a:xfrm>
            <a:off x="11291558" y="2669647"/>
            <a:ext cx="714895" cy="378013"/>
            <a:chOff x="8938949" y="2211184"/>
            <a:chExt cx="714895" cy="378013"/>
          </a:xfrm>
        </p:grpSpPr>
        <p:cxnSp>
          <p:nvCxnSpPr>
            <p:cNvPr id="20" name="直接连接符 19">
              <a:extLst>
                <a:ext uri="{FF2B5EF4-FFF2-40B4-BE49-F238E27FC236}">
                  <a16:creationId xmlns:a16="http://schemas.microsoft.com/office/drawing/2014/main" id="{FA59C2A8-F815-AB70-DB64-E60CEFFE593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38949" y="2489444"/>
              <a:ext cx="714895" cy="99753"/>
            </a:xfrm>
            <a:prstGeom prst="line">
              <a:avLst/>
            </a:prstGeom>
            <a:ln w="25400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矩形 20">
              <a:extLst>
                <a:ext uri="{FF2B5EF4-FFF2-40B4-BE49-F238E27FC236}">
                  <a16:creationId xmlns:a16="http://schemas.microsoft.com/office/drawing/2014/main" id="{3BE93143-6C58-69DE-6F1E-20CE79701581}"/>
                </a:ext>
              </a:extLst>
            </p:cNvPr>
            <p:cNvSpPr/>
            <p:nvPr/>
          </p:nvSpPr>
          <p:spPr>
            <a:xfrm>
              <a:off x="8959061" y="2391382"/>
              <a:ext cx="72000" cy="144000"/>
            </a:xfrm>
            <a:prstGeom prst="rect">
              <a:avLst/>
            </a:prstGeom>
            <a:solidFill>
              <a:srgbClr val="C00000"/>
            </a:solidFill>
            <a:ln w="63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" name="矩形 21">
              <a:extLst>
                <a:ext uri="{FF2B5EF4-FFF2-40B4-BE49-F238E27FC236}">
                  <a16:creationId xmlns:a16="http://schemas.microsoft.com/office/drawing/2014/main" id="{96637EF8-9D46-DAE8-8DA4-457833B6BCFF}"/>
                </a:ext>
              </a:extLst>
            </p:cNvPr>
            <p:cNvSpPr/>
            <p:nvPr/>
          </p:nvSpPr>
          <p:spPr>
            <a:xfrm>
              <a:off x="9375263" y="2240629"/>
              <a:ext cx="72000" cy="180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63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矩形 22">
              <a:extLst>
                <a:ext uri="{FF2B5EF4-FFF2-40B4-BE49-F238E27FC236}">
                  <a16:creationId xmlns:a16="http://schemas.microsoft.com/office/drawing/2014/main" id="{7E0D1C6C-901A-41ED-EC03-DB94C6E3FDD0}"/>
                </a:ext>
              </a:extLst>
            </p:cNvPr>
            <p:cNvSpPr/>
            <p:nvPr/>
          </p:nvSpPr>
          <p:spPr>
            <a:xfrm>
              <a:off x="9513996" y="2319382"/>
              <a:ext cx="72000" cy="144000"/>
            </a:xfrm>
            <a:prstGeom prst="rect">
              <a:avLst/>
            </a:prstGeom>
            <a:solidFill>
              <a:srgbClr val="C00000"/>
            </a:solidFill>
            <a:ln w="63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矩形 23">
              <a:extLst>
                <a:ext uri="{FF2B5EF4-FFF2-40B4-BE49-F238E27FC236}">
                  <a16:creationId xmlns:a16="http://schemas.microsoft.com/office/drawing/2014/main" id="{269F4501-621F-A9CE-510C-44446C881847}"/>
                </a:ext>
              </a:extLst>
            </p:cNvPr>
            <p:cNvSpPr/>
            <p:nvPr/>
          </p:nvSpPr>
          <p:spPr>
            <a:xfrm>
              <a:off x="9097795" y="2296413"/>
              <a:ext cx="72000" cy="144000"/>
            </a:xfrm>
            <a:prstGeom prst="rect">
              <a:avLst/>
            </a:prstGeom>
            <a:solidFill>
              <a:srgbClr val="C00000"/>
            </a:solidFill>
            <a:ln w="63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矩形 24">
              <a:extLst>
                <a:ext uri="{FF2B5EF4-FFF2-40B4-BE49-F238E27FC236}">
                  <a16:creationId xmlns:a16="http://schemas.microsoft.com/office/drawing/2014/main" id="{8DF293E0-CCFD-19D0-1F9B-9ACF9C2E1B6F}"/>
                </a:ext>
              </a:extLst>
            </p:cNvPr>
            <p:cNvSpPr/>
            <p:nvPr/>
          </p:nvSpPr>
          <p:spPr>
            <a:xfrm>
              <a:off x="9236529" y="2211184"/>
              <a:ext cx="72000" cy="144000"/>
            </a:xfrm>
            <a:prstGeom prst="rect">
              <a:avLst/>
            </a:prstGeom>
            <a:solidFill>
              <a:srgbClr val="C00000"/>
            </a:solidFill>
            <a:ln w="63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7" name="直接连接符 6">
            <a:extLst>
              <a:ext uri="{FF2B5EF4-FFF2-40B4-BE49-F238E27FC236}">
                <a16:creationId xmlns:a16="http://schemas.microsoft.com/office/drawing/2014/main" id="{BF11EBF9-A3CC-4A21-F981-4759D8DB671B}"/>
              </a:ext>
            </a:extLst>
          </p:cNvPr>
          <p:cNvCxnSpPr>
            <a:cxnSpLocks/>
          </p:cNvCxnSpPr>
          <p:nvPr/>
        </p:nvCxnSpPr>
        <p:spPr>
          <a:xfrm>
            <a:off x="6096000" y="692263"/>
            <a:ext cx="0" cy="6165737"/>
          </a:xfrm>
          <a:prstGeom prst="line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组合 4">
            <a:extLst>
              <a:ext uri="{FF2B5EF4-FFF2-40B4-BE49-F238E27FC236}">
                <a16:creationId xmlns:a16="http://schemas.microsoft.com/office/drawing/2014/main" id="{1F78B271-6922-BDAB-6685-AAFD097AA8E8}"/>
              </a:ext>
            </a:extLst>
          </p:cNvPr>
          <p:cNvGrpSpPr/>
          <p:nvPr/>
        </p:nvGrpSpPr>
        <p:grpSpPr>
          <a:xfrm>
            <a:off x="6355055" y="5131140"/>
            <a:ext cx="903959" cy="415683"/>
            <a:chOff x="5860955" y="5886698"/>
            <a:chExt cx="903959" cy="415683"/>
          </a:xfrm>
        </p:grpSpPr>
        <p:sp>
          <p:nvSpPr>
            <p:cNvPr id="19" name="矩形 18">
              <a:extLst>
                <a:ext uri="{FF2B5EF4-FFF2-40B4-BE49-F238E27FC236}">
                  <a16:creationId xmlns:a16="http://schemas.microsoft.com/office/drawing/2014/main" id="{1EE4464D-3EFC-B935-AFEC-DCCEF1BE9257}"/>
                </a:ext>
              </a:extLst>
            </p:cNvPr>
            <p:cNvSpPr/>
            <p:nvPr/>
          </p:nvSpPr>
          <p:spPr>
            <a:xfrm>
              <a:off x="6221885" y="6024812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" name="矩形 26">
              <a:extLst>
                <a:ext uri="{FF2B5EF4-FFF2-40B4-BE49-F238E27FC236}">
                  <a16:creationId xmlns:a16="http://schemas.microsoft.com/office/drawing/2014/main" id="{ACDF1006-B273-BC8A-99A2-5F4AF78D9E5B}"/>
                </a:ext>
              </a:extLst>
            </p:cNvPr>
            <p:cNvSpPr/>
            <p:nvPr/>
          </p:nvSpPr>
          <p:spPr>
            <a:xfrm>
              <a:off x="6072805" y="6086381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8" name="矩形 27">
              <a:extLst>
                <a:ext uri="{FF2B5EF4-FFF2-40B4-BE49-F238E27FC236}">
                  <a16:creationId xmlns:a16="http://schemas.microsoft.com/office/drawing/2014/main" id="{E614B301-EEBD-7EB3-9E99-CFE82BEE9AE8}"/>
                </a:ext>
              </a:extLst>
            </p:cNvPr>
            <p:cNvSpPr/>
            <p:nvPr/>
          </p:nvSpPr>
          <p:spPr>
            <a:xfrm>
              <a:off x="6385870" y="5992656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29" name="直接连接符 28">
              <a:extLst>
                <a:ext uri="{FF2B5EF4-FFF2-40B4-BE49-F238E27FC236}">
                  <a16:creationId xmlns:a16="http://schemas.microsoft.com/office/drawing/2014/main" id="{E9C76630-D1F8-937E-66E6-3DA74A615C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60955" y="6094281"/>
              <a:ext cx="903959" cy="17654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接箭头连接符 29">
              <a:extLst>
                <a:ext uri="{FF2B5EF4-FFF2-40B4-BE49-F238E27FC236}">
                  <a16:creationId xmlns:a16="http://schemas.microsoft.com/office/drawing/2014/main" id="{179019C8-2CB3-59D8-0242-A16CE3425F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57922" y="5886698"/>
              <a:ext cx="127202" cy="172849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组合 30">
            <a:extLst>
              <a:ext uri="{FF2B5EF4-FFF2-40B4-BE49-F238E27FC236}">
                <a16:creationId xmlns:a16="http://schemas.microsoft.com/office/drawing/2014/main" id="{C0B3CAA7-7E45-9CAB-3171-DBF6A4A53938}"/>
              </a:ext>
            </a:extLst>
          </p:cNvPr>
          <p:cNvGrpSpPr/>
          <p:nvPr/>
        </p:nvGrpSpPr>
        <p:grpSpPr>
          <a:xfrm>
            <a:off x="6355055" y="6081975"/>
            <a:ext cx="959738" cy="278168"/>
            <a:chOff x="5860955" y="6442172"/>
            <a:chExt cx="959738" cy="278168"/>
          </a:xfrm>
        </p:grpSpPr>
        <p:sp>
          <p:nvSpPr>
            <p:cNvPr id="32" name="矩形 31">
              <a:extLst>
                <a:ext uri="{FF2B5EF4-FFF2-40B4-BE49-F238E27FC236}">
                  <a16:creationId xmlns:a16="http://schemas.microsoft.com/office/drawing/2014/main" id="{AF79E97E-CE70-9E97-CDEA-6C6D41E83EF9}"/>
                </a:ext>
              </a:extLst>
            </p:cNvPr>
            <p:cNvSpPr/>
            <p:nvPr/>
          </p:nvSpPr>
          <p:spPr>
            <a:xfrm>
              <a:off x="6221885" y="6474328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3" name="矩形 32">
              <a:extLst>
                <a:ext uri="{FF2B5EF4-FFF2-40B4-BE49-F238E27FC236}">
                  <a16:creationId xmlns:a16="http://schemas.microsoft.com/office/drawing/2014/main" id="{4AE4298C-34EA-B239-AA99-1DB6D8E4274D}"/>
                </a:ext>
              </a:extLst>
            </p:cNvPr>
            <p:cNvSpPr/>
            <p:nvPr/>
          </p:nvSpPr>
          <p:spPr>
            <a:xfrm>
              <a:off x="6385870" y="6442172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34" name="直接连接符 33">
              <a:extLst>
                <a:ext uri="{FF2B5EF4-FFF2-40B4-BE49-F238E27FC236}">
                  <a16:creationId xmlns:a16="http://schemas.microsoft.com/office/drawing/2014/main" id="{659A8180-9E9B-EE82-D80B-431AADA05A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60955" y="6543797"/>
              <a:ext cx="903959" cy="17654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接箭头连接符 34">
              <a:extLst>
                <a:ext uri="{FF2B5EF4-FFF2-40B4-BE49-F238E27FC236}">
                  <a16:creationId xmlns:a16="http://schemas.microsoft.com/office/drawing/2014/main" id="{EB9E027F-FE03-A841-9A78-0BA9DDDDF60A}"/>
                </a:ext>
              </a:extLst>
            </p:cNvPr>
            <p:cNvCxnSpPr>
              <a:cxnSpLocks/>
            </p:cNvCxnSpPr>
            <p:nvPr/>
          </p:nvCxnSpPr>
          <p:spPr>
            <a:xfrm>
              <a:off x="6549555" y="6442172"/>
              <a:ext cx="271138" cy="189896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矩形 35">
              <a:extLst>
                <a:ext uri="{FF2B5EF4-FFF2-40B4-BE49-F238E27FC236}">
                  <a16:creationId xmlns:a16="http://schemas.microsoft.com/office/drawing/2014/main" id="{B944A322-504C-236A-46A2-FF2EFBD6AFDA}"/>
                </a:ext>
              </a:extLst>
            </p:cNvPr>
            <p:cNvSpPr/>
            <p:nvPr/>
          </p:nvSpPr>
          <p:spPr>
            <a:xfrm>
              <a:off x="6058200" y="6504435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37" name="文本框 36">
            <a:extLst>
              <a:ext uri="{FF2B5EF4-FFF2-40B4-BE49-F238E27FC236}">
                <a16:creationId xmlns:a16="http://schemas.microsoft.com/office/drawing/2014/main" id="{0211348D-A317-9706-6D53-EAA8490BADEA}"/>
              </a:ext>
            </a:extLst>
          </p:cNvPr>
          <p:cNvSpPr txBox="1"/>
          <p:nvPr/>
        </p:nvSpPr>
        <p:spPr>
          <a:xfrm>
            <a:off x="7370572" y="5254247"/>
            <a:ext cx="21600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机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刚上破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可以依赖阴柱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文本框 37">
            <a:extLst>
              <a:ext uri="{FF2B5EF4-FFF2-40B4-BE49-F238E27FC236}">
                <a16:creationId xmlns:a16="http://schemas.microsoft.com/office/drawing/2014/main" id="{9D17BC43-A50D-8A59-4E6B-CA2608F2B21C}"/>
              </a:ext>
            </a:extLst>
          </p:cNvPr>
          <p:cNvSpPr txBox="1"/>
          <p:nvPr/>
        </p:nvSpPr>
        <p:spPr>
          <a:xfrm>
            <a:off x="7370572" y="5983326"/>
            <a:ext cx="21600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警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久在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之上不可支撑阴柱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9" name="组合 38">
            <a:extLst>
              <a:ext uri="{FF2B5EF4-FFF2-40B4-BE49-F238E27FC236}">
                <a16:creationId xmlns:a16="http://schemas.microsoft.com/office/drawing/2014/main" id="{0B5217E4-1C57-D81F-4BB9-7488CEE67252}"/>
              </a:ext>
            </a:extLst>
          </p:cNvPr>
          <p:cNvGrpSpPr/>
          <p:nvPr/>
        </p:nvGrpSpPr>
        <p:grpSpPr>
          <a:xfrm>
            <a:off x="6355055" y="6475473"/>
            <a:ext cx="903959" cy="278168"/>
            <a:chOff x="5860955" y="6442172"/>
            <a:chExt cx="903959" cy="278168"/>
          </a:xfrm>
        </p:grpSpPr>
        <p:sp>
          <p:nvSpPr>
            <p:cNvPr id="40" name="矩形 39">
              <a:extLst>
                <a:ext uri="{FF2B5EF4-FFF2-40B4-BE49-F238E27FC236}">
                  <a16:creationId xmlns:a16="http://schemas.microsoft.com/office/drawing/2014/main" id="{60732416-F0DB-54F9-7C99-8462B37E1544}"/>
                </a:ext>
              </a:extLst>
            </p:cNvPr>
            <p:cNvSpPr/>
            <p:nvPr/>
          </p:nvSpPr>
          <p:spPr>
            <a:xfrm>
              <a:off x="6221885" y="6474328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" name="矩形 40">
              <a:extLst>
                <a:ext uri="{FF2B5EF4-FFF2-40B4-BE49-F238E27FC236}">
                  <a16:creationId xmlns:a16="http://schemas.microsoft.com/office/drawing/2014/main" id="{E6C04D5B-4D85-0F5C-782C-35171871FC10}"/>
                </a:ext>
              </a:extLst>
            </p:cNvPr>
            <p:cNvSpPr/>
            <p:nvPr/>
          </p:nvSpPr>
          <p:spPr>
            <a:xfrm>
              <a:off x="6385870" y="6442172"/>
              <a:ext cx="72000" cy="180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42" name="直接连接符 41">
              <a:extLst>
                <a:ext uri="{FF2B5EF4-FFF2-40B4-BE49-F238E27FC236}">
                  <a16:creationId xmlns:a16="http://schemas.microsoft.com/office/drawing/2014/main" id="{E2644273-E48B-401E-2E7C-A841FFF3808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60955" y="6543797"/>
              <a:ext cx="903959" cy="17654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矩形 42">
              <a:extLst>
                <a:ext uri="{FF2B5EF4-FFF2-40B4-BE49-F238E27FC236}">
                  <a16:creationId xmlns:a16="http://schemas.microsoft.com/office/drawing/2014/main" id="{1275072A-28F4-7684-2F67-8950FE59C7E7}"/>
                </a:ext>
              </a:extLst>
            </p:cNvPr>
            <p:cNvSpPr/>
            <p:nvPr/>
          </p:nvSpPr>
          <p:spPr>
            <a:xfrm>
              <a:off x="6058200" y="6504435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44" name="直接箭头连接符 43">
            <a:extLst>
              <a:ext uri="{FF2B5EF4-FFF2-40B4-BE49-F238E27FC236}">
                <a16:creationId xmlns:a16="http://schemas.microsoft.com/office/drawing/2014/main" id="{85B756DF-5153-8BB9-3116-17A93863D098}"/>
              </a:ext>
            </a:extLst>
          </p:cNvPr>
          <p:cNvCxnSpPr>
            <a:cxnSpLocks/>
          </p:cNvCxnSpPr>
          <p:nvPr/>
        </p:nvCxnSpPr>
        <p:spPr>
          <a:xfrm flipV="1">
            <a:off x="7052022" y="6419172"/>
            <a:ext cx="181412" cy="246197"/>
          </a:xfrm>
          <a:prstGeom prst="straightConnector1">
            <a:avLst/>
          </a:prstGeom>
          <a:ln w="34925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文本框 44">
            <a:extLst>
              <a:ext uri="{FF2B5EF4-FFF2-40B4-BE49-F238E27FC236}">
                <a16:creationId xmlns:a16="http://schemas.microsoft.com/office/drawing/2014/main" id="{4924669D-9344-A923-7663-8CC3AA3E0CB5}"/>
              </a:ext>
            </a:extLst>
          </p:cNvPr>
          <p:cNvSpPr txBox="1"/>
          <p:nvPr/>
        </p:nvSpPr>
        <p:spPr>
          <a:xfrm>
            <a:off x="7370572" y="6374196"/>
            <a:ext cx="2160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机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遇反鼎代表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丘结束，但可能立刻开启下一个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8" name="组合 47">
            <a:extLst>
              <a:ext uri="{FF2B5EF4-FFF2-40B4-BE49-F238E27FC236}">
                <a16:creationId xmlns:a16="http://schemas.microsoft.com/office/drawing/2014/main" id="{211000D6-D36F-D69C-F308-B89B9039FF35}"/>
              </a:ext>
            </a:extLst>
          </p:cNvPr>
          <p:cNvGrpSpPr/>
          <p:nvPr/>
        </p:nvGrpSpPr>
        <p:grpSpPr>
          <a:xfrm>
            <a:off x="6355055" y="5570014"/>
            <a:ext cx="925852" cy="421719"/>
            <a:chOff x="5966888" y="6373030"/>
            <a:chExt cx="925852" cy="421719"/>
          </a:xfrm>
        </p:grpSpPr>
        <p:sp>
          <p:nvSpPr>
            <p:cNvPr id="46" name="矩形 45">
              <a:extLst>
                <a:ext uri="{FF2B5EF4-FFF2-40B4-BE49-F238E27FC236}">
                  <a16:creationId xmlns:a16="http://schemas.microsoft.com/office/drawing/2014/main" id="{182AB8B1-C15B-6F1A-ECEC-36EB196CD55A}"/>
                </a:ext>
              </a:extLst>
            </p:cNvPr>
            <p:cNvSpPr/>
            <p:nvPr/>
          </p:nvSpPr>
          <p:spPr>
            <a:xfrm>
              <a:off x="6327818" y="6517180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7" name="矩形 46">
              <a:extLst>
                <a:ext uri="{FF2B5EF4-FFF2-40B4-BE49-F238E27FC236}">
                  <a16:creationId xmlns:a16="http://schemas.microsoft.com/office/drawing/2014/main" id="{9D0E5279-8C76-BB14-B945-EA16BCBF9B17}"/>
                </a:ext>
              </a:extLst>
            </p:cNvPr>
            <p:cNvSpPr/>
            <p:nvPr/>
          </p:nvSpPr>
          <p:spPr>
            <a:xfrm>
              <a:off x="6178738" y="6578749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49" name="直接连接符 48">
              <a:extLst>
                <a:ext uri="{FF2B5EF4-FFF2-40B4-BE49-F238E27FC236}">
                  <a16:creationId xmlns:a16="http://schemas.microsoft.com/office/drawing/2014/main" id="{3E699FB5-4B34-96E3-4C4E-C6294D4C5E1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66888" y="6586649"/>
              <a:ext cx="903959" cy="17654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接箭头连接符 49">
              <a:extLst>
                <a:ext uri="{FF2B5EF4-FFF2-40B4-BE49-F238E27FC236}">
                  <a16:creationId xmlns:a16="http://schemas.microsoft.com/office/drawing/2014/main" id="{0549A0C9-1B89-E608-3ACA-1C5A40DB0ED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65538" y="6373030"/>
              <a:ext cx="127202" cy="172849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矩形 50">
              <a:extLst>
                <a:ext uri="{FF2B5EF4-FFF2-40B4-BE49-F238E27FC236}">
                  <a16:creationId xmlns:a16="http://schemas.microsoft.com/office/drawing/2014/main" id="{4B285352-EC72-D4DF-FD17-3B80C2466BAB}"/>
                </a:ext>
              </a:extLst>
            </p:cNvPr>
            <p:cNvSpPr/>
            <p:nvPr/>
          </p:nvSpPr>
          <p:spPr>
            <a:xfrm>
              <a:off x="6471122" y="6502353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2" name="矩形 51">
              <a:extLst>
                <a:ext uri="{FF2B5EF4-FFF2-40B4-BE49-F238E27FC236}">
                  <a16:creationId xmlns:a16="http://schemas.microsoft.com/office/drawing/2014/main" id="{D98EAF80-9DC4-9F80-14FD-9DB3B583EC57}"/>
                </a:ext>
              </a:extLst>
            </p:cNvPr>
            <p:cNvSpPr/>
            <p:nvPr/>
          </p:nvSpPr>
          <p:spPr>
            <a:xfrm>
              <a:off x="6618330" y="6498377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53" name="文本框 52">
            <a:extLst>
              <a:ext uri="{FF2B5EF4-FFF2-40B4-BE49-F238E27FC236}">
                <a16:creationId xmlns:a16="http://schemas.microsoft.com/office/drawing/2014/main" id="{4FD9E719-578C-3677-2FDF-C55D594CCD2E}"/>
              </a:ext>
            </a:extLst>
          </p:cNvPr>
          <p:cNvSpPr txBox="1"/>
          <p:nvPr/>
        </p:nvSpPr>
        <p:spPr>
          <a:xfrm>
            <a:off x="7369414" y="5560289"/>
            <a:ext cx="2160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机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大阳柱之后缓慢回归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可能开启下一个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7" name="组合 56">
            <a:extLst>
              <a:ext uri="{FF2B5EF4-FFF2-40B4-BE49-F238E27FC236}">
                <a16:creationId xmlns:a16="http://schemas.microsoft.com/office/drawing/2014/main" id="{E50F43CE-B882-E7BF-FE1F-7B383A54746A}"/>
              </a:ext>
            </a:extLst>
          </p:cNvPr>
          <p:cNvGrpSpPr/>
          <p:nvPr/>
        </p:nvGrpSpPr>
        <p:grpSpPr>
          <a:xfrm>
            <a:off x="6371536" y="6798056"/>
            <a:ext cx="903959" cy="319838"/>
            <a:chOff x="9233187" y="5333415"/>
            <a:chExt cx="903959" cy="319838"/>
          </a:xfrm>
        </p:grpSpPr>
        <p:sp>
          <p:nvSpPr>
            <p:cNvPr id="54" name="矩形 53">
              <a:extLst>
                <a:ext uri="{FF2B5EF4-FFF2-40B4-BE49-F238E27FC236}">
                  <a16:creationId xmlns:a16="http://schemas.microsoft.com/office/drawing/2014/main" id="{6FAE0139-9B31-E45C-B585-E91283ACA0C6}"/>
                </a:ext>
              </a:extLst>
            </p:cNvPr>
            <p:cNvSpPr/>
            <p:nvPr/>
          </p:nvSpPr>
          <p:spPr>
            <a:xfrm>
              <a:off x="9613167" y="5345654"/>
              <a:ext cx="72000" cy="180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55" name="直接连接符 54">
              <a:extLst>
                <a:ext uri="{FF2B5EF4-FFF2-40B4-BE49-F238E27FC236}">
                  <a16:creationId xmlns:a16="http://schemas.microsoft.com/office/drawing/2014/main" id="{3AD90759-A376-C31F-2902-70601618F37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33187" y="5476710"/>
              <a:ext cx="903959" cy="17654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矩形 55">
              <a:extLst>
                <a:ext uri="{FF2B5EF4-FFF2-40B4-BE49-F238E27FC236}">
                  <a16:creationId xmlns:a16="http://schemas.microsoft.com/office/drawing/2014/main" id="{BC6CC828-03CA-0723-CE7E-F840B27CBCE3}"/>
                </a:ext>
              </a:extLst>
            </p:cNvPr>
            <p:cNvSpPr/>
            <p:nvPr/>
          </p:nvSpPr>
          <p:spPr>
            <a:xfrm>
              <a:off x="9762084" y="5421563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58" name="直接箭头连接符 57">
              <a:extLst>
                <a:ext uri="{FF2B5EF4-FFF2-40B4-BE49-F238E27FC236}">
                  <a16:creationId xmlns:a16="http://schemas.microsoft.com/office/drawing/2014/main" id="{19EE2C3F-A4DA-0C66-C874-5FA4BAECC4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402338" y="5333415"/>
              <a:ext cx="181412" cy="246197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文本框 58">
            <a:extLst>
              <a:ext uri="{FF2B5EF4-FFF2-40B4-BE49-F238E27FC236}">
                <a16:creationId xmlns:a16="http://schemas.microsoft.com/office/drawing/2014/main" id="{C756D06B-8E7C-F3F7-CBC1-A447DD4C222A}"/>
              </a:ext>
            </a:extLst>
          </p:cNvPr>
          <p:cNvSpPr txBox="1"/>
          <p:nvPr/>
        </p:nvSpPr>
        <p:spPr>
          <a:xfrm>
            <a:off x="7370572" y="6768192"/>
            <a:ext cx="2160000" cy="7848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跌吞可守仓，等待下柱反应：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若下柱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为</a:t>
            </a:r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：可继续持有；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若下柱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为</a:t>
            </a:r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：柱体小要退出；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若下柱为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跌连：继续等待下柱反应，按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止损浮仓。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文本框 61">
            <a:extLst>
              <a:ext uri="{FF2B5EF4-FFF2-40B4-BE49-F238E27FC236}">
                <a16:creationId xmlns:a16="http://schemas.microsoft.com/office/drawing/2014/main" id="{489ABED0-F39F-F8F5-5F57-5B8754A258DD}"/>
              </a:ext>
            </a:extLst>
          </p:cNvPr>
          <p:cNvSpPr txBox="1"/>
          <p:nvPr/>
        </p:nvSpPr>
        <p:spPr>
          <a:xfrm>
            <a:off x="-393" y="3556505"/>
            <a:ext cx="611296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日警：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BSHA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：不要相信偏离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较大的阳柱。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偏管：去掉偏离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20%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DTZA=1/2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日机：当管宽处于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(5,15)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附近找机会：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不要相信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过久。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可以相信升排：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跌孕。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可以相信跌排止跌：在跌排后止跌（十字星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小阳柱）。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不要相信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DTZA=1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：要等待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两柱以上。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可以相信薡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/DTZA=-1/-2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：已冲高应止盈，未冲高可以试仓，相信阴柱后立刻回升。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矩形 62">
            <a:extLst>
              <a:ext uri="{FF2B5EF4-FFF2-40B4-BE49-F238E27FC236}">
                <a16:creationId xmlns:a16="http://schemas.microsoft.com/office/drawing/2014/main" id="{CB9051FB-C511-851D-A720-A8F90FD11D42}"/>
              </a:ext>
            </a:extLst>
          </p:cNvPr>
          <p:cNvSpPr/>
          <p:nvPr/>
        </p:nvSpPr>
        <p:spPr>
          <a:xfrm>
            <a:off x="-393" y="4783719"/>
            <a:ext cx="6092864" cy="1273149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2540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lnSpc>
                <a:spcPct val="120000"/>
              </a:lnSpc>
            </a:pP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筛选日类机会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目标是选取日类下柱有可能冲高（阳柱或上影）的机会。主要包括：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刚上破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，包含：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突破回踩：鼎突破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后，第二或第三柱以阴柱，回踩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且站稳。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悬阳升连：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正交。从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之下以阳柱上破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，然后在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之上出现悬空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十字星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小阳柱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小阴柱。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参考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宁波方正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@20250518]</a:t>
            </a:r>
          </a:p>
          <a:p>
            <a:pPr marL="171450" indent="-17145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主升中途回调：日前柱中符为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[ABC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久上破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，本柱为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跌吞，后续可能延续升势。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四柱栅：升排之后，以跌吞或跌连回归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，然后继续以升连排列运行。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lnSpc>
                <a:spcPct val="120000"/>
              </a:lnSpc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4" name="组合 63">
            <a:extLst>
              <a:ext uri="{FF2B5EF4-FFF2-40B4-BE49-F238E27FC236}">
                <a16:creationId xmlns:a16="http://schemas.microsoft.com/office/drawing/2014/main" id="{0724ED5F-001D-D592-FB72-1214E0EB6AA2}"/>
              </a:ext>
            </a:extLst>
          </p:cNvPr>
          <p:cNvGrpSpPr/>
          <p:nvPr/>
        </p:nvGrpSpPr>
        <p:grpSpPr>
          <a:xfrm>
            <a:off x="4783329" y="5574761"/>
            <a:ext cx="1117124" cy="594286"/>
            <a:chOff x="2262433" y="1556998"/>
            <a:chExt cx="1117124" cy="594286"/>
          </a:xfrm>
        </p:grpSpPr>
        <p:sp>
          <p:nvSpPr>
            <p:cNvPr id="65" name="矩形 64">
              <a:extLst>
                <a:ext uri="{FF2B5EF4-FFF2-40B4-BE49-F238E27FC236}">
                  <a16:creationId xmlns:a16="http://schemas.microsoft.com/office/drawing/2014/main" id="{4FA51A24-EC59-FF40-A52D-53F0BEF0572C}"/>
                </a:ext>
              </a:extLst>
            </p:cNvPr>
            <p:cNvSpPr/>
            <p:nvPr/>
          </p:nvSpPr>
          <p:spPr>
            <a:xfrm>
              <a:off x="2807281" y="2018353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66" name="直接连接符 65">
              <a:extLst>
                <a:ext uri="{FF2B5EF4-FFF2-40B4-BE49-F238E27FC236}">
                  <a16:creationId xmlns:a16="http://schemas.microsoft.com/office/drawing/2014/main" id="{8D9F6630-147F-D1F8-9358-848F3DFD4CC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8396" y="1868218"/>
              <a:ext cx="903959" cy="17654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接箭头连接符 66">
              <a:extLst>
                <a:ext uri="{FF2B5EF4-FFF2-40B4-BE49-F238E27FC236}">
                  <a16:creationId xmlns:a16="http://schemas.microsoft.com/office/drawing/2014/main" id="{D070EA98-E38D-87C0-BA74-411C6C77D98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52355" y="1556998"/>
              <a:ext cx="127202" cy="172849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矩形 67">
              <a:extLst>
                <a:ext uri="{FF2B5EF4-FFF2-40B4-BE49-F238E27FC236}">
                  <a16:creationId xmlns:a16="http://schemas.microsoft.com/office/drawing/2014/main" id="{F6380537-9C34-9D3B-17F4-12A6245BD8B3}"/>
                </a:ext>
              </a:extLst>
            </p:cNvPr>
            <p:cNvSpPr/>
            <p:nvPr/>
          </p:nvSpPr>
          <p:spPr>
            <a:xfrm>
              <a:off x="2932228" y="1972761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9" name="矩形 68">
              <a:extLst>
                <a:ext uri="{FF2B5EF4-FFF2-40B4-BE49-F238E27FC236}">
                  <a16:creationId xmlns:a16="http://schemas.microsoft.com/office/drawing/2014/main" id="{0CD42746-F8DB-1A66-828A-B007EF3E6909}"/>
                </a:ext>
              </a:extLst>
            </p:cNvPr>
            <p:cNvSpPr/>
            <p:nvPr/>
          </p:nvSpPr>
          <p:spPr>
            <a:xfrm>
              <a:off x="3158393" y="1761695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0" name="任意多边形: 形状 69">
              <a:extLst>
                <a:ext uri="{FF2B5EF4-FFF2-40B4-BE49-F238E27FC236}">
                  <a16:creationId xmlns:a16="http://schemas.microsoft.com/office/drawing/2014/main" id="{51F9507B-C7BD-3038-EE13-05AAE81CE7E1}"/>
                </a:ext>
              </a:extLst>
            </p:cNvPr>
            <p:cNvSpPr/>
            <p:nvPr/>
          </p:nvSpPr>
          <p:spPr>
            <a:xfrm>
              <a:off x="2262433" y="1857080"/>
              <a:ext cx="527901" cy="294204"/>
            </a:xfrm>
            <a:custGeom>
              <a:avLst/>
              <a:gdLst>
                <a:gd name="connsiteX0" fmla="*/ 0 w 527901"/>
                <a:gd name="connsiteY0" fmla="*/ 0 h 294204"/>
                <a:gd name="connsiteX1" fmla="*/ 424206 w 527901"/>
                <a:gd name="connsiteY1" fmla="*/ 273378 h 294204"/>
                <a:gd name="connsiteX2" fmla="*/ 527901 w 527901"/>
                <a:gd name="connsiteY2" fmla="*/ 254524 h 294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901" h="294204">
                  <a:moveTo>
                    <a:pt x="0" y="0"/>
                  </a:moveTo>
                  <a:cubicBezTo>
                    <a:pt x="168111" y="115478"/>
                    <a:pt x="336223" y="230957"/>
                    <a:pt x="424206" y="273378"/>
                  </a:cubicBezTo>
                  <a:cubicBezTo>
                    <a:pt x="512189" y="315799"/>
                    <a:pt x="520045" y="285161"/>
                    <a:pt x="527901" y="254524"/>
                  </a:cubicBezTo>
                </a:path>
              </a:pathLst>
            </a:custGeom>
            <a:noFill/>
            <a:ln w="38100">
              <a:solidFill>
                <a:schemeClr val="accent5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71" name="矩形 70">
              <a:extLst>
                <a:ext uri="{FF2B5EF4-FFF2-40B4-BE49-F238E27FC236}">
                  <a16:creationId xmlns:a16="http://schemas.microsoft.com/office/drawing/2014/main" id="{D8173E87-87D9-2A4C-BA79-407B5F757142}"/>
                </a:ext>
              </a:extLst>
            </p:cNvPr>
            <p:cNvSpPr/>
            <p:nvPr/>
          </p:nvSpPr>
          <p:spPr>
            <a:xfrm>
              <a:off x="3058792" y="1880309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aphicFrame>
        <p:nvGraphicFramePr>
          <p:cNvPr id="15" name="表格 14">
            <a:extLst>
              <a:ext uri="{FF2B5EF4-FFF2-40B4-BE49-F238E27FC236}">
                <a16:creationId xmlns:a16="http://schemas.microsoft.com/office/drawing/2014/main" id="{C29BEAFF-C907-6836-8089-B1C569D51927}"/>
              </a:ext>
            </a:extLst>
          </p:cNvPr>
          <p:cNvGraphicFramePr>
            <a:graphicFrameLocks noGrp="1"/>
          </p:cNvGraphicFramePr>
          <p:nvPr/>
        </p:nvGraphicFramePr>
        <p:xfrm>
          <a:off x="-7483" y="701197"/>
          <a:ext cx="6096001" cy="2712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2130">
                  <a:extLst>
                    <a:ext uri="{9D8B030D-6E8A-4147-A177-3AD203B41FA5}">
                      <a16:colId xmlns:a16="http://schemas.microsoft.com/office/drawing/2014/main" val="2567861468"/>
                    </a:ext>
                  </a:extLst>
                </a:gridCol>
                <a:gridCol w="5273871">
                  <a:extLst>
                    <a:ext uri="{9D8B030D-6E8A-4147-A177-3AD203B41FA5}">
                      <a16:colId xmlns:a16="http://schemas.microsoft.com/office/drawing/2014/main" val="101274817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日类什么位置会有阳柱</a:t>
                      </a:r>
                      <a:endParaRPr lang="zh-CN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基本条件是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在上升大趋势中已长久下跌后，刚转为上升。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上升途中忽然下跌：合顶情况下忽然阴柱。</a:t>
                      </a:r>
                      <a:endParaRPr lang="zh-CN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35238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最有把握日机：</a:t>
                      </a:r>
                      <a:endParaRPr lang="zh-CN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管中稳定：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窄管中蓄力：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管宽≤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；低波动维持较长时间，在均线之上积蓄力量。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在窄管（哼，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）中多柱：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最好为：连升且连触，可出现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次好为调整结构：启动结构、栏、栅。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可为阴柱：管中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跌连，未下破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或首下破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在管中多次反弹，在下壁止跌后向上壁移动过程中（向上但未触上壁）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之上；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0&lt;DTZA≤6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；柱排非跌排。连阳≤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，最好为跌孕。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突破回踩：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刚突破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，连阳后跌孕。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既是升排，又有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支撑。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突破后的启动结构：第一柱上破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，第二柱跌孕，第三柱继鼎。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潜在四柱栅：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之上，中阳跌孕后小阳。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3415483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其他日机：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顺势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触顶或触哼后，未冲高，（管哼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）保持宽固定且小于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捡漏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阴柱止跌于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DJA/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阴柱后十字星或小阳柱。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捡漏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初始突破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后，合顶，触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或触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，跌连下破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寻找升排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之上分布间断的升排片段，要在以下位置寻找升排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基本要求是站上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DJA)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刚出现升排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单阳柱之后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人排或跌排之后。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4966549"/>
                  </a:ext>
                </a:extLst>
              </a:tr>
            </a:tbl>
          </a:graphicData>
        </a:graphic>
      </p:graphicFrame>
      <p:sp>
        <p:nvSpPr>
          <p:cNvPr id="72" name="矩形 71">
            <a:extLst>
              <a:ext uri="{FF2B5EF4-FFF2-40B4-BE49-F238E27FC236}">
                <a16:creationId xmlns:a16="http://schemas.microsoft.com/office/drawing/2014/main" id="{56524B95-3D8F-D958-7EC1-9BC5E5D23722}"/>
              </a:ext>
            </a:extLst>
          </p:cNvPr>
          <p:cNvSpPr/>
          <p:nvPr/>
        </p:nvSpPr>
        <p:spPr>
          <a:xfrm>
            <a:off x="-7483" y="6212659"/>
            <a:ext cx="5980096" cy="2232000"/>
          </a:xfrm>
          <a:prstGeom prst="rect">
            <a:avLst/>
          </a:prstGeom>
          <a:solidFill>
            <a:srgbClr val="FF99CC"/>
          </a:solidFill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050" b="1" dirty="0">
                <a:solidFill>
                  <a:schemeClr val="tx1"/>
                </a:solidFill>
                <a:highlight>
                  <a:srgbClr val="FFFF00"/>
                </a:highlight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（注</a:t>
            </a:r>
            <a:r>
              <a:rPr lang="en-US" altLang="zh-CN" sz="1050" b="1" dirty="0">
                <a:solidFill>
                  <a:schemeClr val="tx1"/>
                </a:solidFill>
                <a:highlight>
                  <a:srgbClr val="FFFF00"/>
                </a:highlight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20260220</a:t>
            </a:r>
            <a:r>
              <a:rPr lang="zh-CN" altLang="en-US" sz="1050" b="1" dirty="0">
                <a:solidFill>
                  <a:schemeClr val="tx1"/>
                </a:solidFill>
                <a:highlight>
                  <a:srgbClr val="FFFF00"/>
                </a:highlight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）可以删除，不在此页描述人为规则。</a:t>
            </a:r>
            <a:endParaRPr lang="en-US" altLang="zh-CN" sz="1050" b="1" dirty="0">
              <a:solidFill>
                <a:schemeClr val="tx1"/>
              </a:solidFill>
              <a:highlight>
                <a:srgbClr val="FFFF00"/>
              </a:highlight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05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升排运行逻辑：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管宽≤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10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低波动区域，可以包含各种柱排，不需要对跌排进行预警；其他区域，如未冲高在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之上不需退出跌排；如已冲高，退出升排就应减至底仓。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入点：只在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之上升排进入。对于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ZA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劫一般不进入。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持有：在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之上，遇到人排或跌排可以继续持有，（ 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[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柱排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]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为跌，不代表不能持有，而是主升趋势受阻）。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出点：一旦下破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要警惕，下破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可以提前退出。也可按周线进行操作。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升排遇人排可以不出；升排遇跌排不破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可不出。跌排遇人排不应入；跌排遇升排需要站上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再入。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文本框 72">
                <a:extLst>
                  <a:ext uri="{FF2B5EF4-FFF2-40B4-BE49-F238E27FC236}">
                    <a16:creationId xmlns:a16="http://schemas.microsoft.com/office/drawing/2014/main" id="{2F568248-4F02-B1E7-8421-D0F8D3F9E9B0}"/>
                  </a:ext>
                </a:extLst>
              </p:cNvPr>
              <p:cNvSpPr txBox="1"/>
              <p:nvPr/>
            </p:nvSpPr>
            <p:spPr>
              <a:xfrm>
                <a:off x="413839" y="7449467"/>
                <a:ext cx="4024628" cy="1006045"/>
              </a:xfrm>
              <a:prstGeom prst="rect">
                <a:avLst/>
              </a:prstGeom>
              <a:noFill/>
            </p:spPr>
            <p:txBody>
              <a:bodyPr vert="horz" wrap="none" lIns="0" tIns="0" rIns="0" bIns="0" rtlCol="0">
                <a:spAutoFit/>
              </a:bodyPr>
              <a:lstStyle/>
              <a:p>
                <a:r>
                  <a:rPr lang="en-US" altLang="zh-CN" sz="1100" dirty="0">
                    <a:latin typeface="Microsoft YaHei Light" panose="020B0502040204020203" pitchFamily="34" charset="-122"/>
                    <a:ea typeface="Microsoft YaHei Light" panose="020B0502040204020203" pitchFamily="34" charset="-122"/>
                  </a:rPr>
                  <a:t>DJC</a:t>
                </a:r>
                <a:r>
                  <a:rPr lang="zh-CN" altLang="en-US" sz="1100" dirty="0">
                    <a:latin typeface="Microsoft YaHei Light" panose="020B0502040204020203" pitchFamily="34" charset="-122"/>
                    <a:ea typeface="Microsoft YaHei Light" panose="020B0502040204020203" pitchFamily="34" charset="-122"/>
                  </a:rPr>
                  <a:t>之上</a:t>
                </a:r>
                <a14:m>
                  <m:oMath xmlns:m="http://schemas.openxmlformats.org/officeDocument/2006/math">
                    <m:d>
                      <m:dPr>
                        <m:begChr m:val="{"/>
                        <m:endChr m:val=""/>
                        <m:ctrlPr>
                          <a:rPr lang="en-US" altLang="zh-CN" sz="110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eqArr>
                          <m:eqArrPr>
                            <m:ctrlPr>
                              <a:rPr lang="en-US" altLang="zh-CN" sz="1100" i="1" smtClean="0">
                                <a:latin typeface="Cambria Math" panose="02040503050406030204" pitchFamily="18" charset="0"/>
                              </a:rPr>
                            </m:ctrlPr>
                          </m:eqArrPr>
                          <m:e>
                            <m:r>
                              <m:rPr>
                                <m:sty m:val="p"/>
                              </m:rPr>
                              <a:rPr lang="en-US" altLang="zh-CN" sz="1100" i="1">
                                <a:latin typeface="Cambria Math" panose="02040503050406030204" pitchFamily="18" charset="0"/>
                              </a:rPr>
                              <m:t>DJB</m:t>
                            </m:r>
                            <m:r>
                              <a:rPr lang="zh-CN" altLang="en-US" sz="1100" i="1" smtClean="0">
                                <a:latin typeface="Cambria Math" panose="02040503050406030204" pitchFamily="18" charset="0"/>
                              </a:rPr>
                              <m:t>之上</m:t>
                            </m:r>
                            <m:d>
                              <m:dPr>
                                <m:begChr m:val="{"/>
                                <m:endChr m:val=""/>
                                <m:ctrlPr>
                                  <a:rPr lang="en-US" altLang="zh-CN" sz="1100" i="1" smtClean="0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eqArr>
                                  <m:eqArrPr>
                                    <m:ctrlPr>
                                      <a:rPr lang="en-US" altLang="zh-CN" sz="11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zh-CN" altLang="en-US" sz="1100" i="1" smtClean="0">
                                        <a:latin typeface="Cambria Math" panose="02040503050406030204" pitchFamily="18" charset="0"/>
                                      </a:rPr>
                                      <m:t>升链</m:t>
                                    </m:r>
                                    <m:d>
                                      <m:dPr>
                                        <m:begChr m:val="{"/>
                                        <m:endChr m:val=""/>
                                        <m:ctrlPr>
                                          <a:rPr lang="en-US" altLang="zh-CN" sz="110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eqArr>
                                          <m:eqArrPr>
                                            <m:ctrlPr>
                                              <a:rPr lang="en-US" altLang="zh-CN" sz="110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eqArrPr>
                                          <m:e>
                                            <m:r>
                                              <a:rPr lang="zh-CN" altLang="en-US" sz="1100" i="1">
                                                <a:latin typeface="Cambria Math" panose="02040503050406030204" pitchFamily="18" charset="0"/>
                                              </a:rPr>
                                              <m:t>主</m:t>
                                            </m:r>
                                            <m:r>
                                              <a:rPr lang="zh-CN" altLang="en-US" sz="1100" i="1" smtClean="0">
                                                <a:latin typeface="Cambria Math" panose="02040503050406030204" pitchFamily="18" charset="0"/>
                                              </a:rPr>
                                              <m:t>升链</m:t>
                                            </m:r>
                                            <m:r>
                                              <a:rPr lang="zh-CN" altLang="en-US" sz="1100" i="1">
                                                <a:latin typeface="Cambria Math" panose="02040503050406030204" pitchFamily="18" charset="0"/>
                                              </a:rPr>
                                              <m:t>：</m:t>
                                            </m:r>
                                            <m:r>
                                              <a:rPr lang="zh-CN" altLang="en-US" sz="1100" i="1" smtClean="0">
                                                <a:latin typeface="Cambria Math" panose="02040503050406030204" pitchFamily="18" charset="0"/>
                                              </a:rPr>
                                              <m:t>升</m:t>
                                            </m:r>
                                            <m:r>
                                              <a:rPr lang="zh-CN" altLang="en-US" sz="1100" i="1">
                                                <a:latin typeface="Cambria Math" panose="02040503050406030204" pitchFamily="18" charset="0"/>
                                              </a:rPr>
                                              <m:t>排</m:t>
                                            </m:r>
                                            <m:r>
                                              <a:rPr lang="zh-CN" altLang="en-US" sz="1100" i="1" smtClean="0">
                                                <a:latin typeface="Cambria Math" panose="02040503050406030204" pitchFamily="18" charset="0"/>
                                              </a:rPr>
                                              <m:t>。不出现跌连跌吞</m:t>
                                            </m:r>
                                            <m:r>
                                              <a:rPr lang="en-US" altLang="zh-CN" sz="1100" b="0" i="1" smtClean="0">
                                                <a:latin typeface="Cambria Math" panose="02040503050406030204" pitchFamily="18" charset="0"/>
                                              </a:rPr>
                                              <m:t>             </m:t>
                                            </m:r>
                                          </m:e>
                                          <m:e>
                                            <m:r>
                                              <a:rPr lang="zh-CN" altLang="en-US" sz="1100" i="1">
                                                <a:latin typeface="Cambria Math" panose="02040503050406030204" pitchFamily="18" charset="0"/>
                                              </a:rPr>
                                              <m:t>亚</m:t>
                                            </m:r>
                                            <m:r>
                                              <a:rPr lang="zh-CN" altLang="en-US" sz="1100" i="1" smtClean="0">
                                                <a:latin typeface="Cambria Math" panose="02040503050406030204" pitchFamily="18" charset="0"/>
                                              </a:rPr>
                                              <m:t>升</m:t>
                                            </m:r>
                                            <m:r>
                                              <a:rPr lang="zh-CN" altLang="en-US" sz="1100" i="1">
                                                <a:latin typeface="Cambria Math" panose="02040503050406030204" pitchFamily="18" charset="0"/>
                                              </a:rPr>
                                              <m:t>链</m:t>
                                            </m:r>
                                            <m:r>
                                              <a:rPr lang="zh-CN" altLang="en-US" sz="1100" i="1" smtClean="0">
                                                <a:latin typeface="Cambria Math" panose="02040503050406030204" pitchFamily="18" charset="0"/>
                                              </a:rPr>
                                              <m:t>：</m:t>
                                            </m:r>
                                            <m:r>
                                              <a:rPr lang="zh-CN" altLang="en-US" sz="1100" i="1">
                                                <a:latin typeface="Cambria Math" panose="02040503050406030204" pitchFamily="18" charset="0"/>
                                              </a:rPr>
                                              <m:t>人</m:t>
                                            </m:r>
                                            <m:r>
                                              <a:rPr lang="zh-CN" altLang="en-US" sz="1100" i="1" smtClean="0">
                                                <a:latin typeface="Cambria Math" panose="02040503050406030204" pitchFamily="18" charset="0"/>
                                              </a:rPr>
                                              <m:t>排</m:t>
                                            </m:r>
                                            <m:r>
                                              <a:rPr lang="zh-CN" altLang="en-US" sz="1100" i="1">
                                                <a:latin typeface="Cambria Math" panose="02040503050406030204" pitchFamily="18" charset="0"/>
                                              </a:rPr>
                                              <m:t>。不出现跌连</m:t>
                                            </m:r>
                                            <m:r>
                                              <a:rPr lang="zh-CN" altLang="en-US" sz="1100" i="1" smtClean="0">
                                                <a:latin typeface="Cambria Math" panose="02040503050406030204" pitchFamily="18" charset="0"/>
                                              </a:rPr>
                                              <m:t>，</m:t>
                                            </m:r>
                                            <m:r>
                                              <a:rPr lang="zh-CN" altLang="en-US" sz="1100" i="1">
                                                <a:latin typeface="Cambria Math" panose="02040503050406030204" pitchFamily="18" charset="0"/>
                                              </a:rPr>
                                              <m:t>可以</m:t>
                                            </m:r>
                                            <m:r>
                                              <a:rPr lang="zh-CN" altLang="en-US" sz="1100" i="1" smtClean="0">
                                                <a:latin typeface="Cambria Math" panose="02040503050406030204" pitchFamily="18" charset="0"/>
                                              </a:rPr>
                                              <m:t>跌</m:t>
                                            </m:r>
                                            <m:r>
                                              <a:rPr lang="zh-CN" altLang="en-US" sz="1100" i="1">
                                                <a:latin typeface="Cambria Math" panose="02040503050406030204" pitchFamily="18" charset="0"/>
                                              </a:rPr>
                                              <m:t>吞</m:t>
                                            </m:r>
                                          </m:e>
                                        </m:eqArr>
                                      </m:e>
                                    </m:d>
                                  </m:e>
                                  <m:e>
                                    <m:r>
                                      <a:rPr lang="zh-CN" altLang="en-US" sz="1100" i="1">
                                        <a:latin typeface="Cambria Math" panose="02040503050406030204" pitchFamily="18" charset="0"/>
                                      </a:rPr>
                                      <m:t>人</m:t>
                                    </m:r>
                                    <m:r>
                                      <a:rPr lang="zh-CN" altLang="en-US" sz="1100" i="1" smtClean="0">
                                        <a:latin typeface="Cambria Math" panose="02040503050406030204" pitchFamily="18" charset="0"/>
                                      </a:rPr>
                                      <m:t>链</m:t>
                                    </m:r>
                                    <m:r>
                                      <a:rPr lang="zh-CN" altLang="en-US" sz="1100" i="1">
                                        <a:latin typeface="Cambria Math" panose="02040503050406030204" pitchFamily="18" charset="0"/>
                                      </a:rPr>
                                      <m:t>：</m:t>
                                    </m:r>
                                    <m:r>
                                      <a:rPr lang="zh-CN" altLang="en-US" sz="1100" i="1" smtClean="0">
                                        <a:latin typeface="Cambria Math" panose="02040503050406030204" pitchFamily="18" charset="0"/>
                                      </a:rPr>
                                      <m:t>可以继续持有</m:t>
                                    </m:r>
                                    <m:r>
                                      <a:rPr lang="zh-CN" altLang="en-US" sz="1100" i="1">
                                        <a:latin typeface="Cambria Math" panose="02040503050406030204" pitchFamily="18" charset="0"/>
                                      </a:rPr>
                                      <m:t>，</m:t>
                                    </m:r>
                                    <m:r>
                                      <a:rPr lang="zh-CN" altLang="en-US" sz="1100" i="1" smtClean="0">
                                        <a:latin typeface="Cambria Math" panose="02040503050406030204" pitchFamily="18" charset="0"/>
                                      </a:rPr>
                                      <m:t>逢高</m:t>
                                    </m:r>
                                    <m:r>
                                      <a:rPr lang="zh-CN" altLang="en-US" sz="1100" i="1">
                                        <a:latin typeface="Cambria Math" panose="02040503050406030204" pitchFamily="18" charset="0"/>
                                      </a:rPr>
                                      <m:t>卖出</m:t>
                                    </m:r>
                                    <m:r>
                                      <a:rPr lang="en-US" altLang="zh-CN" sz="1100" b="0" i="1" smtClean="0">
                                        <a:latin typeface="Cambria Math" panose="02040503050406030204" pitchFamily="18" charset="0"/>
                                      </a:rPr>
                                      <m:t>                         </m:t>
                                    </m:r>
                                  </m:e>
                                  <m:e>
                                    <m:r>
                                      <a:rPr lang="zh-CN" altLang="en-US" sz="1100" i="1">
                                        <a:latin typeface="Cambria Math" panose="02040503050406030204" pitchFamily="18" charset="0"/>
                                      </a:rPr>
                                      <m:t>跌</m:t>
                                    </m:r>
                                    <m:r>
                                      <a:rPr lang="zh-CN" altLang="en-US" sz="1100" i="1" smtClean="0">
                                        <a:latin typeface="Cambria Math" panose="02040503050406030204" pitchFamily="18" charset="0"/>
                                      </a:rPr>
                                      <m:t>链</m:t>
                                    </m:r>
                                    <m:r>
                                      <a:rPr lang="zh-CN" altLang="en-US" sz="1100" i="1">
                                        <a:latin typeface="Cambria Math" panose="02040503050406030204" pitchFamily="18" charset="0"/>
                                      </a:rPr>
                                      <m:t>：</m:t>
                                    </m:r>
                                    <m:r>
                                      <a:rPr lang="zh-CN" altLang="en-US" sz="1100" i="1" smtClean="0">
                                        <a:latin typeface="Cambria Math" panose="02040503050406030204" pitchFamily="18" charset="0"/>
                                      </a:rPr>
                                      <m:t>是捡漏机会</m:t>
                                    </m:r>
                                    <m:r>
                                      <a:rPr lang="en-US" altLang="zh-CN" sz="1100" b="0" i="1" smtClean="0">
                                        <a:latin typeface="Cambria Math" panose="02040503050406030204" pitchFamily="18" charset="0"/>
                                      </a:rPr>
                                      <m:t>                                                    </m:t>
                                    </m:r>
                                  </m:e>
                                </m:eqArr>
                              </m:e>
                            </m:d>
                          </m:e>
                          <m:e>
                            <m:r>
                              <m:rPr>
                                <m:sty m:val="p"/>
                              </m:rPr>
                              <a:rPr lang="en-US" altLang="zh-CN" sz="1100" i="1">
                                <a:latin typeface="Cambria Math" panose="02040503050406030204" pitchFamily="18" charset="0"/>
                              </a:rPr>
                              <m:t>DJB</m:t>
                            </m:r>
                            <m:r>
                              <a:rPr lang="zh-CN" altLang="en-US" sz="1100" i="1" smtClean="0">
                                <a:latin typeface="Cambria Math" panose="02040503050406030204" pitchFamily="18" charset="0"/>
                              </a:rPr>
                              <m:t>至</m:t>
                            </m:r>
                            <m:r>
                              <m:rPr>
                                <m:sty m:val="p"/>
                              </m:rPr>
                              <a:rPr lang="en-US" altLang="zh-CN" sz="1100" i="1">
                                <a:latin typeface="Cambria Math" panose="02040503050406030204" pitchFamily="18" charset="0"/>
                              </a:rPr>
                              <m:t>DJC</m:t>
                            </m:r>
                            <m:r>
                              <a:rPr lang="zh-CN" altLang="en-US" sz="1100" i="1" smtClean="0">
                                <a:latin typeface="Cambria Math" panose="02040503050406030204" pitchFamily="18" charset="0"/>
                              </a:rPr>
                              <m:t>：</m:t>
                            </m:r>
                            <m:r>
                              <a:rPr lang="zh-CN" altLang="en-US" sz="1100" i="1">
                                <a:latin typeface="Cambria Math" panose="02040503050406030204" pitchFamily="18" charset="0"/>
                              </a:rPr>
                              <m:t>如可能</m:t>
                            </m:r>
                            <m:r>
                              <a:rPr lang="zh-CN" altLang="en-US" sz="1100" i="1" smtClean="0">
                                <a:latin typeface="Cambria Math" panose="02040503050406030204" pitchFamily="18" charset="0"/>
                              </a:rPr>
                              <m:t>下破</m:t>
                            </m:r>
                            <m:r>
                              <m:rPr>
                                <m:sty m:val="p"/>
                              </m:rPr>
                              <a:rPr lang="en-US" altLang="zh-CN" sz="1100" i="1">
                                <a:latin typeface="Cambria Math" panose="02040503050406030204" pitchFamily="18" charset="0"/>
                              </a:rPr>
                              <m:t>DJC</m:t>
                            </m:r>
                            <m:r>
                              <a:rPr lang="zh-CN" altLang="en-US" sz="1100" i="1" smtClean="0">
                                <a:latin typeface="Cambria Math" panose="02040503050406030204" pitchFamily="18" charset="0"/>
                              </a:rPr>
                              <m:t>则</m:t>
                            </m:r>
                            <m:r>
                              <a:rPr lang="zh-CN" altLang="en-US" sz="1100" i="1">
                                <a:latin typeface="Cambria Math" panose="02040503050406030204" pitchFamily="18" charset="0"/>
                              </a:rPr>
                              <m:t>退出</m:t>
                            </m:r>
                            <m:r>
                              <a:rPr lang="en-US" altLang="zh-CN" sz="1100" b="0" i="1" smtClean="0">
                                <a:latin typeface="Cambria Math" panose="02040503050406030204" pitchFamily="18" charset="0"/>
                              </a:rPr>
                              <m:t>                                          </m:t>
                            </m:r>
                          </m:e>
                        </m:eqArr>
                      </m:e>
                    </m:d>
                  </m:oMath>
                </a14:m>
                <a:endParaRPr lang="zh-CN" altLang="en-US" sz="1100" dirty="0">
                  <a:latin typeface="Microsoft YaHei Light" panose="020B0502040204020203" pitchFamily="34" charset="-122"/>
                  <a:ea typeface="Microsoft YaHei Light" panose="020B0502040204020203" pitchFamily="34" charset="-122"/>
                </a:endParaRPr>
              </a:p>
            </p:txBody>
          </p:sp>
        </mc:Choice>
        <mc:Fallback xmlns="">
          <p:sp>
            <p:nvSpPr>
              <p:cNvPr id="73" name="文本框 72">
                <a:extLst>
                  <a:ext uri="{FF2B5EF4-FFF2-40B4-BE49-F238E27FC236}">
                    <a16:creationId xmlns:a16="http://schemas.microsoft.com/office/drawing/2014/main" id="{2F568248-4F02-B1E7-8421-D0F8D3F9E9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3839" y="7449467"/>
                <a:ext cx="4024628" cy="1006045"/>
              </a:xfrm>
              <a:prstGeom prst="rect">
                <a:avLst/>
              </a:prstGeom>
              <a:blipFill>
                <a:blip r:embed="rId3"/>
                <a:stretch>
                  <a:fillRect l="-2273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2004474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5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235BFA1-8D3A-9F2B-8D03-04AB8F2EDC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F99427F-6D32-11A3-569F-D3ACBE45F8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53000" y="365125"/>
            <a:ext cx="7043530" cy="1614595"/>
          </a:xfrm>
        </p:spPr>
        <p:txBody>
          <a:bodyPr>
            <a:normAutofit/>
          </a:bodyPr>
          <a:lstStyle/>
          <a:p>
            <a:r>
              <a: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龙展日战法</a:t>
            </a:r>
            <a:r>
              <a: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日周联动聚焦日机</a:t>
            </a:r>
            <a:br>
              <a: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下周冲高战法</a:t>
            </a:r>
            <a:r>
              <a:rPr lang="en-US" altLang="zh-CN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基础上根据</a:t>
            </a:r>
            <a:r>
              <a:rPr lang="en-US" altLang="zh-CN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</a:t>
            </a:r>
            <a:r>
              <a:rPr lang="en-US" altLang="zh-CN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提高收益。</a:t>
            </a:r>
            <a:endParaRPr lang="zh-CN" alt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0D7EF87D-E3BE-AA09-8879-BEB2D8D1220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52999" y="2019572"/>
            <a:ext cx="6825331" cy="3642485"/>
          </a:xfrm>
        </p:spPr>
        <p:txBody>
          <a:bodyPr>
            <a:normAutofit fontScale="77500" lnSpcReduction="20000"/>
          </a:bodyPr>
          <a:lstStyle/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日周联动聚焦日机的总体思路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日周联动聚焦日机的操作细化路线图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S1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限制周柱使下柱冲高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S2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周排与日排的协调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S3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日柱择机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势头判断工具汇总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S3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日柱择机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日层类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S3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日柱择机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日护型：以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丘辅助的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S3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日柱择机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日柱排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S3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日柱择机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日顶型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下周冲高战法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日周联动的筛选漏斗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指导思想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日周联动的典型形态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日周联动的日机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仓类</a:t>
            </a:r>
          </a:p>
          <a:p>
            <a:pPr marL="457200" lvl="1" indent="0">
              <a:buNone/>
            </a:pPr>
            <a:endParaRPr lang="zh-CN" altLang="en-US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FEEFBFF1-56D4-B31A-8BB8-D94D1BED7C04}"/>
              </a:ext>
            </a:extLst>
          </p:cNvPr>
          <p:cNvSpPr txBox="1"/>
          <p:nvPr/>
        </p:nvSpPr>
        <p:spPr>
          <a:xfrm>
            <a:off x="1071312" y="1746835"/>
            <a:ext cx="2867025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0" dirty="0">
                <a:solidFill>
                  <a:schemeClr val="tx2">
                    <a:lumMod val="75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联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16B83AA5-FE1F-4FC2-41D2-177CC7769E17}"/>
              </a:ext>
            </a:extLst>
          </p:cNvPr>
          <p:cNvSpPr/>
          <p:nvPr/>
        </p:nvSpPr>
        <p:spPr>
          <a:xfrm>
            <a:off x="413668" y="4560536"/>
            <a:ext cx="4032000" cy="1588804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在（下周冲高战法）基础上提高收益。后续优化包含：</a:t>
            </a:r>
            <a:b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（退点优化）：哪些可在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之上提前退出？哪些不可提前退出？</a:t>
            </a:r>
            <a:b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（入点优化）：哪些必须介入？哪些不必介入？</a:t>
            </a:r>
            <a:b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（中间优化）：依赖形态。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本章思维导图：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想抓阳柱，考虑：阳柱启动点、调整结构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想抓主升，考虑：主升启动结构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想应对见顶，考虑：左侧止盈、右侧见顶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想应对劫，考虑：劫恢复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149555218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EA7570-6D44-8CFC-7AA7-75E0E0520B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9ED7C89-05F5-6148-0BF9-E3E8F3972E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龙展日战法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日周联动聚焦日机的起心动念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：在下周冲高战法框架下，利用日周联动，制定日类筛选流程。</a:t>
            </a:r>
            <a:r>
              <a: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牢记：一定要以周柱为准，先确定周柱存在上升空间，再根据日类选择介入时机。</a:t>
            </a:r>
            <a:endParaRPr lang="en-US" altLang="zh-CN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5" name="表格 14">
                <a:extLst>
                  <a:ext uri="{FF2B5EF4-FFF2-40B4-BE49-F238E27FC236}">
                    <a16:creationId xmlns:a16="http://schemas.microsoft.com/office/drawing/2014/main" id="{D48A4683-83D4-86A2-7FCE-0E7EC9108236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717564852"/>
                  </p:ext>
                </p:extLst>
              </p:nvPr>
            </p:nvGraphicFramePr>
            <p:xfrm>
              <a:off x="0" y="720000"/>
              <a:ext cx="6819900" cy="6138000"/>
            </p:xfrm>
            <a:graphic>
              <a:graphicData uri="http://schemas.openxmlformats.org/drawingml/2006/table">
                <a:tbl>
                  <a:tblPr firstRow="1" bandRow="1">
                    <a:tableStyleId>{BDBED569-4797-4DF1-A0F4-6AAB3CD982D8}</a:tableStyleId>
                  </a:tblPr>
                  <a:tblGrid>
                    <a:gridCol w="717481">
                      <a:extLst>
                        <a:ext uri="{9D8B030D-6E8A-4147-A177-3AD203B41FA5}">
                          <a16:colId xmlns:a16="http://schemas.microsoft.com/office/drawing/2014/main" val="873417849"/>
                        </a:ext>
                      </a:extLst>
                    </a:gridCol>
                    <a:gridCol w="6102419">
                      <a:extLst>
                        <a:ext uri="{9D8B030D-6E8A-4147-A177-3AD203B41FA5}">
                          <a16:colId xmlns:a16="http://schemas.microsoft.com/office/drawing/2014/main" val="1161648658"/>
                        </a:ext>
                      </a:extLst>
                    </a:gridCol>
                  </a:tblGrid>
                  <a:tr h="586040">
                    <a:tc>
                      <a:txBody>
                        <a:bodyPr/>
                        <a:lstStyle/>
                        <a:p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龙战法必赢的要点：</a:t>
                          </a:r>
                          <a:endParaRPr lang="zh-CN" altLang="en-US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</a:txBody>
                      <a:tcPr>
                        <a:lnL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4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14:m>
                            <m:oMath xmlns:m="http://schemas.openxmlformats.org/officeDocument/2006/math">
                              <m:r>
                                <a:rPr lang="en-US" altLang="zh-CN" sz="1400" b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𝑾𝑱𝑩</m:t>
                              </m:r>
                              <m:r>
                                <a:rPr lang="zh-CN" altLang="en-US" sz="1400" b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丘</m:t>
                              </m:r>
                              <m:r>
                                <a:rPr lang="zh-CN" altLang="en-US" sz="1400" b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必赢</m:t>
                              </m:r>
                              <m:r>
                                <a:rPr lang="en-US" altLang="zh-CN" sz="1400" b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≝</m:t>
                              </m:r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US" altLang="zh-CN" sz="1400" b="1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r>
                                    <a:rPr lang="zh-CN" altLang="en-US" sz="1400" b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阳柱</m:t>
                                  </m:r>
                                </m:e>
                              </m:nary>
                              <m:r>
                                <a:rPr lang="en-US" altLang="zh-CN" sz="1400" b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US" altLang="zh-CN" sz="1400" b="1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r>
                                    <a:rPr lang="zh-CN" altLang="en-US" sz="1400" b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阴柱</m:t>
                                  </m:r>
                                </m:e>
                              </m:nary>
                              <m:r>
                                <a:rPr lang="en-US" altLang="zh-CN" sz="1400" b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&gt;</m:t>
                              </m:r>
                              <m:r>
                                <a:rPr lang="en-US" altLang="zh-CN" sz="1400" b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oMath>
                          </a14:m>
                          <a:r>
                            <a:rPr lang="en-US" altLang="zh-CN" sz="1400" b="1" dirty="0">
                              <a:solidFill>
                                <a:srgbClr val="C00000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     </a:t>
                          </a:r>
                          <a:r>
                            <a:rPr lang="zh-CN" altLang="en-US" sz="14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⇒</a:t>
                          </a:r>
                          <a:r>
                            <a:rPr lang="en-US" altLang="zh-CN" sz="1400" b="1" dirty="0">
                              <a:solidFill>
                                <a:srgbClr val="C00000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     </a:t>
                          </a:r>
                          <a14:m>
                            <m:oMath xmlns:m="http://schemas.openxmlformats.org/officeDocument/2006/math">
                              <m:r>
                                <a:rPr lang="zh-CN" altLang="en-US" sz="1400" b="1" dirty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最高点</m:t>
                              </m:r>
                              <m:r>
                                <a:rPr lang="en-US" altLang="zh-CN" sz="1400" b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zh-CN" altLang="en-US" sz="1400" b="1" dirty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转升</m:t>
                              </m:r>
                              <m:r>
                                <a:rPr lang="zh-CN" altLang="en-US" sz="1400" b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点</m:t>
                              </m:r>
                              <m:r>
                                <a:rPr lang="en-US" altLang="zh-CN" sz="1400" b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&gt;</m:t>
                              </m:r>
                              <m:r>
                                <a:rPr lang="en-US" altLang="zh-CN" sz="1400" b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oMath>
                          </a14:m>
                          <a:endParaRPr lang="en-US" altLang="zh-CN" sz="1400" b="1" dirty="0">
                            <a:solidFill>
                              <a:srgbClr val="C00000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0" lvl="0" indent="0">
                            <a:buFont typeface="Arial" panose="020B0604020202020204" pitchFamily="34" charset="0"/>
                            <a:buNone/>
                          </a:pPr>
                          <a:r>
                            <a:rPr lang="en-US" altLang="zh-CN" sz="9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【</a:t>
                          </a:r>
                          <a:r>
                            <a:rPr lang="zh-CN" altLang="en-US" sz="9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要点</a:t>
                          </a:r>
                          <a:r>
                            <a:rPr lang="en-US" altLang="zh-CN" sz="9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1】</a:t>
                          </a:r>
                          <a:r>
                            <a:rPr lang="zh-CN" altLang="en-US" sz="9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要经过最高点（不破</a:t>
                          </a:r>
                          <a:r>
                            <a:rPr lang="en-US" altLang="zh-CN" sz="9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9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不退出）</a:t>
                          </a:r>
                          <a:endParaRPr lang="en-US" altLang="zh-CN" sz="900" b="1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0" lvl="0" indent="0">
                            <a:buFont typeface="Arial" panose="020B0604020202020204" pitchFamily="34" charset="0"/>
                            <a:buNone/>
                          </a:pPr>
                          <a:r>
                            <a:rPr lang="en-US" altLang="zh-CN" sz="9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【</a:t>
                          </a:r>
                          <a:r>
                            <a:rPr lang="zh-CN" altLang="en-US" sz="9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要点</a:t>
                          </a:r>
                          <a:r>
                            <a:rPr lang="en-US" altLang="zh-CN" sz="9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2】</a:t>
                          </a:r>
                          <a:r>
                            <a:rPr lang="zh-CN" altLang="en-US" sz="9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要避开下跌趋势（下破</a:t>
                          </a:r>
                          <a:r>
                            <a:rPr lang="en-US" altLang="zh-CN" sz="9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9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要强制退出</a:t>
                          </a:r>
                          <a:r>
                            <a:rPr lang="en-US" altLang="zh-CN" sz="9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)</a:t>
                          </a:r>
                        </a:p>
                      </a:txBody>
                      <a:tcPr>
                        <a:lnL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979006679"/>
                      </a:ext>
                    </a:extLst>
                  </a:tr>
                  <a:tr h="1696432">
                    <a:tc rowSpan="3">
                      <a:txBody>
                        <a:bodyPr/>
                        <a:lstStyle/>
                        <a:p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日丘优化的原则：</a:t>
                          </a:r>
                          <a:endParaRPr lang="en-US" altLang="zh-CN" sz="800" b="1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（主要针对是否能用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&lt;DJE&amp;DJC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必赢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替代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龙战法：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必赢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）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</a:txBody>
                      <a:tcPr>
                        <a:lnL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4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【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原则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1】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优化方法的适用情形：要适用于原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&lt;WJB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丘必赢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所适用的情形；而非弃道从术，在任意区域进行方法替代。</a:t>
                          </a:r>
                          <a:endParaRPr lang="en-US" altLang="zh-CN" sz="800" b="1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日丘优化适用于哪些情形？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（或换种问法，何时日丘优化优于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丘必赢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？）答案是：首先必须适用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丘必赢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，要求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丘足够大；其次，是适用低级别均线所构成的丘。</a:t>
                          </a:r>
                          <a:endParaRPr lang="en-US" altLang="zh-CN" sz="800" b="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若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丘很小。本身按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丘的获利空间就能很小，若在按低阶均线（如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）做丘，频繁进出、交易摩擦会造成损失。</a:t>
                          </a:r>
                          <a:endParaRPr lang="en-US" altLang="zh-CN" sz="800" b="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若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丘足够大。单独因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丘较大就可获利；再抓住此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丘之上较大的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丘，舍弃较小的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丘（主升后震荡），从而增加收益。</a:t>
                          </a:r>
                          <a:endParaRPr lang="en-US" altLang="zh-CN" sz="800" b="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结论：</a:t>
                          </a:r>
                          <a:endParaRPr lang="en-US" altLang="zh-CN" sz="800" b="1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日丘优化，仅适用于主升阶段，且与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WJA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没有频繁接触的情况（中符为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A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而非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）。</a:t>
                          </a:r>
                          <a:endParaRPr lang="en-US" altLang="zh-CN" sz="800" b="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不要弃道从术。迷信于日丘优化，忘记只聚焦于“周主升”的首要原则，而按所谓“</a:t>
                          </a:r>
                          <a:r>
                            <a:rPr lang="en-US" altLang="zh-CN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DJE&amp;DJC</a:t>
                          </a:r>
                          <a:r>
                            <a:rPr lang="zh-CN" altLang="en-US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必赢”误入“周震荡”。</a:t>
                          </a:r>
                          <a:endParaRPr lang="en-US" altLang="zh-CN" sz="800" b="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日丘优化的适用情形：</a:t>
                          </a:r>
                          <a:endParaRPr lang="en-US" altLang="zh-CN" sz="800" b="1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[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最佳适用情形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]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周主升阶段，且周主升与日主升共振。此时，可按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止盈，且保证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之上必持。</a:t>
                          </a:r>
                          <a:endParaRPr lang="en-US" altLang="zh-CN" sz="800" b="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[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不适用情形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]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若周主升，存在较多与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WJA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存在接触的情况。此时不能拘泥于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止损，而要以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丘为准。</a:t>
                          </a:r>
                          <a:endParaRPr lang="en-US" altLang="zh-CN" sz="800" b="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[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不适用情形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]</a:t>
                          </a:r>
                          <a:r>
                            <a:rPr lang="zh-CN" altLang="en-US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针对周震荡。因</a:t>
                          </a:r>
                          <a:r>
                            <a:rPr lang="en-US" altLang="zh-CN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丘较小，且反复与</a:t>
                          </a:r>
                          <a:r>
                            <a:rPr lang="en-US" altLang="zh-CN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WJA</a:t>
                          </a:r>
                          <a:r>
                            <a:rPr lang="zh-CN" altLang="en-US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交叉，不应进行日丘优化，且本质上不应参与。</a:t>
                          </a:r>
                        </a:p>
                      </a:txBody>
                      <a:tcPr>
                        <a:lnL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4">
                            <a:lumMod val="40000"/>
                            <a:lumOff val="6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261277052"/>
                      </a:ext>
                    </a:extLst>
                  </a:tr>
                  <a:tr h="462663">
                    <a:tc vMerge="1">
                      <a:txBody>
                        <a:bodyPr/>
                        <a:lstStyle/>
                        <a:p>
                          <a:endParaRPr lang="zh-CN" altLang="en-US" dirty="0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 marL="0" lvl="0" indent="0">
                            <a:buFont typeface="Arial" panose="020B0604020202020204" pitchFamily="34" charset="0"/>
                            <a:buNone/>
                          </a:pP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【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原则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2】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要能够截断下降趋势。</a:t>
                          </a:r>
                          <a:endParaRPr lang="en-US" altLang="zh-CN" sz="800" b="1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必须在下破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时精确退出，或在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之上提前退出。</a:t>
                          </a:r>
                          <a:endParaRPr lang="en-US" altLang="zh-CN" sz="80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根据实际观察，存在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之上在下破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WJA(DJC)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后迅速站回、频繁贯穿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WJA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的情况。底线是按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止损。</a:t>
                          </a:r>
                          <a:endParaRPr lang="en-US" altLang="zh-CN" sz="80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</a:txBody>
                      <a:tcPr>
                        <a:lnL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4">
                            <a:lumMod val="40000"/>
                            <a:lumOff val="6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076077809"/>
                      </a:ext>
                    </a:extLst>
                  </a:tr>
                  <a:tr h="1326302">
                    <a:tc vMerge="1">
                      <a:txBody>
                        <a:bodyPr/>
                        <a:lstStyle/>
                        <a:p>
                          <a:endParaRPr lang="zh-CN" altLang="en-US" dirty="0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 marL="0" lvl="0" indent="0">
                            <a:buFont typeface="Arial" panose="020B0604020202020204" pitchFamily="34" charset="0"/>
                            <a:buNone/>
                          </a:pP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【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原则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3】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要在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原则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1.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优化方法的适用情形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内，保证替代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丘的完整性。</a:t>
                          </a:r>
                          <a:endParaRPr lang="en-US" altLang="zh-CN" sz="800" b="1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只需在特定区域内保证替代的完整性：首先要求是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&lt;WJB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丘必赢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的适用区域；其次要求替代的完整性。</a:t>
                          </a:r>
                          <a:endParaRPr lang="en-US" altLang="zh-CN" sz="800" b="1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（例）针对用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替代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的优化方法。根据实际观察，上破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通常经历（以升排快速主升⇒以人排横盘震荡⇒以跌排调整）过程。所以，要做到</a:t>
                          </a:r>
                          <a:endParaRPr lang="en-US" altLang="zh-CN" sz="80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之上的上涨区域不错过。要在上破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时无脑介入，虽然可能上破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后再次跌破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。</a:t>
                          </a:r>
                          <a:endParaRPr lang="en-US" altLang="zh-CN" sz="80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085850" lvl="2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要保留仓位在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之上区域，至少要参与在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DJB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之上的区域。</a:t>
                          </a:r>
                        </a:p>
                        <a:p>
                          <a:pPr marL="1085850" lvl="2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要包含主要阳柱起涨点。</a:t>
                          </a:r>
                          <a:endParaRPr lang="en-US" altLang="zh-CN" sz="80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之上的下跌区域少参与。前面已经截断了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之下的下降趋势，此处只需要关心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之上的下降趋势。</a:t>
                          </a:r>
                          <a:endParaRPr lang="en-US" altLang="zh-CN" sz="80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085850" lvl="2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可在突破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主升完成后，止盈减仓至底仓。</a:t>
                          </a:r>
                          <a:endParaRPr lang="en-US" altLang="zh-CN" sz="80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085850" lvl="2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可在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之上出现必跌信号后提前退出底仓，如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DXAB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负交、下破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DJB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后形成跌排。</a:t>
                          </a:r>
                          <a:endParaRPr lang="zh-CN" altLang="en-US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</a:txBody>
                      <a:tcPr>
                        <a:lnL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4">
                            <a:lumMod val="40000"/>
                            <a:lumOff val="6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517350561"/>
                      </a:ext>
                    </a:extLst>
                  </a:tr>
                  <a:tr h="2066563">
                    <a:tc>
                      <a:txBody>
                        <a:bodyPr/>
                        <a:lstStyle/>
                        <a:p>
                          <a:r>
                            <a:rPr lang="zh-CN" altLang="en-US" sz="800" b="1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划分算法的势力范围</a:t>
                          </a:r>
                        </a:p>
                      </a:txBody>
                      <a:tcPr>
                        <a:lnL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4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lvl="0" indent="0">
                            <a:buFont typeface="Arial" panose="020B0604020202020204" pitchFamily="34" charset="0"/>
                            <a:buNone/>
                          </a:pPr>
                          <a:r>
                            <a:rPr lang="zh-CN" altLang="en-US" sz="800" b="1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现存两种可能存在矛盾的日类算法。如下：</a:t>
                          </a:r>
                          <a:endParaRPr lang="en-US" altLang="zh-CN" sz="800" b="1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龙战法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龙展日战法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：遵从龙战法只聚焦“周主升”的原则，在日类进行短期低吸高抛增加收益。</a:t>
                          </a:r>
                          <a:endParaRPr lang="en-US" altLang="zh-CN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日丘优化：依据“</a:t>
                          </a:r>
                          <a:r>
                            <a:rPr lang="en-US" altLang="zh-CN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DJE&amp;DJC</a:t>
                          </a:r>
                          <a:r>
                            <a:rPr lang="zh-CN" altLang="en-US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必赢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”，甚至扩展至“</a:t>
                          </a:r>
                          <a:r>
                            <a:rPr lang="en-US" altLang="zh-CN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DJE&amp;DJC&amp;DJB</a:t>
                          </a:r>
                          <a:r>
                            <a:rPr lang="zh-CN" altLang="en-US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必赢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”。按照低阶均线进行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上入下出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。</a:t>
                          </a:r>
                          <a:endParaRPr lang="en-US" altLang="zh-CN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0" lvl="0" indent="0">
                            <a:buFont typeface="Arial" panose="020B0604020202020204" pitchFamily="34" charset="0"/>
                            <a:buNone/>
                          </a:pPr>
                          <a:r>
                            <a:rPr lang="zh-CN" altLang="en-US" sz="800" b="1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两种算法的矛盾：</a:t>
                          </a:r>
                          <a:endParaRPr lang="en-US" altLang="zh-CN" sz="800" b="1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龙战法，要求已进入周主升后再介入，认为刚上破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WJA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很可能属于周震荡。</a:t>
                          </a:r>
                          <a:endParaRPr lang="en-US" altLang="zh-CN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日丘优化：要求按照均线精确进出，在上破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后就应介入。</a:t>
                          </a:r>
                          <a:endParaRPr lang="en-US" altLang="zh-CN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结论：两种算法的优劣，龙战法更优。因为龙战法聚焦于周主升，是获利空间最大的区域。而日丘优化，未考虑周级别大势，片面强调低阶均线，大多数情况只能保证少亏，并不能保证大赚。</a:t>
                          </a:r>
                          <a:endParaRPr lang="en-US" altLang="zh-CN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0" lvl="0" indent="0">
                            <a:buFont typeface="Arial" panose="020B0604020202020204" pitchFamily="34" charset="0"/>
                            <a:buNone/>
                          </a:pPr>
                          <a:r>
                            <a:rPr lang="zh-CN" altLang="en-US" sz="800" b="1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划分算法的势力范围：</a:t>
                          </a:r>
                          <a:endParaRPr lang="en-US" altLang="zh-CN" sz="800" b="1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【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操盘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】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只使用龙战法。日类，只当做组成周柱的零件。当周走势需要时，即使不满足日丘运行规律，也要走出对应的周形态。</a:t>
                          </a:r>
                          <a:endParaRPr lang="en-US" altLang="zh-CN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【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观察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】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可以参考日丘优化。特别是，在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周主升与日主升共振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&gt;&lt;WJA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劫恢复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等情况，利用日类作参考。</a:t>
                          </a:r>
                          <a:endParaRPr lang="en-US" altLang="zh-CN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0" lvl="0" indent="0">
                            <a:buFont typeface="Arial" panose="020B0604020202020204" pitchFamily="34" charset="0"/>
                            <a:buNone/>
                          </a:pPr>
                          <a:r>
                            <a:rPr lang="en-US" altLang="zh-CN" sz="800" b="1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PPT</a:t>
                          </a:r>
                          <a:r>
                            <a:rPr lang="zh-CN" altLang="en-US" sz="800" b="1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章节的主题划分：</a:t>
                          </a:r>
                          <a:endParaRPr lang="en-US" altLang="zh-CN" sz="800" b="1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本章，属于龙战法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龙展日战法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。只探讨如何利用日类确定介入点？如何利用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日周联动图谱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完成周类走势。</a:t>
                          </a:r>
                          <a:endParaRPr lang="en-US" altLang="zh-CN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另章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《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日丘优化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》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。将所有“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DJE&amp;DJC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必赢”“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DJE&amp;DJC&amp;DJB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必赢”，凡是主张按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以下低阶均线精确进出的日丘优化，归入此章。此类属于仅存在于理论推导，但实际操作过程中不但会造成交易摩擦损失，而且会错失“周主升”的歪门邪路。（注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20260220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，应废弃此类算法，无实际操作的可行性）</a:t>
                          </a:r>
                        </a:p>
                      </a:txBody>
                      <a:tcPr>
                        <a:lnL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53601579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5" name="表格 14">
                <a:extLst>
                  <a:ext uri="{FF2B5EF4-FFF2-40B4-BE49-F238E27FC236}">
                    <a16:creationId xmlns:a16="http://schemas.microsoft.com/office/drawing/2014/main" id="{D48A4683-83D4-86A2-7FCE-0E7EC9108236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717564852"/>
                  </p:ext>
                </p:extLst>
              </p:nvPr>
            </p:nvGraphicFramePr>
            <p:xfrm>
              <a:off x="0" y="720000"/>
              <a:ext cx="6819900" cy="6138000"/>
            </p:xfrm>
            <a:graphic>
              <a:graphicData uri="http://schemas.openxmlformats.org/drawingml/2006/table">
                <a:tbl>
                  <a:tblPr firstRow="1" bandRow="1">
                    <a:tableStyleId>{BDBED569-4797-4DF1-A0F4-6AAB3CD982D8}</a:tableStyleId>
                  </a:tblPr>
                  <a:tblGrid>
                    <a:gridCol w="717481">
                      <a:extLst>
                        <a:ext uri="{9D8B030D-6E8A-4147-A177-3AD203B41FA5}">
                          <a16:colId xmlns:a16="http://schemas.microsoft.com/office/drawing/2014/main" val="873417849"/>
                        </a:ext>
                      </a:extLst>
                    </a:gridCol>
                    <a:gridCol w="6102419">
                      <a:extLst>
                        <a:ext uri="{9D8B030D-6E8A-4147-A177-3AD203B41FA5}">
                          <a16:colId xmlns:a16="http://schemas.microsoft.com/office/drawing/2014/main" val="1161648658"/>
                        </a:ext>
                      </a:extLst>
                    </a:gridCol>
                  </a:tblGrid>
                  <a:tr h="586040">
                    <a:tc>
                      <a:txBody>
                        <a:bodyPr/>
                        <a:lstStyle/>
                        <a:p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龙战法必赢的要点：</a:t>
                          </a:r>
                          <a:endParaRPr lang="zh-CN" altLang="en-US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</a:txBody>
                      <a:tcPr>
                        <a:lnL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4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zh-CN"/>
                        </a:p>
                      </a:txBody>
                      <a:tcPr>
                        <a:lnL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1888" t="-53125" r="-100" b="-950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979006679"/>
                      </a:ext>
                    </a:extLst>
                  </a:tr>
                  <a:tr h="1696432">
                    <a:tc rowSpan="3">
                      <a:txBody>
                        <a:bodyPr/>
                        <a:lstStyle/>
                        <a:p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日丘优化的原则：</a:t>
                          </a:r>
                          <a:endParaRPr lang="en-US" altLang="zh-CN" sz="800" b="1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（主要针对是否能用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&lt;DJE&amp;DJC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必赢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替代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龙战法：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必赢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）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</a:txBody>
                      <a:tcPr>
                        <a:lnL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4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【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原则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1】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优化方法的适用情形：要适用于原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&lt;WJB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丘必赢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所适用的情形；而非弃道从术，在任意区域进行方法替代。</a:t>
                          </a:r>
                          <a:endParaRPr lang="en-US" altLang="zh-CN" sz="800" b="1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日丘优化适用于哪些情形？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（或换种问法，何时日丘优化优于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丘必赢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？）答案是：首先必须适用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丘必赢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，要求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丘足够大；其次，是适用低级别均线所构成的丘。</a:t>
                          </a:r>
                          <a:endParaRPr lang="en-US" altLang="zh-CN" sz="800" b="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若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丘很小。本身按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丘的获利空间就能很小，若在按低阶均线（如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）做丘，频繁进出、交易摩擦会造成损失。</a:t>
                          </a:r>
                          <a:endParaRPr lang="en-US" altLang="zh-CN" sz="800" b="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若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丘足够大。单独因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丘较大就可获利；再抓住此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丘之上较大的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丘，舍弃较小的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丘（主升后震荡），从而增加收益。</a:t>
                          </a:r>
                          <a:endParaRPr lang="en-US" altLang="zh-CN" sz="800" b="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结论：</a:t>
                          </a:r>
                          <a:endParaRPr lang="en-US" altLang="zh-CN" sz="800" b="1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日丘优化，仅适用于主升阶段，且与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WJA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没有频繁接触的情况（中符为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A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而非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）。</a:t>
                          </a:r>
                          <a:endParaRPr lang="en-US" altLang="zh-CN" sz="800" b="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不要弃道从术。迷信于日丘优化，忘记只聚焦于“周主升”的首要原则，而按所谓“</a:t>
                          </a:r>
                          <a:r>
                            <a:rPr lang="en-US" altLang="zh-CN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DJE&amp;DJC</a:t>
                          </a:r>
                          <a:r>
                            <a:rPr lang="zh-CN" altLang="en-US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必赢”误入“周震荡”。</a:t>
                          </a:r>
                          <a:endParaRPr lang="en-US" altLang="zh-CN" sz="800" b="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日丘优化的适用情形：</a:t>
                          </a:r>
                          <a:endParaRPr lang="en-US" altLang="zh-CN" sz="800" b="1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[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最佳适用情形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]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周主升阶段，且周主升与日主升共振。此时，可按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止盈，且保证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之上必持。</a:t>
                          </a:r>
                          <a:endParaRPr lang="en-US" altLang="zh-CN" sz="800" b="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[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不适用情形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]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若周主升，存在较多与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WJA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存在接触的情况。此时不能拘泥于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止损，而要以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丘为准。</a:t>
                          </a:r>
                          <a:endParaRPr lang="en-US" altLang="zh-CN" sz="800" b="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[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不适用情形</a:t>
                          </a:r>
                          <a:r>
                            <a:rPr lang="en-US" altLang="zh-CN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]</a:t>
                          </a:r>
                          <a:r>
                            <a:rPr lang="zh-CN" altLang="en-US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针对周震荡。因</a:t>
                          </a:r>
                          <a:r>
                            <a:rPr lang="en-US" altLang="zh-CN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丘较小，且反复与</a:t>
                          </a:r>
                          <a:r>
                            <a:rPr lang="en-US" altLang="zh-CN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WJA</a:t>
                          </a:r>
                          <a:r>
                            <a:rPr lang="zh-CN" altLang="en-US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交叉，不应进行日丘优化，且本质上不应参与。</a:t>
                          </a:r>
                        </a:p>
                      </a:txBody>
                      <a:tcPr>
                        <a:lnL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4">
                            <a:lumMod val="40000"/>
                            <a:lumOff val="6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261277052"/>
                      </a:ext>
                    </a:extLst>
                  </a:tr>
                  <a:tr h="462663">
                    <a:tc vMerge="1">
                      <a:txBody>
                        <a:bodyPr/>
                        <a:lstStyle/>
                        <a:p>
                          <a:endParaRPr lang="zh-CN" altLang="en-US" dirty="0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 marL="0" lvl="0" indent="0">
                            <a:buFont typeface="Arial" panose="020B0604020202020204" pitchFamily="34" charset="0"/>
                            <a:buNone/>
                          </a:pP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【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原则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2】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要能够截断下降趋势。</a:t>
                          </a:r>
                          <a:endParaRPr lang="en-US" altLang="zh-CN" sz="800" b="1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必须在下破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时精确退出，或在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之上提前退出。</a:t>
                          </a:r>
                          <a:endParaRPr lang="en-US" altLang="zh-CN" sz="80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根据实际观察，存在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之上在下破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WJA(DJC)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后迅速站回、频繁贯穿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WJA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的情况。底线是按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止损。</a:t>
                          </a:r>
                          <a:endParaRPr lang="en-US" altLang="zh-CN" sz="80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</a:txBody>
                      <a:tcPr>
                        <a:lnL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4">
                            <a:lumMod val="40000"/>
                            <a:lumOff val="6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076077809"/>
                      </a:ext>
                    </a:extLst>
                  </a:tr>
                  <a:tr h="1326302">
                    <a:tc vMerge="1">
                      <a:txBody>
                        <a:bodyPr/>
                        <a:lstStyle/>
                        <a:p>
                          <a:endParaRPr lang="zh-CN" altLang="en-US" dirty="0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 marL="0" lvl="0" indent="0">
                            <a:buFont typeface="Arial" panose="020B0604020202020204" pitchFamily="34" charset="0"/>
                            <a:buNone/>
                          </a:pP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【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原则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3】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要在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原则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1.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优化方法的适用情形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内，保证替代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丘的完整性。</a:t>
                          </a:r>
                          <a:endParaRPr lang="en-US" altLang="zh-CN" sz="800" b="1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只需在特定区域内保证替代的完整性：首先要求是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&lt;WJB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丘必赢</a:t>
                          </a:r>
                          <a:r>
                            <a:rPr lang="en-US" altLang="zh-CN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b="1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的适用区域；其次要求替代的完整性。</a:t>
                          </a:r>
                          <a:endParaRPr lang="en-US" altLang="zh-CN" sz="800" b="1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（例）针对用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替代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的优化方法。根据实际观察，上破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通常经历（以升排快速主升⇒以人排横盘震荡⇒以跌排调整）过程。所以，要做到</a:t>
                          </a:r>
                          <a:endParaRPr lang="en-US" altLang="zh-CN" sz="80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之上的上涨区域不错过。要在上破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时无脑介入，虽然可能上破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后再次跌破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。</a:t>
                          </a:r>
                          <a:endParaRPr lang="en-US" altLang="zh-CN" sz="80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085850" lvl="2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要保留仓位在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之上区域，至少要参与在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DJB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之上的区域。</a:t>
                          </a:r>
                        </a:p>
                        <a:p>
                          <a:pPr marL="1085850" lvl="2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要包含主要阳柱起涨点。</a:t>
                          </a:r>
                          <a:endParaRPr lang="en-US" altLang="zh-CN" sz="80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628650" lvl="1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之上的下跌区域少参与。前面已经截断了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之下的下降趋势，此处只需要关心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之上的下降趋势。</a:t>
                          </a:r>
                          <a:endParaRPr lang="en-US" altLang="zh-CN" sz="80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085850" lvl="2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可在突破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主升完成后，止盈减仓至底仓。</a:t>
                          </a:r>
                          <a:endParaRPr lang="en-US" altLang="zh-CN" sz="800" dirty="0">
                            <a:solidFill>
                              <a:schemeClr val="tx1"/>
                            </a:solidFill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085850" lvl="2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可在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之上出现必跌信号后提前退出底仓，如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DXAB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负交、下破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DJB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后形成跌排。</a:t>
                          </a:r>
                          <a:endParaRPr lang="zh-CN" altLang="en-US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</a:txBody>
                      <a:tcPr>
                        <a:lnL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4">
                            <a:lumMod val="40000"/>
                            <a:lumOff val="6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517350561"/>
                      </a:ext>
                    </a:extLst>
                  </a:tr>
                  <a:tr h="2066563">
                    <a:tc>
                      <a:txBody>
                        <a:bodyPr/>
                        <a:lstStyle/>
                        <a:p>
                          <a:r>
                            <a:rPr lang="zh-CN" altLang="en-US" sz="800" b="1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划分算法的势力范围</a:t>
                          </a:r>
                        </a:p>
                      </a:txBody>
                      <a:tcPr>
                        <a:lnL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4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lvl="0" indent="0">
                            <a:buFont typeface="Arial" panose="020B0604020202020204" pitchFamily="34" charset="0"/>
                            <a:buNone/>
                          </a:pPr>
                          <a:r>
                            <a:rPr lang="zh-CN" altLang="en-US" sz="800" b="1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现存两种可能存在矛盾的日类算法。如下：</a:t>
                          </a:r>
                          <a:endParaRPr lang="en-US" altLang="zh-CN" sz="800" b="1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龙战法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龙展日战法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：遵从龙战法只聚焦“周主升”的原则，在日类进行短期低吸高抛增加收益。</a:t>
                          </a:r>
                          <a:endParaRPr lang="en-US" altLang="zh-CN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日丘优化：依据“</a:t>
                          </a:r>
                          <a:r>
                            <a:rPr lang="en-US" altLang="zh-CN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DJE&amp;DJC</a:t>
                          </a:r>
                          <a:r>
                            <a:rPr lang="zh-CN" altLang="en-US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必赢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”，甚至扩展至“</a:t>
                          </a:r>
                          <a:r>
                            <a:rPr lang="en-US" altLang="zh-CN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DJE&amp;DJC&amp;DJB</a:t>
                          </a:r>
                          <a:r>
                            <a:rPr lang="zh-CN" altLang="en-US" sz="800" b="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必赢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”。按照低阶均线进行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上入下出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。</a:t>
                          </a:r>
                          <a:endParaRPr lang="en-US" altLang="zh-CN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0" lvl="0" indent="0">
                            <a:buFont typeface="Arial" panose="020B0604020202020204" pitchFamily="34" charset="0"/>
                            <a:buNone/>
                          </a:pPr>
                          <a:r>
                            <a:rPr lang="zh-CN" altLang="en-US" sz="800" b="1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两种算法的矛盾：</a:t>
                          </a:r>
                          <a:endParaRPr lang="en-US" altLang="zh-CN" sz="800" b="1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龙战法，要求已进入周主升后再介入，认为刚上破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WJA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很可能属于周震荡。</a:t>
                          </a:r>
                          <a:endParaRPr lang="en-US" altLang="zh-CN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日丘优化：要求按照均线精确进出，在上破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DJC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后就应介入。</a:t>
                          </a:r>
                          <a:endParaRPr lang="en-US" altLang="zh-CN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结论：两种算法的优劣，龙战法更优。因为龙战法聚焦于周主升，是获利空间最大的区域。而日丘优化，未考虑周级别大势，片面强调低阶均线，大多数情况只能保证少亏，并不能保证大赚。</a:t>
                          </a:r>
                          <a:endParaRPr lang="en-US" altLang="zh-CN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0" lvl="0" indent="0">
                            <a:buFont typeface="Arial" panose="020B0604020202020204" pitchFamily="34" charset="0"/>
                            <a:buNone/>
                          </a:pPr>
                          <a:r>
                            <a:rPr lang="zh-CN" altLang="en-US" sz="800" b="1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划分算法的势力范围：</a:t>
                          </a:r>
                          <a:endParaRPr lang="en-US" altLang="zh-CN" sz="800" b="1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【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操盘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】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只使用龙战法。日类，只当做组成周柱的零件。当周走势需要时，即使不满足日丘运行规律，也要走出对应的周形态。</a:t>
                          </a:r>
                          <a:endParaRPr lang="en-US" altLang="zh-CN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【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观察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】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可以参考日丘优化。特别是，在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</a:t>
                          </a:r>
                          <a:r>
                            <a:rPr lang="zh-CN" altLang="en-US" sz="800" b="0" dirty="0">
                              <a:solidFill>
                                <a:schemeClr val="tx1"/>
                              </a:solidFill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周主升与日主升共振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&gt;&lt;WJA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劫恢复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等情况，利用日类作参考。</a:t>
                          </a:r>
                          <a:endParaRPr lang="en-US" altLang="zh-CN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0" lvl="0" indent="0">
                            <a:buFont typeface="Arial" panose="020B0604020202020204" pitchFamily="34" charset="0"/>
                            <a:buNone/>
                          </a:pPr>
                          <a:r>
                            <a:rPr lang="en-US" altLang="zh-CN" sz="800" b="1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PPT</a:t>
                          </a:r>
                          <a:r>
                            <a:rPr lang="zh-CN" altLang="en-US" sz="800" b="1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章节的主题划分：</a:t>
                          </a:r>
                          <a:endParaRPr lang="en-US" altLang="zh-CN" sz="800" b="1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本章，属于龙战法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龙展日战法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。只探讨如何利用日类确定介入点？如何利用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&lt;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日周联动图谱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&gt;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完成周类走势。</a:t>
                          </a:r>
                          <a:endParaRPr lang="en-US" altLang="zh-CN" sz="800" dirty="0">
                            <a:latin typeface="微软雅黑" panose="020B0503020204020204" pitchFamily="34" charset="-122"/>
                            <a:ea typeface="微软雅黑" panose="020B0503020204020204" pitchFamily="34" charset="-122"/>
                          </a:endParaRPr>
                        </a:p>
                        <a:p>
                          <a:pPr marL="171450" lvl="0" indent="-171450">
                            <a:buFont typeface="Arial" panose="020B0604020202020204" pitchFamily="34" charset="0"/>
                            <a:buChar char="•"/>
                          </a:pP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另章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《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日丘优化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》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。将所有“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DJE&amp;DJC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必赢”“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DJE&amp;DJC&amp;DJB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必赢”，凡是主张按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WJB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以下低阶均线精确进出的日丘优化，归入此章。此类属于仅存在于理论推导，但实际操作过程中不但会造成交易摩擦损失，而且会错失“周主升”的歪门邪路。（注</a:t>
                          </a:r>
                          <a:r>
                            <a:rPr lang="en-US" altLang="zh-CN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20260220</a:t>
                          </a:r>
                          <a:r>
                            <a:rPr lang="zh-CN" altLang="en-US" sz="800" dirty="0">
                              <a:latin typeface="微软雅黑" panose="020B0503020204020204" pitchFamily="34" charset="-122"/>
                              <a:ea typeface="微软雅黑" panose="020B0503020204020204" pitchFamily="34" charset="-122"/>
                            </a:rPr>
                            <a:t>，应废弃此类算法，无实际操作的可行性）</a:t>
                          </a:r>
                        </a:p>
                      </a:txBody>
                      <a:tcPr>
                        <a:lnL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175" cap="flat" cmpd="sng" algn="ctr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536015793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1805193349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D42152-1E30-AA73-AD24-C531511288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84EC3C5-12F2-B9CE-F6D9-1B3034C54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日周联动聚焦日机的整体思路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：在下周冲高战法框架下，利用日周联动，制定日类筛选流程。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7BBBC55A-3DB1-7833-1FAD-4BA8DCF4A1AB}"/>
              </a:ext>
            </a:extLst>
          </p:cNvPr>
          <p:cNvSpPr/>
          <p:nvPr/>
        </p:nvSpPr>
        <p:spPr>
          <a:xfrm>
            <a:off x="5842365" y="720903"/>
            <a:ext cx="6349635" cy="5016565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操作区域逐步缩小（由周到日）的过程：</a:t>
            </a:r>
            <a:endParaRPr lang="en-US" altLang="zh-CN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周范围：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WXZB&gt;0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周操作区域：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WXZB&gt;0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节奏：最有效的是第一波主升，其后虽然在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之上，但可能是震荡。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阈线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之下可能存在围绕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的多波震荡，应以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过滤底部震荡。⇒日类基本条件为：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WXZA&lt;0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，虽仍属于周操作范围，但不应过多参与。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周主升结构：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在以上区域内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(WXZB&gt;0)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，特别选取（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特梯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特栏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特栅）。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以上为周类条件锁定大范围，以下为日类条件。</a:t>
            </a:r>
            <a:endParaRPr lang="en-US" altLang="zh-CN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（日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日基本条件：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 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。上周末收盘必须满足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；在周柱排配合下，本周初可短暂下破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（日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日操作区域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（依赖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DXZB&gt;0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要求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DXZB&gt;0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：当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之上代表远离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。特别是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DXZB&gt;0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DXZA&lt;0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时，也代表远离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DXZB&lt;0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：只在周末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DXZB&lt;0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时可主动介入。只在周柱为阴柱回踩，且预期下周会为周阳柱情况下，下周可为（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之下小阳柱）或（站上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以上为周类条件</a:t>
            </a:r>
            <a:r>
              <a:rPr lang="en-US" altLang="zh-CN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日类条件，可按</a:t>
            </a:r>
            <a:r>
              <a:rPr lang="en-US" altLang="zh-CN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做丘，或阳卖阴买。以下为按柱级别进行优化。</a:t>
            </a:r>
            <a:endParaRPr lang="en-US" altLang="zh-CN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（柱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日层类：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丘类型（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丘、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丘、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DJCBA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为放射状，最有大升潜力；再：很可能震荡；主：可能为震荡；破：下破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务必谨慎。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（柱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日护型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（以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丘辅助的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丘）：利用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护线增强持仓信心，破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才须退出。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之上远离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的方式：可能随时冲高，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要假想下日柱为阳柱是何形态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首上破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上破后回踩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上破后形成启动结构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回归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后形成调整结构：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四柱栅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回归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后继鼎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之下：在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之上仍属于远离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，所以在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上下都可主动介入。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大阴柱首下破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：可主动介入。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多柱介于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：可结合周柱排进行主动介入。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止损：要以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止损，不要以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之上，可在任意时点介入。更精细化处理，若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跌连得到支撑或出现单阳，则应当介入。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（柱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日柱排：在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日管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,DJC)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内观察柱排。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根据连阳出现位置介入。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阳柱之后入：只在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特梯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特栏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特栅之后；其他在阴柱之后入（止跌或得到支撑）。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根据柱排介入。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升连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升吞：要看下柱是否会连阳；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跌孕：可直接买入；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跌连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跌吞：要出现单阳或遇支撑线。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预谋吃第几个阳柱（专页）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（柱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日顶型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⇒日管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,DJB) 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是否已吸附于顶形成上升通道？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多柱连续触顶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出发逐步靠近顶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在管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,DJA)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中的运动方式是叠垒（连阳）还是并排（平移）？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如何在管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,DJA)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内撞壁反弹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是否已入管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,DJA)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，以是否形成中符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柱来判断？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从而整柱进入管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,DJA)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附近形成升排准备上冲？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是否得到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支撑并准备冲高（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升排）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是否频繁贯穿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000250" lvl="4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左大括号 5">
            <a:extLst>
              <a:ext uri="{FF2B5EF4-FFF2-40B4-BE49-F238E27FC236}">
                <a16:creationId xmlns:a16="http://schemas.microsoft.com/office/drawing/2014/main" id="{35A05C51-D4D5-CE05-5504-096E14CE2653}"/>
              </a:ext>
            </a:extLst>
          </p:cNvPr>
          <p:cNvSpPr/>
          <p:nvPr/>
        </p:nvSpPr>
        <p:spPr>
          <a:xfrm rot="10800000">
            <a:off x="5509261" y="704554"/>
            <a:ext cx="318411" cy="5016563"/>
          </a:xfrm>
          <a:prstGeom prst="leftBrace">
            <a:avLst>
              <a:gd name="adj1" fmla="val 109933"/>
              <a:gd name="adj2" fmla="val 50000"/>
            </a:avLst>
          </a:prstGeom>
          <a:solidFill>
            <a:srgbClr val="FFE699"/>
          </a:solidFill>
          <a:ln w="508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024D1439-4915-3400-8B1E-B196006A250A}"/>
              </a:ext>
            </a:extLst>
          </p:cNvPr>
          <p:cNvSpPr/>
          <p:nvPr/>
        </p:nvSpPr>
        <p:spPr>
          <a:xfrm>
            <a:off x="5842365" y="5732735"/>
            <a:ext cx="6349635" cy="1125265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日类操盘观察视角：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为绝对的阴阳分界线：只在其上操作。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为日类操盘线：只在其上操作。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时，看作向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的回归过程。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为观察柱排列的基线：尽量选择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可在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之上任意位置介入，进行阴买阳卖。以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丘作为辅助。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时，需要依赖周柱排。要以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5B47E212-4749-1254-4386-6B8C3041B96B}"/>
              </a:ext>
            </a:extLst>
          </p:cNvPr>
          <p:cNvSpPr/>
          <p:nvPr/>
        </p:nvSpPr>
        <p:spPr>
          <a:xfrm>
            <a:off x="-11193" y="5744782"/>
            <a:ext cx="5517278" cy="1116393"/>
          </a:xfrm>
          <a:prstGeom prst="rect">
            <a:avLst/>
          </a:prstGeom>
          <a:solidFill>
            <a:schemeClr val="accent4">
              <a:lumMod val="75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全部必要条件汇总：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WXZB&gt;0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WXAB&gt;0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周柱排（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特梯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特栏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特栅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特枝启动冲）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DXAB&gt;0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DXZB&gt;0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FFA111A8-ECA6-FAD3-BE4F-3FDE9DD14CC9}"/>
              </a:ext>
            </a:extLst>
          </p:cNvPr>
          <p:cNvSpPr/>
          <p:nvPr/>
        </p:nvSpPr>
        <p:spPr>
          <a:xfrm>
            <a:off x="-1668" y="719112"/>
            <a:ext cx="5517278" cy="5026078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核心思想：因为无法根据上周末的日线推断出下周是否冲高，所以，一定要先按周柱判断下周冲高，再用日柱择机。</a:t>
            </a:r>
            <a:endParaRPr lang="en-US" altLang="zh-CN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之上圈定周类上升机会；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日基本条件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之上介入（周末可在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之下介入），以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止损；（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20250907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改为：以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止损）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根据（日层类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日护型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日柱排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日顶型），在日管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,DJB)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中锁定日类上涨机会。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日周联动聚焦日机的总体思路：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限制周柱使下柱冲高：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是否正交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周柱排⇒周冲机</a:t>
            </a: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周机包括：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特梯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特栏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特栅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特枝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要主题分离：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本周是否冲高是由前柱决定，而非由本周初走势决定。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若本周初上涨，则已实现本周期望。可减仓可持仓。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若本周初下跌，可能是震仓，后半周冲高，形成周级别下影线。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周排与日排的协调：在上一条件满足情况下，按照日类持仓规则持仓。保证不被震仓出局。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日级持仓规则</a:t>
            </a:r>
            <a:r>
              <a:rPr lang="zh-CN" altLang="en-US" sz="900" b="1" dirty="0">
                <a:solidFill>
                  <a:srgbClr val="C00000"/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（无脑灵魂三问）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highlight>
                <a:srgbClr val="FFFF00"/>
              </a:highlight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下个日柱大阳柱是否违和？要想象，下个日柱若是大阳柱，是否看起来别扭。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highlight>
                <a:srgbClr val="FFFF00"/>
              </a:highlight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是否在三线之上？在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/DJE/DJD/DJC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highlight>
                <a:srgbClr val="FFFF00"/>
              </a:highlight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是否在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之上？牢记在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之上可按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【DJB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一直持有，已包含所有主升。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highlight>
                <a:srgbClr val="FFFF00"/>
              </a:highlight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600200" lvl="3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之上：不需考虑。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highlight>
                <a:srgbClr val="FFFF00"/>
              </a:highlight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057400" lvl="4" indent="-22860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之上：无脑介入，冲高可卖。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highlight>
                <a:srgbClr val="FFFF00"/>
              </a:highlight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057400" lvl="4" indent="-22860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之下：被动持有；不考虑止损，须下破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才考虑是否止损。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highlight>
                <a:srgbClr val="FFFF00"/>
              </a:highlight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600200" lvl="3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之下：要参考周柱排列。周末可主动介入；其余被动持有。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highlight>
                <a:srgbClr val="FFFF00"/>
              </a:highlight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日级优选：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日级处于管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,DJA)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中，至少两柱；柱排为升排，至少不是跌排。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日级基本思维：在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之上，按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丘持仓。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丘的类别：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从空头排列转为多头排列、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/DXZA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/DXZB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劫）、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/DXAB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劫）、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/DXAC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日柱择机：通过分析日柱，确定日柱冲高的具体时点。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日机决策树：日层类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 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日护型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日柱排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日顶型⇒日机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结合日级特殊形态，日机包括：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非正交：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即将正交</a:t>
            </a: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初始：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正交后回踩；刚突破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中途：特梯；调整结构（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特栏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特栅）</a:t>
            </a: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尾部：特枝（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/DXZA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/DXZB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劫后站上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DJA)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日类仅用于选择介入点，主要抓取（顶，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）内转头向上的时点。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介入后上涨：可减至底仓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介入后下跌：按周线操盘法进行操作。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080AD290-04DE-9D22-F373-1A531E619F9E}"/>
              </a:ext>
            </a:extLst>
          </p:cNvPr>
          <p:cNvSpPr/>
          <p:nvPr/>
        </p:nvSpPr>
        <p:spPr>
          <a:xfrm>
            <a:off x="-1403359" y="5525185"/>
            <a:ext cx="6833062" cy="939117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核心思想：限制本柱周排为特定情况，使下周为阳柱</a:t>
            </a:r>
            <a:r>
              <a:rPr lang="en-US" altLang="zh-CN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冲高，从而获得冲高获利机会。利用柱排进行清晰分类，要寻找冲高柱（周高幅≥</a:t>
            </a:r>
            <a:r>
              <a:rPr lang="en-US" altLang="zh-CN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2%</a:t>
            </a:r>
            <a:r>
              <a:rPr lang="zh-CN" altLang="en-US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）的前导，遍历并验证谁机会更大。</a:t>
            </a:r>
            <a:endParaRPr lang="en-US" altLang="zh-CN" sz="900" b="1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为何要限制周柱使下柱冲高：</a:t>
            </a:r>
            <a:endParaRPr lang="en-US" altLang="zh-CN" sz="900" b="1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增强利用</a:t>
            </a:r>
            <a:r>
              <a:rPr lang="en-US" altLang="zh-CN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下周冲高战法</a:t>
            </a:r>
            <a:r>
              <a:rPr lang="en-US" altLang="zh-CN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进行交易的勇气：</a:t>
            </a:r>
            <a:r>
              <a:rPr lang="zh-CN" altLang="en-US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下柱可能最终会变为阴柱，但我只取高点。</a:t>
            </a:r>
            <a:endParaRPr lang="en-US" altLang="zh-CN" sz="9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对下周冲高的期望：</a:t>
            </a:r>
            <a:r>
              <a:rPr lang="zh-CN" altLang="en-US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现阶段明确为周下柱冲高</a:t>
            </a:r>
            <a:r>
              <a:rPr lang="en-US" altLang="zh-CN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2%</a:t>
            </a:r>
            <a:r>
              <a:rPr lang="zh-CN" altLang="en-US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。经过不断算法研究，已经明白不须强制选择周级别连阳上升趋势。</a:t>
            </a:r>
            <a:endParaRPr lang="en-US" altLang="zh-CN" sz="9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对下周冲高的期望经历以下退化过程：</a:t>
            </a:r>
            <a:r>
              <a:rPr lang="zh-CN" altLang="en-US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连阳⇒单阳柱⇒冲高⇒升排⇒</a:t>
            </a:r>
            <a:r>
              <a:rPr lang="en-US" altLang="zh-CN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之上⇒</a:t>
            </a:r>
            <a:r>
              <a:rPr lang="en-US" altLang="zh-CN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9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7454231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8427E6-FDE0-7F0E-0026-7AFEEC0D9E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A573131-DA18-BA92-2B44-0A45C0AA77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龙展日战法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优化后的操盘方法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：在下周冲高战法框架下，利用日周联动，制定日类筛选流程。</a:t>
            </a:r>
            <a:r>
              <a: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牢记：一定要以周柱为准，先确定周柱存在上升空间，再根据日类选择介入时机。</a:t>
            </a:r>
            <a:endParaRPr lang="en-US" altLang="zh-CN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E48C0E9D-5C73-D4F6-6490-39E426CD315A}"/>
              </a:ext>
            </a:extLst>
          </p:cNvPr>
          <p:cNvSpPr/>
          <p:nvPr/>
        </p:nvSpPr>
        <p:spPr>
          <a:xfrm>
            <a:off x="-1669" y="720000"/>
            <a:ext cx="6096000" cy="71451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操盘层次：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操盘层次一（周范围）：在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之上，按照周级别进行操盘。保证周柱排不是跌连，尽量选择连阳。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操盘层次二（日操作）：仅用于选择介入点，主要抓取（顶，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）内转头向上的时点，特别是在周五（当周最后交易日）。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介入后上涨：可减至底仓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介入后下跌：按周线操盘法进行操作。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6606B629-C669-CC67-3581-5CB9F860D253}"/>
              </a:ext>
            </a:extLst>
          </p:cNvPr>
          <p:cNvSpPr txBox="1"/>
          <p:nvPr/>
        </p:nvSpPr>
        <p:spPr>
          <a:xfrm>
            <a:off x="677493" y="5795225"/>
            <a:ext cx="2954655" cy="646331"/>
          </a:xfrm>
          <a:prstGeom prst="rect">
            <a:avLst/>
          </a:prstGeom>
          <a:solidFill>
            <a:srgbClr val="FF99CC"/>
          </a:solidFill>
        </p:spPr>
        <p:txBody>
          <a:bodyPr wrap="none" rtlCol="0">
            <a:spAutoFit/>
          </a:bodyPr>
          <a:lstStyle/>
          <a:p>
            <a:r>
              <a:rPr lang="zh-CN" altLang="en-US" dirty="0"/>
              <a:t>将算法对比后，进行统一。</a:t>
            </a:r>
            <a:endParaRPr lang="en-US" altLang="zh-CN" dirty="0"/>
          </a:p>
          <a:p>
            <a:r>
              <a:rPr lang="zh-CN" altLang="en-US" dirty="0"/>
              <a:t>总结</a:t>
            </a:r>
            <a:r>
              <a:rPr lang="en-US" altLang="zh-CN" dirty="0"/>
              <a:t>《</a:t>
            </a:r>
            <a:r>
              <a:rPr lang="zh-CN" altLang="en-US" dirty="0"/>
              <a:t>龙展日战法</a:t>
            </a:r>
            <a:r>
              <a:rPr lang="en-US" altLang="zh-CN" dirty="0"/>
              <a:t>》</a:t>
            </a:r>
            <a:endParaRPr lang="zh-CN" altLang="en-US" dirty="0"/>
          </a:p>
        </p:txBody>
      </p:sp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5B35E1CE-25DA-756C-7C45-3B40ED7B3A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9441440"/>
              </p:ext>
            </p:extLst>
          </p:nvPr>
        </p:nvGraphicFramePr>
        <p:xfrm>
          <a:off x="993" y="1736422"/>
          <a:ext cx="6094331" cy="2392680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07720">
                  <a:extLst>
                    <a:ext uri="{9D8B030D-6E8A-4147-A177-3AD203B41FA5}">
                      <a16:colId xmlns:a16="http://schemas.microsoft.com/office/drawing/2014/main" val="3905067923"/>
                    </a:ext>
                  </a:extLst>
                </a:gridCol>
                <a:gridCol w="5286611">
                  <a:extLst>
                    <a:ext uri="{9D8B030D-6E8A-4147-A177-3AD203B41FA5}">
                      <a16:colId xmlns:a16="http://schemas.microsoft.com/office/drawing/2014/main" val="3379454195"/>
                    </a:ext>
                  </a:extLst>
                </a:gridCol>
              </a:tblGrid>
              <a:tr h="440004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优化操盘方案的注意点：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优化方法用于确定介入点；介入后按照周类操盘法进行操作。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DJE&amp;DJC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丘必赢。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前提是能对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丘完整替代，所以要在“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丘必赢”的区域进行替代，最好是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”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周主升”区域。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初始突破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时加仓。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因突破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后有一波升排拉高，所以可在上破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时加仓，中途分批止盈减仓至底仓。注意，减仓后不应以（在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之上）为理由进行任何加仓。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中途做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只针对（周类或日类下柱冲高）情况进行中途做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。优选叠垒升排排列，且下柱如预期冲高后要止盈至底仓，从而只增加收益不增加仓位。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提前退出底仓。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要确定（虽然在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之上，但后续必然下破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）的情况，并提前退出。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3395017"/>
                  </a:ext>
                </a:extLst>
              </a:tr>
              <a:tr h="152954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优化操盘方案列表：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rgbClr val="FF99CC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01450705"/>
                  </a:ext>
                </a:extLst>
              </a:tr>
              <a:tr h="152954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实际操盘方案一：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在周主升阶段，以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DJE&amp;DJC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为丘，不允许中途交易。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精确替代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丘从始至终，在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精确进出。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8271454"/>
                  </a:ext>
                </a:extLst>
              </a:tr>
              <a:tr h="64114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实际操盘方案二：</a:t>
                      </a:r>
                      <a:endParaRPr lang="en-US" altLang="zh-CN" sz="7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DJE&amp;DJC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为丘，允许中途交易。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底仓只出不进。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处（底仓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浮仓）介入，在以升排主升途中，分批减至底仓；但不得加仓。此底仓，理论上只能在下破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时退出，从而保证底仓完整经历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丘的最高点。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之上只在阳柱止盈减仓。在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之上不要左侧卖出（除非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DSHA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太大），应等待薡、下破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再卖出。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中途做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针对周类或日类下柱冲高机会，进行做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，条件是下柱存在确定性冲高机会（如叠垒升排），对应操作是冲高后必须减至底仓。此操作的目标是增加盈利而非仓位。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操作对策：做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下柱如预期上涨：卖出做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仓位。做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下柱未如预期上涨：与底仓共同操作，下破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必退出。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机会：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连阳后跌孕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较大阴柱后出现止跌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较大涨幅后完成彻底调整（下破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后站回、下破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后站回）。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之上提前退出。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若后续下破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，则等待再次站上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；若后续站上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，则补齐仓位。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9385818"/>
                  </a:ext>
                </a:extLst>
              </a:tr>
            </a:tbl>
          </a:graphicData>
        </a:graphic>
      </p:graphicFrame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A8E76278-2331-C138-AC7A-E778F9B80E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8366159"/>
              </p:ext>
            </p:extLst>
          </p:nvPr>
        </p:nvGraphicFramePr>
        <p:xfrm>
          <a:off x="6110564" y="720000"/>
          <a:ext cx="6065203" cy="5699760"/>
        </p:xfrm>
        <a:graphic>
          <a:graphicData uri="http://schemas.openxmlformats.org/drawingml/2006/table">
            <a:tbl>
              <a:tblPr firstRow="1" bandRow="1">
                <a:tableStyleId>{7DF18680-E054-41AD-8BC1-D1AEF772440D}</a:tableStyleId>
              </a:tblPr>
              <a:tblGrid>
                <a:gridCol w="543560">
                  <a:extLst>
                    <a:ext uri="{9D8B030D-6E8A-4147-A177-3AD203B41FA5}">
                      <a16:colId xmlns:a16="http://schemas.microsoft.com/office/drawing/2014/main" val="2082260276"/>
                    </a:ext>
                  </a:extLst>
                </a:gridCol>
                <a:gridCol w="5521643">
                  <a:extLst>
                    <a:ext uri="{9D8B030D-6E8A-4147-A177-3AD203B41FA5}">
                      <a16:colId xmlns:a16="http://schemas.microsoft.com/office/drawing/2014/main" val="3498031078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算法优化链条的注意事项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@20250815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98097771"/>
                  </a:ext>
                </a:extLst>
              </a:tr>
              <a:tr h="16367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仓位管理：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为了吃到最高点，必须要保证不轻易清仓，从而采取两个措施：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(1)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分仓，至少底仓吃到最高点；（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）基仓，在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之上只买不卖，所有退出必须在下破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之后。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8205740"/>
                  </a:ext>
                </a:extLst>
              </a:tr>
              <a:tr h="4692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基仓：</a:t>
                      </a:r>
                      <a:endParaRPr lang="en-US" altLang="zh-CN" sz="800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丘为操作对象，保证（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DJE&amp;DJC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丘）的替代完整性。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持仓理由：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对于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k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柱或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之上走势无法把握，转而依赖均线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DJECB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，而非按柱操作。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保证（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DJE&amp;DJC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丘）的替代完整性，用基仓保证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之上必持有（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只有下破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才可卖出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站上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不猜顶，下破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不猜底。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介入点：首次介入可在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之上任意区域，但要避免失势区域。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基仓是否介入，看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与顶型决定的适宜操作区域。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合顶是主升区域：触顶是好情况。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离顶且不破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：代表仍处于上升区域。但坚决不主动介入（离顶且下破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退出点：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该基仓仓位只在下破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才可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提前卖出，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在下破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后退出，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在下破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后退出。</a:t>
                      </a:r>
                      <a:endParaRPr lang="en-US" altLang="zh-CN" sz="800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3371368"/>
                  </a:ext>
                </a:extLst>
              </a:tr>
              <a:tr h="116756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浮仓：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针对（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DJE&amp;DJC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丘）之上的机会点快进快出。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阳柱主要集中在两个区域：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丘操作：按是否进入管（顶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,DJA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）来判断是否可能持续上涨。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连升触顶：优选叠垒连阳情况。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连续涨停的原因：已进入管且不断触顶（阻力最小）。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首次触顶时，面临方向选择：进入管通道连阳；或被顶压制回落。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合顶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=2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：是判断进入管的关键时点。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合顶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或合顶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情况下的阴柱：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跌孕：仍属于升排，仍有可能向顶的方向扩张。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：需谨慎，查看是否得到支撑。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刚上破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：从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向顶过渡到过程，对于仅触哼（雀）情况要注意走势的延续性（防诱多）。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首鼎：首鼎后会有冲高；但要避免频繁贯穿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继鼎：不是好机会，很多是顶部结构。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假鼎：多数是诱多。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后：按周柱排列判断下周可能冲高情况下介入。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薡：首下破可能立刻开启下一个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丘。是很好机会。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：等待止跌阳柱或再上破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后介入。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：只应在周末，按周柱排列判断下周可能冲高情况下介入。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针对浮仓的操作：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买入后上升：可减至基仓（在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之上基仓无法卖出）。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之上至少要保留基仓：特别是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DSHA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较大情况。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基仓要在下破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后才可以卖出；浮仓可在阳柱时卖出。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后应清仓。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买入后下跌：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为准，下破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后应清仓。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下跌不清仓：不破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不考虑卖出，完整弧后以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作为清仓线，等待阳柱卖出。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1259338"/>
                  </a:ext>
                </a:extLst>
              </a:tr>
              <a:tr h="20732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算法总结：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之上：可买（基仓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浮仓）可止盈（浮仓）不可清仓（至少保留基仓）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之上：可卖（浮仓；已冲高情况可清仓）可买（基仓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浮仓）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之上：可卖（基仓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浮仓）可买（浮仓）可被动持有（基仓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浮仓）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之下：不可持有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24851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1367304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E7926C-08C6-4F97-FAE3-F838470FED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68E47E6-022E-F827-C0E5-71F83298C4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【S2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周排与日排的协调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：根据日类形态，制定决策树地图。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849B3681-7151-61B1-2378-6EB8B95A9635}"/>
              </a:ext>
            </a:extLst>
          </p:cNvPr>
          <p:cNvSpPr txBox="1"/>
          <p:nvPr/>
        </p:nvSpPr>
        <p:spPr>
          <a:xfrm>
            <a:off x="0" y="720000"/>
            <a:ext cx="6434052" cy="2031325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38100">
            <a:solidFill>
              <a:schemeClr val="accent5">
                <a:lumMod val="50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领悟：炒股的核心任务就是，寻找下柱为升排。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要先周后日。原因如下：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周柱提供冲高空间最重要。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要观察周柱具有巨大冲高空间后，才能再在日类寻找机会介入。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不要恐高。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不要被已有巨大涨幅吓到，只需要关注周柱冲高空间（不要已快速冲高）。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日柱重要性不足（日柱好也不代表长期走好）：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日柱符合升排或触顶，转化为周柱后不一定形成连升。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日柱重要性不足（日柱坏也不代表长期走坏）：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日柱调整（下破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），仍在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之上，周线未走坏。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存在不同级别的升排：周级别升排与日级别升排。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周级别升排更具有连续性。先确定周级别升排，在其中寻找日级别升排。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周级别升排由日级别柱组合而成。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包含关系：周大阳柱或周连阳，必然包含日级别升排。日类结构是形成周柱的底层积木。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矛盾情况：要从矛盾情况中，寻找捡漏和诱多情况。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日级别柱排的作用：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何时考虑日线升排：必须处于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为丘。可能在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何时考虑日线跌排：必须下破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才能考虑日线跌排。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A9CCC254-260F-376F-62AF-02889BF525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3025856"/>
              </p:ext>
            </p:extLst>
          </p:nvPr>
        </p:nvGraphicFramePr>
        <p:xfrm>
          <a:off x="0" y="3108960"/>
          <a:ext cx="6434052" cy="3749040"/>
        </p:xfrm>
        <a:graphic>
          <a:graphicData uri="http://schemas.openxmlformats.org/drawingml/2006/table">
            <a:tbl>
              <a:tblPr firstRow="1" bandRow="1">
                <a:tableStyleId>{7DF18680-E054-41AD-8BC1-D1AEF772440D}</a:tableStyleId>
              </a:tblPr>
              <a:tblGrid>
                <a:gridCol w="1128790">
                  <a:extLst>
                    <a:ext uri="{9D8B030D-6E8A-4147-A177-3AD203B41FA5}">
                      <a16:colId xmlns:a16="http://schemas.microsoft.com/office/drawing/2014/main" val="2233616663"/>
                    </a:ext>
                  </a:extLst>
                </a:gridCol>
                <a:gridCol w="5305262">
                  <a:extLst>
                    <a:ext uri="{9D8B030D-6E8A-4147-A177-3AD203B41FA5}">
                      <a16:colId xmlns:a16="http://schemas.microsoft.com/office/drawing/2014/main" val="3021356610"/>
                    </a:ext>
                  </a:extLst>
                </a:gridCol>
              </a:tblGrid>
              <a:tr h="199737">
                <a:tc gridSpan="2"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通过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周级别柱排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日级别柱排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的差异寻找机会：日升排要融合到周升排。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3375467"/>
                  </a:ext>
                </a:extLst>
              </a:tr>
              <a:tr h="199737"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周柱排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日柱排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6395899"/>
                  </a:ext>
                </a:extLst>
              </a:tr>
              <a:tr h="1877523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</a:t>
                      </a:r>
                      <a:endParaRPr lang="en-US" altLang="zh-CN" sz="9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特梯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][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特栏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][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特栅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根据周柱排为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特梯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][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特栏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][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特栅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，则期待本周柱为冲高。转而依赖日柱排。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特梯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特栏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特栅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(DTZA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-1)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：很可能是周冲高情况，要防止顶部诱多或震荡。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是否刚转为升排：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是否上升的尽头：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日特降排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(DTZA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-2)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或日特降栅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(DTZA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-2)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是否可捡漏：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依赖周柱排。捡漏情况会反包：周初下探后，周末大升形成周阳柱，维持升排。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是否在重要均线之上：是否在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之上；是否在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准备吃第几个阳柱：是否已出现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是否可以反向选择：是否已出现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巨阴线。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是否已转跌：如何判断是否已转跌。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是否符合周柱最后一柱的特征。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已冲高形成周级别上影线后，继续下跌。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日其他。可对以下情况进行尝试。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之上：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首下破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340449"/>
                  </a:ext>
                </a:extLst>
              </a:tr>
              <a:tr h="43942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</a:t>
                      </a:r>
                      <a:endParaRPr lang="en-US" altLang="zh-CN" sz="9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特降排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][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特降栅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仅观察，勿介入。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0100009"/>
                  </a:ext>
                </a:extLst>
              </a:tr>
              <a:tr h="5592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</a:t>
                      </a:r>
                      <a:endParaRPr lang="en-US" altLang="zh-CN" sz="9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其余情况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（包含首下破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、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之上连阴）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当日排是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特梯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][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特栏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][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特栅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：很可能是诱多冲高，须等待周线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已经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][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即将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形成升排再介入。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742950" lvl="1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属于周级别无序震荡过程中诱多，不构成周级别上升趋势。</a:t>
                      </a:r>
                    </a:p>
                    <a:p>
                      <a:pPr marL="742950" lvl="1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属于形成周级别升排的前置结构：可以小仓试仓，但须等待周级别形成升排后再建仓。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日级别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非升排：不应参与。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859705"/>
                  </a:ext>
                </a:extLst>
              </a:tr>
            </a:tbl>
          </a:graphicData>
        </a:graphic>
      </p:graphicFrame>
      <p:sp>
        <p:nvSpPr>
          <p:cNvPr id="17" name="矩形 16">
            <a:extLst>
              <a:ext uri="{FF2B5EF4-FFF2-40B4-BE49-F238E27FC236}">
                <a16:creationId xmlns:a16="http://schemas.microsoft.com/office/drawing/2014/main" id="{1935974B-5F19-25BE-3A30-CABC636EED4C}"/>
              </a:ext>
            </a:extLst>
          </p:cNvPr>
          <p:cNvSpPr/>
          <p:nvPr/>
        </p:nvSpPr>
        <p:spPr>
          <a:xfrm>
            <a:off x="6433601" y="714488"/>
            <a:ext cx="5758399" cy="2219211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主题：主升形态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日周联动注意事项：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日线的地位：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日柱与周柱的自主性：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根本原因是周柱需要某个幅度，由日柱组合将其实现，而非日柱自主运行。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日柱与周柱的同步：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两者可能不同时处于蓄势状态，可能周好日坏，要以周形态为准。</a:t>
            </a:r>
            <a:endParaRPr lang="en-US" altLang="zh-CN" sz="8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日柱与周柱的映射：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代表下破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代表周阴柱；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负交代表周连跌；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负交不存在于周主升中。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日柱观察模式：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不要依据已有形态推断下柱，而要设想下柱为大阳柱，放在该位置是否可行。</a:t>
            </a:r>
            <a:endParaRPr lang="en-US" altLang="zh-CN" sz="8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特殊情况：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特别针对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之上阴柱，或首下破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，设想下柱为阳柱是否合适。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完全依赖周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允许下破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就应允许下破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必然是周级别阴柱。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短期持仓决策线的选取：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原则上以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止损，但在实际操作中可以利用短期持仓决策线提高效率。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坚决不要以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作为决策线。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因为距离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柱太近，且无其他次级均线做缓冲。⇒会导致严重误判。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可将</a:t>
            </a:r>
            <a:r>
              <a:rPr lang="en-US" altLang="zh-CN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作为持仓线。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若已下破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，可退出。但要保证替代完整性，在此站上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时要再介入。</a:t>
            </a:r>
            <a:endParaRPr lang="en-US" altLang="zh-CN" sz="8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拒绝以下思维：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现在处于日级别下跌，可以先退出，等待止跌再补齐头寸。⇒实际导致头寸丢失。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已经上升较多，等待回调再买入。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		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⇒实际导致头寸丢失。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已下破均线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，先退出，等待站上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再买入。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⇒实际按周没有走坏，但已丢失仓位。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703530360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BB2E04-FD21-78B4-6EC5-B78070E29D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FA2CD185-FC6E-3D8D-1622-DD53B4CC37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 fontScale="90000"/>
          </a:bodyPr>
          <a:lstStyle/>
          <a:p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待完成：放在</a:t>
            </a:r>
            <a:r>
              <a:rPr lang="en-US" altLang="zh-CN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周排与日排的协调</a:t>
            </a:r>
            <a:r>
              <a:rPr lang="en-US" altLang="zh-CN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的后面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基础设施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日周联动的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VBA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指标设计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漏斗筛选流程：顺应最小阻力原理，筛选周日联动标的，甄别下周冲高概率最大的股票放入备选池。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70C03EC2-D740-ADB0-73E4-7320F03CFB1A}"/>
              </a:ext>
            </a:extLst>
          </p:cNvPr>
          <p:cNvSpPr/>
          <p:nvPr/>
        </p:nvSpPr>
        <p:spPr>
          <a:xfrm>
            <a:off x="2667" y="712783"/>
            <a:ext cx="5900984" cy="308197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筛选：是否处于周类范围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WXBC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进行筛选。必须在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之上，优选√口潜，舍弃其他情况。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升态： 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√口（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WXZC&gt;0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WXZB&gt;0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中间态：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破（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WXZC&gt;0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WXZB&lt;0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）潜（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WXZC&lt;0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WXZB&gt;0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在此区域内面临方向选择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跌态： 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×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WXZC&lt;0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WXZB&lt;0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筛选：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丘详细信息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列出所有有助于下周冲高的信息，包括：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关系、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关系、柱排。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护型是下周冲高的最重要决定因素，远比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丘（相当于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丘或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护型）重要。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护型位置： 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上中</a:t>
            </a:r>
            <a:r>
              <a:rPr lang="zh-CN" altLang="en-US" sz="800" b="1" strike="sngStrike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忐</a:t>
            </a:r>
            <a:r>
              <a:rPr lang="zh-CN" altLang="en-US" sz="800" b="1" strike="sngStrike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忠忑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。优选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已正交。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丘周期：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	/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突首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价鼎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价薡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突末。优选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柱排：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	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提供柱排。优选升排或特殊情况（四柱栅）。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顶型：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	/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a/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b/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〇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。优选触顶。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特殊形态：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	/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特升栅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特回踩。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筛选：冲提示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是否适合下周冲高。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不适合因素：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不要偏离太大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不要已冲高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不要已经历完整弧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不要刚突破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 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不要小于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已确认情况：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顶升</a:t>
            </a:r>
            <a:r>
              <a:rPr lang="en-US" altLang="zh-CN" sz="800" dirty="0" err="1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QOv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之上四柱栅：在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之上（升连跌孕升孕）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回踩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未确认情况：符合周类范围但不适合下周冲高，需要配合日类。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〇升</a:t>
            </a:r>
            <a:r>
              <a:rPr lang="en-US" altLang="zh-CN" sz="800" dirty="0" err="1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QOv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筛选：冲操作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根据本周走势，对操作进行提示。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本周涨已冲高：减仓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本周涨未冲高：等待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本周跌未冲低：捡漏，等周尾反包。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本周跌已冲低：检查情况，是否止损。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D22EA542-4A9E-C182-8361-695EACAD1E31}"/>
              </a:ext>
            </a:extLst>
          </p:cNvPr>
          <p:cNvSpPr/>
          <p:nvPr/>
        </p:nvSpPr>
        <p:spPr>
          <a:xfrm>
            <a:off x="0" y="3786742"/>
            <a:ext cx="5900984" cy="2672863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筛选：日类联动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根据日类本周走势，对操作进行提示。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思辨：不要被低级均线束缚。在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之上可提前退出，跌破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后可介入。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映射至日类：满足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开始做丘，可在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之上提前退出，可在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下进入（但最好等待上破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后，配合周线介入）。不要以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为教条，千万不要因为下破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而放弃机会。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周日联动：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@:	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适合下周冲高：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_:	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符合周类范围但不适合下周冲高：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N:	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不在周类范围：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日周联动中的日类走势：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当本周临涨幅＜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时，观察日线获取信息，判断是否能够反包或需要止损。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当本周临涨幅＞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时，防止冲高，及时止盈。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本周五柱走势：关注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当周五柱柱排展开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当周五柱与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关系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（周光头阳）单边升：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防止下周回调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（周上影阳）先升后降：最后阴柱可能是预备性回调（压低周涨幅）；或，提前转向下跌。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（周不确定）阴阳交错：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很有可能是中继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也有可能是升势转换为震荡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（周下影阴）先降后升：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如果周柱为阳柱可能是中继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（周光脚阴）单边跌：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回撤（结合周柱排列，回调很可能有机会）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6A216F23-9D8F-5BDF-5B2B-4975CABE8DE7}"/>
              </a:ext>
            </a:extLst>
          </p:cNvPr>
          <p:cNvSpPr/>
          <p:nvPr/>
        </p:nvSpPr>
        <p:spPr>
          <a:xfrm>
            <a:off x="5903651" y="720000"/>
            <a:ext cx="6289084" cy="425011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日周联动的程序实现（位谕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of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日层联类）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已验证公理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</a:t>
            </a:r>
          </a:p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①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要以周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为主，用日线辅助判断。要能在日线维度看到周线形态。</a:t>
            </a:r>
          </a:p>
          <a:p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②要大于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，从而与周线形成共振。</a:t>
            </a:r>
          </a:p>
          <a:p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③要求以周柱为首要参考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大涨：不追；小涨：是否继续上升。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小跌：参考日线是否上升；大跌：是否跌破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？参考日线。</a:t>
            </a:r>
          </a:p>
          <a:p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编程实施要点：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不要单独依赖日线，使用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缠用于分类；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 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DJCBA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区分区域；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待解决问题：</a:t>
            </a:r>
            <a:r>
              <a:rPr lang="en-US" altLang="zh-CN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算展</a:t>
            </a:r>
            <a:r>
              <a:rPr lang="en-US" altLang="zh-CN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中如何计算</a:t>
            </a:r>
            <a:r>
              <a:rPr lang="en-US" altLang="zh-CN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临涨幅</a:t>
            </a:r>
            <a:r>
              <a:rPr lang="en-US" altLang="zh-CN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用于复盘</a:t>
            </a:r>
            <a:endParaRPr lang="en-US" altLang="zh-CN" sz="800" b="1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变量包含元素：</a:t>
            </a:r>
          </a:p>
          <a:p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①（上周）是否属于周类范围：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潜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口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②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（上周）周柱与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的位置关系：依赖中符筛选是否考虑日类信息（排除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EF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柱）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参考信息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本周临涨幅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800" dirty="0" err="1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sSCC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结算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参考信息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特殊情况导致日与周重合：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停牌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周五已结算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周一未结算</a:t>
            </a:r>
          </a:p>
          <a:p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③（本周）日类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：针对前两项条件，与本周周中信息，判定是否提供详细的日类护型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④参考信息：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稳升状态操作法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正常：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/1w/1be/2cde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。给出可能危险的信号，包含下破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、薡。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提示：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/1v/6w/D2ID3h/D2iD3u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。机会与危险并存，需关注柱排与整体走势，如已经出现过大幅拉升则不要再进入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/DXZB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/DXAC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⑤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参考信息：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【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仓类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辅助信息，以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为护型，比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更具有稳定性，对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的判断更准确。</a:t>
            </a:r>
          </a:p>
        </p:txBody>
      </p:sp>
      <p:graphicFrame>
        <p:nvGraphicFramePr>
          <p:cNvPr id="8" name="表格 7">
            <a:extLst>
              <a:ext uri="{FF2B5EF4-FFF2-40B4-BE49-F238E27FC236}">
                <a16:creationId xmlns:a16="http://schemas.microsoft.com/office/drawing/2014/main" id="{92B98B52-C352-98CB-3146-7B25CAEAFD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827674"/>
              </p:ext>
            </p:extLst>
          </p:nvPr>
        </p:nvGraphicFramePr>
        <p:xfrm>
          <a:off x="6412209" y="2883041"/>
          <a:ext cx="5271233" cy="1386840"/>
        </p:xfrm>
        <a:graphic>
          <a:graphicData uri="http://schemas.openxmlformats.org/drawingml/2006/table">
            <a:tbl>
              <a:tblPr firstRow="1" bandRow="1">
                <a:tableStyleId>{5A111915-BE36-4E01-A7E5-04B1672EAD32}</a:tableStyleId>
              </a:tblPr>
              <a:tblGrid>
                <a:gridCol w="828033">
                  <a:extLst>
                    <a:ext uri="{9D8B030D-6E8A-4147-A177-3AD203B41FA5}">
                      <a16:colId xmlns:a16="http://schemas.microsoft.com/office/drawing/2014/main" val="826259775"/>
                    </a:ext>
                  </a:extLst>
                </a:gridCol>
                <a:gridCol w="1123576">
                  <a:extLst>
                    <a:ext uri="{9D8B030D-6E8A-4147-A177-3AD203B41FA5}">
                      <a16:colId xmlns:a16="http://schemas.microsoft.com/office/drawing/2014/main" val="4047293283"/>
                    </a:ext>
                  </a:extLst>
                </a:gridCol>
                <a:gridCol w="1659812">
                  <a:extLst>
                    <a:ext uri="{9D8B030D-6E8A-4147-A177-3AD203B41FA5}">
                      <a16:colId xmlns:a16="http://schemas.microsoft.com/office/drawing/2014/main" val="2646147756"/>
                    </a:ext>
                  </a:extLst>
                </a:gridCol>
                <a:gridCol w="1659812">
                  <a:extLst>
                    <a:ext uri="{9D8B030D-6E8A-4147-A177-3AD203B41FA5}">
                      <a16:colId xmlns:a16="http://schemas.microsoft.com/office/drawing/2014/main" val="2074107786"/>
                    </a:ext>
                  </a:extLst>
                </a:gridCol>
              </a:tblGrid>
              <a:tr h="144994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周前中符为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是否提供护型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endParaRPr lang="zh-CN" altLang="en-US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本周中在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本周中在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9633564"/>
                  </a:ext>
                </a:extLst>
              </a:tr>
              <a:tr h="144994"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</a:t>
                      </a: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提供</a:t>
                      </a: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持有</a:t>
                      </a: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漏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持有或捡漏</a:t>
                      </a: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510295"/>
                  </a:ext>
                </a:extLst>
              </a:tr>
              <a:tr h="144994"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柱（继鼎）</a:t>
                      </a: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提供</a:t>
                      </a: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持有</a:t>
                      </a: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漏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持有或捡漏</a:t>
                      </a: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8119593"/>
                  </a:ext>
                </a:extLst>
              </a:tr>
              <a:tr h="144994"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柱（首鼎）</a:t>
                      </a: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提供</a:t>
                      </a: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是否周线站稳</a:t>
                      </a: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是否为诱多失败</a:t>
                      </a: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070813"/>
                  </a:ext>
                </a:extLst>
              </a:tr>
              <a:tr h="144994"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</a:t>
                      </a: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不提供</a:t>
                      </a: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查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是否为诱多</a:t>
                      </a: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是否确认破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854798"/>
                  </a:ext>
                </a:extLst>
              </a:tr>
              <a:tr h="144994"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/F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不提供</a:t>
                      </a:r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诱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是否为诱多</a:t>
                      </a:r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是否确认破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0659195"/>
                  </a:ext>
                </a:extLst>
              </a:tr>
              <a:tr h="144994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不在周范围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不提供</a:t>
                      </a:r>
                    </a:p>
                  </a:txBody>
                  <a:tcPr>
                    <a:solidFill>
                      <a:schemeClr val="accent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9709913"/>
                  </a:ext>
                </a:extLst>
              </a:tr>
            </a:tbl>
          </a:graphicData>
        </a:graphic>
      </p:graphicFrame>
      <p:sp>
        <p:nvSpPr>
          <p:cNvPr id="3" name="矩形 2">
            <a:extLst>
              <a:ext uri="{FF2B5EF4-FFF2-40B4-BE49-F238E27FC236}">
                <a16:creationId xmlns:a16="http://schemas.microsoft.com/office/drawing/2014/main" id="{CE4190EA-C3EE-3F36-FA68-B5D94F59B722}"/>
              </a:ext>
            </a:extLst>
          </p:cNvPr>
          <p:cNvSpPr/>
          <p:nvPr/>
        </p:nvSpPr>
        <p:spPr>
          <a:xfrm>
            <a:off x="5900984" y="4962098"/>
            <a:ext cx="6291016" cy="338781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参考基础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要明确日类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VBA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指示变量的参考因素。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因素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。映射至日类为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，最基本要求是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，优选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，要关注（顶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），勿主动介入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要选择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。要明确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属于周级别震荡，绝不可能是周主升，等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再介入。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之间会经历多波震荡，才能使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正交。此情况属于“头”，勿过于关注。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因素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：周触顶。注意，映射至日类，需要考虑“周触顶”与“日触顶”的协同效应。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因素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：根据柱体分布，明确“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以上的上升区域”大部分都在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日类介入点，要先站上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再考虑，不主动介入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之上。区分：支持？不支持？不反对？反对？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之下。看是否存在从劫恢复的“漏”（参考从劫恢复的典型图谱）？配合周类柱排，特别是周阴柱后典型图谱。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因素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：柱型分布。要将“下破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/DJB/DJC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后开始跌排”⇒利用反向思维⇒明确“上破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/DJB/DJC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后开始升排”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要明确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在分离（升排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跌排）的作用。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周类以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止损。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不是固收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不退出，而是在日线出现转好信号后，勇敢介入。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之上都“可买”，虽然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之上也存在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之上无“阴柱止损点”。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上，不要因出现阴柱而判定会继续下跌，而要假定后续会转升，看走势是否支持。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因素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：日柱“行进队列”。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之上，主要依赖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，通过观察可以发现，多个日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柱均匀排列在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之上从而形成“行进队列”。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要依赖均线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的托举，而不要单柱突破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不要脱离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太远：不要追高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之上的“大阳柱”（只可轻仓跟随），最好在阴柱后出现小阳柱后介入。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时可以考虑入日管，当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≤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-2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可以判定出管，可以接受单柱下破管后又站上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重点搜索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≤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，搜索在管内的情况。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劫，无法依赖形成“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行进队列”，可以利用“中间下破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的柱体个数”、“下跌柱排被破坏” 、周柱排列。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85800" lvl="1" indent="-22860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，需要参考周柱排列。（灵魂拷问：既然一旦上破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就想介入，那么下破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就应退出）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/DXAC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劫：无法依赖形成“行进队列”，须依赖周柱排列与日类柱型。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劫：要形成“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行进队列”，且须配合周柱排列。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867975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14FC36-7D52-1308-6A61-02BB20EC7A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63F62356-A84B-32B0-3262-9E259CAF79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6112167" cy="720000"/>
          </a:xfrm>
          <a:solidFill>
            <a:srgbClr val="C00000"/>
          </a:solidFill>
        </p:spPr>
        <p:txBody>
          <a:bodyPr>
            <a:normAutofit fontScale="90000"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日连升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图谱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针对日连升，给出启动图谱。并拓展为“打板”专题，将打板相关内容整合至此。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B5861461-40B9-DA30-A6BA-57270144E946}"/>
              </a:ext>
            </a:extLst>
          </p:cNvPr>
          <p:cNvSpPr/>
          <p:nvPr/>
        </p:nvSpPr>
        <p:spPr>
          <a:xfrm>
            <a:off x="-6132" y="5143838"/>
            <a:ext cx="6102299" cy="171111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核心认知：必须明确“日连升”非常重要，是一种独立的操盘方法。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模式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主要有三种模式：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跟在上破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之后：注意上破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后很可能是平移阴柱而非垒升，需要多柱进行确认。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枝贯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日鼎之后：之前为“下破一柱”“下破两柱”；不要选择“下破多柱”后上破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后续可能冲高，但未必是连阳。即使出现连升，也可能是反弹诱多。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枝启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突破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后形成启动结构：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回踩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四柱栅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跟在垒升之后延续垒升：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梯连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连续涨停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梯连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连续阳柱：柱体几乎一致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梯连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以“十字星”“小阳柱”连接后继续垒升 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梯交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 “跌孕”连接后继续垒升 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“帐篷”，跟在前期推顶后，回踩调整，再次拉升：（由前期拉升形成的“顶”与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构成“帐篷”）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[13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梯升调待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调整形态为（跌孕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升孕）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栏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连阳出现跌吞后蓄势拉升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栅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连阳出现跌连后蓄势拉升：要求下跌角度要平缓，且在突破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7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初期</a:t>
            </a: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7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D7E541C4-E400-EF4B-8394-9B4B6D424041}"/>
              </a:ext>
            </a:extLst>
          </p:cNvPr>
          <p:cNvSpPr txBox="1"/>
          <p:nvPr/>
        </p:nvSpPr>
        <p:spPr>
          <a:xfrm>
            <a:off x="-115220" y="7574280"/>
            <a:ext cx="52309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b="1" dirty="0">
                <a:solidFill>
                  <a:srgbClr val="C00000"/>
                </a:solidFill>
              </a:rPr>
              <a:t>将“日连升”图谱汇总至此</a:t>
            </a:r>
            <a:r>
              <a:rPr lang="en-US" altLang="zh-CN" dirty="0">
                <a:solidFill>
                  <a:srgbClr val="FF0000"/>
                </a:solidFill>
                <a:highlight>
                  <a:srgbClr val="FFFF00"/>
                </a:highlight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dirty="0">
                <a:solidFill>
                  <a:srgbClr val="FF0000"/>
                </a:solidFill>
                <a:highlight>
                  <a:srgbClr val="FFFF00"/>
                </a:highlight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须遍历图形进行验证</a:t>
            </a:r>
            <a:r>
              <a:rPr lang="en-US" altLang="zh-CN" dirty="0">
                <a:solidFill>
                  <a:srgbClr val="FF0000"/>
                </a:solidFill>
                <a:highlight>
                  <a:srgbClr val="FFFF00"/>
                </a:highlight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</a:p>
          <a:p>
            <a:endParaRPr lang="zh-CN" altLang="en-US" b="1" dirty="0">
              <a:solidFill>
                <a:srgbClr val="C00000"/>
              </a:solidFill>
            </a:endParaRPr>
          </a:p>
        </p:txBody>
      </p:sp>
      <p:grpSp>
        <p:nvGrpSpPr>
          <p:cNvPr id="12" name="组合 11">
            <a:extLst>
              <a:ext uri="{FF2B5EF4-FFF2-40B4-BE49-F238E27FC236}">
                <a16:creationId xmlns:a16="http://schemas.microsoft.com/office/drawing/2014/main" id="{DF864CF5-8D15-725F-4067-285859797348}"/>
              </a:ext>
            </a:extLst>
          </p:cNvPr>
          <p:cNvGrpSpPr/>
          <p:nvPr/>
        </p:nvGrpSpPr>
        <p:grpSpPr>
          <a:xfrm>
            <a:off x="211666" y="8193263"/>
            <a:ext cx="212220" cy="180000"/>
            <a:chOff x="508225" y="3946708"/>
            <a:chExt cx="212220" cy="180000"/>
          </a:xfrm>
        </p:grpSpPr>
        <p:sp>
          <p:nvSpPr>
            <p:cNvPr id="5" name="矩形 4">
              <a:extLst>
                <a:ext uri="{FF2B5EF4-FFF2-40B4-BE49-F238E27FC236}">
                  <a16:creationId xmlns:a16="http://schemas.microsoft.com/office/drawing/2014/main" id="{33CA0DE7-96ED-D0BA-CE32-507C7BB2A9E8}"/>
                </a:ext>
              </a:extLst>
            </p:cNvPr>
            <p:cNvSpPr/>
            <p:nvPr/>
          </p:nvSpPr>
          <p:spPr>
            <a:xfrm>
              <a:off x="508225" y="4083664"/>
              <a:ext cx="72000" cy="3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" name="矩形 9">
              <a:extLst>
                <a:ext uri="{FF2B5EF4-FFF2-40B4-BE49-F238E27FC236}">
                  <a16:creationId xmlns:a16="http://schemas.microsoft.com/office/drawing/2014/main" id="{88FDD278-5B88-6104-DF4F-39FE9F13B3AF}"/>
                </a:ext>
              </a:extLst>
            </p:cNvPr>
            <p:cNvSpPr/>
            <p:nvPr/>
          </p:nvSpPr>
          <p:spPr>
            <a:xfrm>
              <a:off x="648445" y="3946708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" name="组合 7">
            <a:extLst>
              <a:ext uri="{FF2B5EF4-FFF2-40B4-BE49-F238E27FC236}">
                <a16:creationId xmlns:a16="http://schemas.microsoft.com/office/drawing/2014/main" id="{210BC899-C547-A6F8-655E-FFA3CCEBCD20}"/>
              </a:ext>
            </a:extLst>
          </p:cNvPr>
          <p:cNvGrpSpPr/>
          <p:nvPr/>
        </p:nvGrpSpPr>
        <p:grpSpPr>
          <a:xfrm>
            <a:off x="174992" y="9071875"/>
            <a:ext cx="433168" cy="423041"/>
            <a:chOff x="471551" y="4825320"/>
            <a:chExt cx="433168" cy="423041"/>
          </a:xfrm>
        </p:grpSpPr>
        <p:sp>
          <p:nvSpPr>
            <p:cNvPr id="48" name="矩形 47">
              <a:extLst>
                <a:ext uri="{FF2B5EF4-FFF2-40B4-BE49-F238E27FC236}">
                  <a16:creationId xmlns:a16="http://schemas.microsoft.com/office/drawing/2014/main" id="{8FD95552-638E-62C0-C911-F2D19EED138C}"/>
                </a:ext>
              </a:extLst>
            </p:cNvPr>
            <p:cNvSpPr/>
            <p:nvPr/>
          </p:nvSpPr>
          <p:spPr>
            <a:xfrm>
              <a:off x="471551" y="5176361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" name="矩形 48">
              <a:extLst>
                <a:ext uri="{FF2B5EF4-FFF2-40B4-BE49-F238E27FC236}">
                  <a16:creationId xmlns:a16="http://schemas.microsoft.com/office/drawing/2014/main" id="{C5653D25-42DE-1995-C30F-18AB3F8833E5}"/>
                </a:ext>
              </a:extLst>
            </p:cNvPr>
            <p:cNvSpPr/>
            <p:nvPr/>
          </p:nvSpPr>
          <p:spPr>
            <a:xfrm>
              <a:off x="597095" y="5114389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0" name="矩形 49">
              <a:extLst>
                <a:ext uri="{FF2B5EF4-FFF2-40B4-BE49-F238E27FC236}">
                  <a16:creationId xmlns:a16="http://schemas.microsoft.com/office/drawing/2014/main" id="{30F079F6-B6B4-9EF6-C716-8872013B2A01}"/>
                </a:ext>
              </a:extLst>
            </p:cNvPr>
            <p:cNvSpPr/>
            <p:nvPr/>
          </p:nvSpPr>
          <p:spPr>
            <a:xfrm>
              <a:off x="722639" y="4978361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1" name="矩形 50">
              <a:extLst>
                <a:ext uri="{FF2B5EF4-FFF2-40B4-BE49-F238E27FC236}">
                  <a16:creationId xmlns:a16="http://schemas.microsoft.com/office/drawing/2014/main" id="{0F270091-A15A-B818-94FE-4539EC76925D}"/>
                </a:ext>
              </a:extLst>
            </p:cNvPr>
            <p:cNvSpPr/>
            <p:nvPr/>
          </p:nvSpPr>
          <p:spPr>
            <a:xfrm>
              <a:off x="832719" y="4825320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" name="组合 2">
            <a:extLst>
              <a:ext uri="{FF2B5EF4-FFF2-40B4-BE49-F238E27FC236}">
                <a16:creationId xmlns:a16="http://schemas.microsoft.com/office/drawing/2014/main" id="{D638F866-5549-EEEE-E769-951923F3F0A8}"/>
              </a:ext>
            </a:extLst>
          </p:cNvPr>
          <p:cNvGrpSpPr/>
          <p:nvPr/>
        </p:nvGrpSpPr>
        <p:grpSpPr>
          <a:xfrm>
            <a:off x="1761529" y="9134916"/>
            <a:ext cx="693254" cy="432467"/>
            <a:chOff x="2058088" y="4888361"/>
            <a:chExt cx="693254" cy="432467"/>
          </a:xfrm>
        </p:grpSpPr>
        <p:sp>
          <p:nvSpPr>
            <p:cNvPr id="52" name="矩形 51">
              <a:extLst>
                <a:ext uri="{FF2B5EF4-FFF2-40B4-BE49-F238E27FC236}">
                  <a16:creationId xmlns:a16="http://schemas.microsoft.com/office/drawing/2014/main" id="{0BC65706-D864-C0D5-B35A-977E71BBB41F}"/>
                </a:ext>
              </a:extLst>
            </p:cNvPr>
            <p:cNvSpPr/>
            <p:nvPr/>
          </p:nvSpPr>
          <p:spPr>
            <a:xfrm>
              <a:off x="2058088" y="5284828"/>
              <a:ext cx="72000" cy="3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3" name="矩形 52">
              <a:extLst>
                <a:ext uri="{FF2B5EF4-FFF2-40B4-BE49-F238E27FC236}">
                  <a16:creationId xmlns:a16="http://schemas.microsoft.com/office/drawing/2014/main" id="{83B4B3D1-84EE-8468-3C44-F5F0240933BE}"/>
                </a:ext>
              </a:extLst>
            </p:cNvPr>
            <p:cNvSpPr/>
            <p:nvPr/>
          </p:nvSpPr>
          <p:spPr>
            <a:xfrm>
              <a:off x="2177166" y="5230828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" name="矩形 53">
              <a:extLst>
                <a:ext uri="{FF2B5EF4-FFF2-40B4-BE49-F238E27FC236}">
                  <a16:creationId xmlns:a16="http://schemas.microsoft.com/office/drawing/2014/main" id="{6B04ADE1-FCF3-1A00-1B78-93E78F126C9A}"/>
                </a:ext>
              </a:extLst>
            </p:cNvPr>
            <p:cNvSpPr/>
            <p:nvPr/>
          </p:nvSpPr>
          <p:spPr>
            <a:xfrm>
              <a:off x="2302710" y="5168856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矩形 54">
              <a:extLst>
                <a:ext uri="{FF2B5EF4-FFF2-40B4-BE49-F238E27FC236}">
                  <a16:creationId xmlns:a16="http://schemas.microsoft.com/office/drawing/2014/main" id="{9DCCD312-3740-E5C7-2EDD-D2556F8AC402}"/>
                </a:ext>
              </a:extLst>
            </p:cNvPr>
            <p:cNvSpPr/>
            <p:nvPr/>
          </p:nvSpPr>
          <p:spPr>
            <a:xfrm>
              <a:off x="2428254" y="5032828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矩形 55">
              <a:extLst>
                <a:ext uri="{FF2B5EF4-FFF2-40B4-BE49-F238E27FC236}">
                  <a16:creationId xmlns:a16="http://schemas.microsoft.com/office/drawing/2014/main" id="{4BEBD551-351F-61E7-CCD1-1B61325E5C51}"/>
                </a:ext>
              </a:extLst>
            </p:cNvPr>
            <p:cNvSpPr/>
            <p:nvPr/>
          </p:nvSpPr>
          <p:spPr>
            <a:xfrm>
              <a:off x="2679342" y="4888361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矩形 56">
              <a:extLst>
                <a:ext uri="{FF2B5EF4-FFF2-40B4-BE49-F238E27FC236}">
                  <a16:creationId xmlns:a16="http://schemas.microsoft.com/office/drawing/2014/main" id="{408F6771-6378-1964-BF24-4B9D73C6F993}"/>
                </a:ext>
              </a:extLst>
            </p:cNvPr>
            <p:cNvSpPr/>
            <p:nvPr/>
          </p:nvSpPr>
          <p:spPr>
            <a:xfrm>
              <a:off x="2553798" y="5006299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" name="组合 8">
            <a:extLst>
              <a:ext uri="{FF2B5EF4-FFF2-40B4-BE49-F238E27FC236}">
                <a16:creationId xmlns:a16="http://schemas.microsoft.com/office/drawing/2014/main" id="{BAC9B2BB-560D-4713-559B-FF367736224A}"/>
              </a:ext>
            </a:extLst>
          </p:cNvPr>
          <p:cNvGrpSpPr/>
          <p:nvPr/>
        </p:nvGrpSpPr>
        <p:grpSpPr>
          <a:xfrm>
            <a:off x="1662466" y="8128412"/>
            <a:ext cx="454089" cy="383688"/>
            <a:chOff x="1959025" y="3881857"/>
            <a:chExt cx="454089" cy="383688"/>
          </a:xfrm>
        </p:grpSpPr>
        <p:sp>
          <p:nvSpPr>
            <p:cNvPr id="58" name="矩形 57">
              <a:extLst>
                <a:ext uri="{FF2B5EF4-FFF2-40B4-BE49-F238E27FC236}">
                  <a16:creationId xmlns:a16="http://schemas.microsoft.com/office/drawing/2014/main" id="{7B454C1D-6633-B16D-643C-E781E9A496C3}"/>
                </a:ext>
              </a:extLst>
            </p:cNvPr>
            <p:cNvSpPr/>
            <p:nvPr/>
          </p:nvSpPr>
          <p:spPr>
            <a:xfrm>
              <a:off x="1959025" y="4085545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矩形 58">
              <a:extLst>
                <a:ext uri="{FF2B5EF4-FFF2-40B4-BE49-F238E27FC236}">
                  <a16:creationId xmlns:a16="http://schemas.microsoft.com/office/drawing/2014/main" id="{788039C5-36B9-D35D-6F13-58FFB1AB0651}"/>
                </a:ext>
              </a:extLst>
            </p:cNvPr>
            <p:cNvSpPr/>
            <p:nvPr/>
          </p:nvSpPr>
          <p:spPr>
            <a:xfrm>
              <a:off x="2077598" y="4062842"/>
              <a:ext cx="72000" cy="3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矩形 59">
              <a:extLst>
                <a:ext uri="{FF2B5EF4-FFF2-40B4-BE49-F238E27FC236}">
                  <a16:creationId xmlns:a16="http://schemas.microsoft.com/office/drawing/2014/main" id="{6C036AFC-7DF7-B229-CCD4-F415A43C367A}"/>
                </a:ext>
              </a:extLst>
            </p:cNvPr>
            <p:cNvSpPr/>
            <p:nvPr/>
          </p:nvSpPr>
          <p:spPr>
            <a:xfrm>
              <a:off x="2211751" y="4044260"/>
              <a:ext cx="72000" cy="3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1" name="矩形 60">
              <a:extLst>
                <a:ext uri="{FF2B5EF4-FFF2-40B4-BE49-F238E27FC236}">
                  <a16:creationId xmlns:a16="http://schemas.microsoft.com/office/drawing/2014/main" id="{7F8C50BC-48BB-4DEB-10BE-634823648F97}"/>
                </a:ext>
              </a:extLst>
            </p:cNvPr>
            <p:cNvSpPr/>
            <p:nvPr/>
          </p:nvSpPr>
          <p:spPr>
            <a:xfrm>
              <a:off x="2341114" y="3881857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5D1BEBD9-2CFE-F9F7-30FC-9829D649D93C}"/>
              </a:ext>
            </a:extLst>
          </p:cNvPr>
          <p:cNvGrpSpPr/>
          <p:nvPr/>
        </p:nvGrpSpPr>
        <p:grpSpPr>
          <a:xfrm>
            <a:off x="828311" y="8206736"/>
            <a:ext cx="330793" cy="330950"/>
            <a:chOff x="1124870" y="3960181"/>
            <a:chExt cx="330793" cy="330950"/>
          </a:xfrm>
        </p:grpSpPr>
        <p:sp>
          <p:nvSpPr>
            <p:cNvPr id="62" name="矩形 61">
              <a:extLst>
                <a:ext uri="{FF2B5EF4-FFF2-40B4-BE49-F238E27FC236}">
                  <a16:creationId xmlns:a16="http://schemas.microsoft.com/office/drawing/2014/main" id="{60A4CB29-EA5E-BCC9-FF09-A549EFF617F1}"/>
                </a:ext>
              </a:extLst>
            </p:cNvPr>
            <p:cNvSpPr/>
            <p:nvPr/>
          </p:nvSpPr>
          <p:spPr>
            <a:xfrm>
              <a:off x="1124870" y="4111131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3" name="矩形 62">
              <a:extLst>
                <a:ext uri="{FF2B5EF4-FFF2-40B4-BE49-F238E27FC236}">
                  <a16:creationId xmlns:a16="http://schemas.microsoft.com/office/drawing/2014/main" id="{1B99B2E2-048C-816E-D41B-31F4B04181B2}"/>
                </a:ext>
              </a:extLst>
            </p:cNvPr>
            <p:cNvSpPr/>
            <p:nvPr/>
          </p:nvSpPr>
          <p:spPr>
            <a:xfrm>
              <a:off x="1383663" y="3960181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8" name="矩形 127">
              <a:extLst>
                <a:ext uri="{FF2B5EF4-FFF2-40B4-BE49-F238E27FC236}">
                  <a16:creationId xmlns:a16="http://schemas.microsoft.com/office/drawing/2014/main" id="{49FDED9B-FA16-1DA6-2D45-5DEB13654AF4}"/>
                </a:ext>
              </a:extLst>
            </p:cNvPr>
            <p:cNvSpPr/>
            <p:nvPr/>
          </p:nvSpPr>
          <p:spPr>
            <a:xfrm>
              <a:off x="1256119" y="4090605"/>
              <a:ext cx="72000" cy="72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" name="组合 6">
            <a:extLst>
              <a:ext uri="{FF2B5EF4-FFF2-40B4-BE49-F238E27FC236}">
                <a16:creationId xmlns:a16="http://schemas.microsoft.com/office/drawing/2014/main" id="{03623AD8-CF7E-0544-2252-906955541057}"/>
              </a:ext>
            </a:extLst>
          </p:cNvPr>
          <p:cNvGrpSpPr/>
          <p:nvPr/>
        </p:nvGrpSpPr>
        <p:grpSpPr>
          <a:xfrm>
            <a:off x="918753" y="9134916"/>
            <a:ext cx="673191" cy="458230"/>
            <a:chOff x="1215312" y="4888361"/>
            <a:chExt cx="673191" cy="458230"/>
          </a:xfrm>
        </p:grpSpPr>
        <p:sp>
          <p:nvSpPr>
            <p:cNvPr id="129" name="矩形 128">
              <a:extLst>
                <a:ext uri="{FF2B5EF4-FFF2-40B4-BE49-F238E27FC236}">
                  <a16:creationId xmlns:a16="http://schemas.microsoft.com/office/drawing/2014/main" id="{6DF4F151-2036-3854-A52A-692D0595C728}"/>
                </a:ext>
              </a:extLst>
            </p:cNvPr>
            <p:cNvSpPr/>
            <p:nvPr/>
          </p:nvSpPr>
          <p:spPr>
            <a:xfrm>
              <a:off x="1215312" y="5310591"/>
              <a:ext cx="72000" cy="3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0" name="矩形 129">
              <a:extLst>
                <a:ext uri="{FF2B5EF4-FFF2-40B4-BE49-F238E27FC236}">
                  <a16:creationId xmlns:a16="http://schemas.microsoft.com/office/drawing/2014/main" id="{DE9F7772-684E-03AD-8E7C-F1073E1715EA}"/>
                </a:ext>
              </a:extLst>
            </p:cNvPr>
            <p:cNvSpPr/>
            <p:nvPr/>
          </p:nvSpPr>
          <p:spPr>
            <a:xfrm>
              <a:off x="1334390" y="5256591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1" name="矩形 130">
              <a:extLst>
                <a:ext uri="{FF2B5EF4-FFF2-40B4-BE49-F238E27FC236}">
                  <a16:creationId xmlns:a16="http://schemas.microsoft.com/office/drawing/2014/main" id="{92651051-C7DF-4E31-91A0-3B63CB27AF92}"/>
                </a:ext>
              </a:extLst>
            </p:cNvPr>
            <p:cNvSpPr/>
            <p:nvPr/>
          </p:nvSpPr>
          <p:spPr>
            <a:xfrm>
              <a:off x="1459934" y="5194619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2" name="矩形 131">
              <a:extLst>
                <a:ext uri="{FF2B5EF4-FFF2-40B4-BE49-F238E27FC236}">
                  <a16:creationId xmlns:a16="http://schemas.microsoft.com/office/drawing/2014/main" id="{C2A5A0F9-7C5A-AE14-B472-877117DA1F16}"/>
                </a:ext>
              </a:extLst>
            </p:cNvPr>
            <p:cNvSpPr/>
            <p:nvPr/>
          </p:nvSpPr>
          <p:spPr>
            <a:xfrm>
              <a:off x="1706423" y="5041402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0" name="矩形 169">
              <a:extLst>
                <a:ext uri="{FF2B5EF4-FFF2-40B4-BE49-F238E27FC236}">
                  <a16:creationId xmlns:a16="http://schemas.microsoft.com/office/drawing/2014/main" id="{61976221-F61E-988C-C224-A82C19D0DE53}"/>
                </a:ext>
              </a:extLst>
            </p:cNvPr>
            <p:cNvSpPr/>
            <p:nvPr/>
          </p:nvSpPr>
          <p:spPr>
            <a:xfrm>
              <a:off x="1816503" y="4888361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9" name="矩形 178">
              <a:extLst>
                <a:ext uri="{FF2B5EF4-FFF2-40B4-BE49-F238E27FC236}">
                  <a16:creationId xmlns:a16="http://schemas.microsoft.com/office/drawing/2014/main" id="{B336F5CB-870B-E773-C4A2-6578BED3F6C4}"/>
                </a:ext>
              </a:extLst>
            </p:cNvPr>
            <p:cNvSpPr/>
            <p:nvPr/>
          </p:nvSpPr>
          <p:spPr>
            <a:xfrm>
              <a:off x="1585478" y="5183866"/>
              <a:ext cx="72000" cy="3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80" name="文本框 179">
            <a:extLst>
              <a:ext uri="{FF2B5EF4-FFF2-40B4-BE49-F238E27FC236}">
                <a16:creationId xmlns:a16="http://schemas.microsoft.com/office/drawing/2014/main" id="{4500EACD-3A4A-7EE2-B682-746B4A2D728F}"/>
              </a:ext>
            </a:extLst>
          </p:cNvPr>
          <p:cNvSpPr txBox="1"/>
          <p:nvPr/>
        </p:nvSpPr>
        <p:spPr>
          <a:xfrm>
            <a:off x="-70493" y="8706062"/>
            <a:ext cx="3161058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连阳开启：柱体逐步放大后进入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管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endParaRPr lang="zh-CN" altLang="en-US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1" name="文本框 180">
            <a:extLst>
              <a:ext uri="{FF2B5EF4-FFF2-40B4-BE49-F238E27FC236}">
                <a16:creationId xmlns:a16="http://schemas.microsoft.com/office/drawing/2014/main" id="{F6519360-61CC-3846-3B53-59E0B7CA6B02}"/>
              </a:ext>
            </a:extLst>
          </p:cNvPr>
          <p:cNvSpPr txBox="1"/>
          <p:nvPr/>
        </p:nvSpPr>
        <p:spPr>
          <a:xfrm>
            <a:off x="-56429" y="7851671"/>
            <a:ext cx="5456429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>
              <a:defRPr sz="1000" b="1"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注：尽量不要选择柱体不均匀情况，后面可能跟阴柱回踩</a:t>
            </a:r>
            <a:r>
              <a:rPr lang="zh-CN" altLang="en-US"/>
              <a:t>确认。</a:t>
            </a:r>
            <a:endParaRPr lang="en-US" altLang="zh-CN" dirty="0"/>
          </a:p>
        </p:txBody>
      </p:sp>
      <p:pic>
        <p:nvPicPr>
          <p:cNvPr id="182" name="图片 181">
            <a:extLst>
              <a:ext uri="{FF2B5EF4-FFF2-40B4-BE49-F238E27FC236}">
                <a16:creationId xmlns:a16="http://schemas.microsoft.com/office/drawing/2014/main" id="{BF91F7E5-CEFF-1989-CB27-A57F964A15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69244" y="8122035"/>
            <a:ext cx="1080000" cy="526765"/>
          </a:xfrm>
          <a:prstGeom prst="rect">
            <a:avLst/>
          </a:prstGeom>
        </p:spPr>
      </p:pic>
      <p:pic>
        <p:nvPicPr>
          <p:cNvPr id="66" name="图片 65">
            <a:extLst>
              <a:ext uri="{FF2B5EF4-FFF2-40B4-BE49-F238E27FC236}">
                <a16:creationId xmlns:a16="http://schemas.microsoft.com/office/drawing/2014/main" id="{D7A717F6-412B-CAAD-24F8-89CC4F64C23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05332" y="8134809"/>
            <a:ext cx="1080000" cy="501215"/>
          </a:xfrm>
          <a:prstGeom prst="rect">
            <a:avLst/>
          </a:prstGeom>
        </p:spPr>
      </p:pic>
      <p:sp>
        <p:nvSpPr>
          <p:cNvPr id="183" name="文本框 182">
            <a:extLst>
              <a:ext uri="{FF2B5EF4-FFF2-40B4-BE49-F238E27FC236}">
                <a16:creationId xmlns:a16="http://schemas.microsoft.com/office/drawing/2014/main" id="{CF5633A5-0BD7-83CE-C0C1-3494144AAC4E}"/>
              </a:ext>
            </a:extLst>
          </p:cNvPr>
          <p:cNvSpPr txBox="1"/>
          <p:nvPr/>
        </p:nvSpPr>
        <p:spPr>
          <a:xfrm>
            <a:off x="6102795" y="1717918"/>
            <a:ext cx="6094800" cy="87716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入管形态（主升结构启动信号）</a:t>
            </a:r>
            <a:endParaRPr lang="zh-CN" altLang="en-US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必要条件：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触顶。一定要触顶，最好连续贴附于顶（触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或触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。要求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。柱体脱离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，或继鼎。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偏。剔除偏离过大。不要追高，宽＞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的情况，可被动进入。</a:t>
            </a:r>
          </a:p>
        </p:txBody>
      </p:sp>
      <p:sp>
        <p:nvSpPr>
          <p:cNvPr id="184" name="标题 1">
            <a:extLst>
              <a:ext uri="{FF2B5EF4-FFF2-40B4-BE49-F238E27FC236}">
                <a16:creationId xmlns:a16="http://schemas.microsoft.com/office/drawing/2014/main" id="{AD19545C-55B7-23F9-FB2D-95339F7704E7}"/>
              </a:ext>
            </a:extLst>
          </p:cNvPr>
          <p:cNvSpPr txBox="1">
            <a:spLocks/>
          </p:cNvSpPr>
          <p:nvPr/>
        </p:nvSpPr>
        <p:spPr>
          <a:xfrm>
            <a:off x="6115495" y="339"/>
            <a:ext cx="60948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 fontScale="92500"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（日级别）主升结构启动信号</a:t>
            </a:r>
            <a:endParaRPr lang="en-US" altLang="zh-CN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主题：何时会出现阳柱？何时会出现不重叠连阳？一般是在周线需要大阳柱时，会出现日级别主拉升。总结经典图形与变体。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7" name="矩形 186">
            <a:extLst>
              <a:ext uri="{FF2B5EF4-FFF2-40B4-BE49-F238E27FC236}">
                <a16:creationId xmlns:a16="http://schemas.microsoft.com/office/drawing/2014/main" id="{E135A855-DF7A-8A5E-3C5E-595EE2A4F783}"/>
              </a:ext>
            </a:extLst>
          </p:cNvPr>
          <p:cNvSpPr/>
          <p:nvPr/>
        </p:nvSpPr>
        <p:spPr>
          <a:xfrm>
            <a:off x="6102795" y="2629863"/>
            <a:ext cx="6094800" cy="970417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主升结构启动信号：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主升结构形成只会在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特梯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特栏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特栅之后，不会在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[DXZA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劫恢复之后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启动信号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：（连升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调整结构）之后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特别是：回踩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后得到支撑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持有过程可以包括：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跌吞单次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跌连单次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单次。但尽量不要出现小碎步连阴。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启动信号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：根据周类运行规律，在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之上会延续升势。采用逆向思维，任何下破均线随后可能会有拉升。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W2e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后，等待再次站上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DJC&amp;DJB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，并形成升排或调整结构。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13" name="表格 12">
            <a:extLst>
              <a:ext uri="{FF2B5EF4-FFF2-40B4-BE49-F238E27FC236}">
                <a16:creationId xmlns:a16="http://schemas.microsoft.com/office/drawing/2014/main" id="{A8D23F57-7354-EBD1-1425-49B553E2C4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0689092"/>
              </p:ext>
            </p:extLst>
          </p:nvPr>
        </p:nvGraphicFramePr>
        <p:xfrm>
          <a:off x="-6132" y="716961"/>
          <a:ext cx="6105599" cy="3992880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730032">
                  <a:extLst>
                    <a:ext uri="{9D8B030D-6E8A-4147-A177-3AD203B41FA5}">
                      <a16:colId xmlns:a16="http://schemas.microsoft.com/office/drawing/2014/main" val="2082260276"/>
                    </a:ext>
                  </a:extLst>
                </a:gridCol>
                <a:gridCol w="5375567">
                  <a:extLst>
                    <a:ext uri="{9D8B030D-6E8A-4147-A177-3AD203B41FA5}">
                      <a16:colId xmlns:a16="http://schemas.microsoft.com/office/drawing/2014/main" val="3498031078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算法优化链条的注意事项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@20250815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98097771"/>
                  </a:ext>
                </a:extLst>
              </a:tr>
              <a:tr h="51110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周柱即将出现大阳柱的典型情况：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叠垒形态的周连阳柱组。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周连阳后回踩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（单个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跌吞）：得到支撑后继续连阳。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启动结构：特别是继鼎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四栅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三栅：中阳柱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十字星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小阳柱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小阴柱：之后可能出现与第一个中阳柱同等幅度的中阳柱。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突破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突破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后回踩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谨防连阳失败的典型情况：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顶部震荡诱多：</a:t>
                      </a: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天劫</a:t>
                      </a:r>
                      <a:r>
                        <a:rPr lang="en-US" altLang="zh-CN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/DXZA</a:t>
                      </a:r>
                      <a:r>
                        <a:rPr lang="zh-CN" altLang="en-US" sz="7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劫，可能出现短暂连阳，不具有持续性，属于诱多。</a:t>
                      </a:r>
                      <a:endParaRPr lang="en-US" altLang="zh-CN" sz="700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顶部栅：虽然符合栅的结构，然前期冲高已耗尽能量，很可能属于最后一柱的形态。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8205740"/>
                  </a:ext>
                </a:extLst>
              </a:tr>
              <a:tr h="24900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周大阳柱的组成零件：</a:t>
                      </a:r>
                      <a:endParaRPr lang="en-US" altLang="zh-CN" sz="7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日巨阳柱。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日连阳柱：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DTZA≥2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的日中符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3371368"/>
                  </a:ext>
                </a:extLst>
              </a:tr>
              <a:tr h="458686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日大阳柱动力来源：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之上以大阳柱向上冲，须由特殊结构提供动力。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动力来源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：日柱是组成周柱的零件，在周柱需要大阳柱时必定会出现日柱拉升。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动力来源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（日类叠垒加速）：沿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排列的连阳组合，会逐渐加速，最后冲高。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两连阳最具有继续连阳的可能性。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动力来源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（日类回落反弹）：向下回落遇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后，反弹向上，然后冲高。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动力来源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（日类回落反弹）：向下回落遇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后，反弹向上，然后冲高。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动力来源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（周类回落反弹）：来自于周级别，回落遇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后反弹向上。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动力来源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：特殊柱排结构包括：鼎、三柱栅、四柱栅。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1259338"/>
                  </a:ext>
                </a:extLst>
              </a:tr>
              <a:tr h="720793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日连阳出现的典型情况：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连阳一般都成群结队地出现，只有极少数诱多情况会出现在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劫恢复等位置。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起始连阳柱排列：从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之下，以叠垒小阳柱排的方式延续连阳。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起始连阳柱排列：下破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经充分调整或找到支撑后，以叠垒小阳柱排的方式延续连阳。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连阳调整后再连阳：连阳后，回踩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（单个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跌吞）得到支撑后继续连阳。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连阳调整后再连阳：连阳后（有上冲势头），回踩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跌连等多柱调整）得到支撑后再连阳。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四柱栅后：四柱栅后可以期待一个连阳，但不应期待连续的连阳。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谨防连阳失败的典型情况：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一旦失去势头，连阳，会转变为阴阳相间（包括栅），逐步回归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寻找支撑，下破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典型柱排方式：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叠垒：连阳的最佳运行方式；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平移：以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十字星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超小阳柱，组成的叠垒连阳，在冲高后会回落。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交错：以阴阳相间方式，其中可能出现连阳，本质是依托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支撑的无序平移。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顶部震荡诱多：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天劫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/DXZA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劫，可能出现短暂连阳，不具有持续性，属于诱多。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48516"/>
                  </a:ext>
                </a:extLst>
              </a:tr>
            </a:tbl>
          </a:graphicData>
        </a:graphic>
      </p:graphicFrame>
      <p:sp>
        <p:nvSpPr>
          <p:cNvPr id="14" name="文本框 13">
            <a:extLst>
              <a:ext uri="{FF2B5EF4-FFF2-40B4-BE49-F238E27FC236}">
                <a16:creationId xmlns:a16="http://schemas.microsoft.com/office/drawing/2014/main" id="{C9840040-F818-3B87-2A94-D49413B1C704}"/>
              </a:ext>
            </a:extLst>
          </p:cNvPr>
          <p:cNvSpPr txBox="1"/>
          <p:nvPr/>
        </p:nvSpPr>
        <p:spPr>
          <a:xfrm>
            <a:off x="6102795" y="3966016"/>
            <a:ext cx="6094800" cy="2462213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28575">
            <a:noFill/>
          </a:ln>
        </p:spPr>
        <p:txBody>
          <a:bodyPr wrap="square">
            <a:spAutoFit/>
          </a:bodyPr>
          <a:lstStyle/>
          <a:p>
            <a:r>
              <a:rPr lang="zh-CN" altLang="en-US" sz="10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日级别阳柱启动点：可能与周级别阳柱启动点并不同步，要以周为准。</a:t>
            </a:r>
            <a:endParaRPr lang="zh-CN" altLang="en-US" sz="105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阳柱启动点分类：通过（局</a:t>
            </a:r>
            <a:r>
              <a:rPr lang="en-US" altLang="zh-CN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柱排）判断介入策略。介入时必须在</a:t>
            </a:r>
            <a:r>
              <a:rPr lang="en-US" altLang="zh-CN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之上，</a:t>
            </a:r>
            <a:r>
              <a:rPr lang="en-US" altLang="zh-CN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之下启动点非常少。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日类要反向操作，主要看劫恢复，聚焦于关键位置：</a:t>
            </a:r>
            <a:r>
              <a:rPr lang="en-US" altLang="zh-CN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天劫</a:t>
            </a:r>
            <a:r>
              <a:rPr lang="en-US" altLang="zh-CN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/DXBC</a:t>
            </a:r>
            <a:r>
              <a:rPr lang="zh-CN" altLang="en-US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首劫</a:t>
            </a:r>
            <a:r>
              <a:rPr lang="en-US" altLang="zh-CN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/DXZA</a:t>
            </a:r>
            <a:r>
              <a:rPr lang="zh-CN" altLang="en-US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/DXZB</a:t>
            </a:r>
            <a:r>
              <a:rPr lang="zh-CN" altLang="en-US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劫，弃</a:t>
            </a:r>
            <a:r>
              <a:rPr lang="en-US" altLang="zh-CN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/DXAB</a:t>
            </a:r>
            <a:r>
              <a:rPr lang="zh-CN" altLang="en-US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/DXAC</a:t>
            </a:r>
            <a:r>
              <a:rPr lang="zh-CN" altLang="en-US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劫。</a:t>
            </a:r>
            <a:endParaRPr lang="en-US" altLang="zh-CN" sz="80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阳柱启动点（</a:t>
            </a:r>
            <a:r>
              <a:rPr lang="en-US" altLang="zh-CN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阳柱？</a:t>
            </a:r>
            <a:r>
              <a:rPr lang="en-US" altLang="zh-CN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阴柱？</a:t>
            </a:r>
            <a:r>
              <a:rPr lang="en-US" altLang="zh-CN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D3h</a:t>
            </a:r>
            <a:r>
              <a:rPr lang="zh-CN" altLang="en-US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？依赖</a:t>
            </a:r>
            <a:r>
              <a:rPr lang="en-US" altLang="zh-CN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？） </a:t>
            </a:r>
            <a:endParaRPr lang="en-US" altLang="zh-CN" sz="80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：当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DTZA≥-1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：找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升孕。当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DTZA≤1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：找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DTZA=1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：首柱防止假突破；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2~6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：介入最佳时机，优选回踩阴柱。防止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巨阳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久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 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较大：防止在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之上运行太久，要利用柱排与顶型提前退出。 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上：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无劫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D2c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DSHA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偏大要减仓；单阳要选小阳柱进入，下柱冲高退出。避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久。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天劫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D2d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：要利用顶型是否合离来判断是否准备下跌。走平后阴柱，小阳后恢复。跌连未破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可介入，单阴要看是否止跌或得到支撑。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劫：要关注是否遇到支撑线或已止跌。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DTZA=-1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，应问是否会立刻开始下一个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≤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-2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，关注柱排，如果非跌排，重点关注价上顶。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劫：重点等站上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后再介入。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/2e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：关注价上顶。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劫：首次出现的单阴，可以直接在阴柱出现，或首次出现的四柱栅。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】DXAB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劫：防止尾部诱多。可在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/D3h/D2I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弃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】DXAC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劫：防止尾部诱多。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8ADD4C18-F37F-6C8C-3BAB-9C72DA359584}"/>
              </a:ext>
            </a:extLst>
          </p:cNvPr>
          <p:cNvSpPr/>
          <p:nvPr/>
        </p:nvSpPr>
        <p:spPr>
          <a:xfrm>
            <a:off x="6096000" y="716961"/>
            <a:ext cx="6102299" cy="997201"/>
          </a:xfrm>
          <a:prstGeom prst="rect">
            <a:avLst/>
          </a:prstGeom>
          <a:solidFill>
            <a:srgbClr val="FF5050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真理勿删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区分上升的性质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只有触顶的上升才是真正的上升，因为在推高顶部；其余上升只是波动，很可能是诱多。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此真理符合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Livermore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操盘术，筛选备选时也要选择触顶或至少触哼。至少保留一定底仓。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周类运行规律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主升一般为升排。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日类运行规律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波浪前进，每过一段时间，会出现偏离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DJA/DJC/DJE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的波峰，尽量在触顶时卖掉浮仓；剩余底仓止损于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之上形成下降趋势时。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561571155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0E975B-B353-CF9A-D495-10F132DAB5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7FD7AFA-7360-6FF9-A99A-F187557521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【S3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日柱择入机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日柱排：预谋吃第几个阳柱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日地型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b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主题：预谋在何种形态介入？吃第几个阳柱？总结所有日类机会，并进行后续验证。牢记日类基本要求：周范围内；日在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之上；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-2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或参考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之上周柱。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9" name="表格 8">
            <a:extLst>
              <a:ext uri="{FF2B5EF4-FFF2-40B4-BE49-F238E27FC236}">
                <a16:creationId xmlns:a16="http://schemas.microsoft.com/office/drawing/2014/main" id="{66CAC24A-6018-0BE6-38D7-88160E7FEB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5517257"/>
              </p:ext>
            </p:extLst>
          </p:nvPr>
        </p:nvGraphicFramePr>
        <p:xfrm>
          <a:off x="-3" y="719666"/>
          <a:ext cx="12191999" cy="2590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5009">
                  <a:extLst>
                    <a:ext uri="{9D8B030D-6E8A-4147-A177-3AD203B41FA5}">
                      <a16:colId xmlns:a16="http://schemas.microsoft.com/office/drawing/2014/main" val="2031010368"/>
                    </a:ext>
                  </a:extLst>
                </a:gridCol>
                <a:gridCol w="1283249">
                  <a:extLst>
                    <a:ext uri="{9D8B030D-6E8A-4147-A177-3AD203B41FA5}">
                      <a16:colId xmlns:a16="http://schemas.microsoft.com/office/drawing/2014/main" val="1942273976"/>
                    </a:ext>
                  </a:extLst>
                </a:gridCol>
                <a:gridCol w="9693741">
                  <a:extLst>
                    <a:ext uri="{9D8B030D-6E8A-4147-A177-3AD203B41FA5}">
                      <a16:colId xmlns:a16="http://schemas.microsoft.com/office/drawing/2014/main" val="2220070509"/>
                    </a:ext>
                  </a:extLst>
                </a:gridCol>
              </a:tblGrid>
              <a:tr h="198480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预谋吃第几个阳柱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前柱情况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具体情况以及条件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8815989"/>
                  </a:ext>
                </a:extLst>
              </a:tr>
              <a:tr h="198480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须排除情况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基本条件是未冲高且在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之上。否则不应介入。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897009"/>
                  </a:ext>
                </a:extLst>
              </a:tr>
              <a:tr h="317568">
                <a:tc rowSpan="3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预谋吃第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个阳柱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前柱为单阴柱：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连阳后跌孕：连阳数较少可直接接入；针对连阳数较多且已冲高的情况，应防止演变为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前面多柱均在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之上，且不存在频繁贯穿或剧烈波动：可直接介入。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6290710"/>
                  </a:ext>
                </a:extLst>
              </a:tr>
              <a:tr h="317568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前柱为单阴柱：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连阳后跌吞：可直接介入。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未冲高，如得到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支撑可介入。否则应等待出现止跌（十字星）或反弹（单阳柱）再介入。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0309917"/>
                  </a:ext>
                </a:extLst>
              </a:tr>
              <a:tr h="317568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前柱为阴柱：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可介入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之上的跌连。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之上很难容纳跌连，跌连之后是机会。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可介入首下破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的跌连，特别是得到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支撑可介入。应等待出现止跌（十字星）或反弹（单阳柱）再介入。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1012411"/>
                  </a:ext>
                </a:extLst>
              </a:tr>
              <a:tr h="55574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预谋吃第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个阳柱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前柱为第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个阳柱：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最好形成特升栅变体结构：具体罗列参考（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跌孕升吞）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※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跌吞）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※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升孕）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跌连后单阳：必须结合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综合考虑。注意，柱体收盘价不应忽然偏离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较大，单柱偏离较大可能回踩。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之上跌连后单阳（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升孕）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跌连后单阳（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升孕）：鼎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3086439"/>
                  </a:ext>
                </a:extLst>
              </a:tr>
              <a:tr h="55574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预谋吃第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个阳柱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前柱为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个连续阳柱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面临两个选择：继续维持连阳，或出现阴柱调整（已冲高偏离较大或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DTZA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较久情况）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必须结合连阳所处的位置：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升两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升连：须始终在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之上，或仅下破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单柱。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2984112"/>
                  </a:ext>
                </a:extLst>
              </a:tr>
            </a:tbl>
          </a:graphicData>
        </a:graphic>
      </p:graphicFrame>
      <p:graphicFrame>
        <p:nvGraphicFramePr>
          <p:cNvPr id="12" name="表格 11">
            <a:extLst>
              <a:ext uri="{FF2B5EF4-FFF2-40B4-BE49-F238E27FC236}">
                <a16:creationId xmlns:a16="http://schemas.microsoft.com/office/drawing/2014/main" id="{04A74713-4E74-A4DB-C588-D6B571F0E6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8604457"/>
              </p:ext>
            </p:extLst>
          </p:nvPr>
        </p:nvGraphicFramePr>
        <p:xfrm>
          <a:off x="-5" y="3973176"/>
          <a:ext cx="9499113" cy="28848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00423">
                  <a:extLst>
                    <a:ext uri="{9D8B030D-6E8A-4147-A177-3AD203B41FA5}">
                      <a16:colId xmlns:a16="http://schemas.microsoft.com/office/drawing/2014/main" val="2031010368"/>
                    </a:ext>
                  </a:extLst>
                </a:gridCol>
                <a:gridCol w="2222546">
                  <a:extLst>
                    <a:ext uri="{9D8B030D-6E8A-4147-A177-3AD203B41FA5}">
                      <a16:colId xmlns:a16="http://schemas.microsoft.com/office/drawing/2014/main" val="1942273976"/>
                    </a:ext>
                  </a:extLst>
                </a:gridCol>
                <a:gridCol w="2379563">
                  <a:extLst>
                    <a:ext uri="{9D8B030D-6E8A-4147-A177-3AD203B41FA5}">
                      <a16:colId xmlns:a16="http://schemas.microsoft.com/office/drawing/2014/main" val="2220070509"/>
                    </a:ext>
                  </a:extLst>
                </a:gridCol>
                <a:gridCol w="3396581">
                  <a:extLst>
                    <a:ext uri="{9D8B030D-6E8A-4147-A177-3AD203B41FA5}">
                      <a16:colId xmlns:a16="http://schemas.microsoft.com/office/drawing/2014/main" val="276514323"/>
                    </a:ext>
                  </a:extLst>
                </a:gridCol>
              </a:tblGrid>
              <a:tr h="236460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前置形态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预谋吃第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个阳柱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预谋吃第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个阳柱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预谋吃第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个阳柱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8815989"/>
                  </a:ext>
                </a:extLst>
              </a:tr>
              <a:tr h="22069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升连之后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可止盈可减仓可守仓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2279099"/>
                  </a:ext>
                </a:extLst>
              </a:tr>
              <a:tr h="22069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可能形成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可能形成特梯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可能形成特梯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3086439"/>
                  </a:ext>
                </a:extLst>
              </a:tr>
              <a:tr h="22069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可能形成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升吞。要得到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支撑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可能形成特栏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可能形成特梯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2984112"/>
                  </a:ext>
                </a:extLst>
              </a:tr>
              <a:tr h="22069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看是否偏离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DSHA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较大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看是否偏离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DSHA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较大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9045749"/>
                  </a:ext>
                </a:extLst>
              </a:tr>
              <a:tr h="22069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形成阴阳阴，是逃顶信号。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可能形成阴阳相间无序震荡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可能形成阴阳相间无序震荡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3166533"/>
                  </a:ext>
                </a:extLst>
              </a:tr>
              <a:tr h="22069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形成阴阳阴，是逃顶信号。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可能形成阴阳相间无序震荡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可能形成阴阳相间无序震荡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6043635"/>
                  </a:ext>
                </a:extLst>
              </a:tr>
              <a:tr h="220697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连阳后跌连且未破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只可期待单阳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不应期待连阳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不应期待连阳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6052434"/>
                  </a:ext>
                </a:extLst>
              </a:tr>
              <a:tr h="22069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连阳后跌连且首下破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只可期待单阳（首下破是机会）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不应期待连阳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不应期待连阳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3755444"/>
                  </a:ext>
                </a:extLst>
              </a:tr>
              <a:tr h="22069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（首鼎）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。要在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附近，不适用已冲高。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可期待第二柱冲高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554458"/>
                  </a:ext>
                </a:extLst>
              </a:tr>
              <a:tr h="22069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（突破后回踩孕阴）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好机会。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继鼎是好机会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非常可能连阳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2010796"/>
                  </a:ext>
                </a:extLst>
              </a:tr>
              <a:tr h="22069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（突破后回踩连阴）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等待站稳或形成结构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继鼎是好机会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非常可能连阳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5609731"/>
                  </a:ext>
                </a:extLst>
              </a:tr>
              <a:tr h="22069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（突破后启动结构）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可能连阳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非常可能连阳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0163773"/>
                  </a:ext>
                </a:extLst>
              </a:tr>
            </a:tbl>
          </a:graphicData>
        </a:graphic>
      </p:graphicFrame>
      <p:sp>
        <p:nvSpPr>
          <p:cNvPr id="14" name="文本框 13">
            <a:extLst>
              <a:ext uri="{FF2B5EF4-FFF2-40B4-BE49-F238E27FC236}">
                <a16:creationId xmlns:a16="http://schemas.microsoft.com/office/drawing/2014/main" id="{CC12378B-21BB-086B-0586-643DDE8C102D}"/>
              </a:ext>
            </a:extLst>
          </p:cNvPr>
          <p:cNvSpPr txBox="1"/>
          <p:nvPr/>
        </p:nvSpPr>
        <p:spPr>
          <a:xfrm>
            <a:off x="0" y="3603843"/>
            <a:ext cx="1017477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待遍历验证：以下情况是否真正的日机？特殊模型的成立条件是什么？</a:t>
            </a:r>
            <a:endParaRPr lang="zh-CN" altLang="en-US" sz="1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5F6DE92E-EAD5-D82F-B101-CD6A156983E1}"/>
              </a:ext>
            </a:extLst>
          </p:cNvPr>
          <p:cNvSpPr/>
          <p:nvPr/>
        </p:nvSpPr>
        <p:spPr>
          <a:xfrm>
            <a:off x="9499108" y="3973175"/>
            <a:ext cx="2692892" cy="1996568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之上可接受的柱排：</a:t>
            </a:r>
            <a:endParaRPr lang="en-US" altLang="zh-CN" sz="9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特梯：连阳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阴阳相间：包含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跌孕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特栏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特栅：包含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跌吞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跌连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日类稳升状态允许出现的柱排包括（提示买入点），寻找并验证上升趋势的阳柱前导的特征：</a:t>
            </a:r>
            <a:endParaRPr lang="en-US" altLang="zh-CN" sz="9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升连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升连（跌孕）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升吞（跌孕） 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连阳后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升孕（跌孕）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 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连阳后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跌吞（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升孕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升吞）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 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连阳后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跌连（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升孕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升吞）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可单柱下破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A972E964-8CBA-7246-895A-12B742A6B403}"/>
              </a:ext>
            </a:extLst>
          </p:cNvPr>
          <p:cNvSpPr txBox="1"/>
          <p:nvPr/>
        </p:nvSpPr>
        <p:spPr>
          <a:xfrm>
            <a:off x="2118360" y="3362869"/>
            <a:ext cx="3185487" cy="369332"/>
          </a:xfrm>
          <a:prstGeom prst="rect">
            <a:avLst/>
          </a:prstGeom>
          <a:solidFill>
            <a:srgbClr val="FF99CC"/>
          </a:solidFill>
        </p:spPr>
        <p:txBody>
          <a:bodyPr wrap="none" rtlCol="0">
            <a:spAutoFit/>
          </a:bodyPr>
          <a:lstStyle/>
          <a:p>
            <a:r>
              <a:rPr lang="zh-CN" altLang="en-US" dirty="0"/>
              <a:t>日地型：仿照周地型进行总结</a:t>
            </a:r>
          </a:p>
        </p:txBody>
      </p:sp>
    </p:spTree>
    <p:extLst>
      <p:ext uri="{BB962C8B-B14F-4D97-AF65-F5344CB8AC3E}">
        <p14:creationId xmlns:p14="http://schemas.microsoft.com/office/powerpoint/2010/main" val="338143990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18F83F-242D-1F6F-BA32-BC8AF1B3FF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F3249ED-121F-FFEE-6869-27B6FFECB9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日周联动聚焦日机的操作细化路线图</a:t>
            </a:r>
            <a:r>
              <a:rPr lang="zh-CN" altLang="en-US" sz="2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（按联护</a:t>
            </a:r>
            <a:r>
              <a:rPr lang="en-US" altLang="zh-CN" sz="2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2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改造）</a:t>
            </a:r>
            <a:br>
              <a:rPr lang="en-US" altLang="zh-CN" sz="2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：操作细化路线图。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7" name="表格 6">
            <a:extLst>
              <a:ext uri="{FF2B5EF4-FFF2-40B4-BE49-F238E27FC236}">
                <a16:creationId xmlns:a16="http://schemas.microsoft.com/office/drawing/2014/main" id="{BFDE1BFB-D3FE-1599-71A1-494FEFE98ED1}"/>
              </a:ext>
            </a:extLst>
          </p:cNvPr>
          <p:cNvGraphicFramePr>
            <a:graphicFrameLocks noGrp="1"/>
          </p:cNvGraphicFramePr>
          <p:nvPr/>
        </p:nvGraphicFramePr>
        <p:xfrm>
          <a:off x="1" y="720000"/>
          <a:ext cx="12192001" cy="5708139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621436">
                  <a:extLst>
                    <a:ext uri="{9D8B030D-6E8A-4147-A177-3AD203B41FA5}">
                      <a16:colId xmlns:a16="http://schemas.microsoft.com/office/drawing/2014/main" val="301013411"/>
                    </a:ext>
                  </a:extLst>
                </a:gridCol>
                <a:gridCol w="891479">
                  <a:extLst>
                    <a:ext uri="{9D8B030D-6E8A-4147-A177-3AD203B41FA5}">
                      <a16:colId xmlns:a16="http://schemas.microsoft.com/office/drawing/2014/main" val="2020718224"/>
                    </a:ext>
                  </a:extLst>
                </a:gridCol>
                <a:gridCol w="1039091">
                  <a:extLst>
                    <a:ext uri="{9D8B030D-6E8A-4147-A177-3AD203B41FA5}">
                      <a16:colId xmlns:a16="http://schemas.microsoft.com/office/drawing/2014/main" val="1641528337"/>
                    </a:ext>
                  </a:extLst>
                </a:gridCol>
                <a:gridCol w="989215">
                  <a:extLst>
                    <a:ext uri="{9D8B030D-6E8A-4147-A177-3AD203B41FA5}">
                      <a16:colId xmlns:a16="http://schemas.microsoft.com/office/drawing/2014/main" val="3450641166"/>
                    </a:ext>
                  </a:extLst>
                </a:gridCol>
                <a:gridCol w="1529542">
                  <a:extLst>
                    <a:ext uri="{9D8B030D-6E8A-4147-A177-3AD203B41FA5}">
                      <a16:colId xmlns:a16="http://schemas.microsoft.com/office/drawing/2014/main" val="914245775"/>
                    </a:ext>
                  </a:extLst>
                </a:gridCol>
                <a:gridCol w="5759161">
                  <a:extLst>
                    <a:ext uri="{9D8B030D-6E8A-4147-A177-3AD203B41FA5}">
                      <a16:colId xmlns:a16="http://schemas.microsoft.com/office/drawing/2014/main" val="3104973407"/>
                    </a:ext>
                  </a:extLst>
                </a:gridCol>
                <a:gridCol w="733425">
                  <a:extLst>
                    <a:ext uri="{9D8B030D-6E8A-4147-A177-3AD203B41FA5}">
                      <a16:colId xmlns:a16="http://schemas.microsoft.com/office/drawing/2014/main" val="3965539014"/>
                    </a:ext>
                  </a:extLst>
                </a:gridCol>
                <a:gridCol w="628652">
                  <a:extLst>
                    <a:ext uri="{9D8B030D-6E8A-4147-A177-3AD203B41FA5}">
                      <a16:colId xmlns:a16="http://schemas.microsoft.com/office/drawing/2014/main" val="2165842782"/>
                    </a:ext>
                  </a:extLst>
                </a:gridCol>
              </a:tblGrid>
              <a:tr h="233545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周范围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周操作区域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日操作区域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日操作区域子类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运行特征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根据运行状态所做的操作决策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运行方向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是否可能</a:t>
                      </a:r>
                      <a:endParaRPr lang="en-US" altLang="zh-CN" sz="8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形成主升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6580114"/>
                  </a:ext>
                </a:extLst>
              </a:tr>
              <a:tr h="233545">
                <a:tc rowSpan="16">
                  <a:txBody>
                    <a:bodyPr/>
                    <a:lstStyle/>
                    <a:p>
                      <a:r>
                        <a:rPr lang="en-US" altLang="zh-CN" sz="8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WXZC&gt;0</a:t>
                      </a:r>
                    </a:p>
                    <a:p>
                      <a:r>
                        <a:rPr lang="zh-CN" altLang="en-US" sz="8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endParaRPr lang="en-US" altLang="zh-CN" sz="80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WXZB&gt;0</a:t>
                      </a:r>
                      <a:endParaRPr lang="zh-CN" altLang="en-US" sz="8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 rowSpan="12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周操作区域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符合周柱排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特梯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特枝（部分）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特栏（部分）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特栅（部分）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11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日类主动操作区域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DXZB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DJEDC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上是主战场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上勿轻易退出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  <a:p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初上破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受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压制，最好两柱站上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DTZB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）再确认站上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。牢记只要在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之上就可能是主升。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向上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1034771"/>
                  </a:ext>
                </a:extLst>
              </a:tr>
              <a:tr h="233545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单阳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有可能是诱多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4470238"/>
                  </a:ext>
                </a:extLst>
              </a:tr>
              <a:tr h="233545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后回踩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K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柱上破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后不是继续冲高，而是回踩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，沿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进行柱排列。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最好日机：日突破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后第二三柱，为十字星或孕阴，是最好介入机会。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向上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很可能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8618594"/>
                  </a:ext>
                </a:extLst>
              </a:tr>
              <a:tr h="233545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后形成启动结构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最好日机：日突破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后，第一个继鼎（第四五柱），是很好上冲机会。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向上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非常可能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1463044"/>
                  </a:ext>
                </a:extLst>
              </a:tr>
              <a:tr h="373672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在管（顶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,DJA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）内运动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按原排列远离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特梯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按已有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K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柱排列延续：如连阳、阴阳相间。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此种方式不受均线限制，直到偏离均线过远后被拉回。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向上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非常可能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6874825"/>
                  </a:ext>
                </a:extLst>
              </a:tr>
              <a:tr h="620005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回归均线后形成调整结构：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特栅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调整结构：中途回归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后再次上升。属于碰撞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后的反弹，可能随时失败。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回踩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后继鼎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回踩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后鼎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是否能够出现阴柱：在未冲高情况下，可出现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跌连，从而形成特升栅。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向上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很可能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5408964"/>
                  </a:ext>
                </a:extLst>
              </a:tr>
              <a:tr h="513798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在管（顶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,DJA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）内平移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存在两种方式：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以十字星、极小阳柱，柱排列形成平移。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以阴阳相间，柱排列形成平移。是否能够出现阴柱：在未冲高情况下，可出现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跌孕，从而形成阴阳相间排列。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平移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不可能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6320356"/>
                  </a:ext>
                </a:extLst>
              </a:tr>
              <a:tr h="373672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之上回归均线并准备下破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冲高后，由远到近，逐步回归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可能属于升势尾部，快速回归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（跌连、跌吞），然后下破。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不可能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39369"/>
                  </a:ext>
                </a:extLst>
              </a:tr>
              <a:tr h="233545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</a:p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可能立刻开始下一个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丘。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牢记只要在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之上就可能是主升，不要过分关注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向下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向上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不可能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941517"/>
                  </a:ext>
                </a:extLst>
              </a:tr>
              <a:tr h="373672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10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两柱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无支撑均线，特别是在下破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、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后会快速下滑。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丘的作用：日线要下破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后，再考虑跌排，才能进行止损。在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之上的跌排，都可视为机会。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6041929"/>
                  </a:ext>
                </a:extLst>
              </a:tr>
              <a:tr h="233545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频繁贯穿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阴阳相间、频繁贯穿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无方向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不可能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654989"/>
                  </a:ext>
                </a:extLst>
              </a:tr>
              <a:tr h="233545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日类被动操作区域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DXZB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</a:p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上尚存希望）</a:t>
                      </a:r>
                      <a:endParaRPr lang="en-US" altLang="zh-CN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介于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间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周级别阴柱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须依赖周柱排列。等待上破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或形成升排再介入。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针对周类回调阴柱，周末收盘时只需在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之上，不须站上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主动介入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@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仅在周末：当周收盘下破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且在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之上：下周仍有可能为周阳柱或周冲高。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大方向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682979"/>
                  </a:ext>
                </a:extLst>
              </a:tr>
              <a:tr h="233545"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rowSpan="4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非周操作范围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退出过程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当日下破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退出，若周末反弹站回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，可再介入；若周末仍在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之下，则不介入。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5752927"/>
                  </a:ext>
                </a:extLst>
              </a:tr>
              <a:tr h="233545"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周首下破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可设置准则为（周末不下破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不用止损）⇒以此防止：下破低级均线被震出；当日回落而恐惧清仓。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6551676"/>
                  </a:ext>
                </a:extLst>
              </a:tr>
              <a:tr h="233545"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可强制按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作为止损线。可放入备选池。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9089471"/>
                  </a:ext>
                </a:extLst>
              </a:tr>
              <a:tr h="233545"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放弃区域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跌排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人排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不符合介入条件。</a:t>
                      </a:r>
                      <a:endParaRPr lang="en-US" altLang="zh-CN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注：如观察到存在上升机会的情况，需要修改（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特梯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特栏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特栅</a:t>
                      </a:r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特枝）定义或增加新的周操作区域。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NA</a:t>
                      </a:r>
                      <a:endParaRPr lang="zh-CN" altLang="en-US" sz="800" b="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4322546"/>
                  </a:ext>
                </a:extLst>
              </a:tr>
            </a:tbl>
          </a:graphicData>
        </a:graphic>
      </p:graphicFrame>
      <p:sp>
        <p:nvSpPr>
          <p:cNvPr id="3" name="文本框 2">
            <a:extLst>
              <a:ext uri="{FF2B5EF4-FFF2-40B4-BE49-F238E27FC236}">
                <a16:creationId xmlns:a16="http://schemas.microsoft.com/office/drawing/2014/main" id="{0AD696DB-1057-112B-B1A5-67EB2650B9FC}"/>
              </a:ext>
            </a:extLst>
          </p:cNvPr>
          <p:cNvSpPr txBox="1"/>
          <p:nvPr/>
        </p:nvSpPr>
        <p:spPr>
          <a:xfrm>
            <a:off x="-4194386" y="4276478"/>
            <a:ext cx="4944533" cy="1200329"/>
          </a:xfrm>
          <a:prstGeom prst="rect">
            <a:avLst/>
          </a:prstGeom>
          <a:solidFill>
            <a:srgbClr val="FF99CC">
              <a:alpha val="70000"/>
            </a:srgbClr>
          </a:solidFill>
        </p:spPr>
        <p:txBody>
          <a:bodyPr wrap="square" rtlCol="0">
            <a:spAutoFit/>
          </a:bodyPr>
          <a:lstStyle/>
          <a:p>
            <a:r>
              <a:rPr lang="zh-CN" altLang="en-US" dirty="0"/>
              <a:t>因为</a:t>
            </a:r>
            <a:r>
              <a:rPr lang="en-US" altLang="zh-CN" dirty="0"/>
              <a:t>《</a:t>
            </a:r>
            <a:r>
              <a:rPr lang="zh-CN" altLang="en-US" dirty="0"/>
              <a:t>龙展日战法</a:t>
            </a:r>
            <a:r>
              <a:rPr lang="en-US" altLang="zh-CN" dirty="0"/>
              <a:t>》</a:t>
            </a:r>
            <a:r>
              <a:rPr lang="zh-CN" altLang="en-US" dirty="0"/>
              <a:t>已将区域集中于“龙管”之中，所以没有必要再次限制周操作区域，从而可以只在“龙管”之中，根据日类机会快速做</a:t>
            </a:r>
            <a:r>
              <a:rPr lang="en-US" altLang="zh-CN" dirty="0"/>
              <a:t>T</a:t>
            </a:r>
            <a:r>
              <a:rPr lang="zh-CN" altLang="en-US" dirty="0"/>
              <a:t>。</a:t>
            </a:r>
            <a:endParaRPr lang="en-US" altLang="zh-CN" dirty="0"/>
          </a:p>
          <a:p>
            <a:r>
              <a:rPr lang="zh-CN" altLang="en-US" dirty="0"/>
              <a:t>需要将本页与下页进行合并。</a:t>
            </a:r>
          </a:p>
        </p:txBody>
      </p:sp>
    </p:spTree>
    <p:extLst>
      <p:ext uri="{BB962C8B-B14F-4D97-AF65-F5344CB8AC3E}">
        <p14:creationId xmlns:p14="http://schemas.microsoft.com/office/powerpoint/2010/main" val="167636470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981815-9D0C-9901-DAEE-EF4FA194BB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EA3610D-D449-0C7A-6C9B-B7CF6C5CCB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【S3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日柱择入机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算法优化链条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买卖交易决策依据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梳理新的交易规则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20250815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。等待成熟后与原交易规则合并。在各种情况下进行买卖交易决策分类。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E91372D6-6A58-3D12-3344-7034304B6843}"/>
              </a:ext>
            </a:extLst>
          </p:cNvPr>
          <p:cNvGraphicFramePr>
            <a:graphicFrameLocks noGrp="1"/>
          </p:cNvGraphicFramePr>
          <p:nvPr/>
        </p:nvGraphicFramePr>
        <p:xfrm>
          <a:off x="-1" y="720000"/>
          <a:ext cx="12192000" cy="6126480"/>
        </p:xfrm>
        <a:graphic>
          <a:graphicData uri="http://schemas.openxmlformats.org/drawingml/2006/table">
            <a:tbl>
              <a:tblPr firstRow="1" bandRow="1">
                <a:tableStyleId>{68D230F3-CF80-4859-8CE7-A43EE81993B5}</a:tableStyleId>
              </a:tblPr>
              <a:tblGrid>
                <a:gridCol w="787413">
                  <a:extLst>
                    <a:ext uri="{9D8B030D-6E8A-4147-A177-3AD203B41FA5}">
                      <a16:colId xmlns:a16="http://schemas.microsoft.com/office/drawing/2014/main" val="3361469118"/>
                    </a:ext>
                  </a:extLst>
                </a:gridCol>
                <a:gridCol w="3177759">
                  <a:extLst>
                    <a:ext uri="{9D8B030D-6E8A-4147-A177-3AD203B41FA5}">
                      <a16:colId xmlns:a16="http://schemas.microsoft.com/office/drawing/2014/main" val="448088942"/>
                    </a:ext>
                  </a:extLst>
                </a:gridCol>
                <a:gridCol w="2798320">
                  <a:extLst>
                    <a:ext uri="{9D8B030D-6E8A-4147-A177-3AD203B41FA5}">
                      <a16:colId xmlns:a16="http://schemas.microsoft.com/office/drawing/2014/main" val="2321297092"/>
                    </a:ext>
                  </a:extLst>
                </a:gridCol>
                <a:gridCol w="2714254">
                  <a:extLst>
                    <a:ext uri="{9D8B030D-6E8A-4147-A177-3AD203B41FA5}">
                      <a16:colId xmlns:a16="http://schemas.microsoft.com/office/drawing/2014/main" val="1631033224"/>
                    </a:ext>
                  </a:extLst>
                </a:gridCol>
                <a:gridCol w="2714254">
                  <a:extLst>
                    <a:ext uri="{9D8B030D-6E8A-4147-A177-3AD203B41FA5}">
                      <a16:colId xmlns:a16="http://schemas.microsoft.com/office/drawing/2014/main" val="1365514065"/>
                    </a:ext>
                  </a:extLst>
                </a:gridCol>
              </a:tblGrid>
              <a:tr h="489160">
                <a:tc gridSpan="2"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算法优化路径：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基于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DJE&amp;DJC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必赢算法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以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作为操盘线，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作为判定在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之上是否向上的辅助线。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借助日顶型，在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DJE&amp;DJC&amp;DJB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的大范围内，圈定必须持有的子区域。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在以上必持子区域中，按照具体情况进行高抛低吸等日柱级别的操作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。</a:t>
                      </a:r>
                      <a:endParaRPr lang="zh-CN" altLang="en-US" sz="9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两个心结：</a:t>
                      </a:r>
                      <a:endParaRPr lang="en-US" altLang="zh-CN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止损点是</a:t>
                      </a:r>
                      <a:r>
                        <a:rPr lang="en-US" altLang="zh-CN" sz="9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9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还是</a:t>
                      </a:r>
                      <a:r>
                        <a:rPr lang="en-US" altLang="zh-CN" sz="9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9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？</a:t>
                      </a:r>
                      <a:endParaRPr lang="en-US" altLang="zh-CN" sz="900" b="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底仓下破</a:t>
                      </a:r>
                      <a:r>
                        <a:rPr lang="en-US" altLang="zh-CN" sz="9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9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才允许卖出。</a:t>
                      </a:r>
                      <a:endParaRPr lang="en-US" altLang="zh-CN" sz="900" b="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单股仓位：是否对个股限制底仓？</a:t>
                      </a:r>
                      <a:endParaRPr lang="en-US" altLang="zh-CN" sz="900" b="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应限制总仓位而非个股仓位。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5256110"/>
                  </a:ext>
                </a:extLst>
              </a:tr>
              <a:tr h="163053">
                <a:tc rowSpan="2"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生命周期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区域的详细情况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操作类别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10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0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916292"/>
                  </a:ext>
                </a:extLst>
              </a:tr>
              <a:tr h="163053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达成应买入决策的条件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不确定是否应买入的条件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达成不应买入决策的条件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994447"/>
                  </a:ext>
                </a:extLst>
              </a:tr>
              <a:tr h="163053">
                <a:tc rowSpan="5"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入口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初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D2cde</a:t>
                      </a:r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柱排列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0500153"/>
                  </a:ext>
                </a:extLst>
              </a:tr>
              <a:tr h="163053">
                <a:tc v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初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D1be</a:t>
                      </a:r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DXAB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正交且突破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7479045"/>
                  </a:ext>
                </a:extLst>
              </a:tr>
              <a:tr h="16305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初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D1w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DXAB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正交且突破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728731"/>
                  </a:ext>
                </a:extLst>
              </a:tr>
              <a:tr h="16305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储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D6w</a:t>
                      </a:r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DXAB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正交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6807469"/>
                  </a:ext>
                </a:extLst>
              </a:tr>
              <a:tr h="163053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储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D6v</a:t>
                      </a:r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在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之上两柱以上，形成回踩或栅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0981447"/>
                  </a:ext>
                </a:extLst>
              </a:tr>
              <a:tr h="163053">
                <a:tc rowSpan="4"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入口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站上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且离顶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&amp;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未触哼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原旨应介入。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不确定是否为正常波动。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0213001"/>
                  </a:ext>
                </a:extLst>
              </a:tr>
              <a:tr h="163053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站上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且离顶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&amp;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触哼单次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原旨应介入。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不确定是否为正常波动。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676772"/>
                  </a:ext>
                </a:extLst>
              </a:tr>
              <a:tr h="163053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站上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且离顶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&amp;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触哼多次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可判断已进入管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(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哼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,DJA)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，应当按柱排介入。</a:t>
                      </a:r>
                      <a:r>
                        <a:rPr lang="zh-CN" altLang="en-US" sz="800" dirty="0"/>
                        <a:t>触哼第</a:t>
                      </a:r>
                      <a:r>
                        <a:rPr lang="en-US" altLang="zh-CN" sz="800" dirty="0"/>
                        <a:t>2</a:t>
                      </a:r>
                      <a:r>
                        <a:rPr lang="zh-CN" altLang="en-US" sz="800" dirty="0"/>
                        <a:t>柱是最佳介入点。</a:t>
                      </a: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8167444"/>
                  </a:ext>
                </a:extLst>
              </a:tr>
              <a:tr h="179968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站上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且合顶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应介入。特别是已合顶情况。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需要注意与前合顶比较高度，对于降低的合顶应谨慎。</a:t>
                      </a:r>
                      <a:endParaRPr lang="en-US" altLang="zh-CN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2067531"/>
                  </a:ext>
                </a:extLst>
              </a:tr>
              <a:tr h="163053">
                <a:tc rowSpan="7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管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(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顶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,DJB)</a:t>
                      </a:r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特殊情况：已冲高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应左侧止盈。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4148607"/>
                  </a:ext>
                </a:extLst>
              </a:tr>
              <a:tr h="163053"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特殊情况：离顶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不是必须卖出条件。已冲高必须卖出。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2041580"/>
                  </a:ext>
                </a:extLst>
              </a:tr>
              <a:tr h="16305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特殊情况：下破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首下破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，可试仓，赌明日冲高。特别是在连阳之后。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多柱下破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，要出现止跌阳柱后试仓。</a:t>
                      </a:r>
                      <a:endParaRPr lang="en-US" altLang="zh-CN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要观察与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底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哈的接触情况，判断是否已经反转。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395921"/>
                  </a:ext>
                </a:extLst>
              </a:tr>
              <a:tr h="16305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管（顶，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）：连续触顶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连阳可介入，下柱冲高止盈。</a:t>
                      </a:r>
                      <a:endParaRPr lang="en-US" altLang="zh-CN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最佳介入点：在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之上，触哼第二柱，决定是否介入。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0862175"/>
                  </a:ext>
                </a:extLst>
              </a:tr>
              <a:tr h="16305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管（顶，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）：从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向顶的过渡过程中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最好连阳小碎步。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遇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升吞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升孕，若偏离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较大，最好等待阴柱回踩。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6642990"/>
                  </a:ext>
                </a:extLst>
              </a:tr>
              <a:tr h="16305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管（顶，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）：开始离开顶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遇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之上连阳之后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跌孕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跌吞，可介入，下柱冲高卖出。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遇</a:t>
                      </a:r>
                      <a:r>
                        <a:rPr lang="en-US" altLang="zh-CN" sz="8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跌吞</a:t>
                      </a:r>
                      <a:r>
                        <a:rPr lang="en-US" altLang="zh-CN" sz="8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跌连，要等待具有止跌效应（</a:t>
                      </a:r>
                      <a:r>
                        <a:rPr lang="en-US" altLang="zh-CN" sz="8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十字星</a:t>
                      </a:r>
                      <a:r>
                        <a:rPr lang="en-US" altLang="zh-CN" sz="8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800" b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小阳柱）。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1414539"/>
                  </a:ext>
                </a:extLst>
              </a:tr>
              <a:tr h="16305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管（顶，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）：反复纠缠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不应介入：反复贯穿，无法有效脱离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7206824"/>
                  </a:ext>
                </a:extLst>
              </a:tr>
              <a:tr h="163053">
                <a:tc rowSpan="2"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下破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周中下破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允许卖出。</a:t>
                      </a:r>
                      <a:endParaRPr lang="en-US" altLang="zh-CN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/>
                        <a:t>在</a:t>
                      </a:r>
                      <a:r>
                        <a:rPr lang="en-US" altLang="zh-CN" sz="800" dirty="0"/>
                        <a:t>DJB</a:t>
                      </a:r>
                      <a:r>
                        <a:rPr lang="zh-CN" altLang="en-US" sz="800" dirty="0"/>
                        <a:t>之上平稳运行且</a:t>
                      </a:r>
                      <a:r>
                        <a:rPr lang="en-US" altLang="zh-CN" sz="800" dirty="0"/>
                        <a:t>DXAB&gt;0</a:t>
                      </a:r>
                      <a:r>
                        <a:rPr lang="zh-CN" altLang="en-US" sz="800" dirty="0"/>
                        <a:t>：应以</a:t>
                      </a:r>
                      <a:r>
                        <a:rPr lang="en-US" altLang="zh-CN" sz="800" dirty="0"/>
                        <a:t>DJB</a:t>
                      </a:r>
                      <a:r>
                        <a:rPr lang="zh-CN" altLang="en-US" sz="800" dirty="0"/>
                        <a:t>止损。</a:t>
                      </a:r>
                      <a:endParaRPr lang="en-US" altLang="zh-CN" sz="800"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2535202"/>
                  </a:ext>
                </a:extLst>
              </a:tr>
              <a:tr h="256227"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周末最后一天，介于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与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之间。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配合周柱排（周阴柱接近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WJA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），可以买入，下周冲高止盈，破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止损。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7224993"/>
                  </a:ext>
                </a:extLst>
              </a:tr>
              <a:tr h="163053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下破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下破</a:t>
                      </a:r>
                      <a:r>
                        <a:rPr lang="en-US" altLang="zh-CN" sz="8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必须卖出。违反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DJE&amp;DJC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必赢算法。</a:t>
                      </a:r>
                      <a:endParaRPr lang="en-US" altLang="zh-CN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/>
                        <a:t>/</a:t>
                      </a:r>
                      <a:r>
                        <a:rPr lang="zh-CN" altLang="en-US" sz="800" dirty="0"/>
                        <a:t>上破</a:t>
                      </a:r>
                      <a:r>
                        <a:rPr lang="en-US" altLang="zh-CN" sz="800" dirty="0"/>
                        <a:t>DJB</a:t>
                      </a:r>
                      <a:r>
                        <a:rPr lang="zh-CN" altLang="en-US" sz="800" dirty="0"/>
                        <a:t>介入</a:t>
                      </a:r>
                      <a:r>
                        <a:rPr lang="en-US" altLang="zh-CN" sz="800" dirty="0"/>
                        <a:t>/</a:t>
                      </a:r>
                      <a:r>
                        <a:rPr lang="zh-CN" altLang="en-US" sz="800" dirty="0"/>
                        <a:t>在</a:t>
                      </a:r>
                      <a:r>
                        <a:rPr lang="en-US" altLang="zh-CN" sz="800" dirty="0"/>
                        <a:t>DJA</a:t>
                      </a:r>
                      <a:r>
                        <a:rPr lang="zh-CN" altLang="en-US" sz="800" dirty="0"/>
                        <a:t>与</a:t>
                      </a:r>
                      <a:r>
                        <a:rPr lang="en-US" altLang="zh-CN" sz="800" dirty="0"/>
                        <a:t>DJB</a:t>
                      </a:r>
                      <a:r>
                        <a:rPr lang="zh-CN" altLang="en-US" sz="800" dirty="0"/>
                        <a:t>之间介入</a:t>
                      </a:r>
                      <a:r>
                        <a:rPr lang="en-US" altLang="zh-CN" sz="800" dirty="0"/>
                        <a:t>/</a:t>
                      </a:r>
                      <a:r>
                        <a:rPr lang="zh-CN" altLang="en-US" sz="800" dirty="0"/>
                        <a:t>在</a:t>
                      </a:r>
                      <a:r>
                        <a:rPr lang="en-US" altLang="zh-CN" sz="800" dirty="0"/>
                        <a:t>DJB</a:t>
                      </a:r>
                      <a:r>
                        <a:rPr lang="zh-CN" altLang="en-US" sz="800" dirty="0"/>
                        <a:t>与</a:t>
                      </a:r>
                      <a:r>
                        <a:rPr lang="en-US" altLang="zh-CN" sz="800" dirty="0"/>
                        <a:t>DJC</a:t>
                      </a:r>
                      <a:r>
                        <a:rPr lang="zh-CN" altLang="en-US" sz="800" dirty="0"/>
                        <a:t>之间介入：应以</a:t>
                      </a:r>
                      <a:r>
                        <a:rPr lang="en-US" altLang="zh-CN" sz="800" dirty="0"/>
                        <a:t>DJC</a:t>
                      </a:r>
                      <a:r>
                        <a:rPr lang="zh-CN" altLang="en-US" sz="800" dirty="0"/>
                        <a:t>止损。</a:t>
                      </a:r>
                      <a:endParaRPr lang="en-US" altLang="zh-CN" sz="800"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595122"/>
                  </a:ext>
                </a:extLst>
              </a:tr>
            </a:tbl>
          </a:graphicData>
        </a:graphic>
      </p:graphicFrame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58291D3F-91B6-8822-A1C1-97CF7723F1CD}"/>
              </a:ext>
            </a:extLst>
          </p:cNvPr>
          <p:cNvGraphicFramePr>
            <a:graphicFrameLocks noGrp="1"/>
          </p:cNvGraphicFramePr>
          <p:nvPr/>
        </p:nvGraphicFramePr>
        <p:xfrm>
          <a:off x="-6192981" y="2025029"/>
          <a:ext cx="6096000" cy="4333771"/>
        </p:xfrm>
        <a:graphic>
          <a:graphicData uri="http://schemas.openxmlformats.org/drawingml/2006/table">
            <a:tbl>
              <a:tblPr firstRow="1" bandRow="1">
                <a:tableStyleId>{5FD0F851-EC5A-4D38-B0AD-8093EC10F338}</a:tableStyleId>
              </a:tblPr>
              <a:tblGrid>
                <a:gridCol w="955964">
                  <a:extLst>
                    <a:ext uri="{9D8B030D-6E8A-4147-A177-3AD203B41FA5}">
                      <a16:colId xmlns:a16="http://schemas.microsoft.com/office/drawing/2014/main" val="63206737"/>
                    </a:ext>
                  </a:extLst>
                </a:gridCol>
                <a:gridCol w="5140036">
                  <a:extLst>
                    <a:ext uri="{9D8B030D-6E8A-4147-A177-3AD203B41FA5}">
                      <a16:colId xmlns:a16="http://schemas.microsoft.com/office/drawing/2014/main" val="207179332"/>
                    </a:ext>
                  </a:extLst>
                </a:gridCol>
              </a:tblGrid>
              <a:tr h="280604">
                <a:tc gridSpan="2">
                  <a:txBody>
                    <a:bodyPr/>
                    <a:lstStyle/>
                    <a:p>
                      <a:r>
                        <a:rPr lang="zh-CN" altLang="en-US" sz="1200" dirty="0"/>
                        <a:t>交易规则</a:t>
                      </a:r>
                      <a:r>
                        <a:rPr lang="en-US" altLang="zh-CN" sz="1200" dirty="0"/>
                        <a:t>20250815</a:t>
                      </a:r>
                      <a:r>
                        <a:rPr lang="zh-CN" altLang="en-US" sz="1200" dirty="0"/>
                        <a:t>。等待成熟后与原交易规则合并。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12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7334503"/>
                  </a:ext>
                </a:extLst>
              </a:tr>
              <a:tr h="280604">
                <a:tc>
                  <a:txBody>
                    <a:bodyPr/>
                    <a:lstStyle/>
                    <a:p>
                      <a:r>
                        <a:rPr lang="zh-CN" altLang="en-US" sz="1200" b="1" dirty="0"/>
                        <a:t>区域</a:t>
                      </a:r>
                    </a:p>
                  </a:txBody>
                  <a:tcPr>
                    <a:solidFill>
                      <a:schemeClr val="accent5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200" b="1" dirty="0"/>
                        <a:t>操作要点</a:t>
                      </a:r>
                    </a:p>
                  </a:txBody>
                  <a:tcPr>
                    <a:solidFill>
                      <a:schemeClr val="accent5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05786"/>
                  </a:ext>
                </a:extLst>
              </a:tr>
              <a:tr h="561208">
                <a:tc>
                  <a:txBody>
                    <a:bodyPr/>
                    <a:lstStyle/>
                    <a:p>
                      <a:r>
                        <a:rPr lang="en-US" altLang="zh-CN" sz="900" b="1" dirty="0"/>
                        <a:t>DXBC&lt;0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/>
                        <a:t>主要筛选</a:t>
                      </a:r>
                      <a:r>
                        <a:rPr lang="en-US" altLang="zh-CN" sz="900" b="1" dirty="0"/>
                        <a:t>DJC</a:t>
                      </a:r>
                      <a:r>
                        <a:rPr lang="zh-CN" altLang="en-US" sz="900" b="1" dirty="0"/>
                        <a:t>丘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介入点：以</a:t>
                      </a:r>
                      <a:r>
                        <a:rPr lang="en-US" altLang="zh-CN" sz="900" dirty="0"/>
                        <a:t>DJC</a:t>
                      </a:r>
                      <a:r>
                        <a:rPr lang="zh-CN" altLang="en-US" sz="900" dirty="0"/>
                        <a:t>为丘，最好</a:t>
                      </a:r>
                      <a:r>
                        <a:rPr lang="en-US" altLang="zh-CN" sz="900" dirty="0"/>
                        <a:t>DXAB</a:t>
                      </a:r>
                      <a:r>
                        <a:rPr lang="zh-CN" altLang="en-US" sz="900" dirty="0"/>
                        <a:t>＞</a:t>
                      </a:r>
                      <a:r>
                        <a:rPr lang="en-US" altLang="zh-CN" sz="900" dirty="0"/>
                        <a:t>0</a:t>
                      </a:r>
                      <a:r>
                        <a:rPr lang="zh-CN" altLang="en-US" sz="900" dirty="0"/>
                        <a:t>且触顶。</a:t>
                      </a:r>
                      <a:endParaRPr lang="en-US" altLang="zh-CN" sz="900" dirty="0"/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止损点：破</a:t>
                      </a:r>
                      <a:r>
                        <a:rPr lang="en-US" altLang="zh-CN" sz="900" dirty="0"/>
                        <a:t>DJC</a:t>
                      </a:r>
                      <a:r>
                        <a:rPr lang="zh-CN" altLang="en-US" sz="900" dirty="0"/>
                        <a:t>或</a:t>
                      </a:r>
                      <a:r>
                        <a:rPr lang="en-US" altLang="zh-CN" sz="900" dirty="0"/>
                        <a:t>DJB</a:t>
                      </a:r>
                      <a:r>
                        <a:rPr lang="zh-CN" altLang="en-US" sz="900" dirty="0"/>
                        <a:t>退出。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52431348"/>
                  </a:ext>
                </a:extLst>
              </a:tr>
              <a:tr h="32113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b="1" dirty="0"/>
                        <a:t>DXBC&gt;0</a:t>
                      </a: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b="1" dirty="0"/>
                        <a:t>主要筛选</a:t>
                      </a:r>
                      <a:r>
                        <a:rPr lang="en-US" altLang="zh-CN" sz="900" b="1" dirty="0"/>
                        <a:t>DJB</a:t>
                      </a:r>
                      <a:r>
                        <a:rPr lang="zh-CN" altLang="en-US" sz="900" b="1" dirty="0"/>
                        <a:t>丘</a:t>
                      </a:r>
                      <a:endParaRPr lang="en-US" altLang="zh-CN" sz="900" b="1" dirty="0"/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b="1" dirty="0"/>
                        <a:t>利用</a:t>
                      </a:r>
                      <a:r>
                        <a:rPr lang="en-US" altLang="zh-CN" sz="900" b="1" dirty="0"/>
                        <a:t>(</a:t>
                      </a:r>
                      <a:r>
                        <a:rPr lang="zh-CN" altLang="en-US" sz="900" b="1" dirty="0"/>
                        <a:t>顶</a:t>
                      </a:r>
                      <a:r>
                        <a:rPr lang="en-US" altLang="zh-CN" sz="900" b="1" dirty="0"/>
                        <a:t>,DJB)</a:t>
                      </a:r>
                      <a:r>
                        <a:rPr lang="zh-CN" altLang="en-US" sz="900" b="1" dirty="0"/>
                        <a:t>管</a:t>
                      </a:r>
                      <a:endParaRPr lang="en-US" altLang="zh-CN" sz="900" b="1" dirty="0"/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b="1" dirty="0"/>
                        <a:t>要借助周柱排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介入点：以</a:t>
                      </a:r>
                      <a:r>
                        <a:rPr lang="en-US" altLang="zh-CN" sz="900" dirty="0"/>
                        <a:t>DJB</a:t>
                      </a:r>
                      <a:r>
                        <a:rPr lang="zh-CN" altLang="en-US" sz="900" dirty="0"/>
                        <a:t>为丘，理论上一旦上破</a:t>
                      </a:r>
                      <a:r>
                        <a:rPr lang="en-US" altLang="zh-CN" sz="900" dirty="0"/>
                        <a:t>DJB</a:t>
                      </a:r>
                      <a:r>
                        <a:rPr lang="zh-CN" altLang="en-US" sz="900" dirty="0"/>
                        <a:t>就应介入，但实际应区分以下反弹程度。</a:t>
                      </a:r>
                      <a:endParaRPr lang="en-US" altLang="zh-CN" sz="900" dirty="0"/>
                    </a:p>
                    <a:p>
                      <a:pPr marL="742950" marR="0" lvl="1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站上</a:t>
                      </a:r>
                      <a:r>
                        <a:rPr lang="en-US" altLang="zh-CN" sz="900" dirty="0"/>
                        <a:t>DJB</a:t>
                      </a:r>
                      <a:r>
                        <a:rPr lang="zh-CN" altLang="en-US" sz="900" dirty="0"/>
                        <a:t>且离顶</a:t>
                      </a:r>
                      <a:r>
                        <a:rPr lang="en-US" altLang="zh-CN" sz="900" dirty="0"/>
                        <a:t>&amp;</a:t>
                      </a:r>
                      <a:r>
                        <a:rPr lang="zh-CN" altLang="en-US" sz="900" dirty="0"/>
                        <a:t>未触哼：不确定情况应观望。</a:t>
                      </a:r>
                      <a:endParaRPr lang="en-US" altLang="zh-CN" sz="900" dirty="0"/>
                    </a:p>
                    <a:p>
                      <a:pPr marL="742950" marR="0" lvl="1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站上</a:t>
                      </a:r>
                      <a:r>
                        <a:rPr lang="en-US" altLang="zh-CN" sz="900" dirty="0"/>
                        <a:t>DJB</a:t>
                      </a:r>
                      <a:r>
                        <a:rPr lang="zh-CN" altLang="en-US" sz="900" dirty="0"/>
                        <a:t>且离顶</a:t>
                      </a:r>
                      <a:r>
                        <a:rPr lang="en-US" altLang="zh-CN" sz="900" dirty="0"/>
                        <a:t>&amp;</a:t>
                      </a:r>
                      <a:r>
                        <a:rPr lang="zh-CN" altLang="en-US" sz="900" dirty="0"/>
                        <a:t>触哼单次：不确定情况应观望。</a:t>
                      </a:r>
                      <a:endParaRPr lang="en-US" altLang="zh-CN" sz="900" dirty="0"/>
                    </a:p>
                    <a:p>
                      <a:pPr marL="742950" marR="0" lvl="1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站上</a:t>
                      </a:r>
                      <a:r>
                        <a:rPr lang="en-US" altLang="zh-CN" sz="900" dirty="0"/>
                        <a:t>DJB</a:t>
                      </a:r>
                      <a:r>
                        <a:rPr lang="zh-CN" altLang="en-US" sz="900" dirty="0"/>
                        <a:t>且离顶</a:t>
                      </a:r>
                      <a:r>
                        <a:rPr lang="en-US" altLang="zh-CN" sz="900" dirty="0"/>
                        <a:t>&amp;</a:t>
                      </a:r>
                      <a:r>
                        <a:rPr lang="zh-CN" altLang="en-US" sz="900" dirty="0"/>
                        <a:t>触哼多次：试仓，可初步确认已再次入管。触哼第</a:t>
                      </a:r>
                      <a:r>
                        <a:rPr lang="en-US" altLang="zh-CN" sz="900" dirty="0"/>
                        <a:t>2</a:t>
                      </a:r>
                      <a:r>
                        <a:rPr lang="zh-CN" altLang="en-US" sz="900" dirty="0"/>
                        <a:t>柱是最佳介入点。</a:t>
                      </a:r>
                      <a:endParaRPr lang="en-US" altLang="zh-CN" sz="900" dirty="0"/>
                    </a:p>
                    <a:p>
                      <a:pPr marL="742950" marR="0" lvl="1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站上</a:t>
                      </a:r>
                      <a:r>
                        <a:rPr lang="en-US" altLang="zh-CN" sz="900" dirty="0"/>
                        <a:t>DJB</a:t>
                      </a:r>
                      <a:r>
                        <a:rPr lang="zh-CN" altLang="en-US" sz="900" dirty="0"/>
                        <a:t>且合顶：应介入。但需要注意与前合顶比较高度，对于降低的合顶应谨慎。</a:t>
                      </a:r>
                      <a:endParaRPr lang="en-US" altLang="zh-CN" sz="900" dirty="0"/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止损点：</a:t>
                      </a:r>
                      <a:endParaRPr lang="en-US" altLang="zh-CN" sz="900" dirty="0"/>
                    </a:p>
                    <a:p>
                      <a:pPr marL="742950" marR="0" lvl="1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上破</a:t>
                      </a:r>
                      <a:r>
                        <a:rPr lang="en-US" altLang="zh-CN" sz="900" dirty="0"/>
                        <a:t>DJB</a:t>
                      </a:r>
                      <a:r>
                        <a:rPr lang="zh-CN" altLang="en-US" sz="900" dirty="0"/>
                        <a:t>介入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在</a:t>
                      </a:r>
                      <a:r>
                        <a:rPr lang="en-US" altLang="zh-CN" sz="900" dirty="0"/>
                        <a:t>DJA</a:t>
                      </a:r>
                      <a:r>
                        <a:rPr lang="zh-CN" altLang="en-US" sz="900" dirty="0"/>
                        <a:t>与</a:t>
                      </a:r>
                      <a:r>
                        <a:rPr lang="en-US" altLang="zh-CN" sz="900" dirty="0"/>
                        <a:t>DJB</a:t>
                      </a:r>
                      <a:r>
                        <a:rPr lang="zh-CN" altLang="en-US" sz="900" dirty="0"/>
                        <a:t>之间介入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在</a:t>
                      </a:r>
                      <a:r>
                        <a:rPr lang="en-US" altLang="zh-CN" sz="900" dirty="0"/>
                        <a:t>DJB</a:t>
                      </a:r>
                      <a:r>
                        <a:rPr lang="zh-CN" altLang="en-US" sz="900" dirty="0"/>
                        <a:t>与</a:t>
                      </a:r>
                      <a:r>
                        <a:rPr lang="en-US" altLang="zh-CN" sz="900" dirty="0"/>
                        <a:t>DJC</a:t>
                      </a:r>
                      <a:r>
                        <a:rPr lang="zh-CN" altLang="en-US" sz="900" dirty="0"/>
                        <a:t>之间介入：应以</a:t>
                      </a:r>
                      <a:r>
                        <a:rPr lang="en-US" altLang="zh-CN" sz="900" dirty="0"/>
                        <a:t>DJC</a:t>
                      </a:r>
                      <a:r>
                        <a:rPr lang="zh-CN" altLang="en-US" sz="900" dirty="0"/>
                        <a:t>止损。</a:t>
                      </a:r>
                      <a:endParaRPr lang="en-US" altLang="zh-CN" sz="900" dirty="0"/>
                    </a:p>
                    <a:p>
                      <a:pPr marL="742950" marR="0" lvl="1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在</a:t>
                      </a:r>
                      <a:r>
                        <a:rPr lang="en-US" altLang="zh-CN" sz="900" dirty="0"/>
                        <a:t>DJB</a:t>
                      </a:r>
                      <a:r>
                        <a:rPr lang="zh-CN" altLang="en-US" sz="900" dirty="0"/>
                        <a:t>之上平稳运行且</a:t>
                      </a:r>
                      <a:r>
                        <a:rPr lang="en-US" altLang="zh-CN" sz="900" dirty="0"/>
                        <a:t>DXAB&gt;0</a:t>
                      </a:r>
                      <a:r>
                        <a:rPr lang="zh-CN" altLang="en-US" sz="900" dirty="0"/>
                        <a:t>：应以</a:t>
                      </a:r>
                      <a:r>
                        <a:rPr lang="en-US" altLang="zh-CN" sz="900" dirty="0"/>
                        <a:t>DJB</a:t>
                      </a:r>
                      <a:r>
                        <a:rPr lang="zh-CN" altLang="en-US" sz="900" dirty="0"/>
                        <a:t>止损。</a:t>
                      </a:r>
                      <a:endParaRPr lang="en-US" altLang="zh-CN" sz="900" dirty="0"/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持有中途：</a:t>
                      </a:r>
                      <a:endParaRPr lang="en-US" altLang="zh-CN" sz="900" dirty="0"/>
                    </a:p>
                    <a:p>
                      <a:pPr marL="742950" marR="0" lvl="1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不应冲高。</a:t>
                      </a:r>
                      <a:endParaRPr lang="en-US" altLang="zh-CN" sz="900" dirty="0"/>
                    </a:p>
                    <a:p>
                      <a:pPr marL="742950" marR="0" lvl="1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可离顶：但在由合顶转为离顶过程中不应下破</a:t>
                      </a:r>
                      <a:r>
                        <a:rPr lang="en-US" altLang="zh-CN" sz="900" dirty="0"/>
                        <a:t>DJB</a:t>
                      </a:r>
                      <a:r>
                        <a:rPr lang="zh-CN" altLang="en-US" sz="900" dirty="0"/>
                        <a:t>。</a:t>
                      </a:r>
                      <a:endParaRPr lang="en-US" altLang="zh-CN" sz="900" dirty="0"/>
                    </a:p>
                    <a:p>
                      <a:pPr marL="742950" marR="0" lvl="1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不可下破</a:t>
                      </a:r>
                      <a:r>
                        <a:rPr lang="en-US" altLang="zh-CN" sz="900" dirty="0"/>
                        <a:t>DJB</a:t>
                      </a:r>
                      <a:r>
                        <a:rPr lang="zh-CN" altLang="en-US" sz="900" dirty="0"/>
                        <a:t>。</a:t>
                      </a:r>
                      <a:endParaRPr lang="en-US" altLang="zh-CN" sz="900" dirty="0"/>
                    </a:p>
                    <a:p>
                      <a:pPr marL="742950" marR="0" lvl="1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高抛低吸操作：</a:t>
                      </a:r>
                      <a:endParaRPr lang="en-US" altLang="zh-CN" sz="900" dirty="0"/>
                    </a:p>
                    <a:p>
                      <a:pPr marL="1200150" marR="0" lvl="2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遇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升连：可立即介入。</a:t>
                      </a:r>
                      <a:endParaRPr lang="en-US" altLang="zh-CN" sz="900" dirty="0"/>
                    </a:p>
                    <a:p>
                      <a:pPr marL="1200150" marR="0" lvl="2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遇</a:t>
                      </a:r>
                      <a:r>
                        <a:rPr lang="en-US" altLang="zh-CN" sz="900" dirty="0"/>
                        <a:t>DJA</a:t>
                      </a:r>
                      <a:r>
                        <a:rPr lang="zh-CN" altLang="en-US" sz="900" dirty="0"/>
                        <a:t>之上连阳之后的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跌孕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跌吞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首下破</a:t>
                      </a:r>
                      <a:r>
                        <a:rPr lang="en-US" altLang="zh-CN" sz="900" dirty="0"/>
                        <a:t>DJA</a:t>
                      </a:r>
                      <a:r>
                        <a:rPr lang="zh-CN" altLang="en-US" sz="900" dirty="0"/>
                        <a:t>：可立即介入，明日冲高卖出。</a:t>
                      </a:r>
                      <a:endParaRPr lang="en-US" altLang="zh-CN" sz="900" dirty="0"/>
                    </a:p>
                    <a:p>
                      <a:pPr marL="1200150" marR="0" lvl="2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遇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跌吞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跌连：要等待具有止跌效应（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十字星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小阳柱）</a:t>
                      </a:r>
                      <a:endParaRPr lang="en-US" altLang="zh-CN" sz="900" dirty="0"/>
                    </a:p>
                    <a:p>
                      <a:pPr marL="1200150" marR="0" lvl="2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遇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升吞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升孕：不要偏离</a:t>
                      </a:r>
                      <a:r>
                        <a:rPr lang="en-US" altLang="zh-CN" sz="900" dirty="0"/>
                        <a:t>DJA</a:t>
                      </a:r>
                      <a:r>
                        <a:rPr lang="zh-CN" altLang="en-US" sz="900" dirty="0"/>
                        <a:t>较大，最好等待阴柱回踩。</a:t>
                      </a:r>
                      <a:endParaRPr lang="en-US" altLang="zh-CN" sz="9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38567373"/>
                  </a:ext>
                </a:extLst>
              </a:tr>
            </a:tbl>
          </a:graphicData>
        </a:graphic>
      </p:graphicFrame>
      <p:sp>
        <p:nvSpPr>
          <p:cNvPr id="5" name="文本框 4">
            <a:extLst>
              <a:ext uri="{FF2B5EF4-FFF2-40B4-BE49-F238E27FC236}">
                <a16:creationId xmlns:a16="http://schemas.microsoft.com/office/drawing/2014/main" id="{81256BB5-D0F4-3B72-9DE2-D74BBAAB94A2}"/>
              </a:ext>
            </a:extLst>
          </p:cNvPr>
          <p:cNvSpPr txBox="1"/>
          <p:nvPr/>
        </p:nvSpPr>
        <p:spPr>
          <a:xfrm>
            <a:off x="-4689686" y="720000"/>
            <a:ext cx="4944533" cy="1200329"/>
          </a:xfrm>
          <a:prstGeom prst="rect">
            <a:avLst/>
          </a:prstGeom>
          <a:solidFill>
            <a:srgbClr val="FF99CC">
              <a:alpha val="70000"/>
            </a:srgbClr>
          </a:solidFill>
        </p:spPr>
        <p:txBody>
          <a:bodyPr wrap="square" rtlCol="0">
            <a:spAutoFit/>
          </a:bodyPr>
          <a:lstStyle/>
          <a:p>
            <a:r>
              <a:rPr lang="zh-CN" altLang="en-US" dirty="0"/>
              <a:t>因为</a:t>
            </a:r>
            <a:r>
              <a:rPr lang="en-US" altLang="zh-CN" dirty="0"/>
              <a:t>《</a:t>
            </a:r>
            <a:r>
              <a:rPr lang="zh-CN" altLang="en-US" dirty="0"/>
              <a:t>龙展日战法</a:t>
            </a:r>
            <a:r>
              <a:rPr lang="en-US" altLang="zh-CN" dirty="0"/>
              <a:t>》</a:t>
            </a:r>
            <a:r>
              <a:rPr lang="zh-CN" altLang="en-US" dirty="0"/>
              <a:t>已将区域集中于“龙管”之中，所以没有必要再次限制周操作区域，从而可以只在“龙管”之中，根据日类机会快速做</a:t>
            </a:r>
            <a:r>
              <a:rPr lang="en-US" altLang="zh-CN" dirty="0"/>
              <a:t>T</a:t>
            </a:r>
            <a:r>
              <a:rPr lang="zh-CN" altLang="en-US" dirty="0"/>
              <a:t>。</a:t>
            </a:r>
            <a:endParaRPr lang="en-US" altLang="zh-CN" dirty="0"/>
          </a:p>
          <a:p>
            <a:r>
              <a:rPr lang="zh-CN" altLang="en-US" dirty="0"/>
              <a:t>需要将本页与下页进行合并。</a:t>
            </a:r>
          </a:p>
        </p:txBody>
      </p:sp>
    </p:spTree>
    <p:extLst>
      <p:ext uri="{BB962C8B-B14F-4D97-AF65-F5344CB8AC3E}">
        <p14:creationId xmlns:p14="http://schemas.microsoft.com/office/powerpoint/2010/main" val="380941768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>
            <a:lumMod val="5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E52CC80-CE6B-1508-604B-5B9819261E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5A61E80-3724-1AD9-BBDD-8E1E977CC5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53000" y="365125"/>
            <a:ext cx="6400800" cy="1325563"/>
          </a:xfrm>
        </p:spPr>
        <p:txBody>
          <a:bodyPr/>
          <a:lstStyle/>
          <a:p>
            <a:r>
              <a:rPr lang="zh-CN" altLang="en-US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br>
              <a:rPr lang="en-US" altLang="zh-CN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汇总基础工具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6B78CE41-2D95-A904-A719-8A6926E06FD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53000" y="1825625"/>
            <a:ext cx="6400800" cy="4351338"/>
          </a:xfrm>
        </p:spPr>
        <p:txBody>
          <a:bodyPr>
            <a:normAutofit/>
          </a:bodyPr>
          <a:lstStyle/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】[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](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,DJC)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管⇒仓类指标的设计思路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之上柱排演变路径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判定丘型类别：日类弧型分类专页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“五日合周”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日类弧型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】WJA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丘的典型运行形态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】WJC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生命周期中的核心主题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DJC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生命周期中的核心主题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CE1D6420-A0CB-F20E-E8B8-9A8E357EDC7A}"/>
              </a:ext>
            </a:extLst>
          </p:cNvPr>
          <p:cNvSpPr txBox="1"/>
          <p:nvPr/>
        </p:nvSpPr>
        <p:spPr>
          <a:xfrm>
            <a:off x="1095375" y="1690688"/>
            <a:ext cx="2867025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0" dirty="0">
                <a:solidFill>
                  <a:schemeClr val="tx2">
                    <a:lumMod val="75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具</a:t>
            </a:r>
          </a:p>
        </p:txBody>
      </p:sp>
    </p:spTree>
    <p:extLst>
      <p:ext uri="{BB962C8B-B14F-4D97-AF65-F5344CB8AC3E}">
        <p14:creationId xmlns:p14="http://schemas.microsoft.com/office/powerpoint/2010/main" val="1336363257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AD0A20-A8CB-AD95-FD0A-3D054CA1C9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CA92286E-911B-6A22-7329-831727129408}"/>
              </a:ext>
            </a:extLst>
          </p:cNvPr>
          <p:cNvGraphicFramePr>
            <a:graphicFrameLocks noGrp="1"/>
          </p:cNvGraphicFramePr>
          <p:nvPr/>
        </p:nvGraphicFramePr>
        <p:xfrm>
          <a:off x="6094800" y="694981"/>
          <a:ext cx="6085751" cy="3657600"/>
        </p:xfrm>
        <a:graphic>
          <a:graphicData uri="http://schemas.openxmlformats.org/drawingml/2006/table">
            <a:tbl>
              <a:tblPr firstRow="1" bandRow="1">
                <a:tableStyleId>{22838BEF-8BB2-4498-84A7-C5851F593DF1}</a:tableStyleId>
              </a:tblPr>
              <a:tblGrid>
                <a:gridCol w="808415">
                  <a:extLst>
                    <a:ext uri="{9D8B030D-6E8A-4147-A177-3AD203B41FA5}">
                      <a16:colId xmlns:a16="http://schemas.microsoft.com/office/drawing/2014/main" val="2074513415"/>
                    </a:ext>
                  </a:extLst>
                </a:gridCol>
                <a:gridCol w="5277336">
                  <a:extLst>
                    <a:ext uri="{9D8B030D-6E8A-4147-A177-3AD203B41FA5}">
                      <a16:colId xmlns:a16="http://schemas.microsoft.com/office/drawing/2014/main" val="3405080958"/>
                    </a:ext>
                  </a:extLst>
                </a:gridCol>
              </a:tblGrid>
              <a:tr h="37084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周柱与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转换关系的分类：</a:t>
                      </a:r>
                      <a:endParaRPr lang="en-US" altLang="zh-CN" sz="9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基本要求是上破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再介入；在</a:t>
                      </a:r>
                      <a:r>
                        <a:rPr lang="en-US" altLang="zh-CN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之下存在很多剧烈波动骗线。</a:t>
                      </a:r>
                      <a:endParaRPr lang="en-US" altLang="zh-CN" sz="9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要以</a:t>
                      </a:r>
                      <a:r>
                        <a:rPr lang="en-US" altLang="zh-CN" sz="9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900" b="1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为根本。</a:t>
                      </a:r>
                      <a:r>
                        <a:rPr lang="zh-CN" altLang="en-US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严格始终要求</a:t>
                      </a:r>
                      <a:r>
                        <a:rPr lang="en-US" altLang="zh-CN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丘，退出信号要以周类规则为准，不要设定为下破</a:t>
                      </a:r>
                      <a:r>
                        <a:rPr lang="en-US" altLang="zh-CN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90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必须止损。</a:t>
                      </a:r>
                      <a:endParaRPr lang="en-US" altLang="zh-CN" sz="90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要利用</a:t>
                      </a:r>
                      <a:r>
                        <a:rPr lang="en-US" altLang="zh-CN" sz="9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作为参考基准线。对于</a:t>
                      </a:r>
                      <a:r>
                        <a:rPr lang="en-US" altLang="zh-CN" sz="9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  <a:r>
                        <a:rPr lang="en-US" altLang="zh-CN" sz="9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9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情况，要增加前缀“潜”作为标志。</a:t>
                      </a:r>
                      <a:endParaRPr lang="en-US" altLang="zh-CN" sz="9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可以利用“周奏”来判断大趋势。原则上只要在</a:t>
                      </a:r>
                      <a:r>
                        <a:rPr lang="en-US" altLang="zh-CN" sz="9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之上就应参与。</a:t>
                      </a:r>
                      <a:endParaRPr lang="en-US" altLang="zh-CN" sz="9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要标记周柱中符。利用周柱中符（</a:t>
                      </a:r>
                      <a:r>
                        <a:rPr lang="en-US" altLang="zh-CN" sz="9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ABCD</a:t>
                      </a:r>
                      <a:r>
                        <a:rPr lang="zh-CN" altLang="en-US" sz="900" b="0" dirty="0">
                          <a:solidFill>
                            <a:sysClr val="windowText" lastClr="0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）作为是否启动的参考信息。找出拉升前的典型形态。</a:t>
                      </a:r>
                      <a:endParaRPr lang="en-US" altLang="zh-CN" sz="900" b="0" dirty="0">
                        <a:solidFill>
                          <a:sysClr val="windowText" lastClr="0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9264367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初站上</a:t>
                      </a:r>
                      <a:r>
                        <a:rPr lang="en-US" altLang="zh-CN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要回踩站稳。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不要连续阳柱上冲：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很可能失去支撑后下破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，形成单弧。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找出哪些初始上破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不应介入：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较长时间在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之上运行后，下破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后又站上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反复贯穿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：要等待出现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之上存在完整柱后再介入。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832275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依赖周中符：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核心是以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为丘，根据不同周柱柱排与中符，判定是否有可能下破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前周中符为柱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情况：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属于远离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周中下破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情况，关注是否站回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前周中符为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情况：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周中破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不退出；周末下破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转为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中符为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继鼎：类似柱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首鼎：要防止诱多。等待两柱确认站稳。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前周中符为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情况：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勿主动介入。要防止诱多（勿相信周中站上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，要等待周末站上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针对已冲高，在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之上已出现（连阴）或（阴阳阴）情况：出现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柱要退出。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针对未冲高出现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柱：可不在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柱退出，等待下破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后止损。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针对围绕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反复贯穿：可以等待下破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后再退出。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前周中符为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EF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情况：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勿主动介入，可以等待下破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面临“方向选择”：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向上：再次站上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WTZA=-1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：是重要时点，可以认为短暂下破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是误操作。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以升排上破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：通常在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之下出现升孕，然后以升连方式上破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之下出现升排：在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之下出现充分调整后，蓄势上破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向下：确认下破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并形成下降趋势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90437495"/>
                  </a:ext>
                </a:extLst>
              </a:tr>
            </a:tbl>
          </a:graphicData>
        </a:graphic>
      </p:graphicFrame>
      <p:grpSp>
        <p:nvGrpSpPr>
          <p:cNvPr id="13" name="组合 12">
            <a:extLst>
              <a:ext uri="{FF2B5EF4-FFF2-40B4-BE49-F238E27FC236}">
                <a16:creationId xmlns:a16="http://schemas.microsoft.com/office/drawing/2014/main" id="{87405582-E847-665D-8196-A083DEC4FC39}"/>
              </a:ext>
            </a:extLst>
          </p:cNvPr>
          <p:cNvGrpSpPr/>
          <p:nvPr/>
        </p:nvGrpSpPr>
        <p:grpSpPr>
          <a:xfrm>
            <a:off x="12343768" y="2151215"/>
            <a:ext cx="903959" cy="319838"/>
            <a:chOff x="4054210" y="6537707"/>
            <a:chExt cx="903959" cy="319838"/>
          </a:xfrm>
        </p:grpSpPr>
        <p:grpSp>
          <p:nvGrpSpPr>
            <p:cNvPr id="16" name="组合 15">
              <a:extLst>
                <a:ext uri="{FF2B5EF4-FFF2-40B4-BE49-F238E27FC236}">
                  <a16:creationId xmlns:a16="http://schemas.microsoft.com/office/drawing/2014/main" id="{B37D1293-7F9F-771C-4171-680D4C722E23}"/>
                </a:ext>
              </a:extLst>
            </p:cNvPr>
            <p:cNvGrpSpPr/>
            <p:nvPr/>
          </p:nvGrpSpPr>
          <p:grpSpPr>
            <a:xfrm>
              <a:off x="4054210" y="6537707"/>
              <a:ext cx="903959" cy="319838"/>
              <a:chOff x="4054210" y="6537707"/>
              <a:chExt cx="903959" cy="319838"/>
            </a:xfrm>
          </p:grpSpPr>
          <p:sp>
            <p:nvSpPr>
              <p:cNvPr id="24" name="矩形 23">
                <a:extLst>
                  <a:ext uri="{FF2B5EF4-FFF2-40B4-BE49-F238E27FC236}">
                    <a16:creationId xmlns:a16="http://schemas.microsoft.com/office/drawing/2014/main" id="{46F385C9-043E-A978-3D2C-94924B7BADE2}"/>
                  </a:ext>
                </a:extLst>
              </p:cNvPr>
              <p:cNvSpPr/>
              <p:nvPr/>
            </p:nvSpPr>
            <p:spPr>
              <a:xfrm>
                <a:off x="4434190" y="6549946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cxnSp>
            <p:nvCxnSpPr>
              <p:cNvPr id="31" name="直接连接符 30">
                <a:extLst>
                  <a:ext uri="{FF2B5EF4-FFF2-40B4-BE49-F238E27FC236}">
                    <a16:creationId xmlns:a16="http://schemas.microsoft.com/office/drawing/2014/main" id="{55E70973-F347-B2B0-D896-410D782B29A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054210" y="6681002"/>
                <a:ext cx="903959" cy="176543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矩形 34">
                <a:extLst>
                  <a:ext uri="{FF2B5EF4-FFF2-40B4-BE49-F238E27FC236}">
                    <a16:creationId xmlns:a16="http://schemas.microsoft.com/office/drawing/2014/main" id="{41D892D9-FA5C-9EFE-2E8B-94578B4EE36E}"/>
                  </a:ext>
                </a:extLst>
              </p:cNvPr>
              <p:cNvSpPr/>
              <p:nvPr/>
            </p:nvSpPr>
            <p:spPr>
              <a:xfrm>
                <a:off x="4583107" y="6625855"/>
                <a:ext cx="72000" cy="72000"/>
              </a:xfrm>
              <a:prstGeom prst="rect">
                <a:avLst/>
              </a:prstGeom>
              <a:solidFill>
                <a:srgbClr val="C00000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cxnSp>
            <p:nvCxnSpPr>
              <p:cNvPr id="36" name="直接箭头连接符 35">
                <a:extLst>
                  <a:ext uri="{FF2B5EF4-FFF2-40B4-BE49-F238E27FC236}">
                    <a16:creationId xmlns:a16="http://schemas.microsoft.com/office/drawing/2014/main" id="{43563D13-C3CF-C07B-CB11-62863C64DBD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3361" y="6537707"/>
                <a:ext cx="181412" cy="246197"/>
              </a:xfrm>
              <a:prstGeom prst="straightConnector1">
                <a:avLst/>
              </a:prstGeom>
              <a:ln w="34925">
                <a:solidFill>
                  <a:schemeClr val="accent5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" name="矩形 20">
              <a:extLst>
                <a:ext uri="{FF2B5EF4-FFF2-40B4-BE49-F238E27FC236}">
                  <a16:creationId xmlns:a16="http://schemas.microsoft.com/office/drawing/2014/main" id="{A9371919-BBFE-0EE2-F9D4-CBCA62C6E4F3}"/>
                </a:ext>
              </a:extLst>
            </p:cNvPr>
            <p:cNvSpPr/>
            <p:nvPr/>
          </p:nvSpPr>
          <p:spPr>
            <a:xfrm>
              <a:off x="4737090" y="6560444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0" name="组合 29">
            <a:extLst>
              <a:ext uri="{FF2B5EF4-FFF2-40B4-BE49-F238E27FC236}">
                <a16:creationId xmlns:a16="http://schemas.microsoft.com/office/drawing/2014/main" id="{2F21A2F6-C58E-B904-97B2-2CA86FD7C2E5}"/>
              </a:ext>
            </a:extLst>
          </p:cNvPr>
          <p:cNvGrpSpPr/>
          <p:nvPr/>
        </p:nvGrpSpPr>
        <p:grpSpPr>
          <a:xfrm>
            <a:off x="12572746" y="1702408"/>
            <a:ext cx="674981" cy="383279"/>
            <a:chOff x="6304932" y="2998738"/>
            <a:chExt cx="674981" cy="383279"/>
          </a:xfrm>
        </p:grpSpPr>
        <p:sp>
          <p:nvSpPr>
            <p:cNvPr id="23" name="矩形 22">
              <a:extLst>
                <a:ext uri="{FF2B5EF4-FFF2-40B4-BE49-F238E27FC236}">
                  <a16:creationId xmlns:a16="http://schemas.microsoft.com/office/drawing/2014/main" id="{32D3FD6A-0073-90D1-E789-A51273F614B0}"/>
                </a:ext>
              </a:extLst>
            </p:cNvPr>
            <p:cNvSpPr/>
            <p:nvPr/>
          </p:nvSpPr>
          <p:spPr>
            <a:xfrm>
              <a:off x="6385081" y="3202017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矩形 24">
              <a:extLst>
                <a:ext uri="{FF2B5EF4-FFF2-40B4-BE49-F238E27FC236}">
                  <a16:creationId xmlns:a16="http://schemas.microsoft.com/office/drawing/2014/main" id="{EBCC1E13-60B0-B579-3D60-BA1742C82A01}"/>
                </a:ext>
              </a:extLst>
            </p:cNvPr>
            <p:cNvSpPr/>
            <p:nvPr/>
          </p:nvSpPr>
          <p:spPr>
            <a:xfrm>
              <a:off x="6590214" y="3090823"/>
              <a:ext cx="72000" cy="36000"/>
            </a:xfrm>
            <a:prstGeom prst="rect">
              <a:avLst/>
            </a:prstGeom>
            <a:solidFill>
              <a:srgbClr val="548235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矩形 25">
              <a:extLst>
                <a:ext uri="{FF2B5EF4-FFF2-40B4-BE49-F238E27FC236}">
                  <a16:creationId xmlns:a16="http://schemas.microsoft.com/office/drawing/2014/main" id="{D2B9E158-401F-BEEE-6141-F16060A976B1}"/>
                </a:ext>
              </a:extLst>
            </p:cNvPr>
            <p:cNvSpPr/>
            <p:nvPr/>
          </p:nvSpPr>
          <p:spPr>
            <a:xfrm>
              <a:off x="6484953" y="3133266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" name="矩形 26">
              <a:extLst>
                <a:ext uri="{FF2B5EF4-FFF2-40B4-BE49-F238E27FC236}">
                  <a16:creationId xmlns:a16="http://schemas.microsoft.com/office/drawing/2014/main" id="{016B6B4C-13E0-EB2D-A320-FB4D06BF9EF5}"/>
                </a:ext>
              </a:extLst>
            </p:cNvPr>
            <p:cNvSpPr/>
            <p:nvPr/>
          </p:nvSpPr>
          <p:spPr>
            <a:xfrm>
              <a:off x="6839141" y="2998738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28" name="直接连接符 27">
              <a:extLst>
                <a:ext uri="{FF2B5EF4-FFF2-40B4-BE49-F238E27FC236}">
                  <a16:creationId xmlns:a16="http://schemas.microsoft.com/office/drawing/2014/main" id="{11B6C27F-6E24-135E-E9AA-FB4A9742A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304932" y="3169266"/>
              <a:ext cx="674981" cy="124998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矩形 28">
              <a:extLst>
                <a:ext uri="{FF2B5EF4-FFF2-40B4-BE49-F238E27FC236}">
                  <a16:creationId xmlns:a16="http://schemas.microsoft.com/office/drawing/2014/main" id="{1CAE1058-4F5A-FE15-2C8E-70A978907254}"/>
                </a:ext>
              </a:extLst>
            </p:cNvPr>
            <p:cNvSpPr/>
            <p:nvPr/>
          </p:nvSpPr>
          <p:spPr>
            <a:xfrm>
              <a:off x="6714018" y="3145889"/>
              <a:ext cx="72000" cy="36000"/>
            </a:xfrm>
            <a:prstGeom prst="rect">
              <a:avLst/>
            </a:prstGeom>
            <a:solidFill>
              <a:srgbClr val="548235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" name="矩形 3">
            <a:extLst>
              <a:ext uri="{FF2B5EF4-FFF2-40B4-BE49-F238E27FC236}">
                <a16:creationId xmlns:a16="http://schemas.microsoft.com/office/drawing/2014/main" id="{55059670-DD1C-5889-8AD8-CB75098CD14E}"/>
              </a:ext>
            </a:extLst>
          </p:cNvPr>
          <p:cNvSpPr/>
          <p:nvPr/>
        </p:nvSpPr>
        <p:spPr>
          <a:xfrm>
            <a:off x="-771" y="715076"/>
            <a:ext cx="6094800" cy="861774"/>
          </a:xfrm>
          <a:prstGeom prst="rect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不要删除该结论</a:t>
            </a:r>
            <a:r>
              <a:rPr lang="en-US" altLang="zh-CN" sz="1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@20250522 </a:t>
            </a:r>
          </a:p>
          <a:p>
            <a:r>
              <a:rPr lang="en-US" altLang="zh-CN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依赖</a:t>
            </a:r>
            <a:r>
              <a:rPr lang="en-US" altLang="zh-CN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的核心理念</a:t>
            </a:r>
            <a:r>
              <a:rPr lang="en-US" altLang="zh-CN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是：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相信神秘力量：柱运行在管（顶</a:t>
            </a:r>
            <a:r>
              <a:rPr lang="en-US" altLang="zh-CN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,WJA</a:t>
            </a:r>
            <a:r>
              <a:rPr lang="zh-CN" altLang="en-US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）内。允许围绕</a:t>
            </a:r>
            <a:r>
              <a:rPr lang="en-US" altLang="zh-CN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正常波动。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保证替代完整性：利用</a:t>
            </a:r>
            <a:r>
              <a:rPr lang="en-US" altLang="zh-CN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替代</a:t>
            </a:r>
            <a:r>
              <a:rPr lang="en-US" altLang="zh-CN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  <a:p>
            <a:r>
              <a:rPr lang="en-US" altLang="zh-CN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周柱排的应用场景</a:t>
            </a:r>
            <a:r>
              <a:rPr lang="en-US" altLang="zh-CN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（在</a:t>
            </a:r>
            <a:r>
              <a:rPr lang="en-US" altLang="zh-CN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单边两柱以后）再参考柱排，其余情况不需要参考柱排。</a:t>
            </a:r>
            <a:endParaRPr lang="en-US" altLang="zh-CN" sz="1000" b="1" dirty="0">
              <a:solidFill>
                <a:schemeClr val="bg1">
                  <a:lumMod val="7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1000" b="1" dirty="0">
              <a:solidFill>
                <a:schemeClr val="bg1">
                  <a:lumMod val="7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A60E833E-AF92-ADA9-0343-B9D39AA25B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】WJA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丘的典型运行形态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问题描述：在周范围内，按照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【WXAB+WJA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周柱排列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进行操作。其中一个支类问题是，下破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如何处理？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1" name="组合 70">
            <a:extLst>
              <a:ext uri="{FF2B5EF4-FFF2-40B4-BE49-F238E27FC236}">
                <a16:creationId xmlns:a16="http://schemas.microsoft.com/office/drawing/2014/main" id="{CCDC8BFF-7E7F-43ED-0D76-23EA53947569}"/>
              </a:ext>
            </a:extLst>
          </p:cNvPr>
          <p:cNvGrpSpPr/>
          <p:nvPr/>
        </p:nvGrpSpPr>
        <p:grpSpPr>
          <a:xfrm>
            <a:off x="12359240" y="2866176"/>
            <a:ext cx="1006970" cy="415049"/>
            <a:chOff x="10000665" y="3237222"/>
            <a:chExt cx="1006970" cy="415049"/>
          </a:xfrm>
        </p:grpSpPr>
        <p:cxnSp>
          <p:nvCxnSpPr>
            <p:cNvPr id="72" name="直接连接符 71">
              <a:extLst>
                <a:ext uri="{FF2B5EF4-FFF2-40B4-BE49-F238E27FC236}">
                  <a16:creationId xmlns:a16="http://schemas.microsoft.com/office/drawing/2014/main" id="{72DF33D5-467A-CA8D-2A75-104458CEB6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0665" y="3237222"/>
              <a:ext cx="1006970" cy="36214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矩形 72">
              <a:extLst>
                <a:ext uri="{FF2B5EF4-FFF2-40B4-BE49-F238E27FC236}">
                  <a16:creationId xmlns:a16="http://schemas.microsoft.com/office/drawing/2014/main" id="{74775ABE-E947-75E9-1873-E993CD299452}"/>
                </a:ext>
              </a:extLst>
            </p:cNvPr>
            <p:cNvSpPr/>
            <p:nvPr/>
          </p:nvSpPr>
          <p:spPr>
            <a:xfrm>
              <a:off x="10093574" y="3325946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矩形 73">
              <a:extLst>
                <a:ext uri="{FF2B5EF4-FFF2-40B4-BE49-F238E27FC236}">
                  <a16:creationId xmlns:a16="http://schemas.microsoft.com/office/drawing/2014/main" id="{5A95AE7C-DE55-6163-940C-3737FC735C40}"/>
                </a:ext>
              </a:extLst>
            </p:cNvPr>
            <p:cNvSpPr/>
            <p:nvPr/>
          </p:nvSpPr>
          <p:spPr>
            <a:xfrm>
              <a:off x="10208107" y="3425869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矩形 74">
              <a:extLst>
                <a:ext uri="{FF2B5EF4-FFF2-40B4-BE49-F238E27FC236}">
                  <a16:creationId xmlns:a16="http://schemas.microsoft.com/office/drawing/2014/main" id="{978FE098-387D-8903-8B65-355FDE32054D}"/>
                </a:ext>
              </a:extLst>
            </p:cNvPr>
            <p:cNvSpPr/>
            <p:nvPr/>
          </p:nvSpPr>
          <p:spPr>
            <a:xfrm>
              <a:off x="10322640" y="3516935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矩形 75">
              <a:extLst>
                <a:ext uri="{FF2B5EF4-FFF2-40B4-BE49-F238E27FC236}">
                  <a16:creationId xmlns:a16="http://schemas.microsoft.com/office/drawing/2014/main" id="{ABCB0B5B-D387-A8EC-82FF-CDCF90D54842}"/>
                </a:ext>
              </a:extLst>
            </p:cNvPr>
            <p:cNvSpPr/>
            <p:nvPr/>
          </p:nvSpPr>
          <p:spPr>
            <a:xfrm>
              <a:off x="10437173" y="3436271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矩形 76">
              <a:extLst>
                <a:ext uri="{FF2B5EF4-FFF2-40B4-BE49-F238E27FC236}">
                  <a16:creationId xmlns:a16="http://schemas.microsoft.com/office/drawing/2014/main" id="{333D7847-35F2-DE1F-07F3-A741BCAEFE1C}"/>
                </a:ext>
              </a:extLst>
            </p:cNvPr>
            <p:cNvSpPr/>
            <p:nvPr/>
          </p:nvSpPr>
          <p:spPr>
            <a:xfrm>
              <a:off x="10551706" y="3466640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矩形 77">
              <a:extLst>
                <a:ext uri="{FF2B5EF4-FFF2-40B4-BE49-F238E27FC236}">
                  <a16:creationId xmlns:a16="http://schemas.microsoft.com/office/drawing/2014/main" id="{80413525-2888-6CBC-B2BE-CD72B0E0726C}"/>
                </a:ext>
              </a:extLst>
            </p:cNvPr>
            <p:cNvSpPr/>
            <p:nvPr/>
          </p:nvSpPr>
          <p:spPr>
            <a:xfrm>
              <a:off x="10666239" y="3531424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矩形 78">
              <a:extLst>
                <a:ext uri="{FF2B5EF4-FFF2-40B4-BE49-F238E27FC236}">
                  <a16:creationId xmlns:a16="http://schemas.microsoft.com/office/drawing/2014/main" id="{CF1B3D98-066F-239C-EDD1-0CF263DDDF02}"/>
                </a:ext>
              </a:extLst>
            </p:cNvPr>
            <p:cNvSpPr/>
            <p:nvPr/>
          </p:nvSpPr>
          <p:spPr>
            <a:xfrm>
              <a:off x="10780771" y="3429000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aphicFrame>
        <p:nvGraphicFramePr>
          <p:cNvPr id="9" name="表格 8">
            <a:extLst>
              <a:ext uri="{FF2B5EF4-FFF2-40B4-BE49-F238E27FC236}">
                <a16:creationId xmlns:a16="http://schemas.microsoft.com/office/drawing/2014/main" id="{D2AB997F-A061-1F26-C5DA-A5C53E0C99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1703971"/>
              </p:ext>
            </p:extLst>
          </p:nvPr>
        </p:nvGraphicFramePr>
        <p:xfrm>
          <a:off x="-13471" y="3906343"/>
          <a:ext cx="6105697" cy="2956560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597869">
                  <a:extLst>
                    <a:ext uri="{9D8B030D-6E8A-4147-A177-3AD203B41FA5}">
                      <a16:colId xmlns:a16="http://schemas.microsoft.com/office/drawing/2014/main" val="2636536604"/>
                    </a:ext>
                  </a:extLst>
                </a:gridCol>
                <a:gridCol w="726253">
                  <a:extLst>
                    <a:ext uri="{9D8B030D-6E8A-4147-A177-3AD203B41FA5}">
                      <a16:colId xmlns:a16="http://schemas.microsoft.com/office/drawing/2014/main" val="796770459"/>
                    </a:ext>
                  </a:extLst>
                </a:gridCol>
                <a:gridCol w="1252160">
                  <a:extLst>
                    <a:ext uri="{9D8B030D-6E8A-4147-A177-3AD203B41FA5}">
                      <a16:colId xmlns:a16="http://schemas.microsoft.com/office/drawing/2014/main" val="1281997768"/>
                    </a:ext>
                  </a:extLst>
                </a:gridCol>
                <a:gridCol w="1658125">
                  <a:extLst>
                    <a:ext uri="{9D8B030D-6E8A-4147-A177-3AD203B41FA5}">
                      <a16:colId xmlns:a16="http://schemas.microsoft.com/office/drawing/2014/main" val="2359359238"/>
                    </a:ext>
                  </a:extLst>
                </a:gridCol>
                <a:gridCol w="1871290">
                  <a:extLst>
                    <a:ext uri="{9D8B030D-6E8A-4147-A177-3AD203B41FA5}">
                      <a16:colId xmlns:a16="http://schemas.microsoft.com/office/drawing/2014/main" val="462483048"/>
                    </a:ext>
                  </a:extLst>
                </a:gridCol>
              </a:tblGrid>
              <a:tr h="197934"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本周待判断情况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前周柱情况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：周双柱确认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：周末确认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：日类确认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1400422"/>
                  </a:ext>
                </a:extLst>
              </a:tr>
              <a:tr h="269910">
                <a:tc rowSpan="4"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</a:p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DJC)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不可确认下破。被动持有。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周中下破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不退出，期待反弹站回形成下影线，等待周末确认。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周末下破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，先退出。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时退出。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3481953"/>
                  </a:ext>
                </a:extLst>
              </a:tr>
              <a:tr h="197934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WTZA=1</a:t>
                      </a:r>
                    </a:p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前周首上破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不可确认下破。如有试仓，被动持有。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周中下破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不退出。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周末下破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，先退出。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时退出。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5830139"/>
                  </a:ext>
                </a:extLst>
              </a:tr>
              <a:tr h="197934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kumimoji="0" lang="zh-CN" altLang="en-US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</a:t>
                      </a:r>
                      <a:r>
                        <a:rPr kumimoji="0" lang="en-US" altLang="zh-CN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WTZA=-1</a:t>
                      </a:r>
                    </a:p>
                    <a:p>
                      <a:r>
                        <a:rPr kumimoji="0" lang="en-US" altLang="zh-CN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kumimoji="0" lang="zh-CN" altLang="en-US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前周首下破</a:t>
                      </a:r>
                      <a:r>
                        <a:rPr kumimoji="0" lang="en-US" altLang="zh-CN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本周形成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之下双柱，可确认下破。应清仓。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本周诱多后又下破。可确认下破。应清仓。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前周应已退出。前周已退出本周不介入。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898027"/>
                  </a:ext>
                </a:extLst>
              </a:tr>
              <a:tr h="197934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kumimoji="0" lang="zh-CN" altLang="en-US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</a:t>
                      </a:r>
                      <a:r>
                        <a:rPr kumimoji="0" lang="en-US" altLang="zh-CN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kumimoji="0" lang="zh-CN" altLang="en-US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kumimoji="0" lang="en-US" altLang="zh-CN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endParaRPr kumimoji="0" lang="en-US" altLang="zh-CN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已确认下破。应已清仓。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本周诱多后又下破。已确认下破，勿介入。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前周应已退出。本周不介入。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385660"/>
                  </a:ext>
                </a:extLst>
              </a:tr>
              <a:tr h="269910">
                <a:tc rowSpan="4"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</a:p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DJC)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b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</a:b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已确认上破。继续持有。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本周中下破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时被动持有不退出，周末站回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继续持有。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时退出。再次上破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可介入，即使是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D3w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。也可等待站上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再介入。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9945623"/>
                  </a:ext>
                </a:extLst>
              </a:tr>
              <a:tr h="197934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WTZA=1</a:t>
                      </a:r>
                    </a:p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前周首上破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本周形成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之上双柱，可确认上破。可介入。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本周中下破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时被动持有不退出，周末站回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继续持有。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时退出。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再次上破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不介入。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8515387"/>
                  </a:ext>
                </a:extLst>
              </a:tr>
              <a:tr h="269910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kumimoji="0" lang="zh-CN" altLang="en-US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</a:t>
                      </a:r>
                      <a:r>
                        <a:rPr kumimoji="0" lang="en-US" altLang="zh-CN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WTZA=-1</a:t>
                      </a:r>
                    </a:p>
                    <a:p>
                      <a:r>
                        <a:rPr kumimoji="0" lang="en-US" altLang="zh-CN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kumimoji="0" lang="zh-CN" altLang="en-US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前周首下破</a:t>
                      </a:r>
                      <a:r>
                        <a:rPr kumimoji="0" lang="en-US" altLang="zh-CN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不可确认上破。如有持仓被动持有；如无持仓勿入。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前周为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[D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首下破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，本周反弹形成周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[C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首上破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7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周末站在</a:t>
                      </a:r>
                      <a:r>
                        <a:rPr lang="en-US" altLang="zh-CN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之上可试仓。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属于上破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后又下破。前周下破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时退出，不再介入。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3125715"/>
                  </a:ext>
                </a:extLst>
              </a:tr>
              <a:tr h="197934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kumimoji="0" lang="zh-CN" altLang="en-US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</a:t>
                      </a:r>
                      <a:r>
                        <a:rPr kumimoji="0" lang="en-US" altLang="zh-CN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kumimoji="0" lang="zh-CN" altLang="en-US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kumimoji="0" lang="en-US" altLang="zh-CN" sz="7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不可确认上破。勿入。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周中上破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不介入。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周末上破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，可介入，参考日类。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属于上破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后又下破。始终勿介入。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5012218"/>
                  </a:ext>
                </a:extLst>
              </a:tr>
            </a:tbl>
          </a:graphicData>
        </a:graphic>
      </p:graphicFrame>
      <p:sp>
        <p:nvSpPr>
          <p:cNvPr id="19" name="文本框 18">
            <a:extLst>
              <a:ext uri="{FF2B5EF4-FFF2-40B4-BE49-F238E27FC236}">
                <a16:creationId xmlns:a16="http://schemas.microsoft.com/office/drawing/2014/main" id="{611094EF-6E35-16B8-BD97-65B97E6B07B3}"/>
              </a:ext>
            </a:extLst>
          </p:cNvPr>
          <p:cNvSpPr txBox="1"/>
          <p:nvPr/>
        </p:nvSpPr>
        <p:spPr>
          <a:xfrm>
            <a:off x="-771" y="3120881"/>
            <a:ext cx="6094800" cy="784830"/>
          </a:xfrm>
          <a:prstGeom prst="rect">
            <a:avLst/>
          </a:prstGeom>
          <a:solidFill>
            <a:schemeClr val="accent5"/>
          </a:solidFill>
          <a:ln w="28575">
            <a:noFill/>
          </a:ln>
        </p:spPr>
        <p:txBody>
          <a:bodyPr wrap="square">
            <a:spAutoFit/>
          </a:bodyPr>
          <a:lstStyle/>
          <a:p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基本条件：关注前周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（当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WTZB&lt;0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禁止操作）：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：最适合介入，可形成趋势上升。可参考周柱排，其余情况不需考虑。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WTZA=1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：待选择方向。日级别快入快出。对于贯穿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保持谨慎，等待两柱站稳。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WTZA=-1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：待选择方向。日级别快入快出。寄希望为临时下破。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≤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-2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：已确认下行方向。不参与，有可能形成趋势下降。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65D8EC4A-8F5E-E807-41E3-5DA0D3226995}"/>
              </a:ext>
            </a:extLst>
          </p:cNvPr>
          <p:cNvSpPr/>
          <p:nvPr/>
        </p:nvSpPr>
        <p:spPr>
          <a:xfrm>
            <a:off x="6099776" y="4724400"/>
            <a:ext cx="6094800" cy="213360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思维陷阱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不要为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是否在下破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时退出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反复纠结。此问题属于细枝末节的边缘问题，过多的讨论没有意义。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属于正常现象。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因为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为日类运行中枢，短暂下破是正常现象。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认清现实。实际走势中，有很多周中下破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又站回（周中符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）的情况。</a:t>
            </a:r>
            <a:endParaRPr lang="en-US" altLang="zh-CN" sz="800" dirty="0">
              <a:solidFill>
                <a:sysClr val="windowText" lastClr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真正下破</a:t>
            </a:r>
            <a:r>
              <a:rPr lang="en-US" altLang="zh-CN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ysClr val="windowText" lastClr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后，未必会继续下跌。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已失去止盈良机。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基本所有上升都在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时，必然已错过在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之上止盈的机会。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要躲避可以躲避的下跌。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要躲避下破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后，至下破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的过程。如前期已冲高应在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对应的周类走势。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不太可能是单周跌孕，很可能是单周跌吞或周跌连。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损失已造成， 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，必然已经历从顶到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较大幅度的下跌过程，在这一过程中，之所以下跌而不卖，主要是寄希望于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之上柱排列。但大部分损失已经造成。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仍然持有相当于（权衡两种机会）：（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之上柱排列）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VS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之下失去上升机会）。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寄希望于（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之上柱排列）的底线：下破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后都要寄希望于此，应当把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作为寄托幻想的底线。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缓冲柱：大阴后下跌至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，其后应有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1-2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个缓冲周柱（长上影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小阳柱），站稳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，且站上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再介入。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损失可能扩大。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继续容忍下破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，很可能会放任损失扩大。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后，很可能出现继续下跌后反弹，严重扰乱心态。所以，要在下破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处就立即止损。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而不清仓的理由是什么？只能是周类（周中下破）（周首下破），而不能是（周久下破）。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最佳实践：要在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之上止盈，避免从下破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，到下破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的下跌过程。</a:t>
            </a:r>
            <a:endParaRPr lang="en-US" altLang="zh-CN" sz="8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最佳实践：要在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）附近当开启新一波段时介入。最好选择沿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呈明显波段的股票。</a:t>
            </a:r>
            <a:endParaRPr lang="en-US" altLang="zh-CN" sz="8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0848AA39-6221-D54A-5204-77692843B76C}"/>
              </a:ext>
            </a:extLst>
          </p:cNvPr>
          <p:cNvSpPr txBox="1"/>
          <p:nvPr/>
        </p:nvSpPr>
        <p:spPr>
          <a:xfrm>
            <a:off x="-771" y="1670188"/>
            <a:ext cx="6100547" cy="830997"/>
          </a:xfrm>
          <a:prstGeom prst="rect">
            <a:avLst/>
          </a:prstGeom>
          <a:solidFill>
            <a:schemeClr val="accent2"/>
          </a:solidFill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不要把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当作止盈或止损线，而要作为调整仓位的工具，用于建仓、捡漏、冲高、衡量偏离。在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之上就有机会，如果触顶就进入快车道。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柱排适用区域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之上只考虑做多，利用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确定柱排应用的区域。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之上（两柱以后，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）可以参考柱排：升排能够预示继续上升；跌排不预示下跌，而代表调整。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之下会有神秘力量恢复上升，但时点不确定。此时，升排不能保证上升，跌排也不能确保下跌。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冲高策略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首选升连且未冲高；次选升连后单跌（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跌吞）；再次选跌连后单升（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升吞）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471164532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柱排（包括主升过程中的柱排特征）</a:t>
            </a:r>
            <a:b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分类柱排：哪些代表升排？哪些代表跌排？如何利用柱排延续或扭转趋势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?</a:t>
            </a:r>
            <a:r>
              <a:rPr lang="zh-CN" altLang="en-US" sz="12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基于群环域的思想，但不完全封闭。</a:t>
            </a:r>
            <a:endParaRPr lang="en-US" altLang="zh-CN" sz="1600" dirty="0">
              <a:solidFill>
                <a:srgbClr val="FFC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DAFFBE52-4764-E713-2192-8F82420EF981}"/>
              </a:ext>
            </a:extLst>
          </p:cNvPr>
          <p:cNvSpPr txBox="1"/>
          <p:nvPr/>
        </p:nvSpPr>
        <p:spPr>
          <a:xfrm>
            <a:off x="-3217" y="720000"/>
            <a:ext cx="12195217" cy="178510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柱排分类：</a:t>
            </a:r>
            <a:r>
              <a:rPr lang="zh-CN" altLang="en-US" sz="1100" i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柱排划分仅针对</a:t>
            </a:r>
            <a:r>
              <a:rPr lang="en-US" altLang="zh-CN" sz="1100" i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1100" i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之上，不要考虑：逆向趋势</a:t>
            </a:r>
            <a:r>
              <a:rPr lang="en-US" altLang="zh-CN" sz="1100" i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1100" i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之下，或其他缠情况。</a:t>
            </a:r>
            <a:endParaRPr lang="en-US" altLang="zh-CN" sz="1100" i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升排包括：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典型上升柱排，一般出现一次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升连或多次同向叠加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尾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Q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升连升连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升吞升连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升孕升连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尾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跌孕升吞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尾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v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升连跌孕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跌孕升吞跌孕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跌排包括：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典型下跌柱排一般出现一次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跌连或多次同向叠加</a:t>
            </a:r>
            <a:endParaRPr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尾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跌连跌连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跌吞跌连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跌孕跌连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尾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V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 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升孕跌吞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尾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跌连升孕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升孕跌吞升孕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人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工判断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排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依赖均线包括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方向需结合均线进行判定，需要区分前置链的柱排是什么。主要目标是找出非升排但可能是上升中继的情况。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文本框 31">
            <a:extLst>
              <a:ext uri="{FF2B5EF4-FFF2-40B4-BE49-F238E27FC236}">
                <a16:creationId xmlns:a16="http://schemas.microsoft.com/office/drawing/2014/main" id="{848B4238-02ED-4020-0FE3-19F224A6E7B3}"/>
              </a:ext>
            </a:extLst>
          </p:cNvPr>
          <p:cNvSpPr txBox="1"/>
          <p:nvPr/>
        </p:nvSpPr>
        <p:spPr>
          <a:xfrm>
            <a:off x="6289304" y="903122"/>
            <a:ext cx="5896007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0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推理剩余包括哪些：根据最后并符，减去已存在符，得到剩余分类</a:t>
            </a:r>
            <a:endParaRPr lang="en-US" altLang="zh-CN" sz="1000" b="1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升连：前柱非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跌连：前柱非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升孕：前柱非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升孕跌吞 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⇒ 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剩余：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升吞跌吞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升连跌吞</a:t>
            </a:r>
            <a:endParaRPr lang="en-US" altLang="zh-CN" sz="10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跌孕：前柱非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跌孕升吞 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⇒ 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剩余：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跌吞升吞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跌连升吞</a:t>
            </a:r>
            <a:endParaRPr lang="en-US" altLang="zh-CN" sz="10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升吞：前柱非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	⇒ 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剩余：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跌连升吞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跌吞升吞</a:t>
            </a:r>
            <a:endParaRPr lang="en-US" altLang="zh-CN" sz="10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跌吞：前柱非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 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	⇒ 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剩余：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升连跌吞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升吞跌吞</a:t>
            </a:r>
            <a:endParaRPr lang="en-US" altLang="zh-CN" sz="10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右大括号 32">
            <a:extLst>
              <a:ext uri="{FF2B5EF4-FFF2-40B4-BE49-F238E27FC236}">
                <a16:creationId xmlns:a16="http://schemas.microsoft.com/office/drawing/2014/main" id="{FEF34C7D-71A0-BA96-8368-9E99C58725D8}"/>
              </a:ext>
            </a:extLst>
          </p:cNvPr>
          <p:cNvSpPr/>
          <p:nvPr/>
        </p:nvSpPr>
        <p:spPr>
          <a:xfrm>
            <a:off x="5747657" y="811472"/>
            <a:ext cx="548336" cy="1352853"/>
          </a:xfrm>
          <a:prstGeom prst="rightBrace">
            <a:avLst>
              <a:gd name="adj1" fmla="val 35799"/>
              <a:gd name="adj2" fmla="val 50000"/>
            </a:avLst>
          </a:prstGeom>
          <a:ln w="381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>
                  <a:lumMod val="65000"/>
                </a:schemeClr>
              </a:solidFill>
            </a:endParaRPr>
          </a:p>
        </p:txBody>
      </p:sp>
      <p:graphicFrame>
        <p:nvGraphicFramePr>
          <p:cNvPr id="9" name="表格 8">
            <a:extLst>
              <a:ext uri="{FF2B5EF4-FFF2-40B4-BE49-F238E27FC236}">
                <a16:creationId xmlns:a16="http://schemas.microsoft.com/office/drawing/2014/main" id="{9A41BC1B-1D92-747B-C082-A17D6BD783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9227422"/>
              </p:ext>
            </p:extLst>
          </p:nvPr>
        </p:nvGraphicFramePr>
        <p:xfrm>
          <a:off x="270898" y="2502992"/>
          <a:ext cx="11908923" cy="2260850"/>
        </p:xfrm>
        <a:graphic>
          <a:graphicData uri="http://schemas.openxmlformats.org/drawingml/2006/table">
            <a:tbl>
              <a:tblPr>
                <a:tableStyleId>{E8B1032C-EA38-4F05-BA0D-38AFFFC7BED3}</a:tableStyleId>
              </a:tblPr>
              <a:tblGrid>
                <a:gridCol w="563262">
                  <a:extLst>
                    <a:ext uri="{9D8B030D-6E8A-4147-A177-3AD203B41FA5}">
                      <a16:colId xmlns:a16="http://schemas.microsoft.com/office/drawing/2014/main" val="61133936"/>
                    </a:ext>
                  </a:extLst>
                </a:gridCol>
                <a:gridCol w="563262">
                  <a:extLst>
                    <a:ext uri="{9D8B030D-6E8A-4147-A177-3AD203B41FA5}">
                      <a16:colId xmlns:a16="http://schemas.microsoft.com/office/drawing/2014/main" val="2817329377"/>
                    </a:ext>
                  </a:extLst>
                </a:gridCol>
                <a:gridCol w="828036">
                  <a:extLst>
                    <a:ext uri="{9D8B030D-6E8A-4147-A177-3AD203B41FA5}">
                      <a16:colId xmlns:a16="http://schemas.microsoft.com/office/drawing/2014/main" val="2555893482"/>
                    </a:ext>
                  </a:extLst>
                </a:gridCol>
                <a:gridCol w="5330811">
                  <a:extLst>
                    <a:ext uri="{9D8B030D-6E8A-4147-A177-3AD203B41FA5}">
                      <a16:colId xmlns:a16="http://schemas.microsoft.com/office/drawing/2014/main" val="2221300868"/>
                    </a:ext>
                  </a:extLst>
                </a:gridCol>
                <a:gridCol w="1911927">
                  <a:extLst>
                    <a:ext uri="{9D8B030D-6E8A-4147-A177-3AD203B41FA5}">
                      <a16:colId xmlns:a16="http://schemas.microsoft.com/office/drawing/2014/main" val="2150962021"/>
                    </a:ext>
                  </a:extLst>
                </a:gridCol>
                <a:gridCol w="1180408">
                  <a:extLst>
                    <a:ext uri="{9D8B030D-6E8A-4147-A177-3AD203B41FA5}">
                      <a16:colId xmlns:a16="http://schemas.microsoft.com/office/drawing/2014/main" val="1896372715"/>
                    </a:ext>
                  </a:extLst>
                </a:gridCol>
                <a:gridCol w="1531217">
                  <a:extLst>
                    <a:ext uri="{9D8B030D-6E8A-4147-A177-3AD203B41FA5}">
                      <a16:colId xmlns:a16="http://schemas.microsoft.com/office/drawing/2014/main" val="2164239114"/>
                    </a:ext>
                  </a:extLst>
                </a:gridCol>
              </a:tblGrid>
              <a:tr h="195060"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衔接类型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形态名称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形态组合主体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具体细分形态（加粗四柱栅形态）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zh-CN" sz="9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9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之上该形态</a:t>
                      </a:r>
                      <a:endParaRPr lang="en-US" altLang="zh-CN" sz="9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fontAlgn="t"/>
                      <a:r>
                        <a:rPr lang="zh-CN" altLang="en-US" sz="9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的正面因素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9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之上该形态</a:t>
                      </a:r>
                      <a:endParaRPr lang="en-US" altLang="zh-CN" sz="9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的不确定因素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9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之上该形态</a:t>
                      </a:r>
                      <a:endParaRPr lang="en-US" altLang="zh-CN" sz="9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的负面因素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23768"/>
                  </a:ext>
                </a:extLst>
              </a:tr>
              <a:tr h="104216"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衔接升排</a:t>
                      </a:r>
                      <a:endParaRPr lang="zh-CN" altLang="en-US" sz="9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b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后吞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（升连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 ）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zh-CN" sz="900" b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升连跌吞 </a:t>
                      </a:r>
                      <a:r>
                        <a:rPr lang="en-US" altLang="zh-CN" sz="900" b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升连跌吞升孕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√（四柱栅变体）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endParaRPr lang="zh-CN" altLang="en-US" sz="9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 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顶部可能转跌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33281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衔接升排</a:t>
                      </a:r>
                      <a:endParaRPr lang="zh-CN" altLang="en-US" sz="9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b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升衔</a:t>
                      </a:r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吞吞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（升吞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跌吞）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zh-CN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跌孕升吞跌吞 </a:t>
                      </a:r>
                      <a:r>
                        <a:rPr lang="en-US" altLang="zh-CN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跌孕升吞跌吞升孕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√（四柱栅变体）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endParaRPr lang="zh-CN" altLang="en-US" sz="9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 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顶部可能转跌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6317076"/>
                  </a:ext>
                </a:extLst>
              </a:tr>
              <a:tr h="182660"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衔接人排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人衔吞吞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跌吞升吞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zh-CN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升连跌吞升吞 </a:t>
                      </a:r>
                      <a:r>
                        <a:rPr lang="en-US" altLang="zh-CN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升连跌吞升吞跌孕</a:t>
                      </a:r>
                      <a:r>
                        <a:rPr lang="en-US" altLang="zh-CN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升吞跌吞升吞 </a:t>
                      </a:r>
                      <a:r>
                        <a:rPr lang="en-US" altLang="zh-CN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升吞跌吞升吞跌孕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√（四柱栅变体）可能</a:t>
                      </a:r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延续上升</a:t>
                      </a:r>
                      <a:endParaRPr lang="zh-CN" altLang="en-US" sz="9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endParaRPr lang="zh-CN" altLang="en-US" sz="9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剧烈震荡放弃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0475109"/>
                  </a:ext>
                </a:extLst>
              </a:tr>
              <a:tr h="182660"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衔接人排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人衔吞吞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（升吞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跌吞）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跌连升吞跌吞 </a:t>
                      </a:r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跌连升吞跌吞升孕</a:t>
                      </a:r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跌吞升吞跌吞 </a:t>
                      </a:r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跌吞升吞跌吞升孕 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endParaRPr lang="zh-CN" altLang="en-US" sz="9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endParaRPr lang="zh-CN" altLang="en-US" sz="9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剧烈震荡放弃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0735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衔接跌排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跌衔吞吞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跌吞升吞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zh-CN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升孕跌吞升吞 </a:t>
                      </a:r>
                      <a:r>
                        <a:rPr lang="en-US" altLang="zh-CN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升孕跌吞升吞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√在</a:t>
                      </a:r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之上是（四柱栅变体）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？需依赖均线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endParaRPr lang="zh-CN" altLang="en-US" sz="9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85004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衔接跌排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跌连后吞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跌连升吞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跌连升吞 </a:t>
                      </a:r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跌连升吞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√在</a:t>
                      </a:r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之上是（四柱栅变体）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？需依赖均线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endParaRPr lang="zh-CN" altLang="en-US" sz="9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9810953"/>
                  </a:ext>
                </a:extLst>
              </a:tr>
              <a:tr h="214034"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衔接升排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升衔孕孕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跌孕升孕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zh-CN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升连跌孕升孕</a:t>
                      </a:r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跌孕升吞跌孕升孕</a:t>
                      </a:r>
                      <a:endParaRPr lang="zh-CN" altLang="en-US" sz="9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√（四柱栅变体）可能</a:t>
                      </a:r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延续上升</a:t>
                      </a:r>
                      <a:endParaRPr lang="zh-CN" altLang="en-US" sz="9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endParaRPr lang="zh-CN" altLang="en-US" sz="9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/× 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顶部可能转跌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3889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衔接跌排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跌衔孕孕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（升孕跌孕）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跌连升孕跌孕 </a:t>
                      </a:r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升孕跌吞升孕跌孕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endParaRPr lang="zh-CN" altLang="en-US" sz="9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？方向待定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endParaRPr lang="zh-CN" altLang="en-US" sz="9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44330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衔接人排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人衔孕孕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（孕孕）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（衔人）跌孕升孕 </a:t>
                      </a:r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（衔人）升孕跌孕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endParaRPr lang="zh-CN" altLang="en-US" sz="9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endParaRPr lang="zh-CN" altLang="en-US" sz="9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r>
                        <a:rPr lang="zh-CN" altLang="en-US" sz="9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放弃</a:t>
                      </a:r>
                    </a:p>
                  </a:txBody>
                  <a:tcPr marL="33344" marR="33344" marT="37512" marB="37512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0807433"/>
                  </a:ext>
                </a:extLst>
              </a:tr>
            </a:tbl>
          </a:graphicData>
        </a:graphic>
      </p:graphicFrame>
      <p:sp>
        <p:nvSpPr>
          <p:cNvPr id="4" name="左大括号 3">
            <a:extLst>
              <a:ext uri="{FF2B5EF4-FFF2-40B4-BE49-F238E27FC236}">
                <a16:creationId xmlns:a16="http://schemas.microsoft.com/office/drawing/2014/main" id="{DFC9B34A-8E2F-39AD-DF7E-F7A4320384DA}"/>
              </a:ext>
            </a:extLst>
          </p:cNvPr>
          <p:cNvSpPr/>
          <p:nvPr/>
        </p:nvSpPr>
        <p:spPr>
          <a:xfrm>
            <a:off x="12179" y="3289773"/>
            <a:ext cx="252000" cy="414000"/>
          </a:xfrm>
          <a:prstGeom prst="leftBrace">
            <a:avLst>
              <a:gd name="adj1" fmla="val 20000"/>
              <a:gd name="adj2" fmla="val 50000"/>
            </a:avLst>
          </a:prstGeom>
          <a:solidFill>
            <a:srgbClr val="BDD7EE"/>
          </a:solidFill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" name="左大括号 4">
            <a:extLst>
              <a:ext uri="{FF2B5EF4-FFF2-40B4-BE49-F238E27FC236}">
                <a16:creationId xmlns:a16="http://schemas.microsoft.com/office/drawing/2014/main" id="{C41B0C46-9AFF-F39B-D6EA-AF3E5F8103D8}"/>
              </a:ext>
            </a:extLst>
          </p:cNvPr>
          <p:cNvSpPr/>
          <p:nvPr/>
        </p:nvSpPr>
        <p:spPr>
          <a:xfrm>
            <a:off x="12179" y="4133613"/>
            <a:ext cx="252000" cy="630000"/>
          </a:xfrm>
          <a:prstGeom prst="leftBrace">
            <a:avLst>
              <a:gd name="adj1" fmla="val 20000"/>
              <a:gd name="adj2" fmla="val 50000"/>
            </a:avLst>
          </a:prstGeom>
          <a:solidFill>
            <a:srgbClr val="BDD7EE"/>
          </a:solidFill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左大括号 5">
            <a:extLst>
              <a:ext uri="{FF2B5EF4-FFF2-40B4-BE49-F238E27FC236}">
                <a16:creationId xmlns:a16="http://schemas.microsoft.com/office/drawing/2014/main" id="{BEF038E6-BAF3-C50E-2F7F-6AE1B64710BE}"/>
              </a:ext>
            </a:extLst>
          </p:cNvPr>
          <p:cNvSpPr/>
          <p:nvPr/>
        </p:nvSpPr>
        <p:spPr>
          <a:xfrm>
            <a:off x="12179" y="2862314"/>
            <a:ext cx="252000" cy="414000"/>
          </a:xfrm>
          <a:prstGeom prst="leftBrace">
            <a:avLst>
              <a:gd name="adj1" fmla="val 20000"/>
              <a:gd name="adj2" fmla="val 50000"/>
            </a:avLst>
          </a:prstGeom>
          <a:solidFill>
            <a:srgbClr val="BDD7EE"/>
          </a:solidFill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" name="左大括号 6">
            <a:extLst>
              <a:ext uri="{FF2B5EF4-FFF2-40B4-BE49-F238E27FC236}">
                <a16:creationId xmlns:a16="http://schemas.microsoft.com/office/drawing/2014/main" id="{6640E92B-A3CD-6B59-486F-FF2BC9C15E4F}"/>
              </a:ext>
            </a:extLst>
          </p:cNvPr>
          <p:cNvSpPr/>
          <p:nvPr/>
        </p:nvSpPr>
        <p:spPr>
          <a:xfrm>
            <a:off x="12179" y="3706154"/>
            <a:ext cx="252000" cy="414000"/>
          </a:xfrm>
          <a:prstGeom prst="leftBrace">
            <a:avLst>
              <a:gd name="adj1" fmla="val 20000"/>
              <a:gd name="adj2" fmla="val 50000"/>
            </a:avLst>
          </a:prstGeom>
          <a:solidFill>
            <a:srgbClr val="BDD7EE"/>
          </a:solidFill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4BA98A7C-2430-CF65-2325-2689F4DC26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8596894"/>
              </p:ext>
            </p:extLst>
          </p:nvPr>
        </p:nvGraphicFramePr>
        <p:xfrm>
          <a:off x="7547957" y="4896196"/>
          <a:ext cx="4708198" cy="19618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11618">
                  <a:extLst>
                    <a:ext uri="{9D8B030D-6E8A-4147-A177-3AD203B41FA5}">
                      <a16:colId xmlns:a16="http://schemas.microsoft.com/office/drawing/2014/main" val="3798677802"/>
                    </a:ext>
                  </a:extLst>
                </a:gridCol>
                <a:gridCol w="1425093">
                  <a:extLst>
                    <a:ext uri="{9D8B030D-6E8A-4147-A177-3AD203B41FA5}">
                      <a16:colId xmlns:a16="http://schemas.microsoft.com/office/drawing/2014/main" val="3074742536"/>
                    </a:ext>
                  </a:extLst>
                </a:gridCol>
                <a:gridCol w="1771487">
                  <a:extLst>
                    <a:ext uri="{9D8B030D-6E8A-4147-A177-3AD203B41FA5}">
                      <a16:colId xmlns:a16="http://schemas.microsoft.com/office/drawing/2014/main" val="116050355"/>
                    </a:ext>
                  </a:extLst>
                </a:gridCol>
              </a:tblGrid>
              <a:tr h="251513">
                <a:tc gridSpan="3"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四柱栅变体结构：（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跌孕升吞）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※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跌吞）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※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8360271"/>
                  </a:ext>
                </a:extLst>
              </a:tr>
              <a:tr h="251513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四柱栅变体的内在结构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四柱栅变体包含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四柱栅变体包含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5004398"/>
                  </a:ext>
                </a:extLst>
              </a:tr>
              <a:tr h="402422">
                <a:tc>
                  <a:txBody>
                    <a:bodyPr/>
                    <a:lstStyle/>
                    <a:p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（升排后）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（升连）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</a:t>
                      </a:r>
                      <a:endParaRPr lang="en-US" altLang="zh-CN" sz="9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（升连）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跌孕升吞跌孕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</a:t>
                      </a:r>
                      <a:endParaRPr lang="en-US" altLang="zh-CN" sz="9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跌孕升吞跌孕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5312991"/>
                  </a:ext>
                </a:extLst>
              </a:tr>
              <a:tr h="25151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（升排后）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升连跌孕升孕</a:t>
                      </a:r>
                      <a:endParaRPr lang="zh-CN" altLang="en-US" sz="9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900" b="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跌孕升吞跌孕升孕</a:t>
                      </a:r>
                      <a:endParaRPr lang="zh-CN" altLang="en-US" sz="9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8740425"/>
                  </a:ext>
                </a:extLst>
              </a:tr>
              <a:tr h="40242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（升排后）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升连跌吞升吞 </a:t>
                      </a:r>
                      <a:endParaRPr lang="en-US" altLang="zh-CN" sz="9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升连跌吞升吞跌孕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升吞跌吞升吞 </a:t>
                      </a:r>
                      <a:endParaRPr lang="en-US" altLang="zh-CN" sz="9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升吞跌吞升吞跌孕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2430381"/>
                  </a:ext>
                </a:extLst>
              </a:tr>
              <a:tr h="40242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（升排后）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+/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升连跌吞 （前置形态）</a:t>
                      </a:r>
                      <a:endParaRPr lang="en-US" altLang="zh-CN" sz="900" b="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升连跌吞升孕</a:t>
                      </a:r>
                      <a:endParaRPr lang="zh-CN" altLang="en-US" sz="9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跌孕升吞跌吞 （前置形态）</a:t>
                      </a:r>
                      <a:endParaRPr lang="en-US" altLang="zh-CN" sz="900" b="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 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跌孕升吞跌吞升孕</a:t>
                      </a:r>
                      <a:endParaRPr lang="zh-CN" altLang="en-US" sz="9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7860077"/>
                  </a:ext>
                </a:extLst>
              </a:tr>
            </a:tbl>
          </a:graphicData>
        </a:graphic>
      </p:graphicFrame>
      <p:sp>
        <p:nvSpPr>
          <p:cNvPr id="43" name="文本框 42">
            <a:extLst>
              <a:ext uri="{FF2B5EF4-FFF2-40B4-BE49-F238E27FC236}">
                <a16:creationId xmlns:a16="http://schemas.microsoft.com/office/drawing/2014/main" id="{DA88CA51-1F5E-E42A-E744-552AADC2D11A}"/>
              </a:ext>
            </a:extLst>
          </p:cNvPr>
          <p:cNvSpPr txBox="1"/>
          <p:nvPr/>
        </p:nvSpPr>
        <p:spPr>
          <a:xfrm>
            <a:off x="0" y="6192891"/>
            <a:ext cx="6886065" cy="707886"/>
          </a:xfrm>
          <a:prstGeom prst="rect">
            <a:avLst/>
          </a:prstGeom>
          <a:solidFill>
            <a:schemeClr val="accent2"/>
          </a:solidFill>
          <a:ln w="38100">
            <a:noFill/>
          </a:ln>
        </p:spPr>
        <p:txBody>
          <a:bodyPr wrap="square">
            <a:spAutoFit/>
          </a:bodyPr>
          <a:lstStyle/>
          <a:p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重要结论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在操作范围内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之上，利用柱排合理制定下柱期望。问以下问题：下柱是何情况能够维持升势？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升过程主要为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如何打破升过程？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需依赖：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】【/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】【 (/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)*N+ 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】【 (/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)*N+ 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 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升过程遇到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会停顿或转跌。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如何拯救跌排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？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需依赖：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【/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【/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】【(/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*N+/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】【(/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*N+/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</p:txBody>
      </p:sp>
    </p:spTree>
    <p:extLst>
      <p:ext uri="{BB962C8B-B14F-4D97-AF65-F5344CB8AC3E}">
        <p14:creationId xmlns:p14="http://schemas.microsoft.com/office/powerpoint/2010/main" val="2878276181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3E9E83-949E-3E57-3B1F-A4392CB52F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矩形 151">
            <a:extLst>
              <a:ext uri="{FF2B5EF4-FFF2-40B4-BE49-F238E27FC236}">
                <a16:creationId xmlns:a16="http://schemas.microsoft.com/office/drawing/2014/main" id="{C2F58208-A22D-AB3F-0205-921513F4E659}"/>
              </a:ext>
            </a:extLst>
          </p:cNvPr>
          <p:cNvSpPr/>
          <p:nvPr/>
        </p:nvSpPr>
        <p:spPr>
          <a:xfrm>
            <a:off x="3529514" y="1182"/>
            <a:ext cx="5760000" cy="3582000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1050" b="1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（衔接升排</a:t>
            </a:r>
            <a:r>
              <a:rPr lang="zh-CN" altLang="en-US" sz="105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）人排</a:t>
            </a:r>
            <a:endParaRPr lang="en-US" altLang="zh-CN" sz="105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1" name="矩形 150">
            <a:extLst>
              <a:ext uri="{FF2B5EF4-FFF2-40B4-BE49-F238E27FC236}">
                <a16:creationId xmlns:a16="http://schemas.microsoft.com/office/drawing/2014/main" id="{DADD5027-B13E-093B-41C2-360947D3978C}"/>
              </a:ext>
            </a:extLst>
          </p:cNvPr>
          <p:cNvSpPr/>
          <p:nvPr/>
        </p:nvSpPr>
        <p:spPr>
          <a:xfrm>
            <a:off x="654867" y="1182"/>
            <a:ext cx="2880000" cy="3582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1100" b="1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升排</a:t>
            </a:r>
            <a:endParaRPr lang="en-US" altLang="zh-CN" sz="11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FFC0A7B0-7A27-E6BB-F0E8-1C859B16FDD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651636" cy="6858000"/>
          </a:xfrm>
          <a:solidFill>
            <a:schemeClr val="tx1">
              <a:lumMod val="95000"/>
              <a:lumOff val="5000"/>
            </a:schemeClr>
          </a:solidFill>
        </p:spPr>
        <p:txBody>
          <a:bodyPr vert="eaVert" anchor="ctr">
            <a:normAutofit fontScale="90000"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日类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之上柱排演变路径</a:t>
            </a:r>
            <a:b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分类柱排：在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之上升排介入，并查看其后续演变规律。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728140F5-1FB1-FE96-F231-72F0EE7DC11B}"/>
              </a:ext>
            </a:extLst>
          </p:cNvPr>
          <p:cNvSpPr/>
          <p:nvPr/>
        </p:nvSpPr>
        <p:spPr>
          <a:xfrm>
            <a:off x="1116268" y="370215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/>
              <a:t>升</a:t>
            </a:r>
            <a:endParaRPr lang="en-US" altLang="zh-CN" sz="900" dirty="0"/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4E3BB2A7-18E7-2B3D-05EB-2037E181510C}"/>
              </a:ext>
            </a:extLst>
          </p:cNvPr>
          <p:cNvSpPr/>
          <p:nvPr/>
        </p:nvSpPr>
        <p:spPr>
          <a:xfrm>
            <a:off x="1377239" y="370215"/>
            <a:ext cx="1008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/>
              <a:t>/</a:t>
            </a:r>
            <a:r>
              <a:rPr lang="zh-CN" altLang="en-US" sz="900"/>
              <a:t>升连</a:t>
            </a:r>
            <a:endParaRPr lang="en-US" altLang="zh-CN" sz="900" dirty="0"/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2B79B0B4-9490-C3B1-3559-4F5E8C324F5C}"/>
              </a:ext>
            </a:extLst>
          </p:cNvPr>
          <p:cNvSpPr/>
          <p:nvPr/>
        </p:nvSpPr>
        <p:spPr>
          <a:xfrm>
            <a:off x="1116268" y="2777999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/>
              <a:t>升</a:t>
            </a:r>
            <a:endParaRPr lang="en-US" altLang="zh-CN" sz="900" dirty="0"/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9DAF19EF-6C87-0003-D0C1-F258FDDD3EEB}"/>
              </a:ext>
            </a:extLst>
          </p:cNvPr>
          <p:cNvSpPr/>
          <p:nvPr/>
        </p:nvSpPr>
        <p:spPr>
          <a:xfrm>
            <a:off x="1377239" y="2777999"/>
            <a:ext cx="1008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跌孕升吞</a:t>
            </a:r>
            <a:endParaRPr lang="en-US" altLang="zh-CN" sz="900" dirty="0"/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C40569EA-0D92-7400-6AB4-D1809D90C947}"/>
              </a:ext>
            </a:extLst>
          </p:cNvPr>
          <p:cNvSpPr/>
          <p:nvPr/>
        </p:nvSpPr>
        <p:spPr>
          <a:xfrm>
            <a:off x="1116268" y="1974049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/>
              <a:t>升</a:t>
            </a:r>
            <a:endParaRPr lang="en-US" altLang="zh-CN" sz="900" dirty="0"/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62F670E9-5772-F2EC-4202-D91506FADE4A}"/>
              </a:ext>
            </a:extLst>
          </p:cNvPr>
          <p:cNvSpPr/>
          <p:nvPr/>
        </p:nvSpPr>
        <p:spPr>
          <a:xfrm>
            <a:off x="1377239" y="1974049"/>
            <a:ext cx="1008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跌孕升吞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endParaRPr lang="en-US" altLang="zh-CN" sz="900" dirty="0"/>
          </a:p>
        </p:txBody>
      </p:sp>
      <p:sp>
        <p:nvSpPr>
          <p:cNvPr id="21" name="矩形 20">
            <a:extLst>
              <a:ext uri="{FF2B5EF4-FFF2-40B4-BE49-F238E27FC236}">
                <a16:creationId xmlns:a16="http://schemas.microsoft.com/office/drawing/2014/main" id="{94F10051-8CC2-453B-A4EB-18D5F9110B25}"/>
              </a:ext>
            </a:extLst>
          </p:cNvPr>
          <p:cNvSpPr/>
          <p:nvPr/>
        </p:nvSpPr>
        <p:spPr>
          <a:xfrm>
            <a:off x="1116268" y="1508741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/>
              <a:t>升</a:t>
            </a:r>
            <a:endParaRPr lang="en-US" altLang="zh-CN" sz="900" dirty="0"/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5A4A05E7-8336-90DD-6169-CB0989E0352D}"/>
              </a:ext>
            </a:extLst>
          </p:cNvPr>
          <p:cNvSpPr/>
          <p:nvPr/>
        </p:nvSpPr>
        <p:spPr>
          <a:xfrm>
            <a:off x="1377239" y="1508741"/>
            <a:ext cx="1008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endParaRPr lang="en-US" altLang="zh-CN" sz="900" dirty="0"/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B3357658-4836-27ED-7070-160ACD007BCC}"/>
              </a:ext>
            </a:extLst>
          </p:cNvPr>
          <p:cNvSpPr/>
          <p:nvPr/>
        </p:nvSpPr>
        <p:spPr>
          <a:xfrm>
            <a:off x="3906411" y="370583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人</a:t>
            </a:r>
            <a:endParaRPr lang="en-US" altLang="zh-CN" sz="900" dirty="0"/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0306F41A-FCDE-6527-A601-2744E4FD32BD}"/>
              </a:ext>
            </a:extLst>
          </p:cNvPr>
          <p:cNvSpPr/>
          <p:nvPr/>
        </p:nvSpPr>
        <p:spPr>
          <a:xfrm>
            <a:off x="4167382" y="370583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栅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900" dirty="0">
              <a:solidFill>
                <a:srgbClr val="FFC000"/>
              </a:solidFill>
            </a:endParaRP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5FAFEEF6-5816-3970-3EE8-0407E1F72BB4}"/>
              </a:ext>
            </a:extLst>
          </p:cNvPr>
          <p:cNvSpPr/>
          <p:nvPr/>
        </p:nvSpPr>
        <p:spPr>
          <a:xfrm>
            <a:off x="5777591" y="369948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人</a:t>
            </a:r>
            <a:endParaRPr lang="en-US" altLang="zh-CN" sz="900" dirty="0"/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475F8C81-68EA-929F-0D9D-24E18176E99C}"/>
              </a:ext>
            </a:extLst>
          </p:cNvPr>
          <p:cNvSpPr/>
          <p:nvPr/>
        </p:nvSpPr>
        <p:spPr>
          <a:xfrm>
            <a:off x="6038562" y="369948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升连跌吞升吞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栅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900" dirty="0">
              <a:solidFill>
                <a:srgbClr val="FFC000"/>
              </a:solidFill>
            </a:endParaRPr>
          </a:p>
        </p:txBody>
      </p:sp>
      <p:cxnSp>
        <p:nvCxnSpPr>
          <p:cNvPr id="28" name="连接符: 肘形 27">
            <a:extLst>
              <a:ext uri="{FF2B5EF4-FFF2-40B4-BE49-F238E27FC236}">
                <a16:creationId xmlns:a16="http://schemas.microsoft.com/office/drawing/2014/main" id="{065A5A05-4616-86F8-DA86-2AC7B0259D89}"/>
              </a:ext>
            </a:extLst>
          </p:cNvPr>
          <p:cNvCxnSpPr>
            <a:stCxn id="24" idx="3"/>
            <a:endCxn id="25" idx="1"/>
          </p:cNvCxnSpPr>
          <p:nvPr/>
        </p:nvCxnSpPr>
        <p:spPr>
          <a:xfrm flipV="1">
            <a:off x="5427382" y="459948"/>
            <a:ext cx="350209" cy="635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矩形 29">
            <a:extLst>
              <a:ext uri="{FF2B5EF4-FFF2-40B4-BE49-F238E27FC236}">
                <a16:creationId xmlns:a16="http://schemas.microsoft.com/office/drawing/2014/main" id="{C01AC250-7BF4-2B9D-302B-95EFCCD4DDD8}"/>
              </a:ext>
            </a:extLst>
          </p:cNvPr>
          <p:cNvSpPr/>
          <p:nvPr/>
        </p:nvSpPr>
        <p:spPr>
          <a:xfrm>
            <a:off x="5777591" y="577112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跌</a:t>
            </a:r>
            <a:endParaRPr lang="en-US" altLang="zh-CN" sz="900" dirty="0"/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A0ECD91F-4F13-1DF1-01A5-8D23A5717ADA}"/>
              </a:ext>
            </a:extLst>
          </p:cNvPr>
          <p:cNvSpPr/>
          <p:nvPr/>
        </p:nvSpPr>
        <p:spPr>
          <a:xfrm>
            <a:off x="6038562" y="577112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endParaRPr lang="en-US" altLang="zh-CN" sz="900" dirty="0"/>
          </a:p>
        </p:txBody>
      </p:sp>
      <p:sp>
        <p:nvSpPr>
          <p:cNvPr id="35" name="矩形 34">
            <a:extLst>
              <a:ext uri="{FF2B5EF4-FFF2-40B4-BE49-F238E27FC236}">
                <a16:creationId xmlns:a16="http://schemas.microsoft.com/office/drawing/2014/main" id="{17ADBA99-D1AE-D2CB-A161-C2B4658254F1}"/>
              </a:ext>
            </a:extLst>
          </p:cNvPr>
          <p:cNvSpPr/>
          <p:nvPr/>
        </p:nvSpPr>
        <p:spPr>
          <a:xfrm>
            <a:off x="3906411" y="836809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人</a:t>
            </a:r>
            <a:endParaRPr lang="en-US" altLang="zh-CN" sz="900" dirty="0"/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272F3C9C-9FDB-CD7E-D621-B182F2F273B1}"/>
              </a:ext>
            </a:extLst>
          </p:cNvPr>
          <p:cNvSpPr/>
          <p:nvPr/>
        </p:nvSpPr>
        <p:spPr>
          <a:xfrm>
            <a:off x="4167382" y="836809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升连跌吞升孕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栅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900" dirty="0">
              <a:solidFill>
                <a:srgbClr val="FFC000"/>
              </a:solidFill>
            </a:endParaRPr>
          </a:p>
        </p:txBody>
      </p:sp>
      <p:cxnSp>
        <p:nvCxnSpPr>
          <p:cNvPr id="37" name="连接符: 肘形 36">
            <a:extLst>
              <a:ext uri="{FF2B5EF4-FFF2-40B4-BE49-F238E27FC236}">
                <a16:creationId xmlns:a16="http://schemas.microsoft.com/office/drawing/2014/main" id="{1A680FC7-83A5-7313-7819-D20CE69C59D1}"/>
              </a:ext>
            </a:extLst>
          </p:cNvPr>
          <p:cNvCxnSpPr>
            <a:cxnSpLocks/>
            <a:stCxn id="24" idx="2"/>
            <a:endCxn id="35" idx="1"/>
          </p:cNvCxnSpPr>
          <p:nvPr/>
        </p:nvCxnSpPr>
        <p:spPr>
          <a:xfrm rot="5400000">
            <a:off x="4163784" y="293211"/>
            <a:ext cx="376226" cy="890971"/>
          </a:xfrm>
          <a:prstGeom prst="bentConnector4">
            <a:avLst>
              <a:gd name="adj1" fmla="val 38039"/>
              <a:gd name="adj2" fmla="val 125657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连接符: 肘形 37">
            <a:extLst>
              <a:ext uri="{FF2B5EF4-FFF2-40B4-BE49-F238E27FC236}">
                <a16:creationId xmlns:a16="http://schemas.microsoft.com/office/drawing/2014/main" id="{0B9F2ACE-4F43-21BD-0A00-73255D6C5391}"/>
              </a:ext>
            </a:extLst>
          </p:cNvPr>
          <p:cNvCxnSpPr>
            <a:cxnSpLocks/>
            <a:stCxn id="24" idx="3"/>
            <a:endCxn id="30" idx="1"/>
          </p:cNvCxnSpPr>
          <p:nvPr/>
        </p:nvCxnSpPr>
        <p:spPr>
          <a:xfrm>
            <a:off x="5427382" y="460583"/>
            <a:ext cx="350209" cy="206529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矩形 42">
            <a:extLst>
              <a:ext uri="{FF2B5EF4-FFF2-40B4-BE49-F238E27FC236}">
                <a16:creationId xmlns:a16="http://schemas.microsoft.com/office/drawing/2014/main" id="{06E2803A-6A57-ED41-B31B-1D8E45D81A32}"/>
              </a:ext>
            </a:extLst>
          </p:cNvPr>
          <p:cNvSpPr/>
          <p:nvPr/>
        </p:nvSpPr>
        <p:spPr>
          <a:xfrm>
            <a:off x="5777591" y="836957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/>
              <a:t>升</a:t>
            </a:r>
            <a:endParaRPr lang="en-US" altLang="zh-CN" sz="900" dirty="0"/>
          </a:p>
        </p:txBody>
      </p:sp>
      <p:sp>
        <p:nvSpPr>
          <p:cNvPr id="44" name="矩形 43">
            <a:extLst>
              <a:ext uri="{FF2B5EF4-FFF2-40B4-BE49-F238E27FC236}">
                <a16:creationId xmlns:a16="http://schemas.microsoft.com/office/drawing/2014/main" id="{CFC82482-7302-F3B7-2419-1A5AF962ABEB}"/>
              </a:ext>
            </a:extLst>
          </p:cNvPr>
          <p:cNvSpPr/>
          <p:nvPr/>
        </p:nvSpPr>
        <p:spPr>
          <a:xfrm>
            <a:off x="6038562" y="836957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/>
              <a:t>/</a:t>
            </a:r>
            <a:r>
              <a:rPr lang="zh-CN" altLang="en-US" sz="900"/>
              <a:t>升连</a:t>
            </a:r>
            <a:endParaRPr lang="en-US" altLang="zh-CN" sz="900" dirty="0"/>
          </a:p>
        </p:txBody>
      </p:sp>
      <p:sp>
        <p:nvSpPr>
          <p:cNvPr id="45" name="矩形 44">
            <a:extLst>
              <a:ext uri="{FF2B5EF4-FFF2-40B4-BE49-F238E27FC236}">
                <a16:creationId xmlns:a16="http://schemas.microsoft.com/office/drawing/2014/main" id="{A252F39B-7A9E-380A-9004-0D776D42F894}"/>
              </a:ext>
            </a:extLst>
          </p:cNvPr>
          <p:cNvSpPr/>
          <p:nvPr/>
        </p:nvSpPr>
        <p:spPr>
          <a:xfrm>
            <a:off x="5777591" y="1254227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跌</a:t>
            </a:r>
            <a:endParaRPr lang="en-US" altLang="zh-CN" sz="900" dirty="0"/>
          </a:p>
        </p:txBody>
      </p:sp>
      <p:sp>
        <p:nvSpPr>
          <p:cNvPr id="46" name="矩形 45">
            <a:extLst>
              <a:ext uri="{FF2B5EF4-FFF2-40B4-BE49-F238E27FC236}">
                <a16:creationId xmlns:a16="http://schemas.microsoft.com/office/drawing/2014/main" id="{E1DE7890-930E-A595-AE53-E4C4B6FF003D}"/>
              </a:ext>
            </a:extLst>
          </p:cNvPr>
          <p:cNvSpPr/>
          <p:nvPr/>
        </p:nvSpPr>
        <p:spPr>
          <a:xfrm>
            <a:off x="6038562" y="1254227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endParaRPr lang="en-US" altLang="zh-CN" sz="900" dirty="0"/>
          </a:p>
        </p:txBody>
      </p:sp>
      <p:cxnSp>
        <p:nvCxnSpPr>
          <p:cNvPr id="47" name="连接符: 肘形 46">
            <a:extLst>
              <a:ext uri="{FF2B5EF4-FFF2-40B4-BE49-F238E27FC236}">
                <a16:creationId xmlns:a16="http://schemas.microsoft.com/office/drawing/2014/main" id="{CDA1C4A8-084F-3419-2C99-72DA15D9FDF9}"/>
              </a:ext>
            </a:extLst>
          </p:cNvPr>
          <p:cNvCxnSpPr>
            <a:cxnSpLocks/>
            <a:stCxn id="36" idx="3"/>
            <a:endCxn id="45" idx="1"/>
          </p:cNvCxnSpPr>
          <p:nvPr/>
        </p:nvCxnSpPr>
        <p:spPr>
          <a:xfrm>
            <a:off x="5427382" y="926809"/>
            <a:ext cx="350209" cy="417418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连接符: 肘形 47">
            <a:extLst>
              <a:ext uri="{FF2B5EF4-FFF2-40B4-BE49-F238E27FC236}">
                <a16:creationId xmlns:a16="http://schemas.microsoft.com/office/drawing/2014/main" id="{AB71233F-2290-E17D-0A25-DA2F3F6CC762}"/>
              </a:ext>
            </a:extLst>
          </p:cNvPr>
          <p:cNvCxnSpPr>
            <a:cxnSpLocks/>
            <a:stCxn id="36" idx="3"/>
            <a:endCxn id="43" idx="1"/>
          </p:cNvCxnSpPr>
          <p:nvPr/>
        </p:nvCxnSpPr>
        <p:spPr>
          <a:xfrm>
            <a:off x="5427382" y="926809"/>
            <a:ext cx="350209" cy="148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连接符: 肘形 52">
            <a:extLst>
              <a:ext uri="{FF2B5EF4-FFF2-40B4-BE49-F238E27FC236}">
                <a16:creationId xmlns:a16="http://schemas.microsoft.com/office/drawing/2014/main" id="{124DECE2-C150-0852-7469-038628995A0C}"/>
              </a:ext>
            </a:extLst>
          </p:cNvPr>
          <p:cNvCxnSpPr>
            <a:cxnSpLocks/>
            <a:stCxn id="36" idx="3"/>
            <a:endCxn id="57" idx="1"/>
          </p:cNvCxnSpPr>
          <p:nvPr/>
        </p:nvCxnSpPr>
        <p:spPr>
          <a:xfrm>
            <a:off x="5427382" y="926809"/>
            <a:ext cx="350209" cy="208252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矩形 54">
            <a:extLst>
              <a:ext uri="{FF2B5EF4-FFF2-40B4-BE49-F238E27FC236}">
                <a16:creationId xmlns:a16="http://schemas.microsoft.com/office/drawing/2014/main" id="{FABA95B4-50C0-1E4C-F3EB-7A7078E4566D}"/>
              </a:ext>
            </a:extLst>
          </p:cNvPr>
          <p:cNvSpPr/>
          <p:nvPr/>
        </p:nvSpPr>
        <p:spPr>
          <a:xfrm>
            <a:off x="3906411" y="1653118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人</a:t>
            </a:r>
            <a:endParaRPr lang="en-US" altLang="zh-CN" sz="900" dirty="0"/>
          </a:p>
        </p:txBody>
      </p:sp>
      <p:sp>
        <p:nvSpPr>
          <p:cNvPr id="56" name="矩形 55">
            <a:extLst>
              <a:ext uri="{FF2B5EF4-FFF2-40B4-BE49-F238E27FC236}">
                <a16:creationId xmlns:a16="http://schemas.microsoft.com/office/drawing/2014/main" id="{B0BF9093-215B-FAF5-986C-617B6E28976E}"/>
              </a:ext>
            </a:extLst>
          </p:cNvPr>
          <p:cNvSpPr/>
          <p:nvPr/>
        </p:nvSpPr>
        <p:spPr>
          <a:xfrm>
            <a:off x="4167382" y="1653118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升连跌孕升孕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栅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900" dirty="0">
              <a:solidFill>
                <a:srgbClr val="FFC000"/>
              </a:solidFill>
            </a:endParaRPr>
          </a:p>
        </p:txBody>
      </p:sp>
      <p:sp>
        <p:nvSpPr>
          <p:cNvPr id="57" name="矩形 56">
            <a:extLst>
              <a:ext uri="{FF2B5EF4-FFF2-40B4-BE49-F238E27FC236}">
                <a16:creationId xmlns:a16="http://schemas.microsoft.com/office/drawing/2014/main" id="{6A3D843F-8A07-8EA6-8140-C913C1C39304}"/>
              </a:ext>
            </a:extLst>
          </p:cNvPr>
          <p:cNvSpPr/>
          <p:nvPr/>
        </p:nvSpPr>
        <p:spPr>
          <a:xfrm>
            <a:off x="5777591" y="1045061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人</a:t>
            </a:r>
            <a:endParaRPr lang="en-US" altLang="zh-CN" sz="900" dirty="0"/>
          </a:p>
        </p:txBody>
      </p:sp>
      <p:sp>
        <p:nvSpPr>
          <p:cNvPr id="58" name="矩形 57">
            <a:extLst>
              <a:ext uri="{FF2B5EF4-FFF2-40B4-BE49-F238E27FC236}">
                <a16:creationId xmlns:a16="http://schemas.microsoft.com/office/drawing/2014/main" id="{F7867409-BF76-A87C-8ADF-548A5373ED0C}"/>
              </a:ext>
            </a:extLst>
          </p:cNvPr>
          <p:cNvSpPr/>
          <p:nvPr/>
        </p:nvSpPr>
        <p:spPr>
          <a:xfrm>
            <a:off x="6038562" y="1045061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衔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人</a:t>
            </a:r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)/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endParaRPr lang="en-US" altLang="zh-CN" sz="900" dirty="0"/>
          </a:p>
        </p:txBody>
      </p:sp>
      <p:cxnSp>
        <p:nvCxnSpPr>
          <p:cNvPr id="61" name="连接符: 肘形 60">
            <a:extLst>
              <a:ext uri="{FF2B5EF4-FFF2-40B4-BE49-F238E27FC236}">
                <a16:creationId xmlns:a16="http://schemas.microsoft.com/office/drawing/2014/main" id="{2895DE01-D992-5FF1-72BB-38F006B4194E}"/>
              </a:ext>
            </a:extLst>
          </p:cNvPr>
          <p:cNvCxnSpPr>
            <a:cxnSpLocks/>
            <a:stCxn id="7" idx="3"/>
            <a:endCxn id="23" idx="1"/>
          </p:cNvCxnSpPr>
          <p:nvPr/>
        </p:nvCxnSpPr>
        <p:spPr>
          <a:xfrm>
            <a:off x="2385239" y="460215"/>
            <a:ext cx="1521172" cy="368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连接符: 肘形 63">
            <a:extLst>
              <a:ext uri="{FF2B5EF4-FFF2-40B4-BE49-F238E27FC236}">
                <a16:creationId xmlns:a16="http://schemas.microsoft.com/office/drawing/2014/main" id="{67F45CEB-2A15-01C5-AA53-32EE397A63B6}"/>
              </a:ext>
            </a:extLst>
          </p:cNvPr>
          <p:cNvCxnSpPr>
            <a:cxnSpLocks/>
            <a:stCxn id="7" idx="2"/>
            <a:endCxn id="21" idx="1"/>
          </p:cNvCxnSpPr>
          <p:nvPr/>
        </p:nvCxnSpPr>
        <p:spPr>
          <a:xfrm rot="5400000">
            <a:off x="974491" y="691993"/>
            <a:ext cx="1048526" cy="764971"/>
          </a:xfrm>
          <a:prstGeom prst="bentConnector4">
            <a:avLst>
              <a:gd name="adj1" fmla="val 45708"/>
              <a:gd name="adj2" fmla="val 119506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矩形 69">
            <a:extLst>
              <a:ext uri="{FF2B5EF4-FFF2-40B4-BE49-F238E27FC236}">
                <a16:creationId xmlns:a16="http://schemas.microsoft.com/office/drawing/2014/main" id="{5F799C09-04E9-C0DD-09ED-0028D95AD94B}"/>
              </a:ext>
            </a:extLst>
          </p:cNvPr>
          <p:cNvSpPr/>
          <p:nvPr/>
        </p:nvSpPr>
        <p:spPr>
          <a:xfrm>
            <a:off x="5777591" y="1544457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/>
              <a:t>升</a:t>
            </a:r>
            <a:endParaRPr lang="en-US" altLang="zh-CN" sz="900" dirty="0"/>
          </a:p>
        </p:txBody>
      </p:sp>
      <p:sp>
        <p:nvSpPr>
          <p:cNvPr id="71" name="矩形 70">
            <a:extLst>
              <a:ext uri="{FF2B5EF4-FFF2-40B4-BE49-F238E27FC236}">
                <a16:creationId xmlns:a16="http://schemas.microsoft.com/office/drawing/2014/main" id="{8679F8E0-69E6-6796-37B3-6DBC6E8833E8}"/>
              </a:ext>
            </a:extLst>
          </p:cNvPr>
          <p:cNvSpPr/>
          <p:nvPr/>
        </p:nvSpPr>
        <p:spPr>
          <a:xfrm>
            <a:off x="6038562" y="1544457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/>
              <a:t>/</a:t>
            </a:r>
            <a:r>
              <a:rPr lang="zh-CN" altLang="en-US" sz="900"/>
              <a:t>升连</a:t>
            </a:r>
            <a:endParaRPr lang="en-US" altLang="zh-CN" sz="900" dirty="0"/>
          </a:p>
        </p:txBody>
      </p:sp>
      <p:sp>
        <p:nvSpPr>
          <p:cNvPr id="72" name="矩形 71">
            <a:extLst>
              <a:ext uri="{FF2B5EF4-FFF2-40B4-BE49-F238E27FC236}">
                <a16:creationId xmlns:a16="http://schemas.microsoft.com/office/drawing/2014/main" id="{75E36711-5872-FF56-71C8-3565EB17BB00}"/>
              </a:ext>
            </a:extLst>
          </p:cNvPr>
          <p:cNvSpPr/>
          <p:nvPr/>
        </p:nvSpPr>
        <p:spPr>
          <a:xfrm>
            <a:off x="5777591" y="1752182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跌</a:t>
            </a:r>
            <a:endParaRPr lang="en-US" altLang="zh-CN" sz="900" dirty="0"/>
          </a:p>
        </p:txBody>
      </p:sp>
      <p:sp>
        <p:nvSpPr>
          <p:cNvPr id="73" name="矩形 72">
            <a:extLst>
              <a:ext uri="{FF2B5EF4-FFF2-40B4-BE49-F238E27FC236}">
                <a16:creationId xmlns:a16="http://schemas.microsoft.com/office/drawing/2014/main" id="{AF1BF143-247A-67EA-15C8-E403CC73A588}"/>
              </a:ext>
            </a:extLst>
          </p:cNvPr>
          <p:cNvSpPr/>
          <p:nvPr/>
        </p:nvSpPr>
        <p:spPr>
          <a:xfrm>
            <a:off x="6038562" y="1752182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endParaRPr lang="en-US" altLang="zh-CN" sz="900" dirty="0"/>
          </a:p>
        </p:txBody>
      </p:sp>
      <p:sp>
        <p:nvSpPr>
          <p:cNvPr id="74" name="矩形 73">
            <a:extLst>
              <a:ext uri="{FF2B5EF4-FFF2-40B4-BE49-F238E27FC236}">
                <a16:creationId xmlns:a16="http://schemas.microsoft.com/office/drawing/2014/main" id="{15256981-B9C2-9B7F-2C32-9E887023970D}"/>
              </a:ext>
            </a:extLst>
          </p:cNvPr>
          <p:cNvSpPr/>
          <p:nvPr/>
        </p:nvSpPr>
        <p:spPr>
          <a:xfrm>
            <a:off x="5777591" y="1957984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人</a:t>
            </a:r>
            <a:endParaRPr lang="en-US" altLang="zh-CN" sz="900" dirty="0"/>
          </a:p>
        </p:txBody>
      </p:sp>
      <p:sp>
        <p:nvSpPr>
          <p:cNvPr id="75" name="矩形 74">
            <a:extLst>
              <a:ext uri="{FF2B5EF4-FFF2-40B4-BE49-F238E27FC236}">
                <a16:creationId xmlns:a16="http://schemas.microsoft.com/office/drawing/2014/main" id="{9031C3FA-BB8B-68B8-95D7-DB8644CDF22C}"/>
              </a:ext>
            </a:extLst>
          </p:cNvPr>
          <p:cNvSpPr/>
          <p:nvPr/>
        </p:nvSpPr>
        <p:spPr>
          <a:xfrm>
            <a:off x="6038562" y="1957984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衔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人</a:t>
            </a:r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)/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endParaRPr lang="en-US" altLang="zh-CN" sz="900" dirty="0"/>
          </a:p>
        </p:txBody>
      </p:sp>
      <p:cxnSp>
        <p:nvCxnSpPr>
          <p:cNvPr id="76" name="连接符: 肘形 75">
            <a:extLst>
              <a:ext uri="{FF2B5EF4-FFF2-40B4-BE49-F238E27FC236}">
                <a16:creationId xmlns:a16="http://schemas.microsoft.com/office/drawing/2014/main" id="{16BBAB8F-67AB-476D-0C56-BF97FDA0227E}"/>
              </a:ext>
            </a:extLst>
          </p:cNvPr>
          <p:cNvCxnSpPr>
            <a:cxnSpLocks/>
            <a:stCxn id="326" idx="6"/>
            <a:endCxn id="74" idx="1"/>
          </p:cNvCxnSpPr>
          <p:nvPr/>
        </p:nvCxnSpPr>
        <p:spPr>
          <a:xfrm>
            <a:off x="5574335" y="1842668"/>
            <a:ext cx="203256" cy="205316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连接符: 肘形 76">
            <a:extLst>
              <a:ext uri="{FF2B5EF4-FFF2-40B4-BE49-F238E27FC236}">
                <a16:creationId xmlns:a16="http://schemas.microsoft.com/office/drawing/2014/main" id="{4E20F2E5-A99F-226B-E624-FB2353EF40D4}"/>
              </a:ext>
            </a:extLst>
          </p:cNvPr>
          <p:cNvCxnSpPr>
            <a:cxnSpLocks/>
            <a:stCxn id="326" idx="6"/>
            <a:endCxn id="70" idx="1"/>
          </p:cNvCxnSpPr>
          <p:nvPr/>
        </p:nvCxnSpPr>
        <p:spPr>
          <a:xfrm flipV="1">
            <a:off x="5574335" y="1634457"/>
            <a:ext cx="203256" cy="208211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连接符: 肘形 77">
            <a:extLst>
              <a:ext uri="{FF2B5EF4-FFF2-40B4-BE49-F238E27FC236}">
                <a16:creationId xmlns:a16="http://schemas.microsoft.com/office/drawing/2014/main" id="{9E113CE8-0233-A357-2809-CAFA5BE3AD9D}"/>
              </a:ext>
            </a:extLst>
          </p:cNvPr>
          <p:cNvCxnSpPr>
            <a:cxnSpLocks/>
            <a:stCxn id="326" idx="6"/>
            <a:endCxn id="72" idx="1"/>
          </p:cNvCxnSpPr>
          <p:nvPr/>
        </p:nvCxnSpPr>
        <p:spPr>
          <a:xfrm flipV="1">
            <a:off x="5574335" y="1842182"/>
            <a:ext cx="203256" cy="486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连接符: 肘形 84">
            <a:extLst>
              <a:ext uri="{FF2B5EF4-FFF2-40B4-BE49-F238E27FC236}">
                <a16:creationId xmlns:a16="http://schemas.microsoft.com/office/drawing/2014/main" id="{001D885E-443D-30E7-4799-10D1DD27BFEE}"/>
              </a:ext>
            </a:extLst>
          </p:cNvPr>
          <p:cNvCxnSpPr>
            <a:cxnSpLocks/>
            <a:stCxn id="22" idx="3"/>
            <a:endCxn id="55" idx="1"/>
          </p:cNvCxnSpPr>
          <p:nvPr/>
        </p:nvCxnSpPr>
        <p:spPr>
          <a:xfrm>
            <a:off x="2385239" y="1598741"/>
            <a:ext cx="1521172" cy="144377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连接符: 肘形 87">
            <a:extLst>
              <a:ext uri="{FF2B5EF4-FFF2-40B4-BE49-F238E27FC236}">
                <a16:creationId xmlns:a16="http://schemas.microsoft.com/office/drawing/2014/main" id="{FDFECD01-56D2-98FD-155C-65F1CB1BD593}"/>
              </a:ext>
            </a:extLst>
          </p:cNvPr>
          <p:cNvCxnSpPr>
            <a:cxnSpLocks/>
            <a:stCxn id="7" idx="2"/>
            <a:endCxn id="6" idx="1"/>
          </p:cNvCxnSpPr>
          <p:nvPr/>
        </p:nvCxnSpPr>
        <p:spPr>
          <a:xfrm rot="5400000" flipH="1">
            <a:off x="1453754" y="122730"/>
            <a:ext cx="90000" cy="764971"/>
          </a:xfrm>
          <a:prstGeom prst="bentConnector4">
            <a:avLst>
              <a:gd name="adj1" fmla="val -254000"/>
              <a:gd name="adj2" fmla="val 119741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连接符: 肘形 91">
            <a:extLst>
              <a:ext uri="{FF2B5EF4-FFF2-40B4-BE49-F238E27FC236}">
                <a16:creationId xmlns:a16="http://schemas.microsoft.com/office/drawing/2014/main" id="{AE48C471-BB0F-C05B-E8C2-0DCE965718D5}"/>
              </a:ext>
            </a:extLst>
          </p:cNvPr>
          <p:cNvCxnSpPr>
            <a:cxnSpLocks/>
            <a:stCxn id="22" idx="2"/>
            <a:endCxn id="8" idx="1"/>
          </p:cNvCxnSpPr>
          <p:nvPr/>
        </p:nvCxnSpPr>
        <p:spPr>
          <a:xfrm rot="5400000">
            <a:off x="909125" y="1895885"/>
            <a:ext cx="1179258" cy="764971"/>
          </a:xfrm>
          <a:prstGeom prst="bentConnector4">
            <a:avLst>
              <a:gd name="adj1" fmla="val 15491"/>
              <a:gd name="adj2" fmla="val 118676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矩形 94">
            <a:extLst>
              <a:ext uri="{FF2B5EF4-FFF2-40B4-BE49-F238E27FC236}">
                <a16:creationId xmlns:a16="http://schemas.microsoft.com/office/drawing/2014/main" id="{0EA9DA56-F3EA-908F-3D43-3B516BECDB17}"/>
              </a:ext>
            </a:extLst>
          </p:cNvPr>
          <p:cNvSpPr/>
          <p:nvPr/>
        </p:nvSpPr>
        <p:spPr>
          <a:xfrm>
            <a:off x="2551810" y="1380177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跌</a:t>
            </a:r>
            <a:endParaRPr lang="en-US" altLang="zh-CN" sz="900" dirty="0"/>
          </a:p>
        </p:txBody>
      </p:sp>
      <p:sp>
        <p:nvSpPr>
          <p:cNvPr id="96" name="矩形 95">
            <a:extLst>
              <a:ext uri="{FF2B5EF4-FFF2-40B4-BE49-F238E27FC236}">
                <a16:creationId xmlns:a16="http://schemas.microsoft.com/office/drawing/2014/main" id="{A893A74E-AFBB-FD94-21F8-FBEACA7BA3D2}"/>
              </a:ext>
            </a:extLst>
          </p:cNvPr>
          <p:cNvSpPr/>
          <p:nvPr/>
        </p:nvSpPr>
        <p:spPr>
          <a:xfrm>
            <a:off x="2812781" y="1380177"/>
            <a:ext cx="504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endParaRPr lang="en-US" altLang="zh-CN" sz="900" dirty="0"/>
          </a:p>
        </p:txBody>
      </p:sp>
      <p:cxnSp>
        <p:nvCxnSpPr>
          <p:cNvPr id="97" name="连接符: 肘形 96">
            <a:extLst>
              <a:ext uri="{FF2B5EF4-FFF2-40B4-BE49-F238E27FC236}">
                <a16:creationId xmlns:a16="http://schemas.microsoft.com/office/drawing/2014/main" id="{D528E2D4-32E4-B292-8BCC-52CD66EEDD8C}"/>
              </a:ext>
            </a:extLst>
          </p:cNvPr>
          <p:cNvCxnSpPr>
            <a:cxnSpLocks/>
            <a:stCxn id="22" idx="3"/>
            <a:endCxn id="95" idx="1"/>
          </p:cNvCxnSpPr>
          <p:nvPr/>
        </p:nvCxnSpPr>
        <p:spPr>
          <a:xfrm flipV="1">
            <a:off x="2385239" y="1470177"/>
            <a:ext cx="166571" cy="128564"/>
          </a:xfrm>
          <a:prstGeom prst="bentConnector3">
            <a:avLst>
              <a:gd name="adj1" fmla="val 4047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矩形 99">
            <a:extLst>
              <a:ext uri="{FF2B5EF4-FFF2-40B4-BE49-F238E27FC236}">
                <a16:creationId xmlns:a16="http://schemas.microsoft.com/office/drawing/2014/main" id="{C0CEC736-219C-741B-E6A4-5F42918FCCD1}"/>
              </a:ext>
            </a:extLst>
          </p:cNvPr>
          <p:cNvSpPr/>
          <p:nvPr/>
        </p:nvSpPr>
        <p:spPr>
          <a:xfrm>
            <a:off x="3906411" y="2287124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人</a:t>
            </a:r>
            <a:endParaRPr lang="en-US" altLang="zh-CN" sz="900" dirty="0"/>
          </a:p>
        </p:txBody>
      </p:sp>
      <p:sp>
        <p:nvSpPr>
          <p:cNvPr id="101" name="矩形 100">
            <a:extLst>
              <a:ext uri="{FF2B5EF4-FFF2-40B4-BE49-F238E27FC236}">
                <a16:creationId xmlns:a16="http://schemas.microsoft.com/office/drawing/2014/main" id="{3D5C27B4-40E4-2FAB-5BBC-F362AF77696F}"/>
              </a:ext>
            </a:extLst>
          </p:cNvPr>
          <p:cNvSpPr/>
          <p:nvPr/>
        </p:nvSpPr>
        <p:spPr>
          <a:xfrm>
            <a:off x="4167382" y="2287124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跌孕升吞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栅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900" dirty="0"/>
          </a:p>
        </p:txBody>
      </p:sp>
      <p:sp>
        <p:nvSpPr>
          <p:cNvPr id="102" name="矩形 101">
            <a:extLst>
              <a:ext uri="{FF2B5EF4-FFF2-40B4-BE49-F238E27FC236}">
                <a16:creationId xmlns:a16="http://schemas.microsoft.com/office/drawing/2014/main" id="{0711726D-C39E-BB19-2BBE-ECD894A1C4F5}"/>
              </a:ext>
            </a:extLst>
          </p:cNvPr>
          <p:cNvSpPr/>
          <p:nvPr/>
        </p:nvSpPr>
        <p:spPr>
          <a:xfrm>
            <a:off x="5777591" y="2286489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人</a:t>
            </a:r>
            <a:endParaRPr lang="en-US" altLang="zh-CN" sz="900" dirty="0"/>
          </a:p>
        </p:txBody>
      </p:sp>
      <p:sp>
        <p:nvSpPr>
          <p:cNvPr id="103" name="矩形 102">
            <a:extLst>
              <a:ext uri="{FF2B5EF4-FFF2-40B4-BE49-F238E27FC236}">
                <a16:creationId xmlns:a16="http://schemas.microsoft.com/office/drawing/2014/main" id="{76538D5C-7691-BE52-A4D2-4111836A4D48}"/>
              </a:ext>
            </a:extLst>
          </p:cNvPr>
          <p:cNvSpPr/>
          <p:nvPr/>
        </p:nvSpPr>
        <p:spPr>
          <a:xfrm>
            <a:off x="6038562" y="2286489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升吞跌吞升吞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栅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900" dirty="0">
              <a:solidFill>
                <a:srgbClr val="FFC000"/>
              </a:solidFill>
            </a:endParaRPr>
          </a:p>
        </p:txBody>
      </p:sp>
      <p:cxnSp>
        <p:nvCxnSpPr>
          <p:cNvPr id="104" name="连接符: 肘形 103">
            <a:extLst>
              <a:ext uri="{FF2B5EF4-FFF2-40B4-BE49-F238E27FC236}">
                <a16:creationId xmlns:a16="http://schemas.microsoft.com/office/drawing/2014/main" id="{22B19A41-939E-391D-9420-218BA4CD4A5F}"/>
              </a:ext>
            </a:extLst>
          </p:cNvPr>
          <p:cNvCxnSpPr>
            <a:stCxn id="101" idx="3"/>
            <a:endCxn id="102" idx="1"/>
          </p:cNvCxnSpPr>
          <p:nvPr/>
        </p:nvCxnSpPr>
        <p:spPr>
          <a:xfrm flipV="1">
            <a:off x="5427382" y="2376489"/>
            <a:ext cx="350209" cy="635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矩形 104">
            <a:extLst>
              <a:ext uri="{FF2B5EF4-FFF2-40B4-BE49-F238E27FC236}">
                <a16:creationId xmlns:a16="http://schemas.microsoft.com/office/drawing/2014/main" id="{A4768C88-EAF8-FC08-109F-8E7E89D284CF}"/>
              </a:ext>
            </a:extLst>
          </p:cNvPr>
          <p:cNvSpPr/>
          <p:nvPr/>
        </p:nvSpPr>
        <p:spPr>
          <a:xfrm>
            <a:off x="5777591" y="2489527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跌</a:t>
            </a:r>
            <a:endParaRPr lang="en-US" altLang="zh-CN" sz="900" dirty="0"/>
          </a:p>
        </p:txBody>
      </p:sp>
      <p:sp>
        <p:nvSpPr>
          <p:cNvPr id="106" name="矩形 105">
            <a:extLst>
              <a:ext uri="{FF2B5EF4-FFF2-40B4-BE49-F238E27FC236}">
                <a16:creationId xmlns:a16="http://schemas.microsoft.com/office/drawing/2014/main" id="{250A322B-0691-5499-B199-AFEBC8D16BFD}"/>
              </a:ext>
            </a:extLst>
          </p:cNvPr>
          <p:cNvSpPr/>
          <p:nvPr/>
        </p:nvSpPr>
        <p:spPr>
          <a:xfrm>
            <a:off x="6038562" y="2489527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endParaRPr lang="en-US" altLang="zh-CN" sz="900" dirty="0"/>
          </a:p>
        </p:txBody>
      </p:sp>
      <p:cxnSp>
        <p:nvCxnSpPr>
          <p:cNvPr id="107" name="连接符: 肘形 106">
            <a:extLst>
              <a:ext uri="{FF2B5EF4-FFF2-40B4-BE49-F238E27FC236}">
                <a16:creationId xmlns:a16="http://schemas.microsoft.com/office/drawing/2014/main" id="{37B7243F-7A4F-A603-11FE-1B0E34521023}"/>
              </a:ext>
            </a:extLst>
          </p:cNvPr>
          <p:cNvCxnSpPr>
            <a:cxnSpLocks/>
            <a:stCxn id="101" idx="2"/>
            <a:endCxn id="112" idx="1"/>
          </p:cNvCxnSpPr>
          <p:nvPr/>
        </p:nvCxnSpPr>
        <p:spPr>
          <a:xfrm rot="5400000">
            <a:off x="4161064" y="2212472"/>
            <a:ext cx="381666" cy="890971"/>
          </a:xfrm>
          <a:prstGeom prst="bentConnector4">
            <a:avLst>
              <a:gd name="adj1" fmla="val 38210"/>
              <a:gd name="adj2" fmla="val 125657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连接符: 肘形 107">
            <a:extLst>
              <a:ext uri="{FF2B5EF4-FFF2-40B4-BE49-F238E27FC236}">
                <a16:creationId xmlns:a16="http://schemas.microsoft.com/office/drawing/2014/main" id="{50C07830-9EA1-753A-D2D4-63B4C261505E}"/>
              </a:ext>
            </a:extLst>
          </p:cNvPr>
          <p:cNvCxnSpPr>
            <a:cxnSpLocks/>
            <a:stCxn id="101" idx="3"/>
            <a:endCxn id="105" idx="1"/>
          </p:cNvCxnSpPr>
          <p:nvPr/>
        </p:nvCxnSpPr>
        <p:spPr>
          <a:xfrm>
            <a:off x="5427382" y="2377124"/>
            <a:ext cx="350209" cy="202403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连接符: 肘形 108">
            <a:extLst>
              <a:ext uri="{FF2B5EF4-FFF2-40B4-BE49-F238E27FC236}">
                <a16:creationId xmlns:a16="http://schemas.microsoft.com/office/drawing/2014/main" id="{8EAAB6A7-0E5B-E72C-03D1-53C19BBEFB0E}"/>
              </a:ext>
            </a:extLst>
          </p:cNvPr>
          <p:cNvCxnSpPr>
            <a:cxnSpLocks/>
            <a:stCxn id="10" idx="3"/>
            <a:endCxn id="100" idx="1"/>
          </p:cNvCxnSpPr>
          <p:nvPr/>
        </p:nvCxnSpPr>
        <p:spPr>
          <a:xfrm flipV="1">
            <a:off x="2385239" y="2377124"/>
            <a:ext cx="1521172" cy="490875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矩形 111">
            <a:extLst>
              <a:ext uri="{FF2B5EF4-FFF2-40B4-BE49-F238E27FC236}">
                <a16:creationId xmlns:a16="http://schemas.microsoft.com/office/drawing/2014/main" id="{8EB95A7F-6115-54E3-CAD2-9523E4B32CE6}"/>
              </a:ext>
            </a:extLst>
          </p:cNvPr>
          <p:cNvSpPr/>
          <p:nvPr/>
        </p:nvSpPr>
        <p:spPr>
          <a:xfrm>
            <a:off x="3906411" y="2758790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人</a:t>
            </a:r>
            <a:endParaRPr lang="en-US" altLang="zh-CN" sz="900" dirty="0"/>
          </a:p>
        </p:txBody>
      </p:sp>
      <p:sp>
        <p:nvSpPr>
          <p:cNvPr id="113" name="矩形 112">
            <a:extLst>
              <a:ext uri="{FF2B5EF4-FFF2-40B4-BE49-F238E27FC236}">
                <a16:creationId xmlns:a16="http://schemas.microsoft.com/office/drawing/2014/main" id="{C556247C-432F-3620-4538-A43DC9C66401}"/>
              </a:ext>
            </a:extLst>
          </p:cNvPr>
          <p:cNvSpPr/>
          <p:nvPr/>
        </p:nvSpPr>
        <p:spPr>
          <a:xfrm>
            <a:off x="4167382" y="2758790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跌孕升吞跌吞升孕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栅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900" dirty="0"/>
          </a:p>
        </p:txBody>
      </p:sp>
      <p:sp>
        <p:nvSpPr>
          <p:cNvPr id="114" name="矩形 113">
            <a:extLst>
              <a:ext uri="{FF2B5EF4-FFF2-40B4-BE49-F238E27FC236}">
                <a16:creationId xmlns:a16="http://schemas.microsoft.com/office/drawing/2014/main" id="{3DB22818-21A2-8438-8C0E-4A775CA0DE4D}"/>
              </a:ext>
            </a:extLst>
          </p:cNvPr>
          <p:cNvSpPr/>
          <p:nvPr/>
        </p:nvSpPr>
        <p:spPr>
          <a:xfrm>
            <a:off x="5777591" y="2758938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/>
              <a:t>升</a:t>
            </a:r>
            <a:endParaRPr lang="en-US" altLang="zh-CN" sz="900" dirty="0"/>
          </a:p>
        </p:txBody>
      </p:sp>
      <p:sp>
        <p:nvSpPr>
          <p:cNvPr id="115" name="矩形 114">
            <a:extLst>
              <a:ext uri="{FF2B5EF4-FFF2-40B4-BE49-F238E27FC236}">
                <a16:creationId xmlns:a16="http://schemas.microsoft.com/office/drawing/2014/main" id="{A23DB4D6-9509-3C2A-7970-CFB385AAFCC0}"/>
              </a:ext>
            </a:extLst>
          </p:cNvPr>
          <p:cNvSpPr/>
          <p:nvPr/>
        </p:nvSpPr>
        <p:spPr>
          <a:xfrm>
            <a:off x="6038562" y="2758938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/>
              <a:t>/</a:t>
            </a:r>
            <a:r>
              <a:rPr lang="zh-CN" altLang="en-US" sz="900"/>
              <a:t>升连</a:t>
            </a:r>
            <a:endParaRPr lang="en-US" altLang="zh-CN" sz="900" dirty="0"/>
          </a:p>
        </p:txBody>
      </p:sp>
      <p:sp>
        <p:nvSpPr>
          <p:cNvPr id="116" name="矩形 115">
            <a:extLst>
              <a:ext uri="{FF2B5EF4-FFF2-40B4-BE49-F238E27FC236}">
                <a16:creationId xmlns:a16="http://schemas.microsoft.com/office/drawing/2014/main" id="{602EFEE9-3DD0-D21A-7A03-38F6DAE8EFCD}"/>
              </a:ext>
            </a:extLst>
          </p:cNvPr>
          <p:cNvSpPr/>
          <p:nvPr/>
        </p:nvSpPr>
        <p:spPr>
          <a:xfrm>
            <a:off x="5777591" y="3169858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跌</a:t>
            </a:r>
            <a:endParaRPr lang="en-US" altLang="zh-CN" sz="900" dirty="0"/>
          </a:p>
        </p:txBody>
      </p:sp>
      <p:sp>
        <p:nvSpPr>
          <p:cNvPr id="117" name="矩形 116">
            <a:extLst>
              <a:ext uri="{FF2B5EF4-FFF2-40B4-BE49-F238E27FC236}">
                <a16:creationId xmlns:a16="http://schemas.microsoft.com/office/drawing/2014/main" id="{FE902456-3B6C-C5C7-B2D4-8A442F0CF7D8}"/>
              </a:ext>
            </a:extLst>
          </p:cNvPr>
          <p:cNvSpPr/>
          <p:nvPr/>
        </p:nvSpPr>
        <p:spPr>
          <a:xfrm>
            <a:off x="6038562" y="3169858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endParaRPr lang="en-US" altLang="zh-CN" sz="900" dirty="0"/>
          </a:p>
        </p:txBody>
      </p:sp>
      <p:cxnSp>
        <p:nvCxnSpPr>
          <p:cNvPr id="118" name="连接符: 肘形 117">
            <a:extLst>
              <a:ext uri="{FF2B5EF4-FFF2-40B4-BE49-F238E27FC236}">
                <a16:creationId xmlns:a16="http://schemas.microsoft.com/office/drawing/2014/main" id="{554039E9-8F41-1128-0BC4-B3E7C980EFA2}"/>
              </a:ext>
            </a:extLst>
          </p:cNvPr>
          <p:cNvCxnSpPr>
            <a:cxnSpLocks/>
            <a:stCxn id="113" idx="3"/>
            <a:endCxn id="116" idx="1"/>
          </p:cNvCxnSpPr>
          <p:nvPr/>
        </p:nvCxnSpPr>
        <p:spPr>
          <a:xfrm>
            <a:off x="5427382" y="2848790"/>
            <a:ext cx="350209" cy="411068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连接符: 肘形 118">
            <a:extLst>
              <a:ext uri="{FF2B5EF4-FFF2-40B4-BE49-F238E27FC236}">
                <a16:creationId xmlns:a16="http://schemas.microsoft.com/office/drawing/2014/main" id="{00FB8B2C-E002-79A1-3475-A4FBFF378A4B}"/>
              </a:ext>
            </a:extLst>
          </p:cNvPr>
          <p:cNvCxnSpPr>
            <a:cxnSpLocks/>
            <a:stCxn id="113" idx="3"/>
            <a:endCxn id="114" idx="1"/>
          </p:cNvCxnSpPr>
          <p:nvPr/>
        </p:nvCxnSpPr>
        <p:spPr>
          <a:xfrm>
            <a:off x="5427382" y="2848790"/>
            <a:ext cx="350209" cy="148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连接符: 肘形 119">
            <a:extLst>
              <a:ext uri="{FF2B5EF4-FFF2-40B4-BE49-F238E27FC236}">
                <a16:creationId xmlns:a16="http://schemas.microsoft.com/office/drawing/2014/main" id="{8828E37B-274C-520D-D7E3-4F40EF4D8CE9}"/>
              </a:ext>
            </a:extLst>
          </p:cNvPr>
          <p:cNvCxnSpPr>
            <a:cxnSpLocks/>
            <a:stCxn id="113" idx="3"/>
            <a:endCxn id="121" idx="1"/>
          </p:cNvCxnSpPr>
          <p:nvPr/>
        </p:nvCxnSpPr>
        <p:spPr>
          <a:xfrm>
            <a:off x="5427382" y="2848790"/>
            <a:ext cx="350209" cy="205078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矩形 120">
            <a:extLst>
              <a:ext uri="{FF2B5EF4-FFF2-40B4-BE49-F238E27FC236}">
                <a16:creationId xmlns:a16="http://schemas.microsoft.com/office/drawing/2014/main" id="{A4456F27-7133-7DB6-29DC-5618305410CB}"/>
              </a:ext>
            </a:extLst>
          </p:cNvPr>
          <p:cNvSpPr/>
          <p:nvPr/>
        </p:nvSpPr>
        <p:spPr>
          <a:xfrm>
            <a:off x="5777591" y="2963868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人</a:t>
            </a:r>
            <a:endParaRPr lang="en-US" altLang="zh-CN" sz="900" dirty="0"/>
          </a:p>
        </p:txBody>
      </p:sp>
      <p:sp>
        <p:nvSpPr>
          <p:cNvPr id="122" name="矩形 121">
            <a:extLst>
              <a:ext uri="{FF2B5EF4-FFF2-40B4-BE49-F238E27FC236}">
                <a16:creationId xmlns:a16="http://schemas.microsoft.com/office/drawing/2014/main" id="{30613B14-DB41-CC58-8A61-2DD39149CB55}"/>
              </a:ext>
            </a:extLst>
          </p:cNvPr>
          <p:cNvSpPr/>
          <p:nvPr/>
        </p:nvSpPr>
        <p:spPr>
          <a:xfrm>
            <a:off x="6038562" y="2963868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衔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人</a:t>
            </a:r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)/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endParaRPr lang="en-US" altLang="zh-CN" sz="900" dirty="0"/>
          </a:p>
        </p:txBody>
      </p:sp>
      <p:sp>
        <p:nvSpPr>
          <p:cNvPr id="124" name="矩形 123">
            <a:extLst>
              <a:ext uri="{FF2B5EF4-FFF2-40B4-BE49-F238E27FC236}">
                <a16:creationId xmlns:a16="http://schemas.microsoft.com/office/drawing/2014/main" id="{936D2FBF-DF94-2BC7-F847-B054614985C2}"/>
              </a:ext>
            </a:extLst>
          </p:cNvPr>
          <p:cNvSpPr/>
          <p:nvPr/>
        </p:nvSpPr>
        <p:spPr>
          <a:xfrm>
            <a:off x="3906411" y="1855621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人</a:t>
            </a:r>
            <a:endParaRPr lang="en-US" altLang="zh-CN" sz="900" dirty="0"/>
          </a:p>
        </p:txBody>
      </p:sp>
      <p:sp>
        <p:nvSpPr>
          <p:cNvPr id="125" name="矩形 124">
            <a:extLst>
              <a:ext uri="{FF2B5EF4-FFF2-40B4-BE49-F238E27FC236}">
                <a16:creationId xmlns:a16="http://schemas.microsoft.com/office/drawing/2014/main" id="{35701DB4-902A-648C-6DBD-2FB276B85F33}"/>
              </a:ext>
            </a:extLst>
          </p:cNvPr>
          <p:cNvSpPr/>
          <p:nvPr/>
        </p:nvSpPr>
        <p:spPr>
          <a:xfrm>
            <a:off x="4167382" y="1855621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跌孕升吞跌孕升孕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栅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900" dirty="0"/>
          </a:p>
        </p:txBody>
      </p:sp>
      <p:cxnSp>
        <p:nvCxnSpPr>
          <p:cNvPr id="126" name="连接符: 肘形 125">
            <a:extLst>
              <a:ext uri="{FF2B5EF4-FFF2-40B4-BE49-F238E27FC236}">
                <a16:creationId xmlns:a16="http://schemas.microsoft.com/office/drawing/2014/main" id="{04CAB461-A2F9-C742-D36B-BAA27B8A75D5}"/>
              </a:ext>
            </a:extLst>
          </p:cNvPr>
          <p:cNvCxnSpPr>
            <a:cxnSpLocks/>
            <a:stCxn id="10" idx="0"/>
            <a:endCxn id="16" idx="2"/>
          </p:cNvCxnSpPr>
          <p:nvPr/>
        </p:nvCxnSpPr>
        <p:spPr>
          <a:xfrm rot="5400000" flipH="1" flipV="1">
            <a:off x="1569264" y="2466024"/>
            <a:ext cx="623950" cy="12700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连接符: 肘形 128">
            <a:extLst>
              <a:ext uri="{FF2B5EF4-FFF2-40B4-BE49-F238E27FC236}">
                <a16:creationId xmlns:a16="http://schemas.microsoft.com/office/drawing/2014/main" id="{FF0F3F00-1517-6796-946D-35D86BF0780B}"/>
              </a:ext>
            </a:extLst>
          </p:cNvPr>
          <p:cNvCxnSpPr>
            <a:cxnSpLocks/>
            <a:stCxn id="16" idx="3"/>
            <a:endCxn id="124" idx="1"/>
          </p:cNvCxnSpPr>
          <p:nvPr/>
        </p:nvCxnSpPr>
        <p:spPr>
          <a:xfrm flipV="1">
            <a:off x="2385239" y="1945621"/>
            <a:ext cx="1521172" cy="118428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连接符: 肘形 134">
            <a:extLst>
              <a:ext uri="{FF2B5EF4-FFF2-40B4-BE49-F238E27FC236}">
                <a16:creationId xmlns:a16="http://schemas.microsoft.com/office/drawing/2014/main" id="{636B5198-EDB9-4991-FA02-4357E0B496A2}"/>
              </a:ext>
            </a:extLst>
          </p:cNvPr>
          <p:cNvCxnSpPr>
            <a:cxnSpLocks/>
            <a:stCxn id="10" idx="2"/>
            <a:endCxn id="6" idx="1"/>
          </p:cNvCxnSpPr>
          <p:nvPr/>
        </p:nvCxnSpPr>
        <p:spPr>
          <a:xfrm rot="5400000" flipH="1">
            <a:off x="249862" y="1326622"/>
            <a:ext cx="2497784" cy="764971"/>
          </a:xfrm>
          <a:prstGeom prst="bentConnector4">
            <a:avLst>
              <a:gd name="adj1" fmla="val -9152"/>
              <a:gd name="adj2" fmla="val 129883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矩形 138">
            <a:extLst>
              <a:ext uri="{FF2B5EF4-FFF2-40B4-BE49-F238E27FC236}">
                <a16:creationId xmlns:a16="http://schemas.microsoft.com/office/drawing/2014/main" id="{8127A3A8-EB31-337F-816B-132483B48D3E}"/>
              </a:ext>
            </a:extLst>
          </p:cNvPr>
          <p:cNvSpPr/>
          <p:nvPr/>
        </p:nvSpPr>
        <p:spPr>
          <a:xfrm>
            <a:off x="2551810" y="2107402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跌</a:t>
            </a:r>
            <a:endParaRPr lang="en-US" altLang="zh-CN" sz="900" dirty="0"/>
          </a:p>
        </p:txBody>
      </p:sp>
      <p:sp>
        <p:nvSpPr>
          <p:cNvPr id="140" name="矩形 139">
            <a:extLst>
              <a:ext uri="{FF2B5EF4-FFF2-40B4-BE49-F238E27FC236}">
                <a16:creationId xmlns:a16="http://schemas.microsoft.com/office/drawing/2014/main" id="{D327B45A-4BEB-C6E1-4AC5-1517272E0BA6}"/>
              </a:ext>
            </a:extLst>
          </p:cNvPr>
          <p:cNvSpPr/>
          <p:nvPr/>
        </p:nvSpPr>
        <p:spPr>
          <a:xfrm>
            <a:off x="2812781" y="2107402"/>
            <a:ext cx="504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endParaRPr lang="en-US" altLang="zh-CN" sz="900" dirty="0"/>
          </a:p>
        </p:txBody>
      </p:sp>
      <p:cxnSp>
        <p:nvCxnSpPr>
          <p:cNvPr id="141" name="连接符: 肘形 140">
            <a:extLst>
              <a:ext uri="{FF2B5EF4-FFF2-40B4-BE49-F238E27FC236}">
                <a16:creationId xmlns:a16="http://schemas.microsoft.com/office/drawing/2014/main" id="{BE668BD4-6644-73B9-451C-165D3D4F638A}"/>
              </a:ext>
            </a:extLst>
          </p:cNvPr>
          <p:cNvCxnSpPr>
            <a:cxnSpLocks/>
            <a:stCxn id="16" idx="3"/>
            <a:endCxn id="139" idx="1"/>
          </p:cNvCxnSpPr>
          <p:nvPr/>
        </p:nvCxnSpPr>
        <p:spPr>
          <a:xfrm>
            <a:off x="2385239" y="2064049"/>
            <a:ext cx="166571" cy="133353"/>
          </a:xfrm>
          <a:prstGeom prst="bentConnector3">
            <a:avLst>
              <a:gd name="adj1" fmla="val 42376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连接符: 肘形 143">
            <a:extLst>
              <a:ext uri="{FF2B5EF4-FFF2-40B4-BE49-F238E27FC236}">
                <a16:creationId xmlns:a16="http://schemas.microsoft.com/office/drawing/2014/main" id="{BC5A052E-5B28-6FB1-58AA-B5B7196EFA60}"/>
              </a:ext>
            </a:extLst>
          </p:cNvPr>
          <p:cNvCxnSpPr>
            <a:cxnSpLocks/>
            <a:stCxn id="14" idx="2"/>
            <a:endCxn id="8" idx="0"/>
          </p:cNvCxnSpPr>
          <p:nvPr/>
        </p:nvCxnSpPr>
        <p:spPr>
          <a:xfrm rot="5400000">
            <a:off x="930293" y="2466024"/>
            <a:ext cx="623950" cy="12700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" name="矩形 203">
            <a:extLst>
              <a:ext uri="{FF2B5EF4-FFF2-40B4-BE49-F238E27FC236}">
                <a16:creationId xmlns:a16="http://schemas.microsoft.com/office/drawing/2014/main" id="{5AF3AA2F-20D9-D2A1-A472-10F5DC037A00}"/>
              </a:ext>
            </a:extLst>
          </p:cNvPr>
          <p:cNvSpPr/>
          <p:nvPr/>
        </p:nvSpPr>
        <p:spPr>
          <a:xfrm>
            <a:off x="9292689" y="3583182"/>
            <a:ext cx="2899311" cy="1646499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20250606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：跌排必须结合均线，才可介入。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可介入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之上的跌连。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之上很难容纳跌连，跌连之后是机会。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可介入首下破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的跌连。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不要介入下破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两柱的跌排。等出现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升吞，且站上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再介入。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0" name="矩形 279">
            <a:extLst>
              <a:ext uri="{FF2B5EF4-FFF2-40B4-BE49-F238E27FC236}">
                <a16:creationId xmlns:a16="http://schemas.microsoft.com/office/drawing/2014/main" id="{2C80F177-A03F-D378-A227-249648147277}"/>
              </a:ext>
            </a:extLst>
          </p:cNvPr>
          <p:cNvSpPr/>
          <p:nvPr/>
        </p:nvSpPr>
        <p:spPr>
          <a:xfrm>
            <a:off x="7583122" y="369421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/>
              <a:t>升</a:t>
            </a:r>
            <a:endParaRPr lang="en-US" altLang="zh-CN" sz="900" dirty="0"/>
          </a:p>
        </p:txBody>
      </p:sp>
      <p:sp>
        <p:nvSpPr>
          <p:cNvPr id="281" name="矩形 280">
            <a:extLst>
              <a:ext uri="{FF2B5EF4-FFF2-40B4-BE49-F238E27FC236}">
                <a16:creationId xmlns:a16="http://schemas.microsoft.com/office/drawing/2014/main" id="{8215244B-611B-4F11-A689-ECA841BC33E4}"/>
              </a:ext>
            </a:extLst>
          </p:cNvPr>
          <p:cNvSpPr/>
          <p:nvPr/>
        </p:nvSpPr>
        <p:spPr>
          <a:xfrm>
            <a:off x="7844093" y="369421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/>
              <a:t>/</a:t>
            </a:r>
            <a:r>
              <a:rPr lang="zh-CN" altLang="en-US" sz="900"/>
              <a:t>升连</a:t>
            </a:r>
            <a:endParaRPr lang="en-US" altLang="zh-CN" sz="900" dirty="0"/>
          </a:p>
        </p:txBody>
      </p:sp>
      <p:sp>
        <p:nvSpPr>
          <p:cNvPr id="282" name="矩形 281">
            <a:extLst>
              <a:ext uri="{FF2B5EF4-FFF2-40B4-BE49-F238E27FC236}">
                <a16:creationId xmlns:a16="http://schemas.microsoft.com/office/drawing/2014/main" id="{D25D74DA-8503-5A93-9944-0EC8344B8B02}"/>
              </a:ext>
            </a:extLst>
          </p:cNvPr>
          <p:cNvSpPr/>
          <p:nvPr/>
        </p:nvSpPr>
        <p:spPr>
          <a:xfrm>
            <a:off x="7583122" y="593810"/>
            <a:ext cx="252000" cy="180000"/>
          </a:xfrm>
          <a:prstGeom prst="rect">
            <a:avLst/>
          </a:prstGeom>
          <a:solidFill>
            <a:srgbClr val="ED7D3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人</a:t>
            </a:r>
            <a:endParaRPr lang="en-US" altLang="zh-CN" sz="900" dirty="0"/>
          </a:p>
        </p:txBody>
      </p:sp>
      <p:sp>
        <p:nvSpPr>
          <p:cNvPr id="283" name="矩形 282">
            <a:extLst>
              <a:ext uri="{FF2B5EF4-FFF2-40B4-BE49-F238E27FC236}">
                <a16:creationId xmlns:a16="http://schemas.microsoft.com/office/drawing/2014/main" id="{6EB5B6C8-F380-0217-6163-6108BC3117B7}"/>
              </a:ext>
            </a:extLst>
          </p:cNvPr>
          <p:cNvSpPr/>
          <p:nvPr/>
        </p:nvSpPr>
        <p:spPr>
          <a:xfrm>
            <a:off x="7844093" y="593810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升连跌吞升吞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栅</a:t>
            </a:r>
            <a:r>
              <a:rPr lang="en-US" altLang="zh-CN" sz="6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900" dirty="0">
              <a:solidFill>
                <a:srgbClr val="FFC000"/>
              </a:solidFill>
            </a:endParaRPr>
          </a:p>
        </p:txBody>
      </p:sp>
      <p:sp>
        <p:nvSpPr>
          <p:cNvPr id="284" name="矩形 283">
            <a:extLst>
              <a:ext uri="{FF2B5EF4-FFF2-40B4-BE49-F238E27FC236}">
                <a16:creationId xmlns:a16="http://schemas.microsoft.com/office/drawing/2014/main" id="{D9E7EB4B-9C86-9A71-3E6D-3AA8B6607970}"/>
              </a:ext>
            </a:extLst>
          </p:cNvPr>
          <p:cNvSpPr/>
          <p:nvPr/>
        </p:nvSpPr>
        <p:spPr>
          <a:xfrm>
            <a:off x="7583122" y="822795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人</a:t>
            </a:r>
            <a:endParaRPr lang="en-US" altLang="zh-CN" sz="900" dirty="0"/>
          </a:p>
        </p:txBody>
      </p:sp>
      <p:sp>
        <p:nvSpPr>
          <p:cNvPr id="285" name="矩形 284">
            <a:extLst>
              <a:ext uri="{FF2B5EF4-FFF2-40B4-BE49-F238E27FC236}">
                <a16:creationId xmlns:a16="http://schemas.microsoft.com/office/drawing/2014/main" id="{2F4ED367-7699-09A1-7603-4FB55B34CD1C}"/>
              </a:ext>
            </a:extLst>
          </p:cNvPr>
          <p:cNvSpPr/>
          <p:nvPr/>
        </p:nvSpPr>
        <p:spPr>
          <a:xfrm>
            <a:off x="7844093" y="822795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跌吞升吞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endParaRPr lang="en-US" altLang="zh-CN" sz="900" dirty="0"/>
          </a:p>
        </p:txBody>
      </p:sp>
      <p:sp>
        <p:nvSpPr>
          <p:cNvPr id="286" name="矩形 285">
            <a:extLst>
              <a:ext uri="{FF2B5EF4-FFF2-40B4-BE49-F238E27FC236}">
                <a16:creationId xmlns:a16="http://schemas.microsoft.com/office/drawing/2014/main" id="{9C1120A9-222B-F33C-D1F0-C9F39566DA35}"/>
              </a:ext>
            </a:extLst>
          </p:cNvPr>
          <p:cNvSpPr/>
          <p:nvPr/>
        </p:nvSpPr>
        <p:spPr>
          <a:xfrm>
            <a:off x="7583122" y="2287388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/>
              <a:t>升</a:t>
            </a:r>
            <a:endParaRPr lang="en-US" altLang="zh-CN" sz="900" dirty="0"/>
          </a:p>
        </p:txBody>
      </p:sp>
      <p:sp>
        <p:nvSpPr>
          <p:cNvPr id="287" name="矩形 286">
            <a:extLst>
              <a:ext uri="{FF2B5EF4-FFF2-40B4-BE49-F238E27FC236}">
                <a16:creationId xmlns:a16="http://schemas.microsoft.com/office/drawing/2014/main" id="{15D1F318-E21B-FA2B-A4EA-FE0063EB1AF7}"/>
              </a:ext>
            </a:extLst>
          </p:cNvPr>
          <p:cNvSpPr/>
          <p:nvPr/>
        </p:nvSpPr>
        <p:spPr>
          <a:xfrm>
            <a:off x="7844093" y="2287388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/>
              <a:t>/</a:t>
            </a:r>
            <a:r>
              <a:rPr lang="zh-CN" altLang="en-US" sz="900"/>
              <a:t>升连</a:t>
            </a:r>
            <a:endParaRPr lang="en-US" altLang="zh-CN" sz="900" dirty="0"/>
          </a:p>
        </p:txBody>
      </p:sp>
      <p:sp>
        <p:nvSpPr>
          <p:cNvPr id="288" name="矩形 287">
            <a:extLst>
              <a:ext uri="{FF2B5EF4-FFF2-40B4-BE49-F238E27FC236}">
                <a16:creationId xmlns:a16="http://schemas.microsoft.com/office/drawing/2014/main" id="{A82E8D0F-A377-4F69-7D65-1A9B2E4D54BC}"/>
              </a:ext>
            </a:extLst>
          </p:cNvPr>
          <p:cNvSpPr/>
          <p:nvPr/>
        </p:nvSpPr>
        <p:spPr>
          <a:xfrm>
            <a:off x="7583122" y="2495108"/>
            <a:ext cx="252000" cy="180000"/>
          </a:xfrm>
          <a:prstGeom prst="rect">
            <a:avLst/>
          </a:prstGeom>
          <a:solidFill>
            <a:srgbClr val="ED7D3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人</a:t>
            </a:r>
            <a:endParaRPr lang="en-US" altLang="zh-CN" sz="900" dirty="0"/>
          </a:p>
        </p:txBody>
      </p:sp>
      <p:sp>
        <p:nvSpPr>
          <p:cNvPr id="289" name="矩形 288">
            <a:extLst>
              <a:ext uri="{FF2B5EF4-FFF2-40B4-BE49-F238E27FC236}">
                <a16:creationId xmlns:a16="http://schemas.microsoft.com/office/drawing/2014/main" id="{64B53E5B-FD00-11D2-D50E-A7148ADBA064}"/>
              </a:ext>
            </a:extLst>
          </p:cNvPr>
          <p:cNvSpPr/>
          <p:nvPr/>
        </p:nvSpPr>
        <p:spPr>
          <a:xfrm>
            <a:off x="7844093" y="2495108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升吞跌吞升吞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endParaRPr lang="en-US" altLang="zh-CN" sz="900" dirty="0">
              <a:solidFill>
                <a:srgbClr val="FFC000"/>
              </a:solidFill>
            </a:endParaRPr>
          </a:p>
        </p:txBody>
      </p:sp>
      <p:sp>
        <p:nvSpPr>
          <p:cNvPr id="290" name="矩形 289">
            <a:extLst>
              <a:ext uri="{FF2B5EF4-FFF2-40B4-BE49-F238E27FC236}">
                <a16:creationId xmlns:a16="http://schemas.microsoft.com/office/drawing/2014/main" id="{A6FBDFA2-9957-7620-C8A2-04284AE3C538}"/>
              </a:ext>
            </a:extLst>
          </p:cNvPr>
          <p:cNvSpPr/>
          <p:nvPr/>
        </p:nvSpPr>
        <p:spPr>
          <a:xfrm>
            <a:off x="7583122" y="2701868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人</a:t>
            </a:r>
            <a:endParaRPr lang="en-US" altLang="zh-CN" sz="900" dirty="0"/>
          </a:p>
        </p:txBody>
      </p:sp>
      <p:sp>
        <p:nvSpPr>
          <p:cNvPr id="291" name="矩形 290">
            <a:extLst>
              <a:ext uri="{FF2B5EF4-FFF2-40B4-BE49-F238E27FC236}">
                <a16:creationId xmlns:a16="http://schemas.microsoft.com/office/drawing/2014/main" id="{A754B6FB-290F-99F4-8A8D-A5A61EDCBC36}"/>
              </a:ext>
            </a:extLst>
          </p:cNvPr>
          <p:cNvSpPr/>
          <p:nvPr/>
        </p:nvSpPr>
        <p:spPr>
          <a:xfrm>
            <a:off x="7844093" y="2701868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跌吞升吞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endParaRPr lang="en-US" altLang="zh-CN" sz="900" dirty="0"/>
          </a:p>
        </p:txBody>
      </p:sp>
      <p:cxnSp>
        <p:nvCxnSpPr>
          <p:cNvPr id="292" name="连接符: 肘形 291">
            <a:extLst>
              <a:ext uri="{FF2B5EF4-FFF2-40B4-BE49-F238E27FC236}">
                <a16:creationId xmlns:a16="http://schemas.microsoft.com/office/drawing/2014/main" id="{F84C55CD-A21E-0ABB-1001-F4F85ED6DB1B}"/>
              </a:ext>
            </a:extLst>
          </p:cNvPr>
          <p:cNvCxnSpPr>
            <a:cxnSpLocks/>
            <a:stCxn id="26" idx="3"/>
            <a:endCxn id="280" idx="1"/>
          </p:cNvCxnSpPr>
          <p:nvPr/>
        </p:nvCxnSpPr>
        <p:spPr>
          <a:xfrm flipV="1">
            <a:off x="7298562" y="459421"/>
            <a:ext cx="284560" cy="527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5" name="连接符: 肘形 294">
            <a:extLst>
              <a:ext uri="{FF2B5EF4-FFF2-40B4-BE49-F238E27FC236}">
                <a16:creationId xmlns:a16="http://schemas.microsoft.com/office/drawing/2014/main" id="{66C082C9-6640-A43B-C1E5-4036A98F3980}"/>
              </a:ext>
            </a:extLst>
          </p:cNvPr>
          <p:cNvCxnSpPr>
            <a:cxnSpLocks/>
            <a:stCxn id="26" idx="3"/>
            <a:endCxn id="282" idx="1"/>
          </p:cNvCxnSpPr>
          <p:nvPr/>
        </p:nvCxnSpPr>
        <p:spPr>
          <a:xfrm>
            <a:off x="7298562" y="459948"/>
            <a:ext cx="284560" cy="223862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6" name="连接符: 肘形 295">
            <a:extLst>
              <a:ext uri="{FF2B5EF4-FFF2-40B4-BE49-F238E27FC236}">
                <a16:creationId xmlns:a16="http://schemas.microsoft.com/office/drawing/2014/main" id="{FD41C1E7-E571-2446-986C-92C8B3C176A6}"/>
              </a:ext>
            </a:extLst>
          </p:cNvPr>
          <p:cNvCxnSpPr>
            <a:cxnSpLocks/>
            <a:stCxn id="26" idx="3"/>
            <a:endCxn id="284" idx="1"/>
          </p:cNvCxnSpPr>
          <p:nvPr/>
        </p:nvCxnSpPr>
        <p:spPr>
          <a:xfrm>
            <a:off x="7298562" y="459948"/>
            <a:ext cx="284560" cy="452847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1" name="连接符: 肘形 300">
            <a:extLst>
              <a:ext uri="{FF2B5EF4-FFF2-40B4-BE49-F238E27FC236}">
                <a16:creationId xmlns:a16="http://schemas.microsoft.com/office/drawing/2014/main" id="{E05BFE3B-4C36-CBA2-AF6C-2B40E4EE9E6D}"/>
              </a:ext>
            </a:extLst>
          </p:cNvPr>
          <p:cNvCxnSpPr>
            <a:cxnSpLocks/>
            <a:stCxn id="103" idx="3"/>
            <a:endCxn id="286" idx="1"/>
          </p:cNvCxnSpPr>
          <p:nvPr/>
        </p:nvCxnSpPr>
        <p:spPr>
          <a:xfrm>
            <a:off x="7298562" y="2376489"/>
            <a:ext cx="284560" cy="899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4" name="连接符: 肘形 303">
            <a:extLst>
              <a:ext uri="{FF2B5EF4-FFF2-40B4-BE49-F238E27FC236}">
                <a16:creationId xmlns:a16="http://schemas.microsoft.com/office/drawing/2014/main" id="{8DA4D9C0-58DC-C57B-9E89-FAF5C5CFB183}"/>
              </a:ext>
            </a:extLst>
          </p:cNvPr>
          <p:cNvCxnSpPr>
            <a:cxnSpLocks/>
            <a:stCxn id="103" idx="3"/>
            <a:endCxn id="288" idx="1"/>
          </p:cNvCxnSpPr>
          <p:nvPr/>
        </p:nvCxnSpPr>
        <p:spPr>
          <a:xfrm>
            <a:off x="7298562" y="2376489"/>
            <a:ext cx="284560" cy="208619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7" name="连接符: 肘形 306">
            <a:extLst>
              <a:ext uri="{FF2B5EF4-FFF2-40B4-BE49-F238E27FC236}">
                <a16:creationId xmlns:a16="http://schemas.microsoft.com/office/drawing/2014/main" id="{CB5C666A-029A-9AB9-1813-6A154FE4B575}"/>
              </a:ext>
            </a:extLst>
          </p:cNvPr>
          <p:cNvCxnSpPr>
            <a:cxnSpLocks/>
            <a:stCxn id="103" idx="3"/>
            <a:endCxn id="290" idx="1"/>
          </p:cNvCxnSpPr>
          <p:nvPr/>
        </p:nvCxnSpPr>
        <p:spPr>
          <a:xfrm>
            <a:off x="7298562" y="2376489"/>
            <a:ext cx="284560" cy="415379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6" name="椭圆 325">
            <a:extLst>
              <a:ext uri="{FF2B5EF4-FFF2-40B4-BE49-F238E27FC236}">
                <a16:creationId xmlns:a16="http://schemas.microsoft.com/office/drawing/2014/main" id="{57378707-C63A-F4AA-7354-CD7C37C45771}"/>
              </a:ext>
            </a:extLst>
          </p:cNvPr>
          <p:cNvSpPr>
            <a:spLocks noChangeAspect="1"/>
          </p:cNvSpPr>
          <p:nvPr/>
        </p:nvSpPr>
        <p:spPr>
          <a:xfrm>
            <a:off x="5538335" y="1824668"/>
            <a:ext cx="36000" cy="36000"/>
          </a:xfrm>
          <a:prstGeom prst="ellipse">
            <a:avLst/>
          </a:prstGeom>
          <a:ln w="254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/>
          </a:p>
        </p:txBody>
      </p:sp>
      <p:cxnSp>
        <p:nvCxnSpPr>
          <p:cNvPr id="334" name="连接符: 肘形 333">
            <a:extLst>
              <a:ext uri="{FF2B5EF4-FFF2-40B4-BE49-F238E27FC236}">
                <a16:creationId xmlns:a16="http://schemas.microsoft.com/office/drawing/2014/main" id="{D7E8F274-82E7-A33F-E785-52EAF0F15EB7}"/>
              </a:ext>
            </a:extLst>
          </p:cNvPr>
          <p:cNvCxnSpPr>
            <a:cxnSpLocks/>
            <a:stCxn id="56" idx="3"/>
            <a:endCxn id="326" idx="2"/>
          </p:cNvCxnSpPr>
          <p:nvPr/>
        </p:nvCxnSpPr>
        <p:spPr>
          <a:xfrm>
            <a:off x="5427382" y="1743118"/>
            <a:ext cx="110953" cy="99550"/>
          </a:xfrm>
          <a:prstGeom prst="bentConnector3">
            <a:avLst>
              <a:gd name="adj1" fmla="val 50000"/>
            </a:avLst>
          </a:prstGeom>
          <a:ln w="25400"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7" name="连接符: 肘形 336">
            <a:extLst>
              <a:ext uri="{FF2B5EF4-FFF2-40B4-BE49-F238E27FC236}">
                <a16:creationId xmlns:a16="http://schemas.microsoft.com/office/drawing/2014/main" id="{E0172D58-78CD-87B5-7BAA-C1CBBBEDD585}"/>
              </a:ext>
            </a:extLst>
          </p:cNvPr>
          <p:cNvCxnSpPr>
            <a:cxnSpLocks/>
            <a:stCxn id="125" idx="3"/>
            <a:endCxn id="326" idx="2"/>
          </p:cNvCxnSpPr>
          <p:nvPr/>
        </p:nvCxnSpPr>
        <p:spPr>
          <a:xfrm flipV="1">
            <a:off x="5427382" y="1842668"/>
            <a:ext cx="110953" cy="102953"/>
          </a:xfrm>
          <a:prstGeom prst="bentConnector3">
            <a:avLst>
              <a:gd name="adj1" fmla="val 50000"/>
            </a:avLst>
          </a:prstGeom>
          <a:ln w="25400"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7" name="椭圆 346">
            <a:extLst>
              <a:ext uri="{FF2B5EF4-FFF2-40B4-BE49-F238E27FC236}">
                <a16:creationId xmlns:a16="http://schemas.microsoft.com/office/drawing/2014/main" id="{0E15E7B9-02CA-213A-02A1-9A0127AAC759}"/>
              </a:ext>
            </a:extLst>
          </p:cNvPr>
          <p:cNvSpPr>
            <a:spLocks noChangeAspect="1"/>
          </p:cNvSpPr>
          <p:nvPr/>
        </p:nvSpPr>
        <p:spPr>
          <a:xfrm>
            <a:off x="7360020" y="1600806"/>
            <a:ext cx="36000" cy="36000"/>
          </a:xfrm>
          <a:prstGeom prst="ellipse">
            <a:avLst/>
          </a:prstGeom>
          <a:solidFill>
            <a:schemeClr val="accent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/>
          </a:p>
        </p:txBody>
      </p:sp>
      <p:cxnSp>
        <p:nvCxnSpPr>
          <p:cNvPr id="348" name="连接符: 肘形 347">
            <a:extLst>
              <a:ext uri="{FF2B5EF4-FFF2-40B4-BE49-F238E27FC236}">
                <a16:creationId xmlns:a16="http://schemas.microsoft.com/office/drawing/2014/main" id="{A670B8FF-BC76-277F-BA7B-CA47D96A542D}"/>
              </a:ext>
            </a:extLst>
          </p:cNvPr>
          <p:cNvCxnSpPr>
            <a:cxnSpLocks/>
            <a:stCxn id="58" idx="3"/>
            <a:endCxn id="347" idx="2"/>
          </p:cNvCxnSpPr>
          <p:nvPr/>
        </p:nvCxnSpPr>
        <p:spPr>
          <a:xfrm>
            <a:off x="7298562" y="1135061"/>
            <a:ext cx="61458" cy="483745"/>
          </a:xfrm>
          <a:prstGeom prst="bentConnector3">
            <a:avLst>
              <a:gd name="adj1" fmla="val 50000"/>
            </a:avLst>
          </a:prstGeom>
          <a:ln w="25400">
            <a:solidFill>
              <a:srgbClr val="4472C4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9" name="连接符: 肘形 348">
            <a:extLst>
              <a:ext uri="{FF2B5EF4-FFF2-40B4-BE49-F238E27FC236}">
                <a16:creationId xmlns:a16="http://schemas.microsoft.com/office/drawing/2014/main" id="{612066C0-13CC-DCBB-7CC6-20E2DE7A6641}"/>
              </a:ext>
            </a:extLst>
          </p:cNvPr>
          <p:cNvCxnSpPr>
            <a:cxnSpLocks/>
            <a:stCxn id="75" idx="3"/>
            <a:endCxn id="347" idx="2"/>
          </p:cNvCxnSpPr>
          <p:nvPr/>
        </p:nvCxnSpPr>
        <p:spPr>
          <a:xfrm flipV="1">
            <a:off x="7298562" y="1618806"/>
            <a:ext cx="61458" cy="429178"/>
          </a:xfrm>
          <a:prstGeom prst="bentConnector3">
            <a:avLst>
              <a:gd name="adj1" fmla="val 50000"/>
            </a:avLst>
          </a:prstGeom>
          <a:ln w="25400"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3" name="连接符: 肘形 352">
            <a:extLst>
              <a:ext uri="{FF2B5EF4-FFF2-40B4-BE49-F238E27FC236}">
                <a16:creationId xmlns:a16="http://schemas.microsoft.com/office/drawing/2014/main" id="{C91D9125-E2FC-15DF-7513-0E62AA3B0DA6}"/>
              </a:ext>
            </a:extLst>
          </p:cNvPr>
          <p:cNvCxnSpPr>
            <a:cxnSpLocks/>
            <a:stCxn id="122" idx="3"/>
            <a:endCxn id="347" idx="2"/>
          </p:cNvCxnSpPr>
          <p:nvPr/>
        </p:nvCxnSpPr>
        <p:spPr>
          <a:xfrm flipV="1">
            <a:off x="7298562" y="1618806"/>
            <a:ext cx="61458" cy="1435062"/>
          </a:xfrm>
          <a:prstGeom prst="bentConnector3">
            <a:avLst>
              <a:gd name="adj1" fmla="val 50000"/>
            </a:avLst>
          </a:prstGeom>
          <a:ln w="25400">
            <a:solidFill>
              <a:srgbClr val="4472C4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8" name="矩形 357">
            <a:extLst>
              <a:ext uri="{FF2B5EF4-FFF2-40B4-BE49-F238E27FC236}">
                <a16:creationId xmlns:a16="http://schemas.microsoft.com/office/drawing/2014/main" id="{328CA015-C6D6-B2D3-412B-F55026700F14}"/>
              </a:ext>
            </a:extLst>
          </p:cNvPr>
          <p:cNvSpPr/>
          <p:nvPr/>
        </p:nvSpPr>
        <p:spPr>
          <a:xfrm>
            <a:off x="7583122" y="1529413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人</a:t>
            </a:r>
            <a:endParaRPr lang="en-US" altLang="zh-CN" sz="900" dirty="0"/>
          </a:p>
        </p:txBody>
      </p:sp>
      <p:sp>
        <p:nvSpPr>
          <p:cNvPr id="359" name="矩形 358">
            <a:extLst>
              <a:ext uri="{FF2B5EF4-FFF2-40B4-BE49-F238E27FC236}">
                <a16:creationId xmlns:a16="http://schemas.microsoft.com/office/drawing/2014/main" id="{4F039B32-B000-F290-3F59-1E3403D3EB82}"/>
              </a:ext>
            </a:extLst>
          </p:cNvPr>
          <p:cNvSpPr/>
          <p:nvPr/>
        </p:nvSpPr>
        <p:spPr>
          <a:xfrm>
            <a:off x="7844093" y="1529413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衔人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)/</a:t>
            </a:r>
            <a:r>
              <a:rPr lang="zh-CN" altLang="en-US" sz="900">
                <a:latin typeface="微软雅黑" panose="020B0503020204020204" pitchFamily="34" charset="-122"/>
                <a:ea typeface="微软雅黑" panose="020B0503020204020204" pitchFamily="34" charset="-122"/>
              </a:rPr>
              <a:t>跌孕升孕</a:t>
            </a:r>
            <a:endParaRPr lang="en-US" altLang="zh-CN" sz="900" dirty="0"/>
          </a:p>
        </p:txBody>
      </p:sp>
      <p:sp>
        <p:nvSpPr>
          <p:cNvPr id="360" name="矩形 359">
            <a:extLst>
              <a:ext uri="{FF2B5EF4-FFF2-40B4-BE49-F238E27FC236}">
                <a16:creationId xmlns:a16="http://schemas.microsoft.com/office/drawing/2014/main" id="{1F210591-07E0-8507-57E9-DD9FAAB5F231}"/>
              </a:ext>
            </a:extLst>
          </p:cNvPr>
          <p:cNvSpPr/>
          <p:nvPr/>
        </p:nvSpPr>
        <p:spPr>
          <a:xfrm>
            <a:off x="7583122" y="1732451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/>
              <a:t>跌</a:t>
            </a:r>
            <a:endParaRPr lang="en-US" altLang="zh-CN" sz="900" dirty="0"/>
          </a:p>
        </p:txBody>
      </p:sp>
      <p:sp>
        <p:nvSpPr>
          <p:cNvPr id="361" name="矩形 360">
            <a:extLst>
              <a:ext uri="{FF2B5EF4-FFF2-40B4-BE49-F238E27FC236}">
                <a16:creationId xmlns:a16="http://schemas.microsoft.com/office/drawing/2014/main" id="{6073D578-B233-D491-5357-D4634826E0A4}"/>
              </a:ext>
            </a:extLst>
          </p:cNvPr>
          <p:cNvSpPr/>
          <p:nvPr/>
        </p:nvSpPr>
        <p:spPr>
          <a:xfrm>
            <a:off x="7844093" y="1732451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endParaRPr lang="en-US" altLang="zh-CN" sz="900" dirty="0"/>
          </a:p>
        </p:txBody>
      </p:sp>
      <p:sp>
        <p:nvSpPr>
          <p:cNvPr id="362" name="矩形 361">
            <a:extLst>
              <a:ext uri="{FF2B5EF4-FFF2-40B4-BE49-F238E27FC236}">
                <a16:creationId xmlns:a16="http://schemas.microsoft.com/office/drawing/2014/main" id="{52BA0F2A-132F-0BE4-6672-8B237DA4CF1B}"/>
              </a:ext>
            </a:extLst>
          </p:cNvPr>
          <p:cNvSpPr/>
          <p:nvPr/>
        </p:nvSpPr>
        <p:spPr>
          <a:xfrm>
            <a:off x="7583122" y="1328741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/>
              <a:t>升</a:t>
            </a:r>
            <a:endParaRPr lang="en-US" altLang="zh-CN" sz="900" dirty="0"/>
          </a:p>
        </p:txBody>
      </p:sp>
      <p:sp>
        <p:nvSpPr>
          <p:cNvPr id="363" name="矩形 362">
            <a:extLst>
              <a:ext uri="{FF2B5EF4-FFF2-40B4-BE49-F238E27FC236}">
                <a16:creationId xmlns:a16="http://schemas.microsoft.com/office/drawing/2014/main" id="{66837293-A793-F1AD-EDCA-0AAD85E14564}"/>
              </a:ext>
            </a:extLst>
          </p:cNvPr>
          <p:cNvSpPr/>
          <p:nvPr/>
        </p:nvSpPr>
        <p:spPr>
          <a:xfrm>
            <a:off x="7844093" y="1328741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/>
              <a:t>/</a:t>
            </a:r>
            <a:r>
              <a:rPr lang="zh-CN" altLang="en-US" sz="900"/>
              <a:t>跌孕升吞</a:t>
            </a:r>
            <a:endParaRPr lang="en-US" altLang="zh-CN" sz="900" dirty="0"/>
          </a:p>
        </p:txBody>
      </p:sp>
      <p:cxnSp>
        <p:nvCxnSpPr>
          <p:cNvPr id="364" name="连接符: 肘形 363">
            <a:extLst>
              <a:ext uri="{FF2B5EF4-FFF2-40B4-BE49-F238E27FC236}">
                <a16:creationId xmlns:a16="http://schemas.microsoft.com/office/drawing/2014/main" id="{0E2F5569-E5DB-B499-D4A8-49A19CB9BE3E}"/>
              </a:ext>
            </a:extLst>
          </p:cNvPr>
          <p:cNvCxnSpPr>
            <a:cxnSpLocks/>
            <a:stCxn id="347" idx="6"/>
            <a:endCxn id="362" idx="1"/>
          </p:cNvCxnSpPr>
          <p:nvPr/>
        </p:nvCxnSpPr>
        <p:spPr>
          <a:xfrm flipV="1">
            <a:off x="7396020" y="1418741"/>
            <a:ext cx="187102" cy="200065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8" name="连接符: 肘形 367">
            <a:extLst>
              <a:ext uri="{FF2B5EF4-FFF2-40B4-BE49-F238E27FC236}">
                <a16:creationId xmlns:a16="http://schemas.microsoft.com/office/drawing/2014/main" id="{449AE76D-3C1E-CC83-25C0-91FD9F0031FD}"/>
              </a:ext>
            </a:extLst>
          </p:cNvPr>
          <p:cNvCxnSpPr>
            <a:cxnSpLocks/>
            <a:stCxn id="347" idx="6"/>
            <a:endCxn id="358" idx="1"/>
          </p:cNvCxnSpPr>
          <p:nvPr/>
        </p:nvCxnSpPr>
        <p:spPr>
          <a:xfrm>
            <a:off x="7396020" y="1618806"/>
            <a:ext cx="187102" cy="607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1" name="连接符: 肘形 370">
            <a:extLst>
              <a:ext uri="{FF2B5EF4-FFF2-40B4-BE49-F238E27FC236}">
                <a16:creationId xmlns:a16="http://schemas.microsoft.com/office/drawing/2014/main" id="{5F444E13-FC28-27DD-CAD4-199AC4256A42}"/>
              </a:ext>
            </a:extLst>
          </p:cNvPr>
          <p:cNvCxnSpPr>
            <a:cxnSpLocks/>
            <a:stCxn id="347" idx="6"/>
            <a:endCxn id="360" idx="1"/>
          </p:cNvCxnSpPr>
          <p:nvPr/>
        </p:nvCxnSpPr>
        <p:spPr>
          <a:xfrm>
            <a:off x="7396020" y="1618806"/>
            <a:ext cx="187102" cy="203645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8" name="矩形 637">
            <a:extLst>
              <a:ext uri="{FF2B5EF4-FFF2-40B4-BE49-F238E27FC236}">
                <a16:creationId xmlns:a16="http://schemas.microsoft.com/office/drawing/2014/main" id="{8F8AE8ED-55C0-190B-F1E5-0B11D81C115D}"/>
              </a:ext>
            </a:extLst>
          </p:cNvPr>
          <p:cNvSpPr/>
          <p:nvPr/>
        </p:nvSpPr>
        <p:spPr>
          <a:xfrm>
            <a:off x="3532689" y="3581311"/>
            <a:ext cx="5760000" cy="3272400"/>
          </a:xfrm>
          <a:prstGeom prst="rect">
            <a:avLst/>
          </a:prstGeom>
          <a:solidFill>
            <a:schemeClr val="bg1">
              <a:lumMod val="65000"/>
            </a:schemeClr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105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（衔接跌排）人排</a:t>
            </a:r>
            <a:endParaRPr lang="en-US" altLang="zh-CN" sz="105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9" name="矩形 638">
            <a:extLst>
              <a:ext uri="{FF2B5EF4-FFF2-40B4-BE49-F238E27FC236}">
                <a16:creationId xmlns:a16="http://schemas.microsoft.com/office/drawing/2014/main" id="{40E1F09C-2C7B-5B22-0EC4-433C62016D25}"/>
              </a:ext>
            </a:extLst>
          </p:cNvPr>
          <p:cNvSpPr/>
          <p:nvPr/>
        </p:nvSpPr>
        <p:spPr>
          <a:xfrm>
            <a:off x="654867" y="3579307"/>
            <a:ext cx="2880000" cy="3272400"/>
          </a:xfrm>
          <a:prstGeom prst="rect">
            <a:avLst/>
          </a:prstGeom>
          <a:solidFill>
            <a:schemeClr val="bg1">
              <a:lumMod val="50000"/>
            </a:schemeClr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11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跌排</a:t>
            </a:r>
            <a:endParaRPr lang="en-US" altLang="zh-CN" sz="11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0" name="矩形 639">
            <a:extLst>
              <a:ext uri="{FF2B5EF4-FFF2-40B4-BE49-F238E27FC236}">
                <a16:creationId xmlns:a16="http://schemas.microsoft.com/office/drawing/2014/main" id="{3504F641-7698-29B9-F1AD-47E40ED43E7A}"/>
              </a:ext>
            </a:extLst>
          </p:cNvPr>
          <p:cNvSpPr/>
          <p:nvPr/>
        </p:nvSpPr>
        <p:spPr>
          <a:xfrm>
            <a:off x="1116268" y="3838803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跌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41" name="矩形 640">
            <a:extLst>
              <a:ext uri="{FF2B5EF4-FFF2-40B4-BE49-F238E27FC236}">
                <a16:creationId xmlns:a16="http://schemas.microsoft.com/office/drawing/2014/main" id="{158D54C0-92E7-E052-0DBE-7F6FA8A00389}"/>
              </a:ext>
            </a:extLst>
          </p:cNvPr>
          <p:cNvSpPr/>
          <p:nvPr/>
        </p:nvSpPr>
        <p:spPr>
          <a:xfrm>
            <a:off x="1377239" y="3838803"/>
            <a:ext cx="1008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跌连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42" name="矩形 641">
            <a:extLst>
              <a:ext uri="{FF2B5EF4-FFF2-40B4-BE49-F238E27FC236}">
                <a16:creationId xmlns:a16="http://schemas.microsoft.com/office/drawing/2014/main" id="{858CBDCA-EDB3-AD7F-7B74-3855C75DCD0A}"/>
              </a:ext>
            </a:extLst>
          </p:cNvPr>
          <p:cNvSpPr/>
          <p:nvPr/>
        </p:nvSpPr>
        <p:spPr>
          <a:xfrm>
            <a:off x="1116268" y="6246587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跌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43" name="矩形 642">
            <a:extLst>
              <a:ext uri="{FF2B5EF4-FFF2-40B4-BE49-F238E27FC236}">
                <a16:creationId xmlns:a16="http://schemas.microsoft.com/office/drawing/2014/main" id="{7BFD71E5-07FE-7AE2-C2C1-3D3BF0ADAF95}"/>
              </a:ext>
            </a:extLst>
          </p:cNvPr>
          <p:cNvSpPr/>
          <p:nvPr/>
        </p:nvSpPr>
        <p:spPr>
          <a:xfrm>
            <a:off x="1377239" y="6246587"/>
            <a:ext cx="1008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升孕跌吞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44" name="矩形 643">
            <a:extLst>
              <a:ext uri="{FF2B5EF4-FFF2-40B4-BE49-F238E27FC236}">
                <a16:creationId xmlns:a16="http://schemas.microsoft.com/office/drawing/2014/main" id="{06BDCA99-BD91-C35C-3834-6D2B81AB6B80}"/>
              </a:ext>
            </a:extLst>
          </p:cNvPr>
          <p:cNvSpPr/>
          <p:nvPr/>
        </p:nvSpPr>
        <p:spPr>
          <a:xfrm>
            <a:off x="1116268" y="5442637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跌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45" name="矩形 644">
            <a:extLst>
              <a:ext uri="{FF2B5EF4-FFF2-40B4-BE49-F238E27FC236}">
                <a16:creationId xmlns:a16="http://schemas.microsoft.com/office/drawing/2014/main" id="{BAF061EC-F7CB-A793-8138-915AB5F9224B}"/>
              </a:ext>
            </a:extLst>
          </p:cNvPr>
          <p:cNvSpPr/>
          <p:nvPr/>
        </p:nvSpPr>
        <p:spPr>
          <a:xfrm>
            <a:off x="1377239" y="5442637"/>
            <a:ext cx="1008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升孕跌吞升孕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46" name="矩形 645">
            <a:extLst>
              <a:ext uri="{FF2B5EF4-FFF2-40B4-BE49-F238E27FC236}">
                <a16:creationId xmlns:a16="http://schemas.microsoft.com/office/drawing/2014/main" id="{E7579389-D2CF-49C2-88E5-7B7A19F0509A}"/>
              </a:ext>
            </a:extLst>
          </p:cNvPr>
          <p:cNvSpPr/>
          <p:nvPr/>
        </p:nvSpPr>
        <p:spPr>
          <a:xfrm>
            <a:off x="1116268" y="4977329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跌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47" name="矩形 646">
            <a:extLst>
              <a:ext uri="{FF2B5EF4-FFF2-40B4-BE49-F238E27FC236}">
                <a16:creationId xmlns:a16="http://schemas.microsoft.com/office/drawing/2014/main" id="{B6502647-9F02-1127-0F17-B585F363265F}"/>
              </a:ext>
            </a:extLst>
          </p:cNvPr>
          <p:cNvSpPr/>
          <p:nvPr/>
        </p:nvSpPr>
        <p:spPr>
          <a:xfrm>
            <a:off x="1377239" y="4977329"/>
            <a:ext cx="1008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跌连升孕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48" name="矩形 647">
            <a:extLst>
              <a:ext uri="{FF2B5EF4-FFF2-40B4-BE49-F238E27FC236}">
                <a16:creationId xmlns:a16="http://schemas.microsoft.com/office/drawing/2014/main" id="{46C27B61-9324-160D-3151-A2886ED4851A}"/>
              </a:ext>
            </a:extLst>
          </p:cNvPr>
          <p:cNvSpPr/>
          <p:nvPr/>
        </p:nvSpPr>
        <p:spPr>
          <a:xfrm>
            <a:off x="3906411" y="3839171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人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49" name="矩形 648">
            <a:extLst>
              <a:ext uri="{FF2B5EF4-FFF2-40B4-BE49-F238E27FC236}">
                <a16:creationId xmlns:a16="http://schemas.microsoft.com/office/drawing/2014/main" id="{992D2AA9-7BB4-6D87-95B0-2136E50426F7}"/>
              </a:ext>
            </a:extLst>
          </p:cNvPr>
          <p:cNvSpPr/>
          <p:nvPr/>
        </p:nvSpPr>
        <p:spPr>
          <a:xfrm>
            <a:off x="4167382" y="3839171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跌连升吞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50" name="矩形 649">
            <a:extLst>
              <a:ext uri="{FF2B5EF4-FFF2-40B4-BE49-F238E27FC236}">
                <a16:creationId xmlns:a16="http://schemas.microsoft.com/office/drawing/2014/main" id="{8F4321D1-5F9A-696F-F08E-0928A2595EA8}"/>
              </a:ext>
            </a:extLst>
          </p:cNvPr>
          <p:cNvSpPr/>
          <p:nvPr/>
        </p:nvSpPr>
        <p:spPr>
          <a:xfrm>
            <a:off x="5777591" y="3838536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人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51" name="矩形 650">
            <a:extLst>
              <a:ext uri="{FF2B5EF4-FFF2-40B4-BE49-F238E27FC236}">
                <a16:creationId xmlns:a16="http://schemas.microsoft.com/office/drawing/2014/main" id="{9E9D747B-3681-34F1-CB72-40BFBB82CF50}"/>
              </a:ext>
            </a:extLst>
          </p:cNvPr>
          <p:cNvSpPr/>
          <p:nvPr/>
        </p:nvSpPr>
        <p:spPr>
          <a:xfrm>
            <a:off x="6038562" y="3838536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跌连升吞跌吞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cxnSp>
        <p:nvCxnSpPr>
          <p:cNvPr id="652" name="连接符: 肘形 651">
            <a:extLst>
              <a:ext uri="{FF2B5EF4-FFF2-40B4-BE49-F238E27FC236}">
                <a16:creationId xmlns:a16="http://schemas.microsoft.com/office/drawing/2014/main" id="{DA691DBD-24C2-7F79-856E-336E8D8DA292}"/>
              </a:ext>
            </a:extLst>
          </p:cNvPr>
          <p:cNvCxnSpPr>
            <a:stCxn id="649" idx="3"/>
            <a:endCxn id="650" idx="1"/>
          </p:cNvCxnSpPr>
          <p:nvPr/>
        </p:nvCxnSpPr>
        <p:spPr>
          <a:xfrm flipV="1">
            <a:off x="5427382" y="3928536"/>
            <a:ext cx="350209" cy="635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3" name="矩形 652">
            <a:extLst>
              <a:ext uri="{FF2B5EF4-FFF2-40B4-BE49-F238E27FC236}">
                <a16:creationId xmlns:a16="http://schemas.microsoft.com/office/drawing/2014/main" id="{9FB55693-B43C-BC39-085B-33C4462EFF38}"/>
              </a:ext>
            </a:extLst>
          </p:cNvPr>
          <p:cNvSpPr/>
          <p:nvPr/>
        </p:nvSpPr>
        <p:spPr>
          <a:xfrm>
            <a:off x="5777591" y="4045700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升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54" name="矩形 653">
            <a:extLst>
              <a:ext uri="{FF2B5EF4-FFF2-40B4-BE49-F238E27FC236}">
                <a16:creationId xmlns:a16="http://schemas.microsoft.com/office/drawing/2014/main" id="{2208AFD3-3220-6DB8-1BA9-95AA5B91635E}"/>
              </a:ext>
            </a:extLst>
          </p:cNvPr>
          <p:cNvSpPr/>
          <p:nvPr/>
        </p:nvSpPr>
        <p:spPr>
          <a:xfrm>
            <a:off x="6038562" y="4045700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55" name="矩形 654">
            <a:extLst>
              <a:ext uri="{FF2B5EF4-FFF2-40B4-BE49-F238E27FC236}">
                <a16:creationId xmlns:a16="http://schemas.microsoft.com/office/drawing/2014/main" id="{B25914C4-C8DC-2EA8-4415-C0FDFCD24D5A}"/>
              </a:ext>
            </a:extLst>
          </p:cNvPr>
          <p:cNvSpPr/>
          <p:nvPr/>
        </p:nvSpPr>
        <p:spPr>
          <a:xfrm>
            <a:off x="3906411" y="4305397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人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56" name="矩形 655">
            <a:extLst>
              <a:ext uri="{FF2B5EF4-FFF2-40B4-BE49-F238E27FC236}">
                <a16:creationId xmlns:a16="http://schemas.microsoft.com/office/drawing/2014/main" id="{84576F8F-B31C-EF92-68CD-AEA176D632A5}"/>
              </a:ext>
            </a:extLst>
          </p:cNvPr>
          <p:cNvSpPr/>
          <p:nvPr/>
        </p:nvSpPr>
        <p:spPr>
          <a:xfrm>
            <a:off x="4167382" y="4305397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跌连升吞跌孕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cxnSp>
        <p:nvCxnSpPr>
          <p:cNvPr id="657" name="连接符: 肘形 656">
            <a:extLst>
              <a:ext uri="{FF2B5EF4-FFF2-40B4-BE49-F238E27FC236}">
                <a16:creationId xmlns:a16="http://schemas.microsoft.com/office/drawing/2014/main" id="{C7D13113-CAF4-0449-33E9-846282F66EDD}"/>
              </a:ext>
            </a:extLst>
          </p:cNvPr>
          <p:cNvCxnSpPr>
            <a:cxnSpLocks/>
            <a:stCxn id="649" idx="2"/>
            <a:endCxn id="655" idx="1"/>
          </p:cNvCxnSpPr>
          <p:nvPr/>
        </p:nvCxnSpPr>
        <p:spPr>
          <a:xfrm rot="5400000">
            <a:off x="4163784" y="3761799"/>
            <a:ext cx="376226" cy="890971"/>
          </a:xfrm>
          <a:prstGeom prst="bentConnector4">
            <a:avLst>
              <a:gd name="adj1" fmla="val 38039"/>
              <a:gd name="adj2" fmla="val 125657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8" name="连接符: 肘形 657">
            <a:extLst>
              <a:ext uri="{FF2B5EF4-FFF2-40B4-BE49-F238E27FC236}">
                <a16:creationId xmlns:a16="http://schemas.microsoft.com/office/drawing/2014/main" id="{A5498CCA-E258-140A-93AC-D935F7343267}"/>
              </a:ext>
            </a:extLst>
          </p:cNvPr>
          <p:cNvCxnSpPr>
            <a:cxnSpLocks/>
            <a:stCxn id="649" idx="3"/>
            <a:endCxn id="653" idx="1"/>
          </p:cNvCxnSpPr>
          <p:nvPr/>
        </p:nvCxnSpPr>
        <p:spPr>
          <a:xfrm>
            <a:off x="5427382" y="3929171"/>
            <a:ext cx="350209" cy="206529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9" name="矩形 658">
            <a:extLst>
              <a:ext uri="{FF2B5EF4-FFF2-40B4-BE49-F238E27FC236}">
                <a16:creationId xmlns:a16="http://schemas.microsoft.com/office/drawing/2014/main" id="{831078D8-0EB0-8E05-FB0D-36AD038CDC91}"/>
              </a:ext>
            </a:extLst>
          </p:cNvPr>
          <p:cNvSpPr/>
          <p:nvPr/>
        </p:nvSpPr>
        <p:spPr>
          <a:xfrm>
            <a:off x="5777591" y="4305545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跌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60" name="矩形 659">
            <a:extLst>
              <a:ext uri="{FF2B5EF4-FFF2-40B4-BE49-F238E27FC236}">
                <a16:creationId xmlns:a16="http://schemas.microsoft.com/office/drawing/2014/main" id="{4509CAA7-ABBF-BF40-BB0E-C4DC2562A5C1}"/>
              </a:ext>
            </a:extLst>
          </p:cNvPr>
          <p:cNvSpPr/>
          <p:nvPr/>
        </p:nvSpPr>
        <p:spPr>
          <a:xfrm>
            <a:off x="6038562" y="4305545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跌连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61" name="矩形 660">
            <a:extLst>
              <a:ext uri="{FF2B5EF4-FFF2-40B4-BE49-F238E27FC236}">
                <a16:creationId xmlns:a16="http://schemas.microsoft.com/office/drawing/2014/main" id="{DF45A8E2-3BD2-583E-3A9E-90D51F55A3E3}"/>
              </a:ext>
            </a:extLst>
          </p:cNvPr>
          <p:cNvSpPr/>
          <p:nvPr/>
        </p:nvSpPr>
        <p:spPr>
          <a:xfrm>
            <a:off x="5777591" y="4722815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升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62" name="矩形 661">
            <a:extLst>
              <a:ext uri="{FF2B5EF4-FFF2-40B4-BE49-F238E27FC236}">
                <a16:creationId xmlns:a16="http://schemas.microsoft.com/office/drawing/2014/main" id="{C1B94B71-D9CD-5787-D8CD-81C82D4F7E77}"/>
              </a:ext>
            </a:extLst>
          </p:cNvPr>
          <p:cNvSpPr/>
          <p:nvPr/>
        </p:nvSpPr>
        <p:spPr>
          <a:xfrm>
            <a:off x="6038562" y="4722815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跌孕升吞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cxnSp>
        <p:nvCxnSpPr>
          <p:cNvPr id="663" name="连接符: 肘形 662">
            <a:extLst>
              <a:ext uri="{FF2B5EF4-FFF2-40B4-BE49-F238E27FC236}">
                <a16:creationId xmlns:a16="http://schemas.microsoft.com/office/drawing/2014/main" id="{632159A1-113C-399A-32AD-3CF6E3D54B9B}"/>
              </a:ext>
            </a:extLst>
          </p:cNvPr>
          <p:cNvCxnSpPr>
            <a:cxnSpLocks/>
            <a:stCxn id="656" idx="3"/>
            <a:endCxn id="661" idx="1"/>
          </p:cNvCxnSpPr>
          <p:nvPr/>
        </p:nvCxnSpPr>
        <p:spPr>
          <a:xfrm>
            <a:off x="5427382" y="4395397"/>
            <a:ext cx="350209" cy="417418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4" name="连接符: 肘形 663">
            <a:extLst>
              <a:ext uri="{FF2B5EF4-FFF2-40B4-BE49-F238E27FC236}">
                <a16:creationId xmlns:a16="http://schemas.microsoft.com/office/drawing/2014/main" id="{934E1C39-BD71-E911-70DD-878E170A759C}"/>
              </a:ext>
            </a:extLst>
          </p:cNvPr>
          <p:cNvCxnSpPr>
            <a:cxnSpLocks/>
            <a:stCxn id="656" idx="3"/>
            <a:endCxn id="659" idx="1"/>
          </p:cNvCxnSpPr>
          <p:nvPr/>
        </p:nvCxnSpPr>
        <p:spPr>
          <a:xfrm>
            <a:off x="5427382" y="4395397"/>
            <a:ext cx="350209" cy="148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5" name="连接符: 肘形 664">
            <a:extLst>
              <a:ext uri="{FF2B5EF4-FFF2-40B4-BE49-F238E27FC236}">
                <a16:creationId xmlns:a16="http://schemas.microsoft.com/office/drawing/2014/main" id="{9E341472-1A8F-A15C-4BF9-47FB361FC553}"/>
              </a:ext>
            </a:extLst>
          </p:cNvPr>
          <p:cNvCxnSpPr>
            <a:cxnSpLocks/>
            <a:stCxn id="656" idx="3"/>
            <a:endCxn id="668" idx="1"/>
          </p:cNvCxnSpPr>
          <p:nvPr/>
        </p:nvCxnSpPr>
        <p:spPr>
          <a:xfrm>
            <a:off x="5427382" y="4395397"/>
            <a:ext cx="350209" cy="208252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6" name="矩形 665">
            <a:extLst>
              <a:ext uri="{FF2B5EF4-FFF2-40B4-BE49-F238E27FC236}">
                <a16:creationId xmlns:a16="http://schemas.microsoft.com/office/drawing/2014/main" id="{0A80D038-3211-2654-8262-93034BA93E86}"/>
              </a:ext>
            </a:extLst>
          </p:cNvPr>
          <p:cNvSpPr/>
          <p:nvPr/>
        </p:nvSpPr>
        <p:spPr>
          <a:xfrm>
            <a:off x="3906411" y="5121706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人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67" name="矩形 666">
            <a:extLst>
              <a:ext uri="{FF2B5EF4-FFF2-40B4-BE49-F238E27FC236}">
                <a16:creationId xmlns:a16="http://schemas.microsoft.com/office/drawing/2014/main" id="{7D923AB4-59BE-0A6C-B66B-4E250518B057}"/>
              </a:ext>
            </a:extLst>
          </p:cNvPr>
          <p:cNvSpPr/>
          <p:nvPr/>
        </p:nvSpPr>
        <p:spPr>
          <a:xfrm>
            <a:off x="4167382" y="5121706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跌连升孕跌孕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68" name="矩形 667">
            <a:extLst>
              <a:ext uri="{FF2B5EF4-FFF2-40B4-BE49-F238E27FC236}">
                <a16:creationId xmlns:a16="http://schemas.microsoft.com/office/drawing/2014/main" id="{70B5B0F2-6BAE-729A-12C4-AA4617364F07}"/>
              </a:ext>
            </a:extLst>
          </p:cNvPr>
          <p:cNvSpPr/>
          <p:nvPr/>
        </p:nvSpPr>
        <p:spPr>
          <a:xfrm>
            <a:off x="5777591" y="4513649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人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69" name="矩形 668">
            <a:extLst>
              <a:ext uri="{FF2B5EF4-FFF2-40B4-BE49-F238E27FC236}">
                <a16:creationId xmlns:a16="http://schemas.microsoft.com/office/drawing/2014/main" id="{E5986D52-B313-6F08-F86A-B372B3815A5B}"/>
              </a:ext>
            </a:extLst>
          </p:cNvPr>
          <p:cNvSpPr/>
          <p:nvPr/>
        </p:nvSpPr>
        <p:spPr>
          <a:xfrm>
            <a:off x="6038562" y="4513649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衔人</a:t>
            </a:r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跌孕升孕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cxnSp>
        <p:nvCxnSpPr>
          <p:cNvPr id="670" name="连接符: 肘形 669">
            <a:extLst>
              <a:ext uri="{FF2B5EF4-FFF2-40B4-BE49-F238E27FC236}">
                <a16:creationId xmlns:a16="http://schemas.microsoft.com/office/drawing/2014/main" id="{D14BE95C-2E04-610D-1D3E-981DDECEBE9A}"/>
              </a:ext>
            </a:extLst>
          </p:cNvPr>
          <p:cNvCxnSpPr>
            <a:cxnSpLocks/>
            <a:stCxn id="641" idx="3"/>
            <a:endCxn id="648" idx="1"/>
          </p:cNvCxnSpPr>
          <p:nvPr/>
        </p:nvCxnSpPr>
        <p:spPr>
          <a:xfrm>
            <a:off x="2385239" y="3928803"/>
            <a:ext cx="1521172" cy="368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1" name="连接符: 肘形 670">
            <a:extLst>
              <a:ext uri="{FF2B5EF4-FFF2-40B4-BE49-F238E27FC236}">
                <a16:creationId xmlns:a16="http://schemas.microsoft.com/office/drawing/2014/main" id="{D71A777B-72F2-6D75-C6F2-953984BC1EAB}"/>
              </a:ext>
            </a:extLst>
          </p:cNvPr>
          <p:cNvCxnSpPr>
            <a:cxnSpLocks/>
            <a:stCxn id="641" idx="2"/>
            <a:endCxn id="646" idx="1"/>
          </p:cNvCxnSpPr>
          <p:nvPr/>
        </p:nvCxnSpPr>
        <p:spPr>
          <a:xfrm rot="5400000">
            <a:off x="974491" y="4160581"/>
            <a:ext cx="1048526" cy="764971"/>
          </a:xfrm>
          <a:prstGeom prst="bentConnector4">
            <a:avLst>
              <a:gd name="adj1" fmla="val 45708"/>
              <a:gd name="adj2" fmla="val 119506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2" name="矩形 671">
            <a:extLst>
              <a:ext uri="{FF2B5EF4-FFF2-40B4-BE49-F238E27FC236}">
                <a16:creationId xmlns:a16="http://schemas.microsoft.com/office/drawing/2014/main" id="{FC48E78E-99D3-8FB3-0D34-F73A9B660F3E}"/>
              </a:ext>
            </a:extLst>
          </p:cNvPr>
          <p:cNvSpPr/>
          <p:nvPr/>
        </p:nvSpPr>
        <p:spPr>
          <a:xfrm>
            <a:off x="5777591" y="5013045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跌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73" name="矩形 672">
            <a:extLst>
              <a:ext uri="{FF2B5EF4-FFF2-40B4-BE49-F238E27FC236}">
                <a16:creationId xmlns:a16="http://schemas.microsoft.com/office/drawing/2014/main" id="{5FAB20B7-3542-5856-D17A-C77972E43467}"/>
              </a:ext>
            </a:extLst>
          </p:cNvPr>
          <p:cNvSpPr/>
          <p:nvPr/>
        </p:nvSpPr>
        <p:spPr>
          <a:xfrm>
            <a:off x="6038562" y="5013045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跌连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74" name="矩形 673">
            <a:extLst>
              <a:ext uri="{FF2B5EF4-FFF2-40B4-BE49-F238E27FC236}">
                <a16:creationId xmlns:a16="http://schemas.microsoft.com/office/drawing/2014/main" id="{FEB9CAB5-D94F-D9C3-980B-5F3FC18A3EBB}"/>
              </a:ext>
            </a:extLst>
          </p:cNvPr>
          <p:cNvSpPr/>
          <p:nvPr/>
        </p:nvSpPr>
        <p:spPr>
          <a:xfrm>
            <a:off x="5777591" y="5220770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升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75" name="矩形 674">
            <a:extLst>
              <a:ext uri="{FF2B5EF4-FFF2-40B4-BE49-F238E27FC236}">
                <a16:creationId xmlns:a16="http://schemas.microsoft.com/office/drawing/2014/main" id="{52B80423-CCCF-B0DD-2F57-8228E2B7E9C4}"/>
              </a:ext>
            </a:extLst>
          </p:cNvPr>
          <p:cNvSpPr/>
          <p:nvPr/>
        </p:nvSpPr>
        <p:spPr>
          <a:xfrm>
            <a:off x="6038562" y="5220770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跌孕升吞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76" name="矩形 675">
            <a:extLst>
              <a:ext uri="{FF2B5EF4-FFF2-40B4-BE49-F238E27FC236}">
                <a16:creationId xmlns:a16="http://schemas.microsoft.com/office/drawing/2014/main" id="{062A1B79-5853-1376-F9E8-2C5AD84A8CCF}"/>
              </a:ext>
            </a:extLst>
          </p:cNvPr>
          <p:cNvSpPr/>
          <p:nvPr/>
        </p:nvSpPr>
        <p:spPr>
          <a:xfrm>
            <a:off x="5777591" y="5426572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人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77" name="矩形 676">
            <a:extLst>
              <a:ext uri="{FF2B5EF4-FFF2-40B4-BE49-F238E27FC236}">
                <a16:creationId xmlns:a16="http://schemas.microsoft.com/office/drawing/2014/main" id="{719A8B81-A9D0-1321-1161-B2E52E993912}"/>
              </a:ext>
            </a:extLst>
          </p:cNvPr>
          <p:cNvSpPr/>
          <p:nvPr/>
        </p:nvSpPr>
        <p:spPr>
          <a:xfrm>
            <a:off x="6038562" y="5426572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衔人</a:t>
            </a:r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跌孕升孕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cxnSp>
        <p:nvCxnSpPr>
          <p:cNvPr id="678" name="连接符: 肘形 677">
            <a:extLst>
              <a:ext uri="{FF2B5EF4-FFF2-40B4-BE49-F238E27FC236}">
                <a16:creationId xmlns:a16="http://schemas.microsoft.com/office/drawing/2014/main" id="{DB1A8429-53C9-3A54-3980-4BC97403B775}"/>
              </a:ext>
            </a:extLst>
          </p:cNvPr>
          <p:cNvCxnSpPr>
            <a:cxnSpLocks/>
            <a:stCxn id="735" idx="6"/>
            <a:endCxn id="676" idx="1"/>
          </p:cNvCxnSpPr>
          <p:nvPr/>
        </p:nvCxnSpPr>
        <p:spPr>
          <a:xfrm>
            <a:off x="5574335" y="5311256"/>
            <a:ext cx="203256" cy="205316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9" name="连接符: 肘形 678">
            <a:extLst>
              <a:ext uri="{FF2B5EF4-FFF2-40B4-BE49-F238E27FC236}">
                <a16:creationId xmlns:a16="http://schemas.microsoft.com/office/drawing/2014/main" id="{EC631C49-631C-8864-FA5A-34ED7B993B6B}"/>
              </a:ext>
            </a:extLst>
          </p:cNvPr>
          <p:cNvCxnSpPr>
            <a:cxnSpLocks/>
            <a:stCxn id="735" idx="6"/>
            <a:endCxn id="672" idx="1"/>
          </p:cNvCxnSpPr>
          <p:nvPr/>
        </p:nvCxnSpPr>
        <p:spPr>
          <a:xfrm flipV="1">
            <a:off x="5574335" y="5103045"/>
            <a:ext cx="203256" cy="208211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0" name="连接符: 肘形 679">
            <a:extLst>
              <a:ext uri="{FF2B5EF4-FFF2-40B4-BE49-F238E27FC236}">
                <a16:creationId xmlns:a16="http://schemas.microsoft.com/office/drawing/2014/main" id="{BEF7A8B8-B488-15AB-7F53-E5E715BBA64A}"/>
              </a:ext>
            </a:extLst>
          </p:cNvPr>
          <p:cNvCxnSpPr>
            <a:cxnSpLocks/>
            <a:stCxn id="735" idx="6"/>
            <a:endCxn id="674" idx="1"/>
          </p:cNvCxnSpPr>
          <p:nvPr/>
        </p:nvCxnSpPr>
        <p:spPr>
          <a:xfrm flipV="1">
            <a:off x="5574335" y="5310770"/>
            <a:ext cx="203256" cy="486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1" name="连接符: 肘形 680">
            <a:extLst>
              <a:ext uri="{FF2B5EF4-FFF2-40B4-BE49-F238E27FC236}">
                <a16:creationId xmlns:a16="http://schemas.microsoft.com/office/drawing/2014/main" id="{6CD54E1C-C263-BF08-2AD1-38BF28E21DAA}"/>
              </a:ext>
            </a:extLst>
          </p:cNvPr>
          <p:cNvCxnSpPr>
            <a:cxnSpLocks/>
            <a:stCxn id="647" idx="3"/>
            <a:endCxn id="666" idx="1"/>
          </p:cNvCxnSpPr>
          <p:nvPr/>
        </p:nvCxnSpPr>
        <p:spPr>
          <a:xfrm>
            <a:off x="2385239" y="5067329"/>
            <a:ext cx="1521172" cy="144377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2" name="连接符: 肘形 681">
            <a:extLst>
              <a:ext uri="{FF2B5EF4-FFF2-40B4-BE49-F238E27FC236}">
                <a16:creationId xmlns:a16="http://schemas.microsoft.com/office/drawing/2014/main" id="{C04397BE-3406-11C8-A9A9-58482C7C23F0}"/>
              </a:ext>
            </a:extLst>
          </p:cNvPr>
          <p:cNvCxnSpPr>
            <a:cxnSpLocks/>
            <a:stCxn id="641" idx="2"/>
            <a:endCxn id="640" idx="1"/>
          </p:cNvCxnSpPr>
          <p:nvPr/>
        </p:nvCxnSpPr>
        <p:spPr>
          <a:xfrm rot="5400000" flipH="1">
            <a:off x="1453754" y="3591318"/>
            <a:ext cx="90000" cy="764971"/>
          </a:xfrm>
          <a:prstGeom prst="bentConnector4">
            <a:avLst>
              <a:gd name="adj1" fmla="val -254000"/>
              <a:gd name="adj2" fmla="val 11974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3" name="连接符: 肘形 682">
            <a:extLst>
              <a:ext uri="{FF2B5EF4-FFF2-40B4-BE49-F238E27FC236}">
                <a16:creationId xmlns:a16="http://schemas.microsoft.com/office/drawing/2014/main" id="{5F3977E1-AB52-D768-8B84-8C02B8C2420E}"/>
              </a:ext>
            </a:extLst>
          </p:cNvPr>
          <p:cNvCxnSpPr>
            <a:cxnSpLocks/>
            <a:stCxn id="647" idx="2"/>
            <a:endCxn id="642" idx="1"/>
          </p:cNvCxnSpPr>
          <p:nvPr/>
        </p:nvCxnSpPr>
        <p:spPr>
          <a:xfrm rot="5400000">
            <a:off x="909125" y="5364473"/>
            <a:ext cx="1179258" cy="764971"/>
          </a:xfrm>
          <a:prstGeom prst="bentConnector4">
            <a:avLst>
              <a:gd name="adj1" fmla="val 15491"/>
              <a:gd name="adj2" fmla="val 118676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4" name="矩形 683">
            <a:extLst>
              <a:ext uri="{FF2B5EF4-FFF2-40B4-BE49-F238E27FC236}">
                <a16:creationId xmlns:a16="http://schemas.microsoft.com/office/drawing/2014/main" id="{F49FC0EE-A1DC-DBE7-E63C-7C1B02BA0693}"/>
              </a:ext>
            </a:extLst>
          </p:cNvPr>
          <p:cNvSpPr/>
          <p:nvPr/>
        </p:nvSpPr>
        <p:spPr>
          <a:xfrm>
            <a:off x="2551810" y="4848765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升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85" name="矩形 684">
            <a:extLst>
              <a:ext uri="{FF2B5EF4-FFF2-40B4-BE49-F238E27FC236}">
                <a16:creationId xmlns:a16="http://schemas.microsoft.com/office/drawing/2014/main" id="{807B786F-F72C-742C-C6AD-409FE53A2FA5}"/>
              </a:ext>
            </a:extLst>
          </p:cNvPr>
          <p:cNvSpPr/>
          <p:nvPr/>
        </p:nvSpPr>
        <p:spPr>
          <a:xfrm>
            <a:off x="2812781" y="4848765"/>
            <a:ext cx="504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cxnSp>
        <p:nvCxnSpPr>
          <p:cNvPr id="686" name="连接符: 肘形 685">
            <a:extLst>
              <a:ext uri="{FF2B5EF4-FFF2-40B4-BE49-F238E27FC236}">
                <a16:creationId xmlns:a16="http://schemas.microsoft.com/office/drawing/2014/main" id="{3185D06C-CD1D-A1C0-6292-897E76C4D2A3}"/>
              </a:ext>
            </a:extLst>
          </p:cNvPr>
          <p:cNvCxnSpPr>
            <a:cxnSpLocks/>
            <a:stCxn id="647" idx="3"/>
            <a:endCxn id="684" idx="1"/>
          </p:cNvCxnSpPr>
          <p:nvPr/>
        </p:nvCxnSpPr>
        <p:spPr>
          <a:xfrm flipV="1">
            <a:off x="2385239" y="4938765"/>
            <a:ext cx="166571" cy="128564"/>
          </a:xfrm>
          <a:prstGeom prst="bentConnector3">
            <a:avLst>
              <a:gd name="adj1" fmla="val 4047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7" name="矩形 686">
            <a:extLst>
              <a:ext uri="{FF2B5EF4-FFF2-40B4-BE49-F238E27FC236}">
                <a16:creationId xmlns:a16="http://schemas.microsoft.com/office/drawing/2014/main" id="{9F9029A7-51EF-C09B-16D5-CBFF6C870CBB}"/>
              </a:ext>
            </a:extLst>
          </p:cNvPr>
          <p:cNvSpPr/>
          <p:nvPr/>
        </p:nvSpPr>
        <p:spPr>
          <a:xfrm>
            <a:off x="3906411" y="5755712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人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88" name="矩形 687">
            <a:extLst>
              <a:ext uri="{FF2B5EF4-FFF2-40B4-BE49-F238E27FC236}">
                <a16:creationId xmlns:a16="http://schemas.microsoft.com/office/drawing/2014/main" id="{4075A7E7-9FFE-EB62-42CE-4114380D7C93}"/>
              </a:ext>
            </a:extLst>
          </p:cNvPr>
          <p:cNvSpPr/>
          <p:nvPr/>
        </p:nvSpPr>
        <p:spPr>
          <a:xfrm>
            <a:off x="4167382" y="5755712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升孕跌吞升吞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89" name="矩形 688">
            <a:extLst>
              <a:ext uri="{FF2B5EF4-FFF2-40B4-BE49-F238E27FC236}">
                <a16:creationId xmlns:a16="http://schemas.microsoft.com/office/drawing/2014/main" id="{126770B7-146E-79BE-4526-AD1D0616AEC3}"/>
              </a:ext>
            </a:extLst>
          </p:cNvPr>
          <p:cNvSpPr/>
          <p:nvPr/>
        </p:nvSpPr>
        <p:spPr>
          <a:xfrm>
            <a:off x="5777591" y="5755077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人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90" name="矩形 689">
            <a:extLst>
              <a:ext uri="{FF2B5EF4-FFF2-40B4-BE49-F238E27FC236}">
                <a16:creationId xmlns:a16="http://schemas.microsoft.com/office/drawing/2014/main" id="{5CA23E02-B5B2-97D4-FD9C-A44665C70C40}"/>
              </a:ext>
            </a:extLst>
          </p:cNvPr>
          <p:cNvSpPr/>
          <p:nvPr/>
        </p:nvSpPr>
        <p:spPr>
          <a:xfrm>
            <a:off x="6038562" y="5755077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跌吞升吞跌吞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cxnSp>
        <p:nvCxnSpPr>
          <p:cNvPr id="691" name="连接符: 肘形 690">
            <a:extLst>
              <a:ext uri="{FF2B5EF4-FFF2-40B4-BE49-F238E27FC236}">
                <a16:creationId xmlns:a16="http://schemas.microsoft.com/office/drawing/2014/main" id="{5E8EC485-8350-94DF-E8A0-41675D0CE19F}"/>
              </a:ext>
            </a:extLst>
          </p:cNvPr>
          <p:cNvCxnSpPr>
            <a:stCxn id="688" idx="3"/>
            <a:endCxn id="689" idx="1"/>
          </p:cNvCxnSpPr>
          <p:nvPr/>
        </p:nvCxnSpPr>
        <p:spPr>
          <a:xfrm flipV="1">
            <a:off x="5427382" y="5845077"/>
            <a:ext cx="350209" cy="635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2" name="矩形 691">
            <a:extLst>
              <a:ext uri="{FF2B5EF4-FFF2-40B4-BE49-F238E27FC236}">
                <a16:creationId xmlns:a16="http://schemas.microsoft.com/office/drawing/2014/main" id="{0B8F0CA3-218D-1F9D-E1CE-31831625E3D5}"/>
              </a:ext>
            </a:extLst>
          </p:cNvPr>
          <p:cNvSpPr/>
          <p:nvPr/>
        </p:nvSpPr>
        <p:spPr>
          <a:xfrm>
            <a:off x="5777591" y="5958115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升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93" name="矩形 692">
            <a:extLst>
              <a:ext uri="{FF2B5EF4-FFF2-40B4-BE49-F238E27FC236}">
                <a16:creationId xmlns:a16="http://schemas.microsoft.com/office/drawing/2014/main" id="{28F519F3-3791-E3FF-E2CD-2992475C3A73}"/>
              </a:ext>
            </a:extLst>
          </p:cNvPr>
          <p:cNvSpPr/>
          <p:nvPr/>
        </p:nvSpPr>
        <p:spPr>
          <a:xfrm>
            <a:off x="6038562" y="5958115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cxnSp>
        <p:nvCxnSpPr>
          <p:cNvPr id="694" name="连接符: 肘形 693">
            <a:extLst>
              <a:ext uri="{FF2B5EF4-FFF2-40B4-BE49-F238E27FC236}">
                <a16:creationId xmlns:a16="http://schemas.microsoft.com/office/drawing/2014/main" id="{E78E2A95-745E-B20A-A37E-96F71ECDDE43}"/>
              </a:ext>
            </a:extLst>
          </p:cNvPr>
          <p:cNvCxnSpPr>
            <a:cxnSpLocks/>
            <a:stCxn id="688" idx="2"/>
            <a:endCxn id="697" idx="1"/>
          </p:cNvCxnSpPr>
          <p:nvPr/>
        </p:nvCxnSpPr>
        <p:spPr>
          <a:xfrm rot="5400000">
            <a:off x="4161064" y="5681060"/>
            <a:ext cx="381666" cy="890971"/>
          </a:xfrm>
          <a:prstGeom prst="bentConnector4">
            <a:avLst>
              <a:gd name="adj1" fmla="val 38210"/>
              <a:gd name="adj2" fmla="val 125657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5" name="连接符: 肘形 694">
            <a:extLst>
              <a:ext uri="{FF2B5EF4-FFF2-40B4-BE49-F238E27FC236}">
                <a16:creationId xmlns:a16="http://schemas.microsoft.com/office/drawing/2014/main" id="{1484EB21-BE38-BF5E-EABD-90E30F751C44}"/>
              </a:ext>
            </a:extLst>
          </p:cNvPr>
          <p:cNvCxnSpPr>
            <a:cxnSpLocks/>
            <a:stCxn id="688" idx="3"/>
            <a:endCxn id="692" idx="1"/>
          </p:cNvCxnSpPr>
          <p:nvPr/>
        </p:nvCxnSpPr>
        <p:spPr>
          <a:xfrm>
            <a:off x="5427382" y="5845712"/>
            <a:ext cx="350209" cy="202403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6" name="连接符: 肘形 695">
            <a:extLst>
              <a:ext uri="{FF2B5EF4-FFF2-40B4-BE49-F238E27FC236}">
                <a16:creationId xmlns:a16="http://schemas.microsoft.com/office/drawing/2014/main" id="{CAE72696-8978-770E-9016-601637105B10}"/>
              </a:ext>
            </a:extLst>
          </p:cNvPr>
          <p:cNvCxnSpPr>
            <a:cxnSpLocks/>
            <a:stCxn id="643" idx="3"/>
            <a:endCxn id="687" idx="1"/>
          </p:cNvCxnSpPr>
          <p:nvPr/>
        </p:nvCxnSpPr>
        <p:spPr>
          <a:xfrm flipV="1">
            <a:off x="2385239" y="5845712"/>
            <a:ext cx="1521172" cy="490875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7" name="矩形 696">
            <a:extLst>
              <a:ext uri="{FF2B5EF4-FFF2-40B4-BE49-F238E27FC236}">
                <a16:creationId xmlns:a16="http://schemas.microsoft.com/office/drawing/2014/main" id="{AC414F92-464F-0670-97E2-F53192491D2B}"/>
              </a:ext>
            </a:extLst>
          </p:cNvPr>
          <p:cNvSpPr/>
          <p:nvPr/>
        </p:nvSpPr>
        <p:spPr>
          <a:xfrm>
            <a:off x="3906411" y="6227378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人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98" name="矩形 697">
            <a:extLst>
              <a:ext uri="{FF2B5EF4-FFF2-40B4-BE49-F238E27FC236}">
                <a16:creationId xmlns:a16="http://schemas.microsoft.com/office/drawing/2014/main" id="{0CDB3BFB-458F-302B-F4EF-BB54E3A9F029}"/>
              </a:ext>
            </a:extLst>
          </p:cNvPr>
          <p:cNvSpPr/>
          <p:nvPr/>
        </p:nvSpPr>
        <p:spPr>
          <a:xfrm>
            <a:off x="4167382" y="6227378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升孕跌吞升吞跌孕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699" name="矩形 698">
            <a:extLst>
              <a:ext uri="{FF2B5EF4-FFF2-40B4-BE49-F238E27FC236}">
                <a16:creationId xmlns:a16="http://schemas.microsoft.com/office/drawing/2014/main" id="{17099228-F203-1A9B-EA67-57C37C1E4F4E}"/>
              </a:ext>
            </a:extLst>
          </p:cNvPr>
          <p:cNvSpPr/>
          <p:nvPr/>
        </p:nvSpPr>
        <p:spPr>
          <a:xfrm>
            <a:off x="5777591" y="6227526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跌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00" name="矩形 699">
            <a:extLst>
              <a:ext uri="{FF2B5EF4-FFF2-40B4-BE49-F238E27FC236}">
                <a16:creationId xmlns:a16="http://schemas.microsoft.com/office/drawing/2014/main" id="{6E2202BF-1ADA-675E-3561-93818D5085DA}"/>
              </a:ext>
            </a:extLst>
          </p:cNvPr>
          <p:cNvSpPr/>
          <p:nvPr/>
        </p:nvSpPr>
        <p:spPr>
          <a:xfrm>
            <a:off x="6038562" y="6227526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跌连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01" name="矩形 700">
            <a:extLst>
              <a:ext uri="{FF2B5EF4-FFF2-40B4-BE49-F238E27FC236}">
                <a16:creationId xmlns:a16="http://schemas.microsoft.com/office/drawing/2014/main" id="{A4D873A2-4627-3606-2B88-B3135456F5F4}"/>
              </a:ext>
            </a:extLst>
          </p:cNvPr>
          <p:cNvSpPr/>
          <p:nvPr/>
        </p:nvSpPr>
        <p:spPr>
          <a:xfrm>
            <a:off x="5777591" y="6638446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升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02" name="矩形 701">
            <a:extLst>
              <a:ext uri="{FF2B5EF4-FFF2-40B4-BE49-F238E27FC236}">
                <a16:creationId xmlns:a16="http://schemas.microsoft.com/office/drawing/2014/main" id="{9BE35BA9-6D17-46A0-2D55-D9E0E341B006}"/>
              </a:ext>
            </a:extLst>
          </p:cNvPr>
          <p:cNvSpPr/>
          <p:nvPr/>
        </p:nvSpPr>
        <p:spPr>
          <a:xfrm>
            <a:off x="6038562" y="6638446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跌孕升吞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cxnSp>
        <p:nvCxnSpPr>
          <p:cNvPr id="703" name="连接符: 肘形 702">
            <a:extLst>
              <a:ext uri="{FF2B5EF4-FFF2-40B4-BE49-F238E27FC236}">
                <a16:creationId xmlns:a16="http://schemas.microsoft.com/office/drawing/2014/main" id="{D079FED2-595B-CD22-0214-A5985DD9E1AE}"/>
              </a:ext>
            </a:extLst>
          </p:cNvPr>
          <p:cNvCxnSpPr>
            <a:cxnSpLocks/>
            <a:stCxn id="698" idx="3"/>
            <a:endCxn id="701" idx="1"/>
          </p:cNvCxnSpPr>
          <p:nvPr/>
        </p:nvCxnSpPr>
        <p:spPr>
          <a:xfrm>
            <a:off x="5427382" y="6317378"/>
            <a:ext cx="350209" cy="411068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4" name="连接符: 肘形 703">
            <a:extLst>
              <a:ext uri="{FF2B5EF4-FFF2-40B4-BE49-F238E27FC236}">
                <a16:creationId xmlns:a16="http://schemas.microsoft.com/office/drawing/2014/main" id="{1DA6BBC2-9C0A-D957-3886-37BEF1E62689}"/>
              </a:ext>
            </a:extLst>
          </p:cNvPr>
          <p:cNvCxnSpPr>
            <a:cxnSpLocks/>
            <a:stCxn id="698" idx="3"/>
            <a:endCxn id="699" idx="1"/>
          </p:cNvCxnSpPr>
          <p:nvPr/>
        </p:nvCxnSpPr>
        <p:spPr>
          <a:xfrm>
            <a:off x="5427382" y="6317378"/>
            <a:ext cx="350209" cy="148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5" name="连接符: 肘形 704">
            <a:extLst>
              <a:ext uri="{FF2B5EF4-FFF2-40B4-BE49-F238E27FC236}">
                <a16:creationId xmlns:a16="http://schemas.microsoft.com/office/drawing/2014/main" id="{EB030B56-428D-49E5-3EBC-2A19C2576C3F}"/>
              </a:ext>
            </a:extLst>
          </p:cNvPr>
          <p:cNvCxnSpPr>
            <a:cxnSpLocks/>
            <a:stCxn id="698" idx="3"/>
            <a:endCxn id="706" idx="1"/>
          </p:cNvCxnSpPr>
          <p:nvPr/>
        </p:nvCxnSpPr>
        <p:spPr>
          <a:xfrm>
            <a:off x="5427382" y="6317378"/>
            <a:ext cx="350209" cy="205078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6" name="矩形 705">
            <a:extLst>
              <a:ext uri="{FF2B5EF4-FFF2-40B4-BE49-F238E27FC236}">
                <a16:creationId xmlns:a16="http://schemas.microsoft.com/office/drawing/2014/main" id="{1DEB7299-D095-C8DB-056B-80D83FC7CDAA}"/>
              </a:ext>
            </a:extLst>
          </p:cNvPr>
          <p:cNvSpPr/>
          <p:nvPr/>
        </p:nvSpPr>
        <p:spPr>
          <a:xfrm>
            <a:off x="5777591" y="6432456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人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07" name="矩形 706">
            <a:extLst>
              <a:ext uri="{FF2B5EF4-FFF2-40B4-BE49-F238E27FC236}">
                <a16:creationId xmlns:a16="http://schemas.microsoft.com/office/drawing/2014/main" id="{BE221D8B-F47B-5FB1-67D2-03B3385CB1BD}"/>
              </a:ext>
            </a:extLst>
          </p:cNvPr>
          <p:cNvSpPr/>
          <p:nvPr/>
        </p:nvSpPr>
        <p:spPr>
          <a:xfrm>
            <a:off x="6038562" y="6432456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衔人</a:t>
            </a:r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跌孕升孕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08" name="矩形 707">
            <a:extLst>
              <a:ext uri="{FF2B5EF4-FFF2-40B4-BE49-F238E27FC236}">
                <a16:creationId xmlns:a16="http://schemas.microsoft.com/office/drawing/2014/main" id="{AC7BD2F4-4BA7-1C75-F16A-82FB57E77532}"/>
              </a:ext>
            </a:extLst>
          </p:cNvPr>
          <p:cNvSpPr/>
          <p:nvPr/>
        </p:nvSpPr>
        <p:spPr>
          <a:xfrm>
            <a:off x="3906411" y="5324209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人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09" name="矩形 708">
            <a:extLst>
              <a:ext uri="{FF2B5EF4-FFF2-40B4-BE49-F238E27FC236}">
                <a16:creationId xmlns:a16="http://schemas.microsoft.com/office/drawing/2014/main" id="{5D9F8A93-7C40-6141-2400-82A822633C93}"/>
              </a:ext>
            </a:extLst>
          </p:cNvPr>
          <p:cNvSpPr/>
          <p:nvPr/>
        </p:nvSpPr>
        <p:spPr>
          <a:xfrm>
            <a:off x="4167382" y="5324209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升孕跌吞升孕跌孕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cxnSp>
        <p:nvCxnSpPr>
          <p:cNvPr id="710" name="连接符: 肘形 709">
            <a:extLst>
              <a:ext uri="{FF2B5EF4-FFF2-40B4-BE49-F238E27FC236}">
                <a16:creationId xmlns:a16="http://schemas.microsoft.com/office/drawing/2014/main" id="{5296FD1F-855F-353A-8F44-47513BC0D968}"/>
              </a:ext>
            </a:extLst>
          </p:cNvPr>
          <p:cNvCxnSpPr>
            <a:cxnSpLocks/>
            <a:stCxn id="643" idx="0"/>
            <a:endCxn id="645" idx="2"/>
          </p:cNvCxnSpPr>
          <p:nvPr/>
        </p:nvCxnSpPr>
        <p:spPr>
          <a:xfrm rot="5400000" flipH="1" flipV="1">
            <a:off x="1569264" y="5934612"/>
            <a:ext cx="623950" cy="12700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1" name="连接符: 肘形 710">
            <a:extLst>
              <a:ext uri="{FF2B5EF4-FFF2-40B4-BE49-F238E27FC236}">
                <a16:creationId xmlns:a16="http://schemas.microsoft.com/office/drawing/2014/main" id="{6F2F3E75-43D7-146E-7DA6-1952DA0DB50B}"/>
              </a:ext>
            </a:extLst>
          </p:cNvPr>
          <p:cNvCxnSpPr>
            <a:cxnSpLocks/>
            <a:stCxn id="645" idx="3"/>
            <a:endCxn id="708" idx="1"/>
          </p:cNvCxnSpPr>
          <p:nvPr/>
        </p:nvCxnSpPr>
        <p:spPr>
          <a:xfrm flipV="1">
            <a:off x="2385239" y="5414209"/>
            <a:ext cx="1521172" cy="118428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2" name="连接符: 肘形 711">
            <a:extLst>
              <a:ext uri="{FF2B5EF4-FFF2-40B4-BE49-F238E27FC236}">
                <a16:creationId xmlns:a16="http://schemas.microsoft.com/office/drawing/2014/main" id="{59D44724-195C-7D98-E261-1982DD9EF494}"/>
              </a:ext>
            </a:extLst>
          </p:cNvPr>
          <p:cNvCxnSpPr>
            <a:cxnSpLocks/>
            <a:stCxn id="643" idx="2"/>
            <a:endCxn id="640" idx="1"/>
          </p:cNvCxnSpPr>
          <p:nvPr/>
        </p:nvCxnSpPr>
        <p:spPr>
          <a:xfrm rot="5400000" flipH="1">
            <a:off x="249862" y="4795210"/>
            <a:ext cx="2497784" cy="764971"/>
          </a:xfrm>
          <a:prstGeom prst="bentConnector4">
            <a:avLst>
              <a:gd name="adj1" fmla="val -9152"/>
              <a:gd name="adj2" fmla="val 129883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3" name="矩形 712">
            <a:extLst>
              <a:ext uri="{FF2B5EF4-FFF2-40B4-BE49-F238E27FC236}">
                <a16:creationId xmlns:a16="http://schemas.microsoft.com/office/drawing/2014/main" id="{88AD966C-82A3-E7E1-A935-E143F17CEE40}"/>
              </a:ext>
            </a:extLst>
          </p:cNvPr>
          <p:cNvSpPr/>
          <p:nvPr/>
        </p:nvSpPr>
        <p:spPr>
          <a:xfrm>
            <a:off x="2551810" y="5575990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升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14" name="矩形 713">
            <a:extLst>
              <a:ext uri="{FF2B5EF4-FFF2-40B4-BE49-F238E27FC236}">
                <a16:creationId xmlns:a16="http://schemas.microsoft.com/office/drawing/2014/main" id="{E8162079-D192-F435-4F35-3E208F8E0AA9}"/>
              </a:ext>
            </a:extLst>
          </p:cNvPr>
          <p:cNvSpPr/>
          <p:nvPr/>
        </p:nvSpPr>
        <p:spPr>
          <a:xfrm>
            <a:off x="2812781" y="5575990"/>
            <a:ext cx="504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cxnSp>
        <p:nvCxnSpPr>
          <p:cNvPr id="715" name="连接符: 肘形 714">
            <a:extLst>
              <a:ext uri="{FF2B5EF4-FFF2-40B4-BE49-F238E27FC236}">
                <a16:creationId xmlns:a16="http://schemas.microsoft.com/office/drawing/2014/main" id="{AAB333FC-01E3-151A-1EC3-C2DDA7F14432}"/>
              </a:ext>
            </a:extLst>
          </p:cNvPr>
          <p:cNvCxnSpPr>
            <a:cxnSpLocks/>
            <a:stCxn id="645" idx="3"/>
            <a:endCxn id="713" idx="1"/>
          </p:cNvCxnSpPr>
          <p:nvPr/>
        </p:nvCxnSpPr>
        <p:spPr>
          <a:xfrm>
            <a:off x="2385239" y="5532637"/>
            <a:ext cx="166571" cy="133353"/>
          </a:xfrm>
          <a:prstGeom prst="bentConnector3">
            <a:avLst>
              <a:gd name="adj1" fmla="val 42376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6" name="连接符: 肘形 715">
            <a:extLst>
              <a:ext uri="{FF2B5EF4-FFF2-40B4-BE49-F238E27FC236}">
                <a16:creationId xmlns:a16="http://schemas.microsoft.com/office/drawing/2014/main" id="{781E17EF-A2AE-F3F8-7212-DD42894576BC}"/>
              </a:ext>
            </a:extLst>
          </p:cNvPr>
          <p:cNvCxnSpPr>
            <a:cxnSpLocks/>
            <a:stCxn id="644" idx="2"/>
            <a:endCxn id="642" idx="0"/>
          </p:cNvCxnSpPr>
          <p:nvPr/>
        </p:nvCxnSpPr>
        <p:spPr>
          <a:xfrm rot="5400000">
            <a:off x="930293" y="5934612"/>
            <a:ext cx="623950" cy="12700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7" name="矩形 716">
            <a:extLst>
              <a:ext uri="{FF2B5EF4-FFF2-40B4-BE49-F238E27FC236}">
                <a16:creationId xmlns:a16="http://schemas.microsoft.com/office/drawing/2014/main" id="{1FC2C25F-B17B-7E87-8B38-BC089FBF3B37}"/>
              </a:ext>
            </a:extLst>
          </p:cNvPr>
          <p:cNvSpPr/>
          <p:nvPr/>
        </p:nvSpPr>
        <p:spPr>
          <a:xfrm>
            <a:off x="7583122" y="3838009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跌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18" name="矩形 717">
            <a:extLst>
              <a:ext uri="{FF2B5EF4-FFF2-40B4-BE49-F238E27FC236}">
                <a16:creationId xmlns:a16="http://schemas.microsoft.com/office/drawing/2014/main" id="{1FB5167A-AC86-C6EA-406C-6C296F0FA8D2}"/>
              </a:ext>
            </a:extLst>
          </p:cNvPr>
          <p:cNvSpPr/>
          <p:nvPr/>
        </p:nvSpPr>
        <p:spPr>
          <a:xfrm>
            <a:off x="7844093" y="3838009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跌连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19" name="矩形 718">
            <a:extLst>
              <a:ext uri="{FF2B5EF4-FFF2-40B4-BE49-F238E27FC236}">
                <a16:creationId xmlns:a16="http://schemas.microsoft.com/office/drawing/2014/main" id="{BC4DD2F3-226A-DBE9-7BBD-9EE60206D708}"/>
              </a:ext>
            </a:extLst>
          </p:cNvPr>
          <p:cNvSpPr/>
          <p:nvPr/>
        </p:nvSpPr>
        <p:spPr>
          <a:xfrm>
            <a:off x="7583122" y="4062398"/>
            <a:ext cx="252000" cy="180000"/>
          </a:xfrm>
          <a:prstGeom prst="rect">
            <a:avLst/>
          </a:prstGeom>
          <a:solidFill>
            <a:srgbClr val="ED7D3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人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20" name="矩形 719">
            <a:extLst>
              <a:ext uri="{FF2B5EF4-FFF2-40B4-BE49-F238E27FC236}">
                <a16:creationId xmlns:a16="http://schemas.microsoft.com/office/drawing/2014/main" id="{8E14A48D-6F45-2548-5C3D-63446EFB8097}"/>
              </a:ext>
            </a:extLst>
          </p:cNvPr>
          <p:cNvSpPr/>
          <p:nvPr/>
        </p:nvSpPr>
        <p:spPr>
          <a:xfrm>
            <a:off x="7844093" y="4062398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跌连升吞跌吞升孕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21" name="矩形 720">
            <a:extLst>
              <a:ext uri="{FF2B5EF4-FFF2-40B4-BE49-F238E27FC236}">
                <a16:creationId xmlns:a16="http://schemas.microsoft.com/office/drawing/2014/main" id="{42CB0A54-7996-BD31-C9E4-620D2D9B8F26}"/>
              </a:ext>
            </a:extLst>
          </p:cNvPr>
          <p:cNvSpPr/>
          <p:nvPr/>
        </p:nvSpPr>
        <p:spPr>
          <a:xfrm>
            <a:off x="7583122" y="4291383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人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22" name="矩形 721">
            <a:extLst>
              <a:ext uri="{FF2B5EF4-FFF2-40B4-BE49-F238E27FC236}">
                <a16:creationId xmlns:a16="http://schemas.microsoft.com/office/drawing/2014/main" id="{AE0F8527-62C9-6F24-22C6-0B736D253BA2}"/>
              </a:ext>
            </a:extLst>
          </p:cNvPr>
          <p:cNvSpPr/>
          <p:nvPr/>
        </p:nvSpPr>
        <p:spPr>
          <a:xfrm>
            <a:off x="7844093" y="4291383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升吞跌吞升吞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23" name="矩形 722">
            <a:extLst>
              <a:ext uri="{FF2B5EF4-FFF2-40B4-BE49-F238E27FC236}">
                <a16:creationId xmlns:a16="http://schemas.microsoft.com/office/drawing/2014/main" id="{A6F9F131-F08D-9832-E7A3-8B23E8FFE314}"/>
              </a:ext>
            </a:extLst>
          </p:cNvPr>
          <p:cNvSpPr/>
          <p:nvPr/>
        </p:nvSpPr>
        <p:spPr>
          <a:xfrm>
            <a:off x="7583122" y="5755976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跌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24" name="矩形 723">
            <a:extLst>
              <a:ext uri="{FF2B5EF4-FFF2-40B4-BE49-F238E27FC236}">
                <a16:creationId xmlns:a16="http://schemas.microsoft.com/office/drawing/2014/main" id="{5BDF3F81-0B74-6855-28BA-2B928443CECC}"/>
              </a:ext>
            </a:extLst>
          </p:cNvPr>
          <p:cNvSpPr/>
          <p:nvPr/>
        </p:nvSpPr>
        <p:spPr>
          <a:xfrm>
            <a:off x="7844093" y="5755976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跌连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25" name="矩形 724">
            <a:extLst>
              <a:ext uri="{FF2B5EF4-FFF2-40B4-BE49-F238E27FC236}">
                <a16:creationId xmlns:a16="http://schemas.microsoft.com/office/drawing/2014/main" id="{D82858FF-C534-0CA7-CF9D-85E6B29C6BFB}"/>
              </a:ext>
            </a:extLst>
          </p:cNvPr>
          <p:cNvSpPr/>
          <p:nvPr/>
        </p:nvSpPr>
        <p:spPr>
          <a:xfrm>
            <a:off x="7583122" y="5963696"/>
            <a:ext cx="252000" cy="180000"/>
          </a:xfrm>
          <a:prstGeom prst="rect">
            <a:avLst/>
          </a:prstGeom>
          <a:solidFill>
            <a:srgbClr val="ED7D3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人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26" name="矩形 725">
            <a:extLst>
              <a:ext uri="{FF2B5EF4-FFF2-40B4-BE49-F238E27FC236}">
                <a16:creationId xmlns:a16="http://schemas.microsoft.com/office/drawing/2014/main" id="{2DEE29D3-9EFC-755A-26B9-9654DB323F82}"/>
              </a:ext>
            </a:extLst>
          </p:cNvPr>
          <p:cNvSpPr/>
          <p:nvPr/>
        </p:nvSpPr>
        <p:spPr>
          <a:xfrm>
            <a:off x="7844093" y="5963696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跌吞升吞跌吞升孕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27" name="矩形 726">
            <a:extLst>
              <a:ext uri="{FF2B5EF4-FFF2-40B4-BE49-F238E27FC236}">
                <a16:creationId xmlns:a16="http://schemas.microsoft.com/office/drawing/2014/main" id="{290AA580-E674-460D-1CE3-82ED47038B3C}"/>
              </a:ext>
            </a:extLst>
          </p:cNvPr>
          <p:cNvSpPr/>
          <p:nvPr/>
        </p:nvSpPr>
        <p:spPr>
          <a:xfrm>
            <a:off x="7583122" y="6170456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人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28" name="矩形 727">
            <a:extLst>
              <a:ext uri="{FF2B5EF4-FFF2-40B4-BE49-F238E27FC236}">
                <a16:creationId xmlns:a16="http://schemas.microsoft.com/office/drawing/2014/main" id="{3DF9B71D-78EB-53B5-C53D-1D0C6DADC399}"/>
              </a:ext>
            </a:extLst>
          </p:cNvPr>
          <p:cNvSpPr/>
          <p:nvPr/>
        </p:nvSpPr>
        <p:spPr>
          <a:xfrm>
            <a:off x="7844093" y="6170456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升吞跌吞升吞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cxnSp>
        <p:nvCxnSpPr>
          <p:cNvPr id="729" name="连接符: 肘形 728">
            <a:extLst>
              <a:ext uri="{FF2B5EF4-FFF2-40B4-BE49-F238E27FC236}">
                <a16:creationId xmlns:a16="http://schemas.microsoft.com/office/drawing/2014/main" id="{E153FBA5-0C85-1BDC-3EF2-EB9336824F8F}"/>
              </a:ext>
            </a:extLst>
          </p:cNvPr>
          <p:cNvCxnSpPr>
            <a:cxnSpLocks/>
            <a:stCxn id="651" idx="3"/>
            <a:endCxn id="717" idx="1"/>
          </p:cNvCxnSpPr>
          <p:nvPr/>
        </p:nvCxnSpPr>
        <p:spPr>
          <a:xfrm flipV="1">
            <a:off x="7298562" y="3928009"/>
            <a:ext cx="284560" cy="527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0" name="连接符: 肘形 729">
            <a:extLst>
              <a:ext uri="{FF2B5EF4-FFF2-40B4-BE49-F238E27FC236}">
                <a16:creationId xmlns:a16="http://schemas.microsoft.com/office/drawing/2014/main" id="{12B4B9BA-715A-6DBA-B444-36B7D043F19A}"/>
              </a:ext>
            </a:extLst>
          </p:cNvPr>
          <p:cNvCxnSpPr>
            <a:cxnSpLocks/>
            <a:stCxn id="651" idx="3"/>
            <a:endCxn id="719" idx="1"/>
          </p:cNvCxnSpPr>
          <p:nvPr/>
        </p:nvCxnSpPr>
        <p:spPr>
          <a:xfrm>
            <a:off x="7298562" y="3928536"/>
            <a:ext cx="284560" cy="223862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1" name="连接符: 肘形 730">
            <a:extLst>
              <a:ext uri="{FF2B5EF4-FFF2-40B4-BE49-F238E27FC236}">
                <a16:creationId xmlns:a16="http://schemas.microsoft.com/office/drawing/2014/main" id="{9F964CDE-685B-EF8D-972E-74645CEA2D9E}"/>
              </a:ext>
            </a:extLst>
          </p:cNvPr>
          <p:cNvCxnSpPr>
            <a:cxnSpLocks/>
            <a:stCxn id="651" idx="3"/>
            <a:endCxn id="721" idx="1"/>
          </p:cNvCxnSpPr>
          <p:nvPr/>
        </p:nvCxnSpPr>
        <p:spPr>
          <a:xfrm>
            <a:off x="7298562" y="3928536"/>
            <a:ext cx="284560" cy="452847"/>
          </a:xfrm>
          <a:prstGeom prst="bentConnector3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2" name="连接符: 肘形 731">
            <a:extLst>
              <a:ext uri="{FF2B5EF4-FFF2-40B4-BE49-F238E27FC236}">
                <a16:creationId xmlns:a16="http://schemas.microsoft.com/office/drawing/2014/main" id="{8FFD23AA-FE91-3A0A-16F8-4E7C271243C3}"/>
              </a:ext>
            </a:extLst>
          </p:cNvPr>
          <p:cNvCxnSpPr>
            <a:cxnSpLocks/>
            <a:stCxn id="690" idx="3"/>
            <a:endCxn id="723" idx="1"/>
          </p:cNvCxnSpPr>
          <p:nvPr/>
        </p:nvCxnSpPr>
        <p:spPr>
          <a:xfrm>
            <a:off x="7298562" y="5845077"/>
            <a:ext cx="284560" cy="899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3" name="连接符: 肘形 732">
            <a:extLst>
              <a:ext uri="{FF2B5EF4-FFF2-40B4-BE49-F238E27FC236}">
                <a16:creationId xmlns:a16="http://schemas.microsoft.com/office/drawing/2014/main" id="{E957B47B-D8B3-8441-A1F3-EF4D2C07EDA7}"/>
              </a:ext>
            </a:extLst>
          </p:cNvPr>
          <p:cNvCxnSpPr>
            <a:cxnSpLocks/>
            <a:stCxn id="690" idx="3"/>
            <a:endCxn id="725" idx="1"/>
          </p:cNvCxnSpPr>
          <p:nvPr/>
        </p:nvCxnSpPr>
        <p:spPr>
          <a:xfrm>
            <a:off x="7298562" y="5845077"/>
            <a:ext cx="284560" cy="208619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连接符: 肘形 733">
            <a:extLst>
              <a:ext uri="{FF2B5EF4-FFF2-40B4-BE49-F238E27FC236}">
                <a16:creationId xmlns:a16="http://schemas.microsoft.com/office/drawing/2014/main" id="{9B634E4F-A610-B4F5-0923-CB2809163603}"/>
              </a:ext>
            </a:extLst>
          </p:cNvPr>
          <p:cNvCxnSpPr>
            <a:cxnSpLocks/>
            <a:stCxn id="690" idx="3"/>
            <a:endCxn id="727" idx="1"/>
          </p:cNvCxnSpPr>
          <p:nvPr/>
        </p:nvCxnSpPr>
        <p:spPr>
          <a:xfrm>
            <a:off x="7298562" y="5845077"/>
            <a:ext cx="284560" cy="415379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5" name="椭圆 734">
            <a:extLst>
              <a:ext uri="{FF2B5EF4-FFF2-40B4-BE49-F238E27FC236}">
                <a16:creationId xmlns:a16="http://schemas.microsoft.com/office/drawing/2014/main" id="{68F847F8-935D-7EDA-9E9D-A860A80C5F0A}"/>
              </a:ext>
            </a:extLst>
          </p:cNvPr>
          <p:cNvSpPr>
            <a:spLocks noChangeAspect="1"/>
          </p:cNvSpPr>
          <p:nvPr/>
        </p:nvSpPr>
        <p:spPr>
          <a:xfrm>
            <a:off x="5538335" y="5293256"/>
            <a:ext cx="36000" cy="36000"/>
          </a:xfrm>
          <a:prstGeom prst="ellipse">
            <a:avLst/>
          </a:prstGeom>
          <a:ln w="254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solidFill>
                <a:schemeClr val="bg1">
                  <a:lumMod val="85000"/>
                </a:schemeClr>
              </a:solidFill>
            </a:endParaRPr>
          </a:p>
        </p:txBody>
      </p:sp>
      <p:cxnSp>
        <p:nvCxnSpPr>
          <p:cNvPr id="736" name="连接符: 肘形 735">
            <a:extLst>
              <a:ext uri="{FF2B5EF4-FFF2-40B4-BE49-F238E27FC236}">
                <a16:creationId xmlns:a16="http://schemas.microsoft.com/office/drawing/2014/main" id="{0CD0A293-0DD5-923B-0D3E-F311A13526FB}"/>
              </a:ext>
            </a:extLst>
          </p:cNvPr>
          <p:cNvCxnSpPr>
            <a:cxnSpLocks/>
            <a:stCxn id="667" idx="3"/>
            <a:endCxn id="735" idx="2"/>
          </p:cNvCxnSpPr>
          <p:nvPr/>
        </p:nvCxnSpPr>
        <p:spPr>
          <a:xfrm>
            <a:off x="5427382" y="5211706"/>
            <a:ext cx="110953" cy="99550"/>
          </a:xfrm>
          <a:prstGeom prst="bentConnector3">
            <a:avLst>
              <a:gd name="adj1" fmla="val 50000"/>
            </a:avLst>
          </a:prstGeom>
          <a:ln w="25400"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连接符: 肘形 736">
            <a:extLst>
              <a:ext uri="{FF2B5EF4-FFF2-40B4-BE49-F238E27FC236}">
                <a16:creationId xmlns:a16="http://schemas.microsoft.com/office/drawing/2014/main" id="{EDC04646-70D4-56F8-89D8-232258E4654D}"/>
              </a:ext>
            </a:extLst>
          </p:cNvPr>
          <p:cNvCxnSpPr>
            <a:cxnSpLocks/>
            <a:stCxn id="709" idx="3"/>
            <a:endCxn id="735" idx="2"/>
          </p:cNvCxnSpPr>
          <p:nvPr/>
        </p:nvCxnSpPr>
        <p:spPr>
          <a:xfrm flipV="1">
            <a:off x="5427382" y="5311256"/>
            <a:ext cx="110953" cy="102953"/>
          </a:xfrm>
          <a:prstGeom prst="bentConnector3">
            <a:avLst>
              <a:gd name="adj1" fmla="val 50000"/>
            </a:avLst>
          </a:prstGeom>
          <a:ln w="25400"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8" name="椭圆 737">
            <a:extLst>
              <a:ext uri="{FF2B5EF4-FFF2-40B4-BE49-F238E27FC236}">
                <a16:creationId xmlns:a16="http://schemas.microsoft.com/office/drawing/2014/main" id="{2729613A-03AB-34FA-1AE1-1215BD814ED4}"/>
              </a:ext>
            </a:extLst>
          </p:cNvPr>
          <p:cNvSpPr>
            <a:spLocks noChangeAspect="1"/>
          </p:cNvSpPr>
          <p:nvPr/>
        </p:nvSpPr>
        <p:spPr>
          <a:xfrm>
            <a:off x="7360020" y="5069394"/>
            <a:ext cx="36000" cy="36000"/>
          </a:xfrm>
          <a:prstGeom prst="ellipse">
            <a:avLst/>
          </a:prstGeom>
          <a:solidFill>
            <a:schemeClr val="accent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solidFill>
                <a:schemeClr val="bg1">
                  <a:lumMod val="85000"/>
                </a:schemeClr>
              </a:solidFill>
            </a:endParaRPr>
          </a:p>
        </p:txBody>
      </p:sp>
      <p:cxnSp>
        <p:nvCxnSpPr>
          <p:cNvPr id="739" name="连接符: 肘形 738">
            <a:extLst>
              <a:ext uri="{FF2B5EF4-FFF2-40B4-BE49-F238E27FC236}">
                <a16:creationId xmlns:a16="http://schemas.microsoft.com/office/drawing/2014/main" id="{A0BECF82-D2BB-BF9F-AFF8-53CD2B6500B7}"/>
              </a:ext>
            </a:extLst>
          </p:cNvPr>
          <p:cNvCxnSpPr>
            <a:cxnSpLocks/>
            <a:stCxn id="669" idx="3"/>
            <a:endCxn id="738" idx="2"/>
          </p:cNvCxnSpPr>
          <p:nvPr/>
        </p:nvCxnSpPr>
        <p:spPr>
          <a:xfrm>
            <a:off x="7298562" y="4603649"/>
            <a:ext cx="61458" cy="483745"/>
          </a:xfrm>
          <a:prstGeom prst="bentConnector3">
            <a:avLst>
              <a:gd name="adj1" fmla="val 50000"/>
            </a:avLst>
          </a:prstGeom>
          <a:ln w="25400">
            <a:solidFill>
              <a:srgbClr val="4472C4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0" name="连接符: 肘形 739">
            <a:extLst>
              <a:ext uri="{FF2B5EF4-FFF2-40B4-BE49-F238E27FC236}">
                <a16:creationId xmlns:a16="http://schemas.microsoft.com/office/drawing/2014/main" id="{3CD93095-3427-C74F-DB07-C8678E9A618A}"/>
              </a:ext>
            </a:extLst>
          </p:cNvPr>
          <p:cNvCxnSpPr>
            <a:cxnSpLocks/>
            <a:stCxn id="677" idx="3"/>
            <a:endCxn id="738" idx="2"/>
          </p:cNvCxnSpPr>
          <p:nvPr/>
        </p:nvCxnSpPr>
        <p:spPr>
          <a:xfrm flipV="1">
            <a:off x="7298562" y="5087394"/>
            <a:ext cx="61458" cy="429178"/>
          </a:xfrm>
          <a:prstGeom prst="bentConnector3">
            <a:avLst>
              <a:gd name="adj1" fmla="val 50000"/>
            </a:avLst>
          </a:prstGeom>
          <a:ln w="25400"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1" name="连接符: 肘形 740">
            <a:extLst>
              <a:ext uri="{FF2B5EF4-FFF2-40B4-BE49-F238E27FC236}">
                <a16:creationId xmlns:a16="http://schemas.microsoft.com/office/drawing/2014/main" id="{32747A69-9F2A-3344-9BE3-75334586F558}"/>
              </a:ext>
            </a:extLst>
          </p:cNvPr>
          <p:cNvCxnSpPr>
            <a:cxnSpLocks/>
            <a:stCxn id="707" idx="3"/>
            <a:endCxn id="738" idx="2"/>
          </p:cNvCxnSpPr>
          <p:nvPr/>
        </p:nvCxnSpPr>
        <p:spPr>
          <a:xfrm flipV="1">
            <a:off x="7298562" y="5087394"/>
            <a:ext cx="61458" cy="1435062"/>
          </a:xfrm>
          <a:prstGeom prst="bentConnector3">
            <a:avLst>
              <a:gd name="adj1" fmla="val 50000"/>
            </a:avLst>
          </a:prstGeom>
          <a:ln w="25400">
            <a:solidFill>
              <a:srgbClr val="4472C4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2" name="矩形 741">
            <a:extLst>
              <a:ext uri="{FF2B5EF4-FFF2-40B4-BE49-F238E27FC236}">
                <a16:creationId xmlns:a16="http://schemas.microsoft.com/office/drawing/2014/main" id="{C4B4F9C0-42A5-B8A6-07DD-FE54981568D8}"/>
              </a:ext>
            </a:extLst>
          </p:cNvPr>
          <p:cNvSpPr/>
          <p:nvPr/>
        </p:nvSpPr>
        <p:spPr>
          <a:xfrm>
            <a:off x="7583122" y="4998001"/>
            <a:ext cx="252000" cy="180000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人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43" name="矩形 742">
            <a:extLst>
              <a:ext uri="{FF2B5EF4-FFF2-40B4-BE49-F238E27FC236}">
                <a16:creationId xmlns:a16="http://schemas.microsoft.com/office/drawing/2014/main" id="{ADE2A646-FA0C-E95E-AC49-E848C7874D93}"/>
              </a:ext>
            </a:extLst>
          </p:cNvPr>
          <p:cNvSpPr/>
          <p:nvPr/>
        </p:nvSpPr>
        <p:spPr>
          <a:xfrm>
            <a:off x="7844093" y="4998001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衔人</a:t>
            </a:r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升孕跌孕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44" name="矩形 743">
            <a:extLst>
              <a:ext uri="{FF2B5EF4-FFF2-40B4-BE49-F238E27FC236}">
                <a16:creationId xmlns:a16="http://schemas.microsoft.com/office/drawing/2014/main" id="{31F5F3B2-E74B-E400-9DBB-0C8CF79D6BC6}"/>
              </a:ext>
            </a:extLst>
          </p:cNvPr>
          <p:cNvSpPr/>
          <p:nvPr/>
        </p:nvSpPr>
        <p:spPr>
          <a:xfrm>
            <a:off x="7583122" y="5201039"/>
            <a:ext cx="25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升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45" name="矩形 744">
            <a:extLst>
              <a:ext uri="{FF2B5EF4-FFF2-40B4-BE49-F238E27FC236}">
                <a16:creationId xmlns:a16="http://schemas.microsoft.com/office/drawing/2014/main" id="{676910D5-4B96-A9E2-316A-24072F282AD9}"/>
              </a:ext>
            </a:extLst>
          </p:cNvPr>
          <p:cNvSpPr/>
          <p:nvPr/>
        </p:nvSpPr>
        <p:spPr>
          <a:xfrm>
            <a:off x="7844093" y="5201039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46" name="矩形 745">
            <a:extLst>
              <a:ext uri="{FF2B5EF4-FFF2-40B4-BE49-F238E27FC236}">
                <a16:creationId xmlns:a16="http://schemas.microsoft.com/office/drawing/2014/main" id="{67B3EDD4-7AFB-B84A-8705-D60A9FEF4C00}"/>
              </a:ext>
            </a:extLst>
          </p:cNvPr>
          <p:cNvSpPr/>
          <p:nvPr/>
        </p:nvSpPr>
        <p:spPr>
          <a:xfrm>
            <a:off x="7583122" y="4797329"/>
            <a:ext cx="252000" cy="180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跌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747" name="矩形 746">
            <a:extLst>
              <a:ext uri="{FF2B5EF4-FFF2-40B4-BE49-F238E27FC236}">
                <a16:creationId xmlns:a16="http://schemas.microsoft.com/office/drawing/2014/main" id="{952E3F5D-F92E-E085-3D96-9ABF725E9A2B}"/>
              </a:ext>
            </a:extLst>
          </p:cNvPr>
          <p:cNvSpPr/>
          <p:nvPr/>
        </p:nvSpPr>
        <p:spPr>
          <a:xfrm>
            <a:off x="7844093" y="4797329"/>
            <a:ext cx="1260000" cy="18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900" dirty="0">
                <a:solidFill>
                  <a:schemeClr val="bg1">
                    <a:lumMod val="85000"/>
                  </a:schemeClr>
                </a:solidFill>
              </a:rPr>
              <a:t>/</a:t>
            </a:r>
            <a:r>
              <a:rPr lang="zh-CN" altLang="en-US" sz="900" dirty="0">
                <a:solidFill>
                  <a:schemeClr val="bg1">
                    <a:lumMod val="85000"/>
                  </a:schemeClr>
                </a:solidFill>
              </a:rPr>
              <a:t>升孕跌吞</a:t>
            </a:r>
            <a:endParaRPr lang="en-US" altLang="zh-CN" sz="900" dirty="0">
              <a:solidFill>
                <a:schemeClr val="bg1">
                  <a:lumMod val="85000"/>
                </a:schemeClr>
              </a:solidFill>
            </a:endParaRPr>
          </a:p>
        </p:txBody>
      </p:sp>
      <p:cxnSp>
        <p:nvCxnSpPr>
          <p:cNvPr id="748" name="连接符: 肘形 747">
            <a:extLst>
              <a:ext uri="{FF2B5EF4-FFF2-40B4-BE49-F238E27FC236}">
                <a16:creationId xmlns:a16="http://schemas.microsoft.com/office/drawing/2014/main" id="{D1B7C00C-7EFC-57D9-4485-FC5044CC8FE7}"/>
              </a:ext>
            </a:extLst>
          </p:cNvPr>
          <p:cNvCxnSpPr>
            <a:cxnSpLocks/>
            <a:stCxn id="738" idx="6"/>
            <a:endCxn id="746" idx="1"/>
          </p:cNvCxnSpPr>
          <p:nvPr/>
        </p:nvCxnSpPr>
        <p:spPr>
          <a:xfrm flipV="1">
            <a:off x="7396020" y="4887329"/>
            <a:ext cx="187102" cy="200065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9" name="连接符: 肘形 748">
            <a:extLst>
              <a:ext uri="{FF2B5EF4-FFF2-40B4-BE49-F238E27FC236}">
                <a16:creationId xmlns:a16="http://schemas.microsoft.com/office/drawing/2014/main" id="{E9098348-4099-3131-4522-37E918545584}"/>
              </a:ext>
            </a:extLst>
          </p:cNvPr>
          <p:cNvCxnSpPr>
            <a:cxnSpLocks/>
            <a:stCxn id="738" idx="6"/>
            <a:endCxn id="742" idx="1"/>
          </p:cNvCxnSpPr>
          <p:nvPr/>
        </p:nvCxnSpPr>
        <p:spPr>
          <a:xfrm>
            <a:off x="7396020" y="5087394"/>
            <a:ext cx="187102" cy="607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0" name="连接符: 肘形 749">
            <a:extLst>
              <a:ext uri="{FF2B5EF4-FFF2-40B4-BE49-F238E27FC236}">
                <a16:creationId xmlns:a16="http://schemas.microsoft.com/office/drawing/2014/main" id="{E8B77D1F-1D7F-CA68-8E54-562C8DB23025}"/>
              </a:ext>
            </a:extLst>
          </p:cNvPr>
          <p:cNvCxnSpPr>
            <a:cxnSpLocks/>
            <a:stCxn id="738" idx="6"/>
            <a:endCxn id="744" idx="1"/>
          </p:cNvCxnSpPr>
          <p:nvPr/>
        </p:nvCxnSpPr>
        <p:spPr>
          <a:xfrm>
            <a:off x="7396020" y="5087394"/>
            <a:ext cx="187102" cy="203645"/>
          </a:xfrm>
          <a:prstGeom prst="bentConnector3">
            <a:avLst>
              <a:gd name="adj1" fmla="val 50000"/>
            </a:avLst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4" name="直接连接符 763">
            <a:extLst>
              <a:ext uri="{FF2B5EF4-FFF2-40B4-BE49-F238E27FC236}">
                <a16:creationId xmlns:a16="http://schemas.microsoft.com/office/drawing/2014/main" id="{D3A4B8C3-9BA8-5FF6-3D63-44483F2AAB10}"/>
              </a:ext>
            </a:extLst>
          </p:cNvPr>
          <p:cNvCxnSpPr>
            <a:cxnSpLocks/>
          </p:cNvCxnSpPr>
          <p:nvPr/>
        </p:nvCxnSpPr>
        <p:spPr>
          <a:xfrm flipH="1">
            <a:off x="650695" y="3583182"/>
            <a:ext cx="11541305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07509753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6F3F66-9CA6-EA65-F488-6131E872CC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标题 1">
            <a:extLst>
              <a:ext uri="{FF2B5EF4-FFF2-40B4-BE49-F238E27FC236}">
                <a16:creationId xmlns:a16="http://schemas.microsoft.com/office/drawing/2014/main" id="{5BF19955-08A0-3B1C-43E0-1A60BE3F7796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跨期共振</a:t>
            </a:r>
            <a:endParaRPr lang="en-US" altLang="zh-CN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本页内容：总结月周日之间，需要跨周期解决的问题。包括：顶型、均线、调整级别。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4733EA9F-3B4E-741A-7090-777155FCF2AD}"/>
              </a:ext>
            </a:extLst>
          </p:cNvPr>
          <p:cNvSpPr/>
          <p:nvPr/>
        </p:nvSpPr>
        <p:spPr>
          <a:xfrm>
            <a:off x="-1713" y="4989095"/>
            <a:ext cx="6089399" cy="1877984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跨周期衡量调整级别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----------------------------------------------------------------------------------------------------------</a:t>
            </a:r>
            <a:endParaRPr lang="zh-CN" altLang="en-US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以统一眼光衡量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之上各级别调整。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日级别调整可能对应周级别跌孕。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通常对应周级别跌吞或跌连。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周级别调整（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）仍有可能在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之上恢复。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日类各劫对应的周级别调整：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天劫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/DXZA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/DXZB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劫：是周主升中的主要调整类型。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注意，不要再周主升中因下破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而退出。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/DXAC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劫：仍可能处于周主升中，但属于剧烈调整，对应于周级别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/DXBC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劫：基本不可能是周主升，必定为初始上破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，属于“震”，需等待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再介入。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须重视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对识别主升的重要性。只有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正交，才可能进入周主升。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BC0FF10F-3D20-2156-0608-1C154B1680A8}"/>
              </a:ext>
            </a:extLst>
          </p:cNvPr>
          <p:cNvSpPr/>
          <p:nvPr/>
        </p:nvSpPr>
        <p:spPr>
          <a:xfrm>
            <a:off x="-1714" y="720000"/>
            <a:ext cx="6089399" cy="10560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跨周期侦测诱多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：通过共振侦测诱多。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----------------------------------------------------------------------------------------------------------</a:t>
            </a:r>
            <a:endParaRPr lang="zh-CN" altLang="en-US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周共振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主升的启动位置可能在任意位置，单纯依赖周级别很难判定（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C7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/C6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）是否会再次形成主升，但可以依赖月级别图形观测大势的运行阶段，进而判定是否会形成主升。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日共振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当日类经过升势后，会无征兆地开始下跌。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不能只在日级别寻找做顶迹象，而要放在周级别，看是否遇到阻力，或产生较大偏离。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3F25DF41-3398-5875-4A89-C1EAE6D95EF3}"/>
              </a:ext>
            </a:extLst>
          </p:cNvPr>
          <p:cNvSpPr/>
          <p:nvPr/>
        </p:nvSpPr>
        <p:spPr>
          <a:xfrm>
            <a:off x="6087685" y="3056021"/>
            <a:ext cx="6105441" cy="381000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跨周期顶型共振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（月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日）触顶共振。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----------------------------------------------------------------------------------------------------------</a:t>
            </a:r>
            <a:endParaRPr lang="zh-CN" altLang="en-US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专题展开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顶型跨级别配合：判断周级别主升的关键条件是不断触顶（周龙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）。同样，在日级别展开中，也有很多（日龙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）情况，使用日级别顶型配合周级别顶型进行判断的错误方式与正确方式，展示如下。 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（使用日级别顶型配合周级别顶型进行判断）的错误方式：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单独筛选（日合顶）或（日触顶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）而不配合周类，属于错误方式。时刻牢记，周类（触顶是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正交的子集）。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日触顶的角色定位：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“是热点”：日触顶是当前热点，是舆情主战场。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“是卖点”：在日管（顶，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）中寻找冲高止盈点：要在日触顶时卖出，而不要加仓。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未必会继续触顶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有可能是冲高诱多（特别是在跌连之后），随后可能转跌。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须选择方向：可能向上（继鼎之后）；可能向下，转为下跌。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要选择刚合顶、即将触顶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示例：可能出现周级别为诱多（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头或下跌中继反弹），但在日级别正好属于顶型符合的情况。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（使用日级别顶型配合周级别顶型进行判断）的正确方式：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要“先周后日”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：首先关注周级别合顶，而放弃单独按日级别顶型筛选（日类只做参考）。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正向跨期配合：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日与周共振：要选择（周触顶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）时，以（日触顶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）作为介入点，这种情况下，日级别信息完美配合周级别走势。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日领先于周。要选择周触顶后调整阶段，但日已再次率先触顶，预示周级别将再触顶。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示例：周阴柱调整后再次触顶，日介入点为上破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后触哼或触顶。思路为，要在周触顶时看日触顶情况，始终以周触顶为准，日级别可能会提前触顶。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反向跨期配合：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当（周合顶）时，可能包含（日合顶）与（日离顶）。当（周合顶）时，即使（日离顶）或（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）也属于正常现象，重要的是寻找再次介入点。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当（周合顶）时，选择（日离开哈）或（站上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）作为再次介入点。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418771372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0C9D96-A08E-5CAB-A878-9CE34D3C3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矩形 11">
            <a:extLst>
              <a:ext uri="{FF2B5EF4-FFF2-40B4-BE49-F238E27FC236}">
                <a16:creationId xmlns:a16="http://schemas.microsoft.com/office/drawing/2014/main" id="{2BDA71E6-0519-6665-FD6C-F4A50D1AAFDC}"/>
              </a:ext>
            </a:extLst>
          </p:cNvPr>
          <p:cNvSpPr/>
          <p:nvPr/>
        </p:nvSpPr>
        <p:spPr>
          <a:xfrm>
            <a:off x="-733" y="1887996"/>
            <a:ext cx="6096000" cy="4961289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主导思想：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要将日类均线嵌入周层的大版图综合考虑。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坚定按照“先周后日”原则进行筛选：周找上升空间，日确定上升时点。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维度透视：</a:t>
            </a:r>
            <a:r>
              <a:rPr lang="zh-CN" altLang="en-US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要在日线图中有周柱思维，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要在日线上看到周柱形态。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整体替代：</a:t>
            </a:r>
            <a:r>
              <a:rPr lang="zh-CN" altLang="en-US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把当周五柱作为一个整体进行打包，判断周柱的整体情况。不要直接根据日类均线寻找规律。</a:t>
            </a:r>
            <a:endParaRPr lang="en-US" altLang="zh-CN" sz="900" dirty="0">
              <a:solidFill>
                <a:prstClr val="black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只用于止盈，不用于止损。低阶均线只能存善念，即是否站上均线；不能存歹念，即下破不代表需要止损，只是提前退出。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just"/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纽带：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主纽带为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WJA/DJC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，其余参考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WJB/DJD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。以周为准，先周后日。日类用于中途止盈与再入，周类用于止损。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DJEDC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级别均线需注意事项：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日类应以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为底线，在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之下绝不参与。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DJCBA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级别均线需注意事项：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主升区域主要集中于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之上，其余为日级别捡漏或周级别捡漏机会。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日层需注意事项：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应聚焦日层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GBC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层，尽量少参与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层（代表剧烈日级别震荡）。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日顶需注意事项：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不要过多关注顶合离，只有合顶初期是主升区域，后期震荡没有机会。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在日级别不需要过多关注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，只需以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为单一顶参考。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日周联合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该视角的适用场景：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也就是，所要解决的问题。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课题</a:t>
            </a:r>
            <a:r>
              <a:rPr lang="en-US" altLang="zh-CN" sz="9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研究周柱是由日柱如何组合形成的。⇒将当周的日柱作为组成周柱的整体进行观察。</a:t>
            </a:r>
            <a:endParaRPr lang="en-US" altLang="zh-CN" sz="900" dirty="0">
              <a:solidFill>
                <a:prstClr val="black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  <a:defRPr/>
            </a:pPr>
            <a:r>
              <a:rPr lang="zh-CN" altLang="en-US" sz="9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课题</a:t>
            </a:r>
            <a:r>
              <a:rPr lang="en-US" altLang="zh-CN" sz="9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当在周五筛选“下周冲高”时，如何利用日类形态辅助筛选？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⇒主要关注上周末日柱收在哪里。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  <a:defRPr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课题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如何在周中寻找“捡漏机会”？⇒特别是预判本周会冲高，但本周初意外下跌的情况。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zh-CN" altLang="en-US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E4D1617E-1916-C734-D75C-07E9125DAAF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“五日合周”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指导思想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日周联动核心思想：日服从周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298EA709-10CD-082D-3283-30F7508B651D}"/>
              </a:ext>
            </a:extLst>
          </p:cNvPr>
          <p:cNvSpPr txBox="1"/>
          <p:nvPr/>
        </p:nvSpPr>
        <p:spPr>
          <a:xfrm>
            <a:off x="0" y="718368"/>
            <a:ext cx="12192000" cy="1169551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为何要研究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日周联动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？主要目的是不被日类短期震动影响，同时及时止损。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buFont typeface="+mj-ea"/>
              <a:buAutoNum type="circleNumDbPlain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不被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柱影响的决窍：只看：均线与均线的关系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把均线当成本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。价与均线的关系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是否能够收割均线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buFont typeface="+mj-ea"/>
              <a:buAutoNum type="circleNumDbPlain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问题：周级别规律清晰无问题，一到日线就有问题？开盘就乱操作？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解决方案：</a:t>
            </a:r>
          </a:p>
          <a:p>
            <a:pPr lvl="1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方案一：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仅按周线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之上易大涨处，仅仅按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持有小仓，忽略日线波动。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										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⇒已解决：周类底仓策略</a:t>
            </a:r>
          </a:p>
          <a:p>
            <a:pPr lvl="1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方案二：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周级别冲高止盈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只在周末买，不在周中买。下周按固定冲高幅度设置止盈卖出。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									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⇒已解决：下柱冲高策略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见专章主题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endParaRPr lang="zh-CN" altLang="en-US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方案三：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严格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丘操作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不在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丘中间进入，不要看鼎等指标。从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丘启动进入，保证操作期间 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						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⇒已解决：日类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丘操作法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方案三：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利用稳升状态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依赖动态思维，在稳升趋势一定维持状态：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DXCD&gt;0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DXAB&gt;0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。如果这个状态失效，则代表不再是稳升状态。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⇒已解决：日类稳升状态操作法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3FB3B6BA-CDF6-F7D8-A066-6F1039CDAD54}"/>
              </a:ext>
            </a:extLst>
          </p:cNvPr>
          <p:cNvSpPr/>
          <p:nvPr/>
        </p:nvSpPr>
        <p:spPr>
          <a:xfrm>
            <a:off x="-734" y="4846319"/>
            <a:ext cx="6096001" cy="20181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【DXCD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相关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：利用（上周末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正交）与（上周末价与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关系）判定本周机会。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若上周末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正交：对应于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WXAB&gt;0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若上周末价＞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本周初冲高偏离大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⇒本周有可能回落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本周稳定在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附近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⇒周类走势稳定，下周有可能会冲高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本周中下破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	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⇒赌本周结束时反弹站上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若上周末价＜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本周剧烈下跌偏离大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⇒本周有可能会反弹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本周中上破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	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⇒有可能诱多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本周末站上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	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⇒走势贯穿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，需要依赖后续走势进行确认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若上周末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负交：对应于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WXAB&lt;0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若上周末价＞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：根据日类走势适当参与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若上周末价＞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：不应参与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若上周末价＜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：坚决不要参与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DD012841-4CA8-55E9-3E14-E3A8DB035394}"/>
              </a:ext>
            </a:extLst>
          </p:cNvPr>
          <p:cNvSpPr/>
          <p:nvPr/>
        </p:nvSpPr>
        <p:spPr>
          <a:xfrm>
            <a:off x="6095995" y="2818970"/>
            <a:ext cx="6096000" cy="4043015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kumimoji="0" lang="zh-CN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日周联动</a:t>
            </a:r>
            <a:r>
              <a:rPr kumimoji="0" lang="en-US" altLang="zh-CN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kumimoji="0" lang="zh-CN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日视角：周柱展开</a:t>
            </a:r>
            <a:endParaRPr kumimoji="0" lang="en-US" altLang="zh-CN" sz="9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lang="zh-CN" altLang="en-US" sz="9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周柱在日线维度展开：</a:t>
            </a:r>
          </a:p>
          <a:p>
            <a:pPr marL="628650" lvl="1" indent="-171450">
              <a:buFont typeface="Arial" panose="020B0604020202020204" pitchFamily="34" charset="0"/>
              <a:buChar char="•"/>
              <a:defRPr/>
            </a:pPr>
            <a:r>
              <a:rPr lang="zh-CN" altLang="en-US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周阳柱：右图分别是</a:t>
            </a:r>
            <a:r>
              <a:rPr lang="en-US" altLang="zh-CN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阳柱上影</a:t>
            </a:r>
            <a:r>
              <a:rPr lang="en-US" altLang="zh-CN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阳柱光头</a:t>
            </a:r>
            <a:r>
              <a:rPr lang="en-US" altLang="zh-CN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阳柱光头</a:t>
            </a:r>
            <a:r>
              <a:rPr lang="en-US" altLang="zh-CN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阳柱下影</a:t>
            </a:r>
          </a:p>
          <a:p>
            <a:pPr marL="628650" lvl="1" indent="-171450">
              <a:buFont typeface="Arial" panose="020B0604020202020204" pitchFamily="34" charset="0"/>
              <a:buChar char="•"/>
              <a:defRPr/>
            </a:pPr>
            <a:r>
              <a:rPr lang="zh-CN" altLang="en-US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周阴柱：右图分别是</a:t>
            </a:r>
            <a:r>
              <a:rPr lang="en-US" altLang="zh-CN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阴柱上影</a:t>
            </a:r>
            <a:r>
              <a:rPr lang="en-US" altLang="zh-CN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阴柱光脚</a:t>
            </a:r>
            <a:r>
              <a:rPr lang="en-US" altLang="zh-CN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阴柱光脚</a:t>
            </a:r>
            <a:r>
              <a:rPr lang="en-US" altLang="zh-CN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阴柱下影</a:t>
            </a:r>
          </a:p>
          <a:p>
            <a:pPr marL="171450" marR="0" lvl="0" indent="-1714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zh-CN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本周五柱展开：关注周中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反转，一定要结合周柱排列与位置。</a:t>
            </a:r>
            <a:endParaRPr kumimoji="0" lang="en-US" altLang="zh-CN" sz="9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  <a:defRPr/>
            </a:pPr>
            <a:r>
              <a:rPr kumimoji="0" lang="zh-CN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周柱排列：如果前周柱为</a:t>
            </a:r>
            <a:r>
              <a:rPr kumimoji="0" lang="en-US" altLang="zh-CN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kumimoji="0" lang="zh-CN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连阳</a:t>
            </a:r>
            <a:r>
              <a:rPr kumimoji="0" lang="en-US" altLang="zh-CN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升排，很有可能延续周阳柱。</a:t>
            </a:r>
            <a:endParaRPr kumimoji="0" lang="en-US" altLang="zh-CN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  <a:defRPr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反转在周线的位置：优选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刚突破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上升中继，避免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顶部震荡。</a:t>
            </a:r>
            <a:endParaRPr kumimoji="0" lang="en-US" altLang="zh-CN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  <a:defRPr/>
            </a:pPr>
            <a:r>
              <a:rPr kumimoji="0" lang="zh-CN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起止点：</a:t>
            </a:r>
          </a:p>
          <a:p>
            <a:pPr marL="1085850" lvl="2" indent="-171450">
              <a:buFont typeface="Arial" panose="020B0604020202020204" pitchFamily="34" charset="0"/>
              <a:buChar char="•"/>
              <a:defRPr/>
            </a:pPr>
            <a:r>
              <a:rPr kumimoji="0" lang="zh-CN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当周第一柱是周</a:t>
            </a:r>
            <a:r>
              <a:rPr kumimoji="0" lang="en-US" altLang="zh-CN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kumimoji="0" lang="zh-CN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柱起点</a:t>
            </a:r>
            <a:r>
              <a:rPr kumimoji="0" lang="en-US" altLang="zh-CN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kumimoji="0" lang="zh-CN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起点偏离</a:t>
            </a:r>
            <a:r>
              <a:rPr kumimoji="0" lang="en-US" altLang="zh-CN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kumimoji="0" lang="zh-CN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太远，要认为此周柱有可能是阴柱</a:t>
            </a:r>
            <a:r>
              <a:rPr kumimoji="0" lang="en-US" altLang="zh-CN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1085850" lvl="2" indent="-171450">
              <a:buFont typeface="Arial" panose="020B0604020202020204" pitchFamily="34" charset="0"/>
              <a:buChar char="•"/>
              <a:defRPr/>
            </a:pPr>
            <a:r>
              <a:rPr kumimoji="0" lang="zh-CN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谋划当周终点的可能位置</a:t>
            </a:r>
            <a:r>
              <a:rPr kumimoji="0" lang="en-US" altLang="zh-CN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kumimoji="0" lang="zh-CN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或最高点的可能位置</a:t>
            </a:r>
            <a:r>
              <a:rPr kumimoji="0" lang="en-US" altLang="zh-CN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1085850" lvl="2" indent="-171450">
              <a:buFont typeface="Arial" panose="020B0604020202020204" pitchFamily="34" charset="0"/>
              <a:buChar char="•"/>
              <a:defRPr/>
            </a:pPr>
            <a:r>
              <a:rPr kumimoji="0" lang="zh-CN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靠近</a:t>
            </a:r>
            <a:r>
              <a:rPr kumimoji="0" lang="en-US" altLang="zh-CN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kumimoji="0" lang="zh-CN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后止跌站稳。可能是非常好的下周柱起点。</a:t>
            </a:r>
            <a:endParaRPr kumimoji="0" lang="en-US" altLang="zh-CN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marR="0" lvl="1" indent="-1714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zh-CN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周中反转类型：</a:t>
            </a:r>
            <a:endParaRPr kumimoji="0" lang="en-US" altLang="zh-CN" sz="9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  <a:defRPr/>
            </a:pPr>
            <a:r>
              <a:rPr kumimoji="0" lang="zh-CN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反向反转：第一柱可能骗人。前周为阳，本周</a:t>
            </a:r>
            <a:r>
              <a:rPr lang="zh-CN" altLang="en-US" sz="8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</a:t>
            </a:r>
            <a:r>
              <a:rPr kumimoji="0" lang="zh-CN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柱继续为阳柱，但随后下跌导致周柱整体变为上影线阴柱。</a:t>
            </a:r>
            <a:endParaRPr kumimoji="0" lang="en-US" altLang="zh-CN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  <a:defRPr/>
            </a:pPr>
            <a:r>
              <a:rPr kumimoji="0" lang="zh-CN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反向反转：第五柱反向。本周前期整体上升，第五柱下跌，从而周柱整体变为上影线。下周可能继续上涨。</a:t>
            </a:r>
            <a:endParaRPr kumimoji="0" lang="en-US" altLang="zh-CN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  <a:defRPr/>
            </a:pPr>
            <a:r>
              <a:rPr kumimoji="0" lang="zh-CN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正向反转：中间柱挖坑。上周柱为阳柱，本周前部分下跌，最后回升，从而周柱整体变为下影。下周很有可能继续上涨，本周成为上升中继。</a:t>
            </a:r>
            <a:endParaRPr kumimoji="0" lang="en-US" altLang="zh-CN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marR="0" lvl="0" indent="-1714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zh-CN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前周五柱展开特殊情况：</a:t>
            </a:r>
            <a:endParaRPr kumimoji="0" lang="en-US" altLang="zh-CN" sz="9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  <a:defRPr/>
            </a:pP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全周在</a:t>
            </a:r>
            <a:r>
              <a:rPr lang="en-US" altLang="zh-CN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之上（周大阳柱）：已冲高，下周可能回调。</a:t>
            </a:r>
            <a:endParaRPr lang="en-US" altLang="zh-CN" sz="900" dirty="0">
              <a:solidFill>
                <a:prstClr val="black">
                  <a:lumMod val="95000"/>
                  <a:lumOff val="5000"/>
                </a:prst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  <a:defRPr/>
            </a:pP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全周在</a:t>
            </a:r>
            <a:r>
              <a:rPr lang="en-US" altLang="zh-CN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之上（周小阳柱）：未冲高，下周可能继续上升。</a:t>
            </a:r>
            <a:endParaRPr lang="en-US" altLang="zh-CN" sz="900" dirty="0">
              <a:solidFill>
                <a:prstClr val="black">
                  <a:lumMod val="95000"/>
                  <a:lumOff val="5000"/>
                </a:prst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  <a:defRPr/>
            </a:pP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全周在</a:t>
            </a:r>
            <a:r>
              <a:rPr lang="en-US" altLang="zh-CN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之下：要看周柱排列，是否已完成</a:t>
            </a:r>
            <a:r>
              <a:rPr lang="en-US" altLang="zh-CN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a-b-c</a:t>
            </a: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调整。</a:t>
            </a:r>
            <a:endParaRPr lang="en-US" altLang="zh-CN" sz="900" dirty="0">
              <a:solidFill>
                <a:prstClr val="black">
                  <a:lumMod val="95000"/>
                  <a:lumOff val="5000"/>
                </a:prst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  <a:defRPr/>
            </a:pP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全周连续小幅横盘下跌，但未破</a:t>
            </a:r>
            <a:r>
              <a:rPr lang="en-US" altLang="zh-CN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：形成周跌孕柱，若跟在周连阳之后，是介入机会。</a:t>
            </a:r>
            <a:endParaRPr lang="en-US" altLang="zh-CN" sz="900" dirty="0">
              <a:solidFill>
                <a:prstClr val="black">
                  <a:lumMod val="95000"/>
                  <a:lumOff val="5000"/>
                </a:prst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  <a:defRPr/>
            </a:pP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周中下破</a:t>
            </a:r>
            <a:r>
              <a:rPr lang="en-US" altLang="zh-CN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形成</a:t>
            </a:r>
            <a:r>
              <a:rPr lang="en-US" altLang="zh-CN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</a:t>
            </a: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字反转：周类下影线，可能是上升中继，也可能是下跌前兆。</a:t>
            </a:r>
            <a:endParaRPr lang="en-US" altLang="zh-CN" sz="900" dirty="0">
              <a:solidFill>
                <a:prstClr val="black">
                  <a:lumMod val="95000"/>
                  <a:lumOff val="5000"/>
                </a:prst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  <a:defRPr/>
            </a:pP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周前部分在横盘，仅最后一日下跌：形成周上影线，若跟在周连阳之后，是介入机会。</a:t>
            </a:r>
            <a:endParaRPr lang="en-US" altLang="zh-CN" sz="900" dirty="0">
              <a:solidFill>
                <a:prstClr val="black">
                  <a:lumMod val="95000"/>
                  <a:lumOff val="5000"/>
                </a:prst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marR="0" lvl="1" indent="-1714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仅后半周在</a:t>
            </a:r>
            <a:r>
              <a:rPr lang="en-US" altLang="zh-CN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之上：向上状态，下周可能冲高</a:t>
            </a:r>
            <a:r>
              <a:rPr kumimoji="0" lang="zh-CN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0" lang="en-US" altLang="zh-CN" sz="9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  <a:defRPr/>
            </a:pP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仅后半周在</a:t>
            </a:r>
            <a:r>
              <a:rPr lang="en-US" altLang="zh-CN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prstClr val="black">
                    <a:lumMod val="95000"/>
                    <a:lumOff val="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之下：向下状态。</a:t>
            </a:r>
            <a:endParaRPr lang="en-US" altLang="zh-CN" sz="900" dirty="0">
              <a:solidFill>
                <a:prstClr val="black">
                  <a:lumMod val="95000"/>
                  <a:lumOff val="5000"/>
                </a:prst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marR="0" lvl="1" indent="-1714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zh-CN" sz="9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F566B1BC-C27B-4B94-A322-D5AF44894564}"/>
              </a:ext>
            </a:extLst>
          </p:cNvPr>
          <p:cNvSpPr/>
          <p:nvPr/>
        </p:nvSpPr>
        <p:spPr>
          <a:xfrm>
            <a:off x="6096002" y="1887996"/>
            <a:ext cx="6095998" cy="93538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日劫相关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：日级别各种劫对应的周类走势与（面临的首要问题）：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层主：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问题在于，不敢等待冲高，遇到连阳或升排就希望止盈，或者遇到回撤就想退出。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层再：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/DXZB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/DXAB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/DXAC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劫，对应周级别图形都属于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之上调整（不会出现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劫），担心尾诱（如已经历完整弧则一定要轻仓）。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层初：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/DXBC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劫属于大调整，情况存在很多不确定性，在周级别图形有可能已下破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很久，唯一可取的情况是配合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正交情况下短暂下破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并快速恢复。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2" name="组合 61">
            <a:extLst>
              <a:ext uri="{FF2B5EF4-FFF2-40B4-BE49-F238E27FC236}">
                <a16:creationId xmlns:a16="http://schemas.microsoft.com/office/drawing/2014/main" id="{690C834E-357F-3C0F-9189-30EA32851272}"/>
              </a:ext>
            </a:extLst>
          </p:cNvPr>
          <p:cNvGrpSpPr/>
          <p:nvPr/>
        </p:nvGrpSpPr>
        <p:grpSpPr>
          <a:xfrm>
            <a:off x="10320128" y="2962358"/>
            <a:ext cx="898835" cy="420766"/>
            <a:chOff x="12569952" y="5990933"/>
            <a:chExt cx="1304544" cy="692150"/>
          </a:xfrm>
        </p:grpSpPr>
        <p:cxnSp>
          <p:nvCxnSpPr>
            <p:cNvPr id="63" name="直接连接符 62">
              <a:extLst>
                <a:ext uri="{FF2B5EF4-FFF2-40B4-BE49-F238E27FC236}">
                  <a16:creationId xmlns:a16="http://schemas.microsoft.com/office/drawing/2014/main" id="{C3BB0D9A-033E-68B7-20A7-B86F79D62F87}"/>
                </a:ext>
              </a:extLst>
            </p:cNvPr>
            <p:cNvCxnSpPr/>
            <p:nvPr/>
          </p:nvCxnSpPr>
          <p:spPr>
            <a:xfrm flipV="1">
              <a:off x="12569952" y="6449568"/>
              <a:ext cx="1304544" cy="20726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任意多边形: 形状 63">
              <a:extLst>
                <a:ext uri="{FF2B5EF4-FFF2-40B4-BE49-F238E27FC236}">
                  <a16:creationId xmlns:a16="http://schemas.microsoft.com/office/drawing/2014/main" id="{902608DF-3E7B-1D42-55F4-9778A0848FDA}"/>
                </a:ext>
              </a:extLst>
            </p:cNvPr>
            <p:cNvSpPr/>
            <p:nvPr/>
          </p:nvSpPr>
          <p:spPr>
            <a:xfrm>
              <a:off x="12704064" y="6132576"/>
              <a:ext cx="829056" cy="353568"/>
            </a:xfrm>
            <a:custGeom>
              <a:avLst/>
              <a:gdLst>
                <a:gd name="connsiteX0" fmla="*/ 0 w 829056"/>
                <a:gd name="connsiteY0" fmla="*/ 353568 h 353568"/>
                <a:gd name="connsiteX1" fmla="*/ 829056 w 829056"/>
                <a:gd name="connsiteY1" fmla="*/ 0 h 35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9056" h="353568">
                  <a:moveTo>
                    <a:pt x="0" y="353568"/>
                  </a:moveTo>
                  <a:lnTo>
                    <a:pt x="829056" y="0"/>
                  </a:lnTo>
                </a:path>
              </a:pathLst>
            </a:cu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65" name="任意多边形: 形状 64">
              <a:extLst>
                <a:ext uri="{FF2B5EF4-FFF2-40B4-BE49-F238E27FC236}">
                  <a16:creationId xmlns:a16="http://schemas.microsoft.com/office/drawing/2014/main" id="{BCA3CB55-8EA1-EF73-4749-DC823730ACDC}"/>
                </a:ext>
              </a:extLst>
            </p:cNvPr>
            <p:cNvSpPr/>
            <p:nvPr/>
          </p:nvSpPr>
          <p:spPr>
            <a:xfrm>
              <a:off x="12712580" y="5990933"/>
              <a:ext cx="820540" cy="483019"/>
            </a:xfrm>
            <a:custGeom>
              <a:avLst/>
              <a:gdLst>
                <a:gd name="connsiteX0" fmla="*/ 3676 w 820540"/>
                <a:gd name="connsiteY0" fmla="*/ 483019 h 483019"/>
                <a:gd name="connsiteX1" fmla="*/ 52444 w 820540"/>
                <a:gd name="connsiteY1" fmla="*/ 361099 h 483019"/>
                <a:gd name="connsiteX2" fmla="*/ 369436 w 820540"/>
                <a:gd name="connsiteY2" fmla="*/ 7531 h 483019"/>
                <a:gd name="connsiteX3" fmla="*/ 820540 w 820540"/>
                <a:gd name="connsiteY3" fmla="*/ 153835 h 483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0540" h="483019">
                  <a:moveTo>
                    <a:pt x="3676" y="483019"/>
                  </a:moveTo>
                  <a:cubicBezTo>
                    <a:pt x="-2420" y="461683"/>
                    <a:pt x="-8516" y="440347"/>
                    <a:pt x="52444" y="361099"/>
                  </a:cubicBezTo>
                  <a:cubicBezTo>
                    <a:pt x="113404" y="281851"/>
                    <a:pt x="241420" y="42075"/>
                    <a:pt x="369436" y="7531"/>
                  </a:cubicBezTo>
                  <a:cubicBezTo>
                    <a:pt x="497452" y="-27013"/>
                    <a:pt x="658996" y="63411"/>
                    <a:pt x="820540" y="153835"/>
                  </a:cubicBezTo>
                </a:path>
              </a:pathLst>
            </a:cu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6" name="任意多边形: 形状 65">
              <a:extLst>
                <a:ext uri="{FF2B5EF4-FFF2-40B4-BE49-F238E27FC236}">
                  <a16:creationId xmlns:a16="http://schemas.microsoft.com/office/drawing/2014/main" id="{CD9AAB15-98DD-2A68-BEFC-6FD3DD66B703}"/>
                </a:ext>
              </a:extLst>
            </p:cNvPr>
            <p:cNvSpPr/>
            <p:nvPr/>
          </p:nvSpPr>
          <p:spPr>
            <a:xfrm>
              <a:off x="12704064" y="6132576"/>
              <a:ext cx="829056" cy="341376"/>
            </a:xfrm>
            <a:custGeom>
              <a:avLst/>
              <a:gdLst>
                <a:gd name="connsiteX0" fmla="*/ 0 w 829056"/>
                <a:gd name="connsiteY0" fmla="*/ 341376 h 341376"/>
                <a:gd name="connsiteX1" fmla="*/ 658368 w 829056"/>
                <a:gd name="connsiteY1" fmla="*/ 268224 h 341376"/>
                <a:gd name="connsiteX2" fmla="*/ 829056 w 829056"/>
                <a:gd name="connsiteY2" fmla="*/ 0 h 34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29056" h="341376">
                  <a:moveTo>
                    <a:pt x="0" y="341376"/>
                  </a:moveTo>
                  <a:cubicBezTo>
                    <a:pt x="260096" y="333248"/>
                    <a:pt x="520192" y="325120"/>
                    <a:pt x="658368" y="268224"/>
                  </a:cubicBezTo>
                  <a:cubicBezTo>
                    <a:pt x="796544" y="211328"/>
                    <a:pt x="812800" y="105664"/>
                    <a:pt x="829056" y="0"/>
                  </a:cubicBezTo>
                </a:path>
              </a:pathLst>
            </a:cu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7" name="任意多边形: 形状 66">
              <a:extLst>
                <a:ext uri="{FF2B5EF4-FFF2-40B4-BE49-F238E27FC236}">
                  <a16:creationId xmlns:a16="http://schemas.microsoft.com/office/drawing/2014/main" id="{1B87B9D1-D1BA-84D8-737D-0BCF3077575B}"/>
                </a:ext>
              </a:extLst>
            </p:cNvPr>
            <p:cNvSpPr/>
            <p:nvPr/>
          </p:nvSpPr>
          <p:spPr>
            <a:xfrm>
              <a:off x="12704064" y="6132576"/>
              <a:ext cx="829545" cy="550507"/>
            </a:xfrm>
            <a:custGeom>
              <a:avLst/>
              <a:gdLst>
                <a:gd name="connsiteX0" fmla="*/ 0 w 829545"/>
                <a:gd name="connsiteY0" fmla="*/ 341376 h 550507"/>
                <a:gd name="connsiteX1" fmla="*/ 694944 w 829545"/>
                <a:gd name="connsiteY1" fmla="*/ 536448 h 550507"/>
                <a:gd name="connsiteX2" fmla="*/ 829056 w 829545"/>
                <a:gd name="connsiteY2" fmla="*/ 0 h 550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29545" h="550507">
                  <a:moveTo>
                    <a:pt x="0" y="341376"/>
                  </a:moveTo>
                  <a:cubicBezTo>
                    <a:pt x="278384" y="467360"/>
                    <a:pt x="556768" y="593344"/>
                    <a:pt x="694944" y="536448"/>
                  </a:cubicBezTo>
                  <a:cubicBezTo>
                    <a:pt x="833120" y="479552"/>
                    <a:pt x="831088" y="239776"/>
                    <a:pt x="829056" y="0"/>
                  </a:cubicBezTo>
                </a:path>
              </a:pathLst>
            </a:cu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9" name="组合 68">
            <a:extLst>
              <a:ext uri="{FF2B5EF4-FFF2-40B4-BE49-F238E27FC236}">
                <a16:creationId xmlns:a16="http://schemas.microsoft.com/office/drawing/2014/main" id="{517208FE-214B-9F71-46DF-B5F5F827BADC}"/>
              </a:ext>
            </a:extLst>
          </p:cNvPr>
          <p:cNvGrpSpPr/>
          <p:nvPr/>
        </p:nvGrpSpPr>
        <p:grpSpPr>
          <a:xfrm>
            <a:off x="10983754" y="2876973"/>
            <a:ext cx="1184605" cy="550508"/>
            <a:chOff x="14056019" y="5901367"/>
            <a:chExt cx="1719302" cy="825838"/>
          </a:xfrm>
        </p:grpSpPr>
        <p:cxnSp>
          <p:nvCxnSpPr>
            <p:cNvPr id="70" name="直接连接符 69">
              <a:extLst>
                <a:ext uri="{FF2B5EF4-FFF2-40B4-BE49-F238E27FC236}">
                  <a16:creationId xmlns:a16="http://schemas.microsoft.com/office/drawing/2014/main" id="{6A617EE0-0C1A-303B-E767-CD80FABC9E19}"/>
                </a:ext>
              </a:extLst>
            </p:cNvPr>
            <p:cNvCxnSpPr/>
            <p:nvPr/>
          </p:nvCxnSpPr>
          <p:spPr>
            <a:xfrm flipV="1">
              <a:off x="14470777" y="6449568"/>
              <a:ext cx="1304544" cy="20726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文本框 70">
              <a:extLst>
                <a:ext uri="{FF2B5EF4-FFF2-40B4-BE49-F238E27FC236}">
                  <a16:creationId xmlns:a16="http://schemas.microsoft.com/office/drawing/2014/main" id="{81772D48-7470-2D74-DC2B-54BA1E1AC264}"/>
                </a:ext>
              </a:extLst>
            </p:cNvPr>
            <p:cNvSpPr txBox="1"/>
            <p:nvPr/>
          </p:nvSpPr>
          <p:spPr>
            <a:xfrm>
              <a:off x="14056019" y="6246123"/>
              <a:ext cx="268113" cy="39245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任意多边形: 形状 71">
              <a:extLst>
                <a:ext uri="{FF2B5EF4-FFF2-40B4-BE49-F238E27FC236}">
                  <a16:creationId xmlns:a16="http://schemas.microsoft.com/office/drawing/2014/main" id="{35547BCF-3700-7C67-D22F-345397386166}"/>
                </a:ext>
              </a:extLst>
            </p:cNvPr>
            <p:cNvSpPr/>
            <p:nvPr/>
          </p:nvSpPr>
          <p:spPr>
            <a:xfrm>
              <a:off x="14618208" y="6108192"/>
              <a:ext cx="829056" cy="304800"/>
            </a:xfrm>
            <a:custGeom>
              <a:avLst/>
              <a:gdLst>
                <a:gd name="connsiteX0" fmla="*/ 0 w 829056"/>
                <a:gd name="connsiteY0" fmla="*/ 0 h 304800"/>
                <a:gd name="connsiteX1" fmla="*/ 829056 w 829056"/>
                <a:gd name="connsiteY1" fmla="*/ 304800 h 304800"/>
                <a:gd name="connsiteX2" fmla="*/ 829056 w 829056"/>
                <a:gd name="connsiteY2" fmla="*/ 304800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29056" h="304800">
                  <a:moveTo>
                    <a:pt x="0" y="0"/>
                  </a:moveTo>
                  <a:lnTo>
                    <a:pt x="829056" y="304800"/>
                  </a:lnTo>
                  <a:lnTo>
                    <a:pt x="829056" y="304800"/>
                  </a:lnTo>
                </a:path>
              </a:pathLst>
            </a:cu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3" name="任意多边形: 形状 72">
              <a:extLst>
                <a:ext uri="{FF2B5EF4-FFF2-40B4-BE49-F238E27FC236}">
                  <a16:creationId xmlns:a16="http://schemas.microsoft.com/office/drawing/2014/main" id="{A8F3AD8F-8E22-B83D-DC82-58CC44B18D46}"/>
                </a:ext>
              </a:extLst>
            </p:cNvPr>
            <p:cNvSpPr/>
            <p:nvPr/>
          </p:nvSpPr>
          <p:spPr>
            <a:xfrm>
              <a:off x="14642592" y="5901367"/>
              <a:ext cx="804672" cy="511625"/>
            </a:xfrm>
            <a:custGeom>
              <a:avLst/>
              <a:gdLst>
                <a:gd name="connsiteX0" fmla="*/ 0 w 804672"/>
                <a:gd name="connsiteY0" fmla="*/ 206825 h 511625"/>
                <a:gd name="connsiteX1" fmla="*/ 463296 w 804672"/>
                <a:gd name="connsiteY1" fmla="*/ 11753 h 511625"/>
                <a:gd name="connsiteX2" fmla="*/ 804672 w 804672"/>
                <a:gd name="connsiteY2" fmla="*/ 511625 h 511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4672" h="511625">
                  <a:moveTo>
                    <a:pt x="0" y="206825"/>
                  </a:moveTo>
                  <a:cubicBezTo>
                    <a:pt x="164592" y="83889"/>
                    <a:pt x="329184" y="-39047"/>
                    <a:pt x="463296" y="11753"/>
                  </a:cubicBezTo>
                  <a:cubicBezTo>
                    <a:pt x="597408" y="62553"/>
                    <a:pt x="701040" y="287089"/>
                    <a:pt x="804672" y="511625"/>
                  </a:cubicBezTo>
                </a:path>
              </a:pathLst>
            </a:cu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4" name="任意多边形: 形状 73">
              <a:extLst>
                <a:ext uri="{FF2B5EF4-FFF2-40B4-BE49-F238E27FC236}">
                  <a16:creationId xmlns:a16="http://schemas.microsoft.com/office/drawing/2014/main" id="{B1E75E78-E9D1-860B-4FC9-1426AA9433F5}"/>
                </a:ext>
              </a:extLst>
            </p:cNvPr>
            <p:cNvSpPr/>
            <p:nvPr/>
          </p:nvSpPr>
          <p:spPr>
            <a:xfrm>
              <a:off x="14642592" y="6120384"/>
              <a:ext cx="816864" cy="316799"/>
            </a:xfrm>
            <a:custGeom>
              <a:avLst/>
              <a:gdLst>
                <a:gd name="connsiteX0" fmla="*/ 0 w 816864"/>
                <a:gd name="connsiteY0" fmla="*/ 0 h 316799"/>
                <a:gd name="connsiteX1" fmla="*/ 268224 w 816864"/>
                <a:gd name="connsiteY1" fmla="*/ 280416 h 316799"/>
                <a:gd name="connsiteX2" fmla="*/ 816864 w 816864"/>
                <a:gd name="connsiteY2" fmla="*/ 304800 h 316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6864" h="316799">
                  <a:moveTo>
                    <a:pt x="0" y="0"/>
                  </a:moveTo>
                  <a:cubicBezTo>
                    <a:pt x="66040" y="114808"/>
                    <a:pt x="132080" y="229616"/>
                    <a:pt x="268224" y="280416"/>
                  </a:cubicBezTo>
                  <a:cubicBezTo>
                    <a:pt x="404368" y="331216"/>
                    <a:pt x="610616" y="318008"/>
                    <a:pt x="816864" y="304800"/>
                  </a:cubicBezTo>
                </a:path>
              </a:pathLst>
            </a:cu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5" name="任意多边形: 形状 74">
              <a:extLst>
                <a:ext uri="{FF2B5EF4-FFF2-40B4-BE49-F238E27FC236}">
                  <a16:creationId xmlns:a16="http://schemas.microsoft.com/office/drawing/2014/main" id="{CB632D1C-B0F5-B28C-4712-5BA3A34781A9}"/>
                </a:ext>
              </a:extLst>
            </p:cNvPr>
            <p:cNvSpPr/>
            <p:nvPr/>
          </p:nvSpPr>
          <p:spPr>
            <a:xfrm>
              <a:off x="14630400" y="6096000"/>
              <a:ext cx="841248" cy="631205"/>
            </a:xfrm>
            <a:custGeom>
              <a:avLst/>
              <a:gdLst>
                <a:gd name="connsiteX0" fmla="*/ 0 w 841248"/>
                <a:gd name="connsiteY0" fmla="*/ 0 h 631205"/>
                <a:gd name="connsiteX1" fmla="*/ 316992 w 841248"/>
                <a:gd name="connsiteY1" fmla="*/ 621792 h 631205"/>
                <a:gd name="connsiteX2" fmla="*/ 841248 w 841248"/>
                <a:gd name="connsiteY2" fmla="*/ 316992 h 63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1248" h="631205">
                  <a:moveTo>
                    <a:pt x="0" y="0"/>
                  </a:moveTo>
                  <a:cubicBezTo>
                    <a:pt x="88392" y="284480"/>
                    <a:pt x="176784" y="568960"/>
                    <a:pt x="316992" y="621792"/>
                  </a:cubicBezTo>
                  <a:cubicBezTo>
                    <a:pt x="457200" y="674624"/>
                    <a:pt x="649224" y="495808"/>
                    <a:pt x="841248" y="316992"/>
                  </a:cubicBezTo>
                </a:path>
              </a:pathLst>
            </a:cu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7885240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8DFF86-D52B-BD62-B031-6FD55E523F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5CA6C41-3AB8-CEFA-5865-F024D269F5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日类势头判断工具汇总（适用于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可推广至所有区域）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如何识别日类上升势头。对于日类，每柱评估是否失势？对于阳柱，关注是否已冲高，进行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减仓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持仓；对于阴柱，关注是否已失势，进行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清仓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持仓。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771BF69E-E497-4C6D-5158-A6632EE4C8F2}"/>
              </a:ext>
            </a:extLst>
          </p:cNvPr>
          <p:cNvSpPr txBox="1"/>
          <p:nvPr/>
        </p:nvSpPr>
        <p:spPr>
          <a:xfrm>
            <a:off x="0" y="703087"/>
            <a:ext cx="12189600" cy="1015663"/>
          </a:xfrm>
          <a:prstGeom prst="rect">
            <a:avLst/>
          </a:prstGeom>
          <a:solidFill>
            <a:schemeClr val="accent6"/>
          </a:solidFill>
        </p:spPr>
        <p:txBody>
          <a:bodyPr wrap="square">
            <a:spAutoFit/>
          </a:bodyPr>
          <a:lstStyle/>
          <a:p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指标之间的衍生关系：柱排（底层驱动）⇒ 地型（环境）⇒均线（核心）⇒顶型（子集）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判定指标的优先级为：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[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宽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分类标准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&gt;[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顶型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 &gt;[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](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,DJC)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管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&gt; [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]DXAB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&gt;[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柱与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丘的关系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&gt; 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地型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&gt;[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排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底层驱动。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判断日类势头的工具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】[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触顶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均线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是内在统一，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均线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更基础，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触顶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是子集。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柱与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的关系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代表进入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管哼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DJA)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，但存在非常多虚假突破。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管哼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DJA)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是主升阶段的操作工具。但不应以下破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作为止损依据，应该分为两部分：浮仓以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止损，可以进行逆踢；底仓以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止损，相信神秘力量。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触顶哼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代表达到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管哼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DJA)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的上沿，属于管的一部分。且触哼后不代表仍会继续上升，最核心仍然是依赖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寻找上升机会。顶型并不重要，只要多头排列都会形成触顶并合顶。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7" name="表格 6">
            <a:extLst>
              <a:ext uri="{FF2B5EF4-FFF2-40B4-BE49-F238E27FC236}">
                <a16:creationId xmlns:a16="http://schemas.microsoft.com/office/drawing/2014/main" id="{722BB713-E2E6-A51A-D820-A812B3253675}"/>
              </a:ext>
            </a:extLst>
          </p:cNvPr>
          <p:cNvGraphicFramePr>
            <a:graphicFrameLocks noGrp="1"/>
          </p:cNvGraphicFramePr>
          <p:nvPr/>
        </p:nvGraphicFramePr>
        <p:xfrm>
          <a:off x="0" y="7011583"/>
          <a:ext cx="12192000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3564">
                  <a:extLst>
                    <a:ext uri="{9D8B030D-6E8A-4147-A177-3AD203B41FA5}">
                      <a16:colId xmlns:a16="http://schemas.microsoft.com/office/drawing/2014/main" val="3028481551"/>
                    </a:ext>
                  </a:extLst>
                </a:gridCol>
                <a:gridCol w="1627549">
                  <a:extLst>
                    <a:ext uri="{9D8B030D-6E8A-4147-A177-3AD203B41FA5}">
                      <a16:colId xmlns:a16="http://schemas.microsoft.com/office/drawing/2014/main" val="1596358928"/>
                    </a:ext>
                  </a:extLst>
                </a:gridCol>
                <a:gridCol w="2692887">
                  <a:extLst>
                    <a:ext uri="{9D8B030D-6E8A-4147-A177-3AD203B41FA5}">
                      <a16:colId xmlns:a16="http://schemas.microsoft.com/office/drawing/2014/main" val="3554010531"/>
                    </a:ext>
                  </a:extLst>
                </a:gridCol>
                <a:gridCol w="1897387">
                  <a:extLst>
                    <a:ext uri="{9D8B030D-6E8A-4147-A177-3AD203B41FA5}">
                      <a16:colId xmlns:a16="http://schemas.microsoft.com/office/drawing/2014/main" val="250037086"/>
                    </a:ext>
                  </a:extLst>
                </a:gridCol>
                <a:gridCol w="2066109">
                  <a:extLst>
                    <a:ext uri="{9D8B030D-6E8A-4147-A177-3AD203B41FA5}">
                      <a16:colId xmlns:a16="http://schemas.microsoft.com/office/drawing/2014/main" val="2455355367"/>
                    </a:ext>
                  </a:extLst>
                </a:gridCol>
                <a:gridCol w="2894504">
                  <a:extLst>
                    <a:ext uri="{9D8B030D-6E8A-4147-A177-3AD203B41FA5}">
                      <a16:colId xmlns:a16="http://schemas.microsoft.com/office/drawing/2014/main" val="189879128"/>
                    </a:ext>
                  </a:extLst>
                </a:gridCol>
              </a:tblGrid>
              <a:tr h="163135">
                <a:tc gridSpan="6"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日类风控指标变化范围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 altLang="en-US" sz="11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11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11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11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11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2878276"/>
                  </a:ext>
                </a:extLst>
              </a:tr>
              <a:tr h="163135">
                <a:tc rowSpan="2"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日核心指标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指标变量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值变化范围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11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11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11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5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375960"/>
                  </a:ext>
                </a:extLst>
              </a:tr>
              <a:tr h="163135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值破下限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值突破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值正常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值破上限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6871648"/>
                  </a:ext>
                </a:extLst>
              </a:tr>
              <a:tr h="163135"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宽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日偏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BS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JC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之下：强制退出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[0,5]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[5,20]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：底仓勿重仓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701293"/>
                  </a:ext>
                </a:extLst>
              </a:tr>
              <a:tr h="163135"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挑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日偏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BS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JA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之下：可能是失势标志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(0,5)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：尝试止盈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8996993"/>
                  </a:ext>
                </a:extLst>
              </a:tr>
              <a:tr h="163135"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先于均线逆转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跌排：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之上为机会；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之下为失势。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人排：持有底仓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升排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升排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。尝试止盈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2534614"/>
                  </a:ext>
                </a:extLst>
              </a:tr>
            </a:tbl>
          </a:graphicData>
        </a:graphic>
      </p:graphicFrame>
      <p:sp>
        <p:nvSpPr>
          <p:cNvPr id="3" name="文本框 2">
            <a:extLst>
              <a:ext uri="{FF2B5EF4-FFF2-40B4-BE49-F238E27FC236}">
                <a16:creationId xmlns:a16="http://schemas.microsoft.com/office/drawing/2014/main" id="{3EAB2171-CDC8-BD7F-E723-C80E84EB9C75}"/>
              </a:ext>
            </a:extLst>
          </p:cNvPr>
          <p:cNvSpPr txBox="1"/>
          <p:nvPr/>
        </p:nvSpPr>
        <p:spPr>
          <a:xfrm>
            <a:off x="0" y="5965448"/>
            <a:ext cx="12192000" cy="892552"/>
          </a:xfrm>
          <a:prstGeom prst="rect">
            <a:avLst/>
          </a:prstGeom>
          <a:solidFill>
            <a:schemeClr val="accent6">
              <a:lumMod val="50000"/>
              <a:alpha val="92000"/>
            </a:schemeClr>
          </a:solidFill>
        </p:spPr>
        <p:txBody>
          <a:bodyPr wrap="square">
            <a:spAutoFit/>
          </a:bodyPr>
          <a:lstStyle/>
          <a:p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日类势头的判断工具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已废弃工具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弧型：根据丘幅度与角度进行分类，不同丘弧型应用不同的操盘策略。特别关注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][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已整弧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宽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丘宽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要秉持中庸之道，不要参与宽大于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。按管宽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[DS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JC]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：下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⇒0(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⇒5(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低波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⇒20(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高波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⇒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超（只出不进）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当管宽小于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时，不区分柱排，只要在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之上，任何柱排都可持有。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当管宽介于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之间，属于未冲高情况。不破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不退出，即下破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不要退出；退出后再站上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要进入。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当管宽大于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后，属于冲高情况，满足止盈条件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高偏宽连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。在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之上出现跌排或下破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都是提前卖出信号。如中途止盈，必须保留底仓，只要未下破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不要全部退出。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0F811476-1CB4-3DFF-EC88-4C68A4F10408}"/>
              </a:ext>
            </a:extLst>
          </p:cNvPr>
          <p:cNvSpPr/>
          <p:nvPr/>
        </p:nvSpPr>
        <p:spPr>
          <a:xfrm>
            <a:off x="0" y="1695320"/>
            <a:ext cx="12189600" cy="3096000"/>
          </a:xfrm>
          <a:prstGeom prst="rect">
            <a:avLst/>
          </a:prstGeom>
          <a:solidFill>
            <a:srgbClr val="B0D597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日类势头的判断工具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之上判断势头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即继续上涨的可能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根据（日层类</a:t>
            </a:r>
            <a:r>
              <a:rPr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日护型</a:t>
            </a:r>
            <a:r>
              <a:rPr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日柱排</a:t>
            </a:r>
            <a:r>
              <a:rPr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日顶型），在日管</a:t>
            </a:r>
            <a:r>
              <a:rPr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,DJB)</a:t>
            </a:r>
            <a:r>
              <a: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中锁定日类上涨机会。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日层类：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根据不同层类，观察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DJCBA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是否呈放射状，制定不同的退出策略。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主层：若呈放射状，适用于按照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进行止损；其余层类应按照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进行止损。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再层：如果已冲高或已经历完整丘，很可能诱多。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 DXAB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上涨阶段主要集中于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护线增强持仓信心，不破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则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不会负交；从而破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才允许退出。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止损：当判断错误，预测下个日柱为阳柱但实际为阴柱，以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作为止损线。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之上，可在任意时点介入。即使是首上破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，但在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之上已存在多柱，不需要以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两柱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作为突破标志。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更精细化处理，若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跌连得到支撑或出现单阳，则应当介入。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 DJA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可选状态包括：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之上（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后第二柱价上顶（劫恢复的典型形态）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危险状态包括：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下破两柱则处于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逆踢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状态，可提前退出。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首上破（不要偏离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较大）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排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柱排是底层驱动，不能作为判定指标。在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之上任何排都可接受；其余情况最好是升排。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当周五柱展开：要能够在日线图上看到周柱。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跌排的应用场景：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之上只有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BSHA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较大时参考跌排；其余只在下破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时看跌排。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较大：主升波段不含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跌吞，出现跌排是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丘回归标志。跌排之后可能仍然会震荡上行，但主升已经结束。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较小：刚突破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时，五柱以内可以出现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跌吞，且此跌排不应下破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反应速度：柱排反应速度最快，特别是当走势柱排可以区分为明显的（快速连升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缓慢震荡下跌）（快速连跌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缓慢回升）特征时，柱排快于均线。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](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,DJC)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管：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周柱在日类图形的展开。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顶型：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合顶是判断主升波段的重要工具，触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a&amp;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是主升聚集的特征。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合顶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b]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都是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DJA]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的子集。</a:t>
            </a:r>
            <a:r>
              <a:rPr lang="zh-CN" altLang="en-US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重点关注连续两柱触顶或触哼的情况。</a:t>
            </a:r>
            <a:endParaRPr lang="en-US" altLang="zh-CN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顶型分类：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（顶≥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-2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（合顶且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=-3-4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（离顶）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合顶的优先级高于升排，只有不断创新高（触顶或触哼）的升排才是真正的上升阶段，离顶阶段或合顶冲高后的升排可能属于诱多；最佳状态是合顶且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日偏顶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JA≤5)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合顶是主升阶段特征。但合顶不是上升的必要条件，也不是充分条件。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8" name="图示 7">
            <a:extLst>
              <a:ext uri="{FF2B5EF4-FFF2-40B4-BE49-F238E27FC236}">
                <a16:creationId xmlns:a16="http://schemas.microsoft.com/office/drawing/2014/main" id="{61AF424C-03A2-749C-159F-9D73B8C40C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92372677"/>
              </p:ext>
            </p:extLst>
          </p:nvPr>
        </p:nvGraphicFramePr>
        <p:xfrm>
          <a:off x="8796259" y="1946146"/>
          <a:ext cx="3363049" cy="237439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grpSp>
        <p:nvGrpSpPr>
          <p:cNvPr id="35" name="组合 34">
            <a:extLst>
              <a:ext uri="{FF2B5EF4-FFF2-40B4-BE49-F238E27FC236}">
                <a16:creationId xmlns:a16="http://schemas.microsoft.com/office/drawing/2014/main" id="{757B848C-9C8B-049C-B657-4A4F44CE2E8E}"/>
              </a:ext>
            </a:extLst>
          </p:cNvPr>
          <p:cNvGrpSpPr/>
          <p:nvPr/>
        </p:nvGrpSpPr>
        <p:grpSpPr>
          <a:xfrm>
            <a:off x="9304020" y="4754880"/>
            <a:ext cx="2819400" cy="1209245"/>
            <a:chOff x="10155974" y="919521"/>
            <a:chExt cx="4545454" cy="2158790"/>
          </a:xfrm>
        </p:grpSpPr>
        <p:cxnSp>
          <p:nvCxnSpPr>
            <p:cNvPr id="12" name="直接连接符 11">
              <a:extLst>
                <a:ext uri="{FF2B5EF4-FFF2-40B4-BE49-F238E27FC236}">
                  <a16:creationId xmlns:a16="http://schemas.microsoft.com/office/drawing/2014/main" id="{4EDC58FA-276C-BEE0-6902-D60B23F4C9EB}"/>
                </a:ext>
              </a:extLst>
            </p:cNvPr>
            <p:cNvCxnSpPr>
              <a:cxnSpLocks/>
            </p:cNvCxnSpPr>
            <p:nvPr/>
          </p:nvCxnSpPr>
          <p:spPr>
            <a:xfrm>
              <a:off x="11132728" y="1224111"/>
              <a:ext cx="0" cy="1854200"/>
            </a:xfrm>
            <a:prstGeom prst="line">
              <a:avLst/>
            </a:prstGeom>
            <a:ln w="5080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连接符 12">
              <a:extLst>
                <a:ext uri="{FF2B5EF4-FFF2-40B4-BE49-F238E27FC236}">
                  <a16:creationId xmlns:a16="http://schemas.microsoft.com/office/drawing/2014/main" id="{D5B37AD6-EB35-AE83-4087-A88D6BD7925D}"/>
                </a:ext>
              </a:extLst>
            </p:cNvPr>
            <p:cNvCxnSpPr>
              <a:cxnSpLocks/>
            </p:cNvCxnSpPr>
            <p:nvPr/>
          </p:nvCxnSpPr>
          <p:spPr>
            <a:xfrm>
              <a:off x="12123328" y="1224111"/>
              <a:ext cx="0" cy="1854200"/>
            </a:xfrm>
            <a:prstGeom prst="line">
              <a:avLst/>
            </a:prstGeom>
            <a:ln w="5080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连接符 13">
              <a:extLst>
                <a:ext uri="{FF2B5EF4-FFF2-40B4-BE49-F238E27FC236}">
                  <a16:creationId xmlns:a16="http://schemas.microsoft.com/office/drawing/2014/main" id="{ADBC15F0-C762-B579-4893-799D0A55DCCD}"/>
                </a:ext>
              </a:extLst>
            </p:cNvPr>
            <p:cNvCxnSpPr>
              <a:cxnSpLocks/>
            </p:cNvCxnSpPr>
            <p:nvPr/>
          </p:nvCxnSpPr>
          <p:spPr>
            <a:xfrm>
              <a:off x="13190128" y="1224111"/>
              <a:ext cx="0" cy="1854200"/>
            </a:xfrm>
            <a:prstGeom prst="line">
              <a:avLst/>
            </a:prstGeom>
            <a:ln w="5080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接连接符 14">
              <a:extLst>
                <a:ext uri="{FF2B5EF4-FFF2-40B4-BE49-F238E27FC236}">
                  <a16:creationId xmlns:a16="http://schemas.microsoft.com/office/drawing/2014/main" id="{217FC879-9B3B-FDF9-54F6-A76415F676CE}"/>
                </a:ext>
              </a:extLst>
            </p:cNvPr>
            <p:cNvCxnSpPr>
              <a:cxnSpLocks/>
            </p:cNvCxnSpPr>
            <p:nvPr/>
          </p:nvCxnSpPr>
          <p:spPr>
            <a:xfrm>
              <a:off x="14295028" y="1224111"/>
              <a:ext cx="0" cy="1854200"/>
            </a:xfrm>
            <a:prstGeom prst="line">
              <a:avLst/>
            </a:prstGeom>
            <a:ln w="5080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接连接符 15">
              <a:extLst>
                <a:ext uri="{FF2B5EF4-FFF2-40B4-BE49-F238E27FC236}">
                  <a16:creationId xmlns:a16="http://schemas.microsoft.com/office/drawing/2014/main" id="{06DEF4F0-78A1-B1DA-A0FE-1E1D55C58D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523128" y="1224111"/>
              <a:ext cx="2082800" cy="1443899"/>
            </a:xfrm>
            <a:prstGeom prst="line">
              <a:avLst/>
            </a:prstGeom>
            <a:ln w="25400">
              <a:solidFill>
                <a:schemeClr val="accent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DE15544F-A64C-F6D5-8E7C-7026025896F9}"/>
                </a:ext>
              </a:extLst>
            </p:cNvPr>
            <p:cNvSpPr/>
            <p:nvPr/>
          </p:nvSpPr>
          <p:spPr>
            <a:xfrm>
              <a:off x="10954928" y="1598864"/>
              <a:ext cx="3746500" cy="1161947"/>
            </a:xfrm>
            <a:custGeom>
              <a:avLst/>
              <a:gdLst>
                <a:gd name="connsiteX0" fmla="*/ 0 w 3746500"/>
                <a:gd name="connsiteY0" fmla="*/ 1161947 h 1161947"/>
                <a:gd name="connsiteX1" fmla="*/ 1168400 w 3746500"/>
                <a:gd name="connsiteY1" fmla="*/ 222147 h 1161947"/>
                <a:gd name="connsiteX2" fmla="*/ 2222500 w 3746500"/>
                <a:gd name="connsiteY2" fmla="*/ 1098447 h 1161947"/>
                <a:gd name="connsiteX3" fmla="*/ 3314700 w 3746500"/>
                <a:gd name="connsiteY3" fmla="*/ 145947 h 1161947"/>
                <a:gd name="connsiteX4" fmla="*/ 3746500 w 3746500"/>
                <a:gd name="connsiteY4" fmla="*/ 18947 h 116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46500" h="1161947">
                  <a:moveTo>
                    <a:pt x="0" y="1161947"/>
                  </a:moveTo>
                  <a:cubicBezTo>
                    <a:pt x="398991" y="697338"/>
                    <a:pt x="797983" y="232730"/>
                    <a:pt x="1168400" y="222147"/>
                  </a:cubicBezTo>
                  <a:cubicBezTo>
                    <a:pt x="1538817" y="211564"/>
                    <a:pt x="1864783" y="1111147"/>
                    <a:pt x="2222500" y="1098447"/>
                  </a:cubicBezTo>
                  <a:cubicBezTo>
                    <a:pt x="2580217" y="1085747"/>
                    <a:pt x="3060700" y="325864"/>
                    <a:pt x="3314700" y="145947"/>
                  </a:cubicBezTo>
                  <a:cubicBezTo>
                    <a:pt x="3568700" y="-33970"/>
                    <a:pt x="3657600" y="-7512"/>
                    <a:pt x="3746500" y="18947"/>
                  </a:cubicBezTo>
                </a:path>
              </a:pathLst>
            </a:custGeom>
            <a:noFill/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" name="文本框 17">
              <a:extLst>
                <a:ext uri="{FF2B5EF4-FFF2-40B4-BE49-F238E27FC236}">
                  <a16:creationId xmlns:a16="http://schemas.microsoft.com/office/drawing/2014/main" id="{70B167A9-5365-FE0D-1760-8B9064599836}"/>
                </a:ext>
              </a:extLst>
            </p:cNvPr>
            <p:cNvSpPr txBox="1"/>
            <p:nvPr/>
          </p:nvSpPr>
          <p:spPr>
            <a:xfrm>
              <a:off x="10155974" y="2511694"/>
              <a:ext cx="443355" cy="249118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zh-CN" altLang="en-US" sz="12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哼</a:t>
              </a:r>
            </a:p>
          </p:txBody>
        </p:sp>
        <p:sp>
          <p:nvSpPr>
            <p:cNvPr id="19" name="文本框 18">
              <a:extLst>
                <a:ext uri="{FF2B5EF4-FFF2-40B4-BE49-F238E27FC236}">
                  <a16:creationId xmlns:a16="http://schemas.microsoft.com/office/drawing/2014/main" id="{8A0C47A8-15CF-CBBC-7385-9EA11074104D}"/>
                </a:ext>
              </a:extLst>
            </p:cNvPr>
            <p:cNvSpPr txBox="1"/>
            <p:nvPr/>
          </p:nvSpPr>
          <p:spPr>
            <a:xfrm>
              <a:off x="11325918" y="919521"/>
              <a:ext cx="665032" cy="249118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触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哼</a:t>
              </a:r>
            </a:p>
          </p:txBody>
        </p:sp>
        <p:sp>
          <p:nvSpPr>
            <p:cNvPr id="20" name="文本框 19">
              <a:extLst>
                <a:ext uri="{FF2B5EF4-FFF2-40B4-BE49-F238E27FC236}">
                  <a16:creationId xmlns:a16="http://schemas.microsoft.com/office/drawing/2014/main" id="{8AE77D62-09F8-4C97-9618-6C1586D4C7A6}"/>
                </a:ext>
              </a:extLst>
            </p:cNvPr>
            <p:cNvSpPr txBox="1"/>
            <p:nvPr/>
          </p:nvSpPr>
          <p:spPr>
            <a:xfrm>
              <a:off x="12765084" y="919521"/>
              <a:ext cx="886709" cy="249118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触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哼未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58342246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591C08-AB8E-7000-109B-3C14747B64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>
            <a:extLst>
              <a:ext uri="{FF2B5EF4-FFF2-40B4-BE49-F238E27FC236}">
                <a16:creationId xmlns:a16="http://schemas.microsoft.com/office/drawing/2014/main" id="{9D6EA3E1-9FFB-C0C7-6209-9DE10EA97BAD}"/>
              </a:ext>
            </a:extLst>
          </p:cNvPr>
          <p:cNvSpPr/>
          <p:nvPr/>
        </p:nvSpPr>
        <p:spPr>
          <a:xfrm>
            <a:off x="0" y="719999"/>
            <a:ext cx="12192000" cy="1636793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主战场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提前退出无非是想避开回撤空间。区分弧型以及制定策略需要参考的因素：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脸幅：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DS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，用于衡量偏离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额幅：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DS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，用于衡量偏离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之上位置：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靠近顶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靠近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柱排：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理想情况是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升排（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跌孕）。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实际持有过程可以包括：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跌吞单次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跌连单次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单次。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局：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是否为再局，需要利用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射线与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护线，优先选择主升区域。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介入原理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可以在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丘之上任意点介入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丘，关键是保证介入后会上升。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注意，以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为准，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不是退出标准，因为不能保证不会立刻出现下一个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弧型划分过程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根据运行规律聚焦于主阶段，初始突破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会有大规模升排，随后逐步下破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后震荡、下破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后震荡、下破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endParaRPr lang="zh-CN" altLang="en-US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1E54531F-B896-4673-4EC9-A038B932A6E9}"/>
              </a:ext>
            </a:extLst>
          </p:cNvPr>
          <p:cNvSpPr/>
          <p:nvPr/>
        </p:nvSpPr>
        <p:spPr>
          <a:xfrm>
            <a:off x="8977603" y="847203"/>
            <a:ext cx="2618629" cy="138242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6663E265-601B-D484-89AF-FA7DA6C9629D}"/>
              </a:ext>
            </a:extLst>
          </p:cNvPr>
          <p:cNvSpPr/>
          <p:nvPr/>
        </p:nvSpPr>
        <p:spPr>
          <a:xfrm>
            <a:off x="8977603" y="847203"/>
            <a:ext cx="1417592" cy="956141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aphicFrame>
        <p:nvGraphicFramePr>
          <p:cNvPr id="2" name="表格 1">
            <a:extLst>
              <a:ext uri="{FF2B5EF4-FFF2-40B4-BE49-F238E27FC236}">
                <a16:creationId xmlns:a16="http://schemas.microsoft.com/office/drawing/2014/main" id="{8643A50F-0774-F417-7268-068C8525A34E}"/>
              </a:ext>
            </a:extLst>
          </p:cNvPr>
          <p:cNvGraphicFramePr>
            <a:graphicFrameLocks noGrp="1"/>
          </p:cNvGraphicFramePr>
          <p:nvPr/>
        </p:nvGraphicFramePr>
        <p:xfrm>
          <a:off x="0" y="2356793"/>
          <a:ext cx="12192000" cy="4527915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992193">
                  <a:extLst>
                    <a:ext uri="{9D8B030D-6E8A-4147-A177-3AD203B41FA5}">
                      <a16:colId xmlns:a16="http://schemas.microsoft.com/office/drawing/2014/main" val="2169578332"/>
                    </a:ext>
                  </a:extLst>
                </a:gridCol>
                <a:gridCol w="954361">
                  <a:extLst>
                    <a:ext uri="{9D8B030D-6E8A-4147-A177-3AD203B41FA5}">
                      <a16:colId xmlns:a16="http://schemas.microsoft.com/office/drawing/2014/main" val="3277970679"/>
                    </a:ext>
                  </a:extLst>
                </a:gridCol>
                <a:gridCol w="10245446">
                  <a:extLst>
                    <a:ext uri="{9D8B030D-6E8A-4147-A177-3AD203B41FA5}">
                      <a16:colId xmlns:a16="http://schemas.microsoft.com/office/drawing/2014/main" val="303995481"/>
                    </a:ext>
                  </a:extLst>
                </a:gridCol>
              </a:tblGrid>
              <a:tr h="233398"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主类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子类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具体情况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8026147"/>
                  </a:ext>
                </a:extLst>
              </a:tr>
              <a:tr h="653513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剔日局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按局分类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（非主局）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剔除初入、再入、破等特殊不确定情况，针对主局进行分类。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初储：特别机会为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/D1b/D1w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再：特别机会为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/D2e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返。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破：特别机会为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/D3v/D3w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3309071"/>
                  </a:ext>
                </a:extLst>
              </a:tr>
              <a:tr h="233398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宽＜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需关注指标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在窄空间内运行，阴买阳卖，主要聚焦于回撤空间（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哼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JA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）非常小情况。只依赖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，不考虑其他均线止损。</a:t>
                      </a:r>
                      <a:endParaRPr lang="en-US" altLang="zh-CN" sz="9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9869511"/>
                  </a:ext>
                </a:extLst>
              </a:tr>
              <a:tr h="233398">
                <a:tc rowSpan="4"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宽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[10,20]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需关注指标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主要机会区域，已经开始拉升且未偏离较大 ，一定要明确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(DJC,DJC*1.2)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是主战场。重点关注额幅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哼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JA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9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1916730"/>
                  </a:ext>
                </a:extLst>
              </a:tr>
              <a:tr h="653513"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价靠近顶</a:t>
                      </a: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关注距离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回撤空间（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哼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），针对不同回撤空间制定不同措施。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升连：柱体是否重叠（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不重叠急速拉升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重叠稳步上升）连阳个数（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柱幅不大是机会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/3-4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谨慎）偏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DSHA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要逐步减仓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不担心）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升吞：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DSHA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要减仓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不担心）单柱高幅（＞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要减仓）。注意：如果是跟在（升连多柱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单跌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升吞），一定要注意可能是冲顶标志。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跌孕：额幅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哼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较小时出现跌孕是机会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较大时出现跌孕是逆转信号）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4562989"/>
                  </a:ext>
                </a:extLst>
              </a:tr>
              <a:tr h="513475"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价靠近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回归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，关注距离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回撤空间（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哼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），要防止冲高后回落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要减仓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不担心。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可在阴柱介入情况：除非是极少数情况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刚突破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后阴柱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刚突破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后阴柱。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可在阴柱之后劫恢复后介入情况：最好是阴柱（不要多个阴柱）</a:t>
                      </a:r>
                      <a:r>
                        <a:rPr lang="zh-CN" altLang="en-US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后跟</a:t>
                      </a:r>
                      <a:r>
                        <a:rPr lang="en-US" altLang="zh-CN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（柱体较小） 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7849901"/>
                  </a:ext>
                </a:extLst>
              </a:tr>
              <a:tr h="653513"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价下破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应关注回撤空间（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DSAC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）与已回撤空间（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哼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），已回撤空间不要太大。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可介入情况：要止跌于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出现小阳柱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价格上破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注意：下破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不是退出标准，虽然下破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代表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丘结束，但不能确保一直下跌而不开启下一个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丘。可以利用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丘结束的标志或利用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作为退出准则。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注意：真正需要在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退出的情况，是之前已经过</a:t>
                      </a:r>
                      <a:r>
                        <a:rPr lang="zh-CN" altLang="en-US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大幅上升，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如已冲高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已经历完整弧，且在下破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DSAC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较大，即后续可能的回撤空间较大。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0616155"/>
                  </a:ext>
                </a:extLst>
              </a:tr>
              <a:tr h="233398">
                <a:tc rowSpan="4"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宽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&gt;20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需关注指标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已经拉升较大，一定要清楚认识到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DJC*1.2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是非常大的偏离。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应重点关注回撤空间（额幅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哼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JA 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）与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DSAC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1096141"/>
                  </a:ext>
                </a:extLst>
              </a:tr>
              <a:tr h="653513"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价靠近顶</a:t>
                      </a: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此区域非常可能已经历冲高或完整弧。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升连：柱体是否重叠（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不重叠急速拉升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重叠稳步上升）连阳个数（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柱幅不大是机会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/3/4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谨慎）额幅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哼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要减仓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不担心）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升吞：额幅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哼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要减仓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小于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不担心）单柱高幅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跌孕：额幅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哼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较小时出现跌孕是机会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较大时出现跌孕是逆转信号）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4846027"/>
                  </a:ext>
                </a:extLst>
              </a:tr>
              <a:tr h="233398"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价靠近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回归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，最好是阴柱</a:t>
                      </a:r>
                      <a:r>
                        <a:rPr lang="zh-CN" altLang="en-US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后跟</a:t>
                      </a:r>
                      <a:r>
                        <a:rPr lang="en-US" altLang="zh-CN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（柱体较小）。在此区域，很可能属于下落途中。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3982141"/>
                  </a:ext>
                </a:extLst>
              </a:tr>
              <a:tr h="233398"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价下破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应关注回撤空间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DSAC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，在此区域要谨慎防止诱多。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1793127"/>
                  </a:ext>
                </a:extLst>
              </a:tr>
            </a:tbl>
          </a:graphicData>
        </a:graphic>
      </p:graphicFrame>
      <p:sp>
        <p:nvSpPr>
          <p:cNvPr id="3" name="标题 1">
            <a:extLst>
              <a:ext uri="{FF2B5EF4-FFF2-40B4-BE49-F238E27FC236}">
                <a16:creationId xmlns:a16="http://schemas.microsoft.com/office/drawing/2014/main" id="{9AAF6640-5D08-D374-8C63-83243ABB4F7B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日类弧型分类专页</a:t>
            </a:r>
            <a:b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本页内容：要利用在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上可能的回撤空间来划分弧型，并制定对应的提前退出策略与替代完整性策略。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8" name="组合 27">
            <a:extLst>
              <a:ext uri="{FF2B5EF4-FFF2-40B4-BE49-F238E27FC236}">
                <a16:creationId xmlns:a16="http://schemas.microsoft.com/office/drawing/2014/main" id="{2DF66222-D78F-758B-D9B8-8C4A8A999DFB}"/>
              </a:ext>
            </a:extLst>
          </p:cNvPr>
          <p:cNvGrpSpPr/>
          <p:nvPr/>
        </p:nvGrpSpPr>
        <p:grpSpPr>
          <a:xfrm>
            <a:off x="8375132" y="4534371"/>
            <a:ext cx="903959" cy="310000"/>
            <a:chOff x="8323228" y="2896403"/>
            <a:chExt cx="903959" cy="310000"/>
          </a:xfrm>
        </p:grpSpPr>
        <p:sp>
          <p:nvSpPr>
            <p:cNvPr id="9" name="矩形 8">
              <a:extLst>
                <a:ext uri="{FF2B5EF4-FFF2-40B4-BE49-F238E27FC236}">
                  <a16:creationId xmlns:a16="http://schemas.microsoft.com/office/drawing/2014/main" id="{988F76AB-0AFC-8331-5499-49E240C4CF5C}"/>
                </a:ext>
              </a:extLst>
            </p:cNvPr>
            <p:cNvSpPr/>
            <p:nvPr/>
          </p:nvSpPr>
          <p:spPr>
            <a:xfrm>
              <a:off x="8663287" y="2983980"/>
              <a:ext cx="72000" cy="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" name="矩形 9">
              <a:extLst>
                <a:ext uri="{FF2B5EF4-FFF2-40B4-BE49-F238E27FC236}">
                  <a16:creationId xmlns:a16="http://schemas.microsoft.com/office/drawing/2014/main" id="{9EC5BCFD-AD4A-9D62-7DB8-396FD61D0FB1}"/>
                </a:ext>
              </a:extLst>
            </p:cNvPr>
            <p:cNvSpPr/>
            <p:nvPr/>
          </p:nvSpPr>
          <p:spPr>
            <a:xfrm>
              <a:off x="8518352" y="2989750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" name="矩形 10">
              <a:extLst>
                <a:ext uri="{FF2B5EF4-FFF2-40B4-BE49-F238E27FC236}">
                  <a16:creationId xmlns:a16="http://schemas.microsoft.com/office/drawing/2014/main" id="{EF029BB3-1022-32CF-9A9E-54E8E0845180}"/>
                </a:ext>
              </a:extLst>
            </p:cNvPr>
            <p:cNvSpPr/>
            <p:nvPr/>
          </p:nvSpPr>
          <p:spPr>
            <a:xfrm>
              <a:off x="8953158" y="2994723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" name="矩形 11">
              <a:extLst>
                <a:ext uri="{FF2B5EF4-FFF2-40B4-BE49-F238E27FC236}">
                  <a16:creationId xmlns:a16="http://schemas.microsoft.com/office/drawing/2014/main" id="{014FBDB6-551D-180B-2788-0533D848E601}"/>
                </a:ext>
              </a:extLst>
            </p:cNvPr>
            <p:cNvSpPr/>
            <p:nvPr/>
          </p:nvSpPr>
          <p:spPr>
            <a:xfrm>
              <a:off x="8808222" y="2982031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3" name="直接连接符 12">
              <a:extLst>
                <a:ext uri="{FF2B5EF4-FFF2-40B4-BE49-F238E27FC236}">
                  <a16:creationId xmlns:a16="http://schemas.microsoft.com/office/drawing/2014/main" id="{C69F3CB2-EC97-22A2-D5A2-5BBDF48CD93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23228" y="3029860"/>
              <a:ext cx="903959" cy="176543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连接符 13">
              <a:extLst>
                <a:ext uri="{FF2B5EF4-FFF2-40B4-BE49-F238E27FC236}">
                  <a16:creationId xmlns:a16="http://schemas.microsoft.com/office/drawing/2014/main" id="{BA95945D-2894-35F8-5BFC-081945D950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451" y="2896403"/>
              <a:ext cx="0" cy="1440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组合 15">
            <a:extLst>
              <a:ext uri="{FF2B5EF4-FFF2-40B4-BE49-F238E27FC236}">
                <a16:creationId xmlns:a16="http://schemas.microsoft.com/office/drawing/2014/main" id="{221D0E91-3565-EB58-1464-126AC7595A56}"/>
              </a:ext>
            </a:extLst>
          </p:cNvPr>
          <p:cNvGrpSpPr/>
          <p:nvPr/>
        </p:nvGrpSpPr>
        <p:grpSpPr>
          <a:xfrm>
            <a:off x="9724206" y="4428688"/>
            <a:ext cx="903959" cy="415683"/>
            <a:chOff x="10988586" y="4539371"/>
            <a:chExt cx="903959" cy="415683"/>
          </a:xfrm>
        </p:grpSpPr>
        <p:sp>
          <p:nvSpPr>
            <p:cNvPr id="17" name="矩形 16">
              <a:extLst>
                <a:ext uri="{FF2B5EF4-FFF2-40B4-BE49-F238E27FC236}">
                  <a16:creationId xmlns:a16="http://schemas.microsoft.com/office/drawing/2014/main" id="{7BBD8D55-A54D-EEE2-A19F-7AE60CBEC4ED}"/>
                </a:ext>
              </a:extLst>
            </p:cNvPr>
            <p:cNvSpPr/>
            <p:nvPr/>
          </p:nvSpPr>
          <p:spPr>
            <a:xfrm>
              <a:off x="11330466" y="4675689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" name="矩形 17">
              <a:extLst>
                <a:ext uri="{FF2B5EF4-FFF2-40B4-BE49-F238E27FC236}">
                  <a16:creationId xmlns:a16="http://schemas.microsoft.com/office/drawing/2014/main" id="{D4047FB2-57E2-13FD-2B8B-C672AA522F2E}"/>
                </a:ext>
              </a:extLst>
            </p:cNvPr>
            <p:cNvSpPr/>
            <p:nvPr/>
          </p:nvSpPr>
          <p:spPr>
            <a:xfrm>
              <a:off x="11200436" y="4739054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" name="矩形 18">
              <a:extLst>
                <a:ext uri="{FF2B5EF4-FFF2-40B4-BE49-F238E27FC236}">
                  <a16:creationId xmlns:a16="http://schemas.microsoft.com/office/drawing/2014/main" id="{5426B078-5FAC-0D5F-85A7-F17E55E01667}"/>
                </a:ext>
              </a:extLst>
            </p:cNvPr>
            <p:cNvSpPr/>
            <p:nvPr/>
          </p:nvSpPr>
          <p:spPr>
            <a:xfrm>
              <a:off x="11479298" y="4645217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20" name="直接连接符 19">
              <a:extLst>
                <a:ext uri="{FF2B5EF4-FFF2-40B4-BE49-F238E27FC236}">
                  <a16:creationId xmlns:a16="http://schemas.microsoft.com/office/drawing/2014/main" id="{29B5E592-960C-A685-BA90-E806C28EC3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988586" y="4746954"/>
              <a:ext cx="903959" cy="176543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接箭头连接符 20">
              <a:extLst>
                <a:ext uri="{FF2B5EF4-FFF2-40B4-BE49-F238E27FC236}">
                  <a16:creationId xmlns:a16="http://schemas.microsoft.com/office/drawing/2014/main" id="{2E5C239F-2E8F-9783-5BE9-13A8BDFCDEA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610564" y="4539371"/>
              <a:ext cx="202191" cy="16414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71D9F99B-308B-9992-9F07-05399D694E75}"/>
              </a:ext>
            </a:extLst>
          </p:cNvPr>
          <p:cNvGrpSpPr/>
          <p:nvPr/>
        </p:nvGrpSpPr>
        <p:grpSpPr>
          <a:xfrm>
            <a:off x="10867279" y="4430428"/>
            <a:ext cx="903959" cy="413943"/>
            <a:chOff x="10988586" y="4541111"/>
            <a:chExt cx="903959" cy="413943"/>
          </a:xfrm>
        </p:grpSpPr>
        <p:sp>
          <p:nvSpPr>
            <p:cNvPr id="23" name="矩形 22">
              <a:extLst>
                <a:ext uri="{FF2B5EF4-FFF2-40B4-BE49-F238E27FC236}">
                  <a16:creationId xmlns:a16="http://schemas.microsoft.com/office/drawing/2014/main" id="{17BFF7AB-8C72-4C1A-136F-B18DB1F10252}"/>
                </a:ext>
              </a:extLst>
            </p:cNvPr>
            <p:cNvSpPr/>
            <p:nvPr/>
          </p:nvSpPr>
          <p:spPr>
            <a:xfrm>
              <a:off x="11330466" y="4675689"/>
              <a:ext cx="72000" cy="108000"/>
            </a:xfrm>
            <a:prstGeom prst="rect">
              <a:avLst/>
            </a:prstGeom>
            <a:solidFill>
              <a:srgbClr val="548235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矩形 23">
              <a:extLst>
                <a:ext uri="{FF2B5EF4-FFF2-40B4-BE49-F238E27FC236}">
                  <a16:creationId xmlns:a16="http://schemas.microsoft.com/office/drawing/2014/main" id="{BC490732-792B-F339-2F4F-2B890C2C2789}"/>
                </a:ext>
              </a:extLst>
            </p:cNvPr>
            <p:cNvSpPr/>
            <p:nvPr/>
          </p:nvSpPr>
          <p:spPr>
            <a:xfrm>
              <a:off x="11200436" y="4739054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26" name="直接连接符 25">
              <a:extLst>
                <a:ext uri="{FF2B5EF4-FFF2-40B4-BE49-F238E27FC236}">
                  <a16:creationId xmlns:a16="http://schemas.microsoft.com/office/drawing/2014/main" id="{9B356975-4D91-A21B-80C1-F73B85E5124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988586" y="4746954"/>
              <a:ext cx="903959" cy="176543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接箭头连接符 26">
              <a:extLst>
                <a:ext uri="{FF2B5EF4-FFF2-40B4-BE49-F238E27FC236}">
                  <a16:creationId xmlns:a16="http://schemas.microsoft.com/office/drawing/2014/main" id="{26FF8B4C-E9CF-D36D-672C-C1E7703BED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515248" y="4541111"/>
              <a:ext cx="202191" cy="16414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A1B1E260-F5DE-5B04-EBE1-74DEFA065472}"/>
              </a:ext>
            </a:extLst>
          </p:cNvPr>
          <p:cNvGraphicFramePr>
            <a:graphicFrameLocks noGrp="1"/>
          </p:cNvGraphicFramePr>
          <p:nvPr/>
        </p:nvGraphicFramePr>
        <p:xfrm>
          <a:off x="-5170" y="7300473"/>
          <a:ext cx="12191998" cy="1950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65281">
                  <a:extLst>
                    <a:ext uri="{9D8B030D-6E8A-4147-A177-3AD203B41FA5}">
                      <a16:colId xmlns:a16="http://schemas.microsoft.com/office/drawing/2014/main" val="189700861"/>
                    </a:ext>
                  </a:extLst>
                </a:gridCol>
                <a:gridCol w="1112280">
                  <a:extLst>
                    <a:ext uri="{9D8B030D-6E8A-4147-A177-3AD203B41FA5}">
                      <a16:colId xmlns:a16="http://schemas.microsoft.com/office/drawing/2014/main" val="1747246564"/>
                    </a:ext>
                  </a:extLst>
                </a:gridCol>
                <a:gridCol w="1785915">
                  <a:extLst>
                    <a:ext uri="{9D8B030D-6E8A-4147-A177-3AD203B41FA5}">
                      <a16:colId xmlns:a16="http://schemas.microsoft.com/office/drawing/2014/main" val="2640978416"/>
                    </a:ext>
                  </a:extLst>
                </a:gridCol>
                <a:gridCol w="1895576">
                  <a:extLst>
                    <a:ext uri="{9D8B030D-6E8A-4147-A177-3AD203B41FA5}">
                      <a16:colId xmlns:a16="http://schemas.microsoft.com/office/drawing/2014/main" val="3205671454"/>
                    </a:ext>
                  </a:extLst>
                </a:gridCol>
                <a:gridCol w="2091400">
                  <a:extLst>
                    <a:ext uri="{9D8B030D-6E8A-4147-A177-3AD203B41FA5}">
                      <a16:colId xmlns:a16="http://schemas.microsoft.com/office/drawing/2014/main" val="1792901115"/>
                    </a:ext>
                  </a:extLst>
                </a:gridCol>
                <a:gridCol w="1362935">
                  <a:extLst>
                    <a:ext uri="{9D8B030D-6E8A-4147-A177-3AD203B41FA5}">
                      <a16:colId xmlns:a16="http://schemas.microsoft.com/office/drawing/2014/main" val="3947601137"/>
                    </a:ext>
                  </a:extLst>
                </a:gridCol>
                <a:gridCol w="1327686">
                  <a:extLst>
                    <a:ext uri="{9D8B030D-6E8A-4147-A177-3AD203B41FA5}">
                      <a16:colId xmlns:a16="http://schemas.microsoft.com/office/drawing/2014/main" val="4273193125"/>
                    </a:ext>
                  </a:extLst>
                </a:gridCol>
                <a:gridCol w="1550925">
                  <a:extLst>
                    <a:ext uri="{9D8B030D-6E8A-4147-A177-3AD203B41FA5}">
                      <a16:colId xmlns:a16="http://schemas.microsoft.com/office/drawing/2014/main" val="3324595741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管宽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顶型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zh-CN" altLang="en-US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合顶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zh-CN" altLang="en-US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离顶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018771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</a:t>
                      </a:r>
                      <a:r>
                        <a:rPr lang="en-US" altLang="zh-CN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&gt;0</a:t>
                      </a:r>
                      <a:endParaRPr lang="zh-CN" altLang="en-US" sz="10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</a:t>
                      </a:r>
                      <a:r>
                        <a:rPr lang="en-US" altLang="zh-CN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=-1/-2</a:t>
                      </a:r>
                      <a:endParaRPr lang="zh-CN" altLang="en-US" sz="10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触≤</a:t>
                      </a:r>
                      <a:r>
                        <a:rPr lang="en-US" altLang="zh-CN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-3</a:t>
                      </a:r>
                      <a:endParaRPr lang="zh-CN" altLang="en-US" sz="10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</a:t>
                      </a:r>
                      <a:r>
                        <a:rPr lang="en-US" altLang="zh-CN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&gt;0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触≥</a:t>
                      </a:r>
                      <a:r>
                        <a:rPr lang="en-US" altLang="zh-CN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未触哼：芽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1857369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</a:t>
                      </a:r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(0,20)</a:t>
                      </a:r>
                      <a:endParaRPr lang="zh-CN" altLang="en-US" sz="10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可入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可入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很可能震荡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很可能震荡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134731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_</a:t>
                      </a:r>
                      <a:r>
                        <a:rPr lang="en-US" altLang="zh-CN" sz="1000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aA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_</a:t>
                      </a:r>
                      <a:r>
                        <a:rPr lang="en-US" altLang="zh-CN" sz="1000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bA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_</a:t>
                      </a:r>
                      <a:r>
                        <a:rPr lang="en-US" altLang="zh-CN" sz="1000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dA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：区分〇与芽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sAc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sAc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 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000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sAd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159268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_</a:t>
                      </a:r>
                      <a:r>
                        <a:rPr lang="en-US" altLang="zh-CN" sz="1000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aF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：捡漏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_</a:t>
                      </a:r>
                      <a:r>
                        <a:rPr lang="en-US" altLang="zh-CN" sz="1000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bF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_</a:t>
                      </a:r>
                      <a:r>
                        <a:rPr lang="en-US" altLang="zh-CN" sz="1000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dF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1479583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宽</a:t>
                      </a:r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20)</a:t>
                      </a:r>
                    </a:p>
                    <a:p>
                      <a:endParaRPr lang="zh-CN" altLang="en-US" sz="10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rtl="0" eaLnBrk="1" fontAlgn="auto" latinLnBrk="0" hangingPunct="1"/>
                      <a:r>
                        <a:rPr lang="en-US" altLang="zh-CN" sz="1000" kern="1200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lang="zh-CN" altLang="zh-CN" dirty="0">
                        <a:effectLst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rtl="0" eaLnBrk="1" fontAlgn="auto" latinLnBrk="0" hangingPunct="1"/>
                      <a:r>
                        <a:rPr lang="en-US" altLang="zh-CN" sz="1000" kern="120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lang="zh-CN" altLang="zh-CN">
                        <a:effectLst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rtl="0" eaLnBrk="1" fontAlgn="auto" latinLnBrk="0" hangingPunct="1"/>
                      <a:r>
                        <a:rPr lang="en-US" altLang="zh-CN" sz="1000" kern="1200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lang="zh-CN" altLang="zh-CN" dirty="0">
                        <a:effectLst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977624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rtl="0" eaLnBrk="1" fontAlgn="auto" latinLnBrk="0" hangingPunct="1"/>
                      <a:r>
                        <a:rPr lang="en-US" altLang="zh-CN" sz="1000" kern="1200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lang="zh-CN" altLang="zh-CN" dirty="0">
                        <a:effectLst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rtl="0" eaLnBrk="1" fontAlgn="auto" latinLnBrk="0" hangingPunct="1"/>
                      <a:r>
                        <a:rPr lang="en-US" altLang="zh-CN" sz="1000" kern="120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lang="zh-CN" altLang="zh-CN">
                        <a:effectLst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rtl="0" eaLnBrk="1" fontAlgn="auto" latinLnBrk="0" hangingPunct="1"/>
                      <a:r>
                        <a:rPr lang="en-US" altLang="zh-CN" sz="1000" kern="1200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lang="zh-CN" altLang="zh-CN" dirty="0">
                        <a:effectLst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2394718"/>
                  </a:ext>
                </a:extLst>
              </a:tr>
              <a:tr h="118041"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</a:t>
                      </a:r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WTZA</a:t>
                      </a:r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altLang="en-US" sz="10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不论均线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/>
                      <a:endParaRPr lang="zh-CN" altLang="zh-CN" sz="1000" kern="1200" dirty="0">
                        <a:solidFill>
                          <a:schemeClr val="dk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/>
                      <a:endParaRPr lang="zh-CN" altLang="zh-CN" sz="1000" kern="1200" dirty="0">
                        <a:solidFill>
                          <a:schemeClr val="dk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/>
                      <a:endParaRPr lang="zh-CN" altLang="zh-CN" sz="1000" kern="1200" dirty="0">
                        <a:solidFill>
                          <a:schemeClr val="dk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204316"/>
                  </a:ext>
                </a:extLst>
              </a:tr>
            </a:tbl>
          </a:graphicData>
        </a:graphic>
      </p:graphicFrame>
      <p:sp>
        <p:nvSpPr>
          <p:cNvPr id="5" name="矩形 4">
            <a:extLst>
              <a:ext uri="{FF2B5EF4-FFF2-40B4-BE49-F238E27FC236}">
                <a16:creationId xmlns:a16="http://schemas.microsoft.com/office/drawing/2014/main" id="{72620900-2CB3-591B-C846-C097469EBDE5}"/>
              </a:ext>
            </a:extLst>
          </p:cNvPr>
          <p:cNvSpPr/>
          <p:nvPr/>
        </p:nvSpPr>
        <p:spPr>
          <a:xfrm>
            <a:off x="8977603" y="847203"/>
            <a:ext cx="746603" cy="479891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880B0EF5-A4B8-3812-4876-6164D0D6C865}"/>
              </a:ext>
            </a:extLst>
          </p:cNvPr>
          <p:cNvSpPr txBox="1"/>
          <p:nvPr/>
        </p:nvSpPr>
        <p:spPr>
          <a:xfrm>
            <a:off x="8526740" y="718848"/>
            <a:ext cx="36420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dirty="0"/>
              <a:t>顶</a:t>
            </a:r>
          </a:p>
        </p:txBody>
      </p:sp>
      <p:sp>
        <p:nvSpPr>
          <p:cNvPr id="25" name="文本框 24">
            <a:extLst>
              <a:ext uri="{FF2B5EF4-FFF2-40B4-BE49-F238E27FC236}">
                <a16:creationId xmlns:a16="http://schemas.microsoft.com/office/drawing/2014/main" id="{78F18194-5CA0-7D91-54AA-790892151EC9}"/>
              </a:ext>
            </a:extLst>
          </p:cNvPr>
          <p:cNvSpPr txBox="1"/>
          <p:nvPr/>
        </p:nvSpPr>
        <p:spPr>
          <a:xfrm>
            <a:off x="8526740" y="1179549"/>
            <a:ext cx="4521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400" dirty="0"/>
              <a:t>DJA</a:t>
            </a:r>
            <a:endParaRPr lang="zh-CN" altLang="en-US" sz="1400" dirty="0"/>
          </a:p>
        </p:txBody>
      </p:sp>
      <p:sp>
        <p:nvSpPr>
          <p:cNvPr id="29" name="文本框 28">
            <a:extLst>
              <a:ext uri="{FF2B5EF4-FFF2-40B4-BE49-F238E27FC236}">
                <a16:creationId xmlns:a16="http://schemas.microsoft.com/office/drawing/2014/main" id="{9BED9CC5-AB2B-D0B4-F395-BAB6E3C7D5DA}"/>
              </a:ext>
            </a:extLst>
          </p:cNvPr>
          <p:cNvSpPr txBox="1"/>
          <p:nvPr/>
        </p:nvSpPr>
        <p:spPr>
          <a:xfrm>
            <a:off x="8526740" y="1655799"/>
            <a:ext cx="44723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400" dirty="0"/>
              <a:t>DJC</a:t>
            </a:r>
            <a:endParaRPr lang="zh-CN" altLang="en-US" sz="1400" dirty="0"/>
          </a:p>
        </p:txBody>
      </p:sp>
      <p:sp>
        <p:nvSpPr>
          <p:cNvPr id="30" name="文本框 29">
            <a:extLst>
              <a:ext uri="{FF2B5EF4-FFF2-40B4-BE49-F238E27FC236}">
                <a16:creationId xmlns:a16="http://schemas.microsoft.com/office/drawing/2014/main" id="{B277140C-BA1C-E5CD-6949-E8138E564EF2}"/>
              </a:ext>
            </a:extLst>
          </p:cNvPr>
          <p:cNvSpPr txBox="1"/>
          <p:nvPr/>
        </p:nvSpPr>
        <p:spPr>
          <a:xfrm>
            <a:off x="8526740" y="2036904"/>
            <a:ext cx="43922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400" dirty="0"/>
              <a:t>DJE</a:t>
            </a:r>
            <a:endParaRPr lang="zh-CN" altLang="en-US" sz="1400" dirty="0"/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9CE88FB4-54B8-0BBE-8EFC-521D2486261F}"/>
              </a:ext>
            </a:extLst>
          </p:cNvPr>
          <p:cNvSpPr txBox="1"/>
          <p:nvPr/>
        </p:nvSpPr>
        <p:spPr>
          <a:xfrm>
            <a:off x="9004929" y="915926"/>
            <a:ext cx="543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chemeClr val="accent4"/>
                </a:solidFill>
              </a:rPr>
              <a:t>额幅</a:t>
            </a:r>
          </a:p>
        </p:txBody>
      </p:sp>
      <p:sp>
        <p:nvSpPr>
          <p:cNvPr id="32" name="文本框 31">
            <a:extLst>
              <a:ext uri="{FF2B5EF4-FFF2-40B4-BE49-F238E27FC236}">
                <a16:creationId xmlns:a16="http://schemas.microsoft.com/office/drawing/2014/main" id="{107A6B55-CB2D-657A-E249-E07628F97CAD}"/>
              </a:ext>
            </a:extLst>
          </p:cNvPr>
          <p:cNvSpPr txBox="1"/>
          <p:nvPr/>
        </p:nvSpPr>
        <p:spPr>
          <a:xfrm>
            <a:off x="9676614" y="1181671"/>
            <a:ext cx="543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chemeClr val="accent4"/>
                </a:solidFill>
              </a:rPr>
              <a:t>脸幅</a:t>
            </a:r>
          </a:p>
        </p:txBody>
      </p:sp>
      <p:sp>
        <p:nvSpPr>
          <p:cNvPr id="33" name="文本框 32">
            <a:extLst>
              <a:ext uri="{FF2B5EF4-FFF2-40B4-BE49-F238E27FC236}">
                <a16:creationId xmlns:a16="http://schemas.microsoft.com/office/drawing/2014/main" id="{872FE2EB-2BA3-2DEA-A20F-8FC8D7B8731D}"/>
              </a:ext>
            </a:extLst>
          </p:cNvPr>
          <p:cNvSpPr txBox="1"/>
          <p:nvPr/>
        </p:nvSpPr>
        <p:spPr>
          <a:xfrm>
            <a:off x="10404835" y="1394862"/>
            <a:ext cx="543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chemeClr val="accent4"/>
                </a:solidFill>
              </a:rPr>
              <a:t>身幅</a:t>
            </a:r>
          </a:p>
        </p:txBody>
      </p:sp>
      <p:sp>
        <p:nvSpPr>
          <p:cNvPr id="34" name="文本框 33">
            <a:extLst>
              <a:ext uri="{FF2B5EF4-FFF2-40B4-BE49-F238E27FC236}">
                <a16:creationId xmlns:a16="http://schemas.microsoft.com/office/drawing/2014/main" id="{5B791C05-6E41-B99D-A480-3EB64685A124}"/>
              </a:ext>
            </a:extLst>
          </p:cNvPr>
          <p:cNvSpPr txBox="1"/>
          <p:nvPr/>
        </p:nvSpPr>
        <p:spPr>
          <a:xfrm>
            <a:off x="11295442" y="1061342"/>
            <a:ext cx="326804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solidFill>
                  <a:schemeClr val="accent4"/>
                </a:solidFill>
              </a:rPr>
              <a:t>丘宽级别</a:t>
            </a:r>
          </a:p>
        </p:txBody>
      </p:sp>
      <p:sp>
        <p:nvSpPr>
          <p:cNvPr id="35" name="左大括号 34">
            <a:extLst>
              <a:ext uri="{FF2B5EF4-FFF2-40B4-BE49-F238E27FC236}">
                <a16:creationId xmlns:a16="http://schemas.microsoft.com/office/drawing/2014/main" id="{A8D00F9B-82EF-C865-450E-D05E237A807F}"/>
              </a:ext>
            </a:extLst>
          </p:cNvPr>
          <p:cNvSpPr/>
          <p:nvPr/>
        </p:nvSpPr>
        <p:spPr>
          <a:xfrm>
            <a:off x="9475215" y="847203"/>
            <a:ext cx="248838" cy="479892"/>
          </a:xfrm>
          <a:prstGeom prst="leftBrace">
            <a:avLst>
              <a:gd name="adj1" fmla="val 29505"/>
              <a:gd name="adj2" fmla="val 50000"/>
            </a:avLst>
          </a:prstGeom>
          <a:ln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左大括号 35">
            <a:extLst>
              <a:ext uri="{FF2B5EF4-FFF2-40B4-BE49-F238E27FC236}">
                <a16:creationId xmlns:a16="http://schemas.microsoft.com/office/drawing/2014/main" id="{BEA2EC91-4ED9-6D2C-ABE8-3EF17F4235A4}"/>
              </a:ext>
            </a:extLst>
          </p:cNvPr>
          <p:cNvSpPr/>
          <p:nvPr/>
        </p:nvSpPr>
        <p:spPr>
          <a:xfrm>
            <a:off x="10138086" y="853543"/>
            <a:ext cx="248838" cy="936000"/>
          </a:xfrm>
          <a:prstGeom prst="leftBrace">
            <a:avLst>
              <a:gd name="adj1" fmla="val 29505"/>
              <a:gd name="adj2" fmla="val 50000"/>
            </a:avLst>
          </a:prstGeom>
          <a:ln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左大括号 36">
            <a:extLst>
              <a:ext uri="{FF2B5EF4-FFF2-40B4-BE49-F238E27FC236}">
                <a16:creationId xmlns:a16="http://schemas.microsoft.com/office/drawing/2014/main" id="{394255A6-4649-1DA0-9854-B84D7BEB5EB9}"/>
              </a:ext>
            </a:extLst>
          </p:cNvPr>
          <p:cNvSpPr/>
          <p:nvPr/>
        </p:nvSpPr>
        <p:spPr>
          <a:xfrm>
            <a:off x="10884551" y="847201"/>
            <a:ext cx="248838" cy="1382425"/>
          </a:xfrm>
          <a:prstGeom prst="leftBrace">
            <a:avLst>
              <a:gd name="adj1" fmla="val 29505"/>
              <a:gd name="adj2" fmla="val 50000"/>
            </a:avLst>
          </a:prstGeom>
          <a:ln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8" name="组合 37">
            <a:extLst>
              <a:ext uri="{FF2B5EF4-FFF2-40B4-BE49-F238E27FC236}">
                <a16:creationId xmlns:a16="http://schemas.microsoft.com/office/drawing/2014/main" id="{22A165C9-09FA-D40C-EAEE-448BFA41C59E}"/>
              </a:ext>
            </a:extLst>
          </p:cNvPr>
          <p:cNvGrpSpPr/>
          <p:nvPr/>
        </p:nvGrpSpPr>
        <p:grpSpPr>
          <a:xfrm>
            <a:off x="56374" y="4565006"/>
            <a:ext cx="916011" cy="900003"/>
            <a:chOff x="12287250" y="3867202"/>
            <a:chExt cx="1628775" cy="1238198"/>
          </a:xfrm>
        </p:grpSpPr>
        <p:cxnSp>
          <p:nvCxnSpPr>
            <p:cNvPr id="39" name="直接连接符 38">
              <a:extLst>
                <a:ext uri="{FF2B5EF4-FFF2-40B4-BE49-F238E27FC236}">
                  <a16:creationId xmlns:a16="http://schemas.microsoft.com/office/drawing/2014/main" id="{3034E89D-DDB1-39C0-928A-DD8B75C9DD1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287250" y="3867202"/>
              <a:ext cx="1524000" cy="714323"/>
            </a:xfrm>
            <a:prstGeom prst="line">
              <a:avLst/>
            </a:prstGeom>
            <a:ln w="635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接连接符 39">
              <a:extLst>
                <a:ext uri="{FF2B5EF4-FFF2-40B4-BE49-F238E27FC236}">
                  <a16:creationId xmlns:a16="http://schemas.microsoft.com/office/drawing/2014/main" id="{111982E6-AB1A-0313-01A5-7E0318C3FB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287250" y="4648200"/>
              <a:ext cx="1524000" cy="457200"/>
            </a:xfrm>
            <a:prstGeom prst="line">
              <a:avLst/>
            </a:prstGeom>
            <a:ln w="635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任意多边形: 形状 40">
              <a:extLst>
                <a:ext uri="{FF2B5EF4-FFF2-40B4-BE49-F238E27FC236}">
                  <a16:creationId xmlns:a16="http://schemas.microsoft.com/office/drawing/2014/main" id="{66670447-D5B9-1E88-908C-85F075495341}"/>
                </a:ext>
              </a:extLst>
            </p:cNvPr>
            <p:cNvSpPr/>
            <p:nvPr/>
          </p:nvSpPr>
          <p:spPr>
            <a:xfrm>
              <a:off x="12334875" y="4010025"/>
              <a:ext cx="1371600" cy="809625"/>
            </a:xfrm>
            <a:custGeom>
              <a:avLst/>
              <a:gdLst>
                <a:gd name="connsiteX0" fmla="*/ 0 w 1371600"/>
                <a:gd name="connsiteY0" fmla="*/ 809625 h 809625"/>
                <a:gd name="connsiteX1" fmla="*/ 771525 w 1371600"/>
                <a:gd name="connsiteY1" fmla="*/ 285750 h 809625"/>
                <a:gd name="connsiteX2" fmla="*/ 1371600 w 1371600"/>
                <a:gd name="connsiteY2" fmla="*/ 0 h 809625"/>
                <a:gd name="connsiteX3" fmla="*/ 1371600 w 1371600"/>
                <a:gd name="connsiteY3" fmla="*/ 0 h 80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1600" h="809625">
                  <a:moveTo>
                    <a:pt x="0" y="809625"/>
                  </a:moveTo>
                  <a:cubicBezTo>
                    <a:pt x="271462" y="615156"/>
                    <a:pt x="542925" y="420687"/>
                    <a:pt x="771525" y="285750"/>
                  </a:cubicBezTo>
                  <a:cubicBezTo>
                    <a:pt x="1000125" y="150813"/>
                    <a:pt x="1371600" y="0"/>
                    <a:pt x="1371600" y="0"/>
                  </a:cubicBezTo>
                  <a:lnTo>
                    <a:pt x="1371600" y="0"/>
                  </a:lnTo>
                </a:path>
              </a:pathLst>
            </a:custGeom>
            <a:noFill/>
            <a:ln w="38100">
              <a:solidFill>
                <a:schemeClr val="accent5">
                  <a:lumMod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" name="任意多边形: 形状 41">
              <a:extLst>
                <a:ext uri="{FF2B5EF4-FFF2-40B4-BE49-F238E27FC236}">
                  <a16:creationId xmlns:a16="http://schemas.microsoft.com/office/drawing/2014/main" id="{7C446215-0AF0-A561-853A-AA7079952060}"/>
                </a:ext>
              </a:extLst>
            </p:cNvPr>
            <p:cNvSpPr/>
            <p:nvPr/>
          </p:nvSpPr>
          <p:spPr>
            <a:xfrm>
              <a:off x="12353925" y="4657725"/>
              <a:ext cx="1352550" cy="180975"/>
            </a:xfrm>
            <a:custGeom>
              <a:avLst/>
              <a:gdLst>
                <a:gd name="connsiteX0" fmla="*/ 0 w 1352550"/>
                <a:gd name="connsiteY0" fmla="*/ 180975 h 180975"/>
                <a:gd name="connsiteX1" fmla="*/ 847725 w 1352550"/>
                <a:gd name="connsiteY1" fmla="*/ 123825 h 180975"/>
                <a:gd name="connsiteX2" fmla="*/ 1352550 w 1352550"/>
                <a:gd name="connsiteY2" fmla="*/ 0 h 180975"/>
                <a:gd name="connsiteX3" fmla="*/ 1352550 w 1352550"/>
                <a:gd name="connsiteY3" fmla="*/ 0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2550" h="180975">
                  <a:moveTo>
                    <a:pt x="0" y="180975"/>
                  </a:moveTo>
                  <a:cubicBezTo>
                    <a:pt x="311150" y="167481"/>
                    <a:pt x="622300" y="153987"/>
                    <a:pt x="847725" y="123825"/>
                  </a:cubicBezTo>
                  <a:cubicBezTo>
                    <a:pt x="1073150" y="93663"/>
                    <a:pt x="1352550" y="0"/>
                    <a:pt x="1352550" y="0"/>
                  </a:cubicBezTo>
                  <a:lnTo>
                    <a:pt x="135255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任意多边形: 形状 42">
              <a:extLst>
                <a:ext uri="{FF2B5EF4-FFF2-40B4-BE49-F238E27FC236}">
                  <a16:creationId xmlns:a16="http://schemas.microsoft.com/office/drawing/2014/main" id="{DDA02B25-1D38-A5A5-E122-EC56987CE43A}"/>
                </a:ext>
              </a:extLst>
            </p:cNvPr>
            <p:cNvSpPr/>
            <p:nvPr/>
          </p:nvSpPr>
          <p:spPr>
            <a:xfrm>
              <a:off x="12344400" y="4034941"/>
              <a:ext cx="1571625" cy="803759"/>
            </a:xfrm>
            <a:custGeom>
              <a:avLst/>
              <a:gdLst>
                <a:gd name="connsiteX0" fmla="*/ 0 w 1571625"/>
                <a:gd name="connsiteY0" fmla="*/ 803759 h 803759"/>
                <a:gd name="connsiteX1" fmla="*/ 371475 w 1571625"/>
                <a:gd name="connsiteY1" fmla="*/ 394184 h 803759"/>
                <a:gd name="connsiteX2" fmla="*/ 885825 w 1571625"/>
                <a:gd name="connsiteY2" fmla="*/ 737084 h 803759"/>
                <a:gd name="connsiteX3" fmla="*/ 1247775 w 1571625"/>
                <a:gd name="connsiteY3" fmla="*/ 32234 h 803759"/>
                <a:gd name="connsiteX4" fmla="*/ 1571625 w 1571625"/>
                <a:gd name="connsiteY4" fmla="*/ 184634 h 80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1625" h="803759">
                  <a:moveTo>
                    <a:pt x="0" y="803759"/>
                  </a:moveTo>
                  <a:cubicBezTo>
                    <a:pt x="111919" y="604527"/>
                    <a:pt x="223838" y="405296"/>
                    <a:pt x="371475" y="394184"/>
                  </a:cubicBezTo>
                  <a:cubicBezTo>
                    <a:pt x="519112" y="383072"/>
                    <a:pt x="739775" y="797409"/>
                    <a:pt x="885825" y="737084"/>
                  </a:cubicBezTo>
                  <a:cubicBezTo>
                    <a:pt x="1031875" y="676759"/>
                    <a:pt x="1133475" y="124309"/>
                    <a:pt x="1247775" y="32234"/>
                  </a:cubicBezTo>
                  <a:cubicBezTo>
                    <a:pt x="1362075" y="-59841"/>
                    <a:pt x="1466850" y="62396"/>
                    <a:pt x="1571625" y="184634"/>
                  </a:cubicBezTo>
                </a:path>
              </a:pathLst>
            </a:custGeom>
            <a:noFill/>
            <a:ln w="38100">
              <a:solidFill>
                <a:schemeClr val="accent4">
                  <a:lumMod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7928527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406645-FCAF-B50A-C836-D65DA88351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>
            <a:extLst>
              <a:ext uri="{FF2B5EF4-FFF2-40B4-BE49-F238E27FC236}">
                <a16:creationId xmlns:a16="http://schemas.microsoft.com/office/drawing/2014/main" id="{F1CB7A74-DC45-0971-0280-7DF5AFE12E0C}"/>
              </a:ext>
            </a:extLst>
          </p:cNvPr>
          <p:cNvSpPr/>
          <p:nvPr/>
        </p:nvSpPr>
        <p:spPr>
          <a:xfrm>
            <a:off x="0" y="3489960"/>
            <a:ext cx="12192000" cy="101157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仓类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设计理念：主要用于区别是否在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之上（前缀不同），基于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可获利升势区域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都在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日类须遵从周类止损点：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与周类算法保持一致：破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退出（日类可优化为破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退出）；破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双柱退出。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u="sng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周类视角：</a:t>
            </a:r>
            <a:r>
              <a:rPr lang="zh-CN" altLang="en-US" sz="1000" u="sng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相信下周冲高。把（</a:t>
            </a:r>
            <a:r>
              <a:rPr lang="en-US" altLang="zh-CN" sz="1000" u="sng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DJC,</a:t>
            </a:r>
            <a:r>
              <a:rPr lang="zh-CN" altLang="en-US" sz="1000" u="sng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顶）看做周管，在管中波动。在周类视角以</a:t>
            </a:r>
            <a:r>
              <a:rPr lang="en-US" altLang="zh-CN" sz="1000" u="sng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u="sng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为操作底线，可以转化为，在日类视角以</a:t>
            </a:r>
            <a:r>
              <a:rPr lang="en-US" altLang="zh-CN" sz="1000" u="sng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1000" u="sng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作为辅助工具。</a:t>
            </a:r>
            <a:endParaRPr lang="en-US" altLang="zh-CN" sz="1000" u="sng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辅助护线的级别与作用：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）地位：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操作规则的核心龙骨。其他辅助护线只可增强信心，不可用作止损线。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护线作用：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坚决不能作为止损依据；满足（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DJD-DJC-DJB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）多头排列时增强信心；不满足多头排列时仅警示不止损，且仅按照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进行操作。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9D933053-4017-F7A4-DD6F-3BE0B8C5E6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日柱优化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】[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](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,DJC)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管⇒仓类指标的设计思路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核心思想</a:t>
            </a:r>
            <a:r>
              <a:rPr lang="zh-CN" altLang="en-US" sz="12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：综合周类与日类持仓规则，止损按照周类，止盈按照日类。</a:t>
            </a:r>
            <a:endParaRPr lang="en-US" altLang="zh-CN" sz="1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6FAE56C8-27C9-61FC-7490-78D37771351A}"/>
              </a:ext>
            </a:extLst>
          </p:cNvPr>
          <p:cNvSpPr/>
          <p:nvPr/>
        </p:nvSpPr>
        <p:spPr>
          <a:xfrm>
            <a:off x="0" y="713732"/>
            <a:ext cx="12192000" cy="247193"/>
          </a:xfrm>
          <a:prstGeom prst="rect">
            <a:avLst/>
          </a:prstGeom>
          <a:noFill/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zh-CN" altLang="en-US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graphicFrame>
        <p:nvGraphicFramePr>
          <p:cNvPr id="7" name="表格 6">
            <a:extLst>
              <a:ext uri="{FF2B5EF4-FFF2-40B4-BE49-F238E27FC236}">
                <a16:creationId xmlns:a16="http://schemas.microsoft.com/office/drawing/2014/main" id="{484B9583-3E6E-B197-FC29-2EB20516D785}"/>
              </a:ext>
            </a:extLst>
          </p:cNvPr>
          <p:cNvGraphicFramePr>
            <a:graphicFrameLocks noGrp="1"/>
          </p:cNvGraphicFramePr>
          <p:nvPr/>
        </p:nvGraphicFramePr>
        <p:xfrm>
          <a:off x="-5170" y="4503420"/>
          <a:ext cx="12197169" cy="2346960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605245">
                  <a:extLst>
                    <a:ext uri="{9D8B030D-6E8A-4147-A177-3AD203B41FA5}">
                      <a16:colId xmlns:a16="http://schemas.microsoft.com/office/drawing/2014/main" val="189700861"/>
                    </a:ext>
                  </a:extLst>
                </a:gridCol>
                <a:gridCol w="1304925">
                  <a:extLst>
                    <a:ext uri="{9D8B030D-6E8A-4147-A177-3AD203B41FA5}">
                      <a16:colId xmlns:a16="http://schemas.microsoft.com/office/drawing/2014/main" val="1747246564"/>
                    </a:ext>
                  </a:extLst>
                </a:gridCol>
                <a:gridCol w="666750">
                  <a:extLst>
                    <a:ext uri="{9D8B030D-6E8A-4147-A177-3AD203B41FA5}">
                      <a16:colId xmlns:a16="http://schemas.microsoft.com/office/drawing/2014/main" val="3516073623"/>
                    </a:ext>
                  </a:extLst>
                </a:gridCol>
                <a:gridCol w="904875">
                  <a:extLst>
                    <a:ext uri="{9D8B030D-6E8A-4147-A177-3AD203B41FA5}">
                      <a16:colId xmlns:a16="http://schemas.microsoft.com/office/drawing/2014/main" val="1276022807"/>
                    </a:ext>
                  </a:extLst>
                </a:gridCol>
                <a:gridCol w="8715374">
                  <a:extLst>
                    <a:ext uri="{9D8B030D-6E8A-4147-A177-3AD203B41FA5}">
                      <a16:colId xmlns:a16="http://schemas.microsoft.com/office/drawing/2014/main" val="2640978416"/>
                    </a:ext>
                  </a:extLst>
                </a:gridCol>
              </a:tblGrid>
              <a:tr h="186129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仓类别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位置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仓位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日机级别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操作备注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1857369"/>
                  </a:ext>
                </a:extLst>
              </a:tr>
              <a:tr h="189133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_</a:t>
                      </a:r>
                      <a:r>
                        <a:rPr lang="en-US" altLang="zh-CN" sz="800" b="1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aO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合触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浮仓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高机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顺势机会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高抛低吸。宽≥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减至底仓；触顶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高偏连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可减至底仓；遇阴柱可低吸高抛。特殊情况：要剔除顶部忽然触顶诱多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五柱内仅一柱触顶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4592787"/>
                  </a:ext>
                </a:extLst>
              </a:tr>
              <a:tr h="186129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_</a:t>
                      </a:r>
                      <a:r>
                        <a:rPr lang="en-US" altLang="zh-CN" sz="800" b="1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bO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合触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浮仓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高机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顺势机会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高抛低吸。连阳走平不要介入；阳柱可买入等冲高。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1592688"/>
                  </a:ext>
                </a:extLst>
              </a:tr>
              <a:tr h="186129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_</a:t>
                      </a:r>
                      <a:r>
                        <a:rPr lang="en-US" altLang="zh-CN" sz="800" b="1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aX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/_</a:t>
                      </a:r>
                      <a:r>
                        <a:rPr lang="en-US" altLang="zh-CN" sz="800" b="1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bX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合触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底仓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捡漏机会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剧烈震荡，应在冲高止盈，此处可以守仓或试仓。在合顶且刚刚触顶情况下，下破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很可能捡漏。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5525713"/>
                  </a:ext>
                </a:extLst>
              </a:tr>
              <a:tr h="186129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_</a:t>
                      </a:r>
                      <a:r>
                        <a:rPr lang="en-US" altLang="zh-CN" sz="800" b="1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dO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合虎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〇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芽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浮仓</a:t>
                      </a:r>
                      <a:r>
                        <a:rPr kumimoji="0" lang="en-US" altLang="zh-CN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+</a:t>
                      </a:r>
                      <a:r>
                        <a:rPr kumimoji="0" lang="zh-CN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底仓</a:t>
                      </a:r>
                      <a:endParaRPr kumimoji="0" lang="zh-CN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低机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(T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哼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=-3/-4)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。按丘宽进行分类：宽小可以参考；已冲高宽大一定要弃；如果前期长久触顶不要介入。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6471313"/>
                  </a:ext>
                </a:extLst>
              </a:tr>
              <a:tr h="186129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_</a:t>
                      </a:r>
                      <a:r>
                        <a:rPr lang="en-US" altLang="zh-CN" sz="800" b="1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合虎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底仓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(T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哼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=-3/-4)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。尽量不参与。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1690285"/>
                  </a:ext>
                </a:extLst>
              </a:tr>
              <a:tr h="186129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_</a:t>
                      </a:r>
                      <a:r>
                        <a:rPr lang="en-US" altLang="zh-CN" sz="800" b="1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sO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离顶：已触哼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未触哼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底仓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低机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试仓机会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仅少数站稳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且多次触哼，有希望触顶才可介入。要关注</a:t>
                      </a:r>
                      <a:r>
                        <a:rPr lang="zh-CN" altLang="en-US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是否为升排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433760"/>
                  </a:ext>
                </a:extLst>
              </a:tr>
              <a:tr h="186129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_</a:t>
                      </a:r>
                      <a:r>
                        <a:rPr lang="en-US" altLang="zh-CN" sz="800" b="1" dirty="0" err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sX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离顶：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无仓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震荡。不要参与。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1479583"/>
                  </a:ext>
                </a:extLst>
              </a:tr>
              <a:tr h="186129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上；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无仓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底仓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之上维持底仓；且不破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不出。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9776246"/>
                  </a:ext>
                </a:extLst>
              </a:tr>
              <a:tr h="186129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y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上；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无仓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清仓。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2394718"/>
                  </a:ext>
                </a:extLst>
              </a:tr>
              <a:tr h="186129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z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禁入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/DJE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288186"/>
                  </a:ext>
                </a:extLst>
              </a:tr>
            </a:tbl>
          </a:graphicData>
        </a:graphic>
      </p:graphicFrame>
      <p:graphicFrame>
        <p:nvGraphicFramePr>
          <p:cNvPr id="8" name="表格 7">
            <a:extLst>
              <a:ext uri="{FF2B5EF4-FFF2-40B4-BE49-F238E27FC236}">
                <a16:creationId xmlns:a16="http://schemas.microsoft.com/office/drawing/2014/main" id="{A60EF7E7-2A8C-B811-205B-4DE94AB3B019}"/>
              </a:ext>
            </a:extLst>
          </p:cNvPr>
          <p:cNvGraphicFramePr>
            <a:graphicFrameLocks noGrp="1"/>
          </p:cNvGraphicFramePr>
          <p:nvPr/>
        </p:nvGraphicFramePr>
        <p:xfrm>
          <a:off x="0" y="720000"/>
          <a:ext cx="12192000" cy="2286000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3164746">
                  <a:extLst>
                    <a:ext uri="{9D8B030D-6E8A-4147-A177-3AD203B41FA5}">
                      <a16:colId xmlns:a16="http://schemas.microsoft.com/office/drawing/2014/main" val="3983672982"/>
                    </a:ext>
                  </a:extLst>
                </a:gridCol>
                <a:gridCol w="3240445">
                  <a:extLst>
                    <a:ext uri="{9D8B030D-6E8A-4147-A177-3AD203B41FA5}">
                      <a16:colId xmlns:a16="http://schemas.microsoft.com/office/drawing/2014/main" val="2740362188"/>
                    </a:ext>
                  </a:extLst>
                </a:gridCol>
                <a:gridCol w="5786809">
                  <a:extLst>
                    <a:ext uri="{9D8B030D-6E8A-4147-A177-3AD203B41FA5}">
                      <a16:colId xmlns:a16="http://schemas.microsoft.com/office/drawing/2014/main" val="3056964950"/>
                    </a:ext>
                  </a:extLst>
                </a:gridCol>
              </a:tblGrid>
              <a:tr h="210600">
                <a:tc gridSpan="3">
                  <a:txBody>
                    <a:bodyPr/>
                    <a:lstStyle/>
                    <a:p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正交时各种情况的持有理由（前提是已经满足周类条件）：核心是以日管（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DJC,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顶）映射为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之上周柱。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5474523"/>
                  </a:ext>
                </a:extLst>
              </a:tr>
              <a:tr h="210600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日类走势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对应的周级别走势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仓位应对策略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8299355"/>
                  </a:ext>
                </a:extLst>
              </a:tr>
              <a:tr h="210600">
                <a:tc>
                  <a:txBody>
                    <a:bodyPr/>
                    <a:lstStyle/>
                    <a:p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多头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之上阳柱或阴柱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主动介入。在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之上，寻找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劫与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劫恢复的经典模式；在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之下被动持有。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8533555"/>
                  </a:ext>
                </a:extLst>
              </a:tr>
              <a:tr h="2106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多头，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DXAB&gt;0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DXZB&lt;0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DXZC&gt;0</a:t>
                      </a:r>
                      <a:endParaRPr lang="zh-CN" altLang="en-US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之上阴柱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不主动介入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07150781"/>
                  </a:ext>
                </a:extLst>
              </a:tr>
              <a:tr h="2106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DJCBA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多头，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DXAB&lt;0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DXZC&gt;0</a:t>
                      </a:r>
                      <a:endParaRPr lang="zh-CN" altLang="en-US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之上阴柱连跌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不主动介入。等待站上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后再主动介入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1117114"/>
                  </a:ext>
                </a:extLst>
              </a:tr>
              <a:tr h="210600">
                <a:tc>
                  <a:txBody>
                    <a:bodyPr/>
                    <a:lstStyle/>
                    <a:p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DXZC&lt;0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，本周中下破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endParaRPr lang="zh-CN" altLang="en-US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本周中下破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，可赌本周末站回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endParaRPr lang="zh-CN" altLang="en-US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不主动介入。等待站上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DJB&amp;DJC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再主动介入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9748384"/>
                  </a:ext>
                </a:extLst>
              </a:tr>
              <a:tr h="210600">
                <a:tc>
                  <a:txBody>
                    <a:bodyPr/>
                    <a:lstStyle/>
                    <a:p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DXZC&lt;0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，本周末下破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endParaRPr lang="zh-CN" altLang="en-US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本周末下破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，可赌下周立刻上破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endParaRPr lang="zh-CN" altLang="en-US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不主动介入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948774"/>
                  </a:ext>
                </a:extLst>
              </a:tr>
              <a:tr h="210600"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上周末下破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后，本周末仍在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endParaRPr lang="zh-CN" altLang="en-US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可提前退出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9847193"/>
                  </a:ext>
                </a:extLst>
              </a:tr>
              <a:tr h="210600"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endParaRPr lang="zh-CN" altLang="en-US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可退出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8373264"/>
                  </a:ext>
                </a:extLst>
              </a:tr>
              <a:tr h="210600"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</a:t>
                      </a:r>
                      <a:endParaRPr lang="zh-CN" altLang="en-US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9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可退出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06282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06187860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CBAC26-D56C-754D-0843-4EFAA34937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>
            <a:extLst>
              <a:ext uri="{FF2B5EF4-FFF2-40B4-BE49-F238E27FC236}">
                <a16:creationId xmlns:a16="http://schemas.microsoft.com/office/drawing/2014/main" id="{E90D1A09-2184-ED08-7F92-5B6D8BFE3F06}"/>
              </a:ext>
            </a:extLst>
          </p:cNvPr>
          <p:cNvSpPr/>
          <p:nvPr/>
        </p:nvSpPr>
        <p:spPr>
          <a:xfrm>
            <a:off x="1306277" y="3513424"/>
            <a:ext cx="10885720" cy="720000"/>
          </a:xfrm>
          <a:prstGeom prst="rect">
            <a:avLst/>
          </a:prstGeom>
          <a:solidFill>
            <a:srgbClr val="548235">
              <a:alpha val="5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注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20241111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：要以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为保险带（破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就出来），不要单独下破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/DJB/DJA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就出来，可以结合形态逆踢，但满足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且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20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之上且升排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需要再进入。</a:t>
            </a:r>
          </a:p>
          <a:p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5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）替代候选项：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，只能逆踢。下破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后，不会立刻创新高，所以可以将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替代为（不破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不退出）；但后续站上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要再次进入，从而替代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</a:p>
          <a:p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6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）替代候选项：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，只能逆踢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 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。主要针对两种情况：冲高形成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BSHA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偏较大；连阳形成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DTZA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较久。由于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不具备趋势性，频繁进出会存在大量摩擦亏损。</a:t>
            </a:r>
          </a:p>
          <a:p>
            <a:endParaRPr lang="en-US" altLang="zh-CN" sz="12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zh-CN" altLang="en-US" sz="12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EAB24454-4D0C-B60A-09CD-E7FC4E96D6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单条形式的卖出条件汇总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本页罗列单独形式的卖出条件。后续讨论替代的操盘策略。再对不同仓位应用不同的操盘策略，从而构成完整的操盘策略。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C1714381-DCA0-1E28-B419-3190D61EFBB0}"/>
              </a:ext>
            </a:extLst>
          </p:cNvPr>
          <p:cNvSpPr/>
          <p:nvPr/>
        </p:nvSpPr>
        <p:spPr>
          <a:xfrm>
            <a:off x="1" y="720001"/>
            <a:ext cx="653142" cy="2628000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止损</a:t>
            </a:r>
            <a:endParaRPr lang="en-US" altLang="zh-CN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条件</a:t>
            </a:r>
            <a:endParaRPr lang="en-US" altLang="zh-CN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</a:t>
            </a:r>
            <a:endParaRPr lang="en-US" altLang="zh-CN" sz="10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依赖</a:t>
            </a:r>
            <a:endParaRPr lang="en-US" altLang="zh-CN" sz="10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周线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20FEA966-DFB0-E354-E18F-EE09F13839D1}"/>
              </a:ext>
            </a:extLst>
          </p:cNvPr>
          <p:cNvSpPr/>
          <p:nvPr/>
        </p:nvSpPr>
        <p:spPr>
          <a:xfrm>
            <a:off x="653137" y="3511948"/>
            <a:ext cx="653142" cy="720000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逆踢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376A7929-2CCE-1A00-95B7-36960DCEBF2B}"/>
              </a:ext>
            </a:extLst>
          </p:cNvPr>
          <p:cNvSpPr/>
          <p:nvPr/>
        </p:nvSpPr>
        <p:spPr>
          <a:xfrm>
            <a:off x="653135" y="4231710"/>
            <a:ext cx="653142" cy="684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逆踢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174AF7C2-05C1-9D44-EC8C-D321DD0302B5}"/>
              </a:ext>
            </a:extLst>
          </p:cNvPr>
          <p:cNvSpPr/>
          <p:nvPr/>
        </p:nvSpPr>
        <p:spPr>
          <a:xfrm>
            <a:off x="653143" y="720001"/>
            <a:ext cx="11538858" cy="2628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为保证经历最高点，不能依赖形态，而必须依靠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吃开口饭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与均线是否相交作为持仓判断准则。</a:t>
            </a:r>
            <a:endParaRPr lang="en-US" altLang="zh-CN" sz="11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趋势的逆转必须在周线级别确定。以下详细探讨哪些条件可以替代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[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破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WJB]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进行止损。替代的具体要求是，虽然在中间可以卖出，但不错过任何上涨波段。</a:t>
            </a:r>
            <a:endParaRPr lang="en-US" altLang="zh-CN" sz="11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）止损按破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代表趋势已逆转。</a:t>
            </a:r>
            <a:endParaRPr lang="en-US" altLang="zh-CN" sz="11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i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可替代为（已验证）</a:t>
            </a:r>
            <a:endParaRPr lang="en-US" altLang="zh-CN" sz="800" i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）止损按破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遍历观察，可以得出结论，下破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能够代表趋势已逆转。见专页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《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周类操盘算法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》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11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i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可部分替代为</a:t>
            </a:r>
            <a:endParaRPr lang="en-US" altLang="zh-CN" sz="800" i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3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）止损按破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两柱：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从止损角度，受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压制可以避免后续下跌；但仍有可能只是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WXZA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劫，从而不破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再次上升，要时刻注意再次站上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11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在周线级别，下破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代表已经过前高点；要经过后续高点必须首先站上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。虽然可能出现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之下单柱创新高，通过精确按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进出可替代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11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i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可权宜之计替代为</a:t>
            </a:r>
            <a:endParaRPr lang="en-US" altLang="zh-CN" sz="800" i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4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）止损按破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具有趋势性作用，在之下会始终受压制，等站上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再持有。</a:t>
            </a:r>
            <a:endParaRPr lang="en-US" altLang="zh-CN" sz="11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前序方法在实际操作不可行。例如已下破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，虽然在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之上，但缺失了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支撑，很难有信心继续持有。只能纳入备选池，等待日线上破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择机再入。</a:t>
            </a:r>
            <a:endParaRPr lang="en-US" altLang="zh-CN" sz="11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不要与以上止损方法对立。破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先清仓，再按后续走势选择策略，如果站上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再买入，如果破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两柱或破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就不再参与。风险是资金被占用或再次启动时无法买入。</a:t>
            </a:r>
            <a:endParaRPr lang="en-US" altLang="zh-CN" sz="11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注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20241115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：止损按破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与破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的区别：破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代表趋势逆转；破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不能代表趋势逆转，但可以不再承受下跌损失。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在周级别，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(WJA,WJB)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属于方向抉择区域。仅在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之上进行操作，在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(WJA,WJB)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之间只提供备选，不持有实际仓位。</a:t>
            </a:r>
            <a:endParaRPr lang="en-US" altLang="zh-CN" sz="11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【DJC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飞翔理念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一切按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丘飞翔来碰运气，不下破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不放弃仓位。根据镜面对称原理，如果认为下破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就要卖出，那么上破</a:t>
            </a:r>
            <a:r>
              <a:rPr lang="en-US" altLang="zh-CN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就应买入。</a:t>
            </a:r>
            <a:endParaRPr lang="en-US" altLang="zh-CN" sz="11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（综上）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为生死线；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为病危线；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为健康线。备选范围为：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WXZC&gt;0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且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WXZB&gt;0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。持仓范围为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  <a:sym typeface="Wingdings" panose="05000000000000000000" pitchFamily="2" charset="2"/>
              </a:rPr>
              <a:t>：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  <a:sym typeface="Wingdings" panose="05000000000000000000" pitchFamily="2" charset="2"/>
              </a:rPr>
              <a:t>(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满足备选范围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)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且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DXZC&gt;0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zh-CN" altLang="en-US" sz="12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CC01A2C4-8113-92CD-C0F3-B3F5AD8667B6}"/>
              </a:ext>
            </a:extLst>
          </p:cNvPr>
          <p:cNvSpPr/>
          <p:nvPr/>
        </p:nvSpPr>
        <p:spPr>
          <a:xfrm>
            <a:off x="-1" y="3333424"/>
            <a:ext cx="12192000" cy="180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上为止损讨论，没有太多争议。以下为提前退出方法讨论，需要依据特殊情况，仍有很多待解决问题。以上方法均能对先前的方法形成完美替代，即不错过原有上涨波段；但以下方法很可能会错过后续上涨波段，只能用于浮仓操作。</a:t>
            </a: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9A139511-BFAB-DDDF-AC84-628924403BD4}"/>
              </a:ext>
            </a:extLst>
          </p:cNvPr>
          <p:cNvSpPr/>
          <p:nvPr/>
        </p:nvSpPr>
        <p:spPr>
          <a:xfrm>
            <a:off x="1306275" y="4231710"/>
            <a:ext cx="10885720" cy="684000"/>
          </a:xfrm>
          <a:prstGeom prst="rect">
            <a:avLst/>
          </a:prstGeom>
          <a:solidFill>
            <a:srgbClr val="70AD47">
              <a:alpha val="5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7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）替代候选项：离顶。可能</a:t>
            </a:r>
            <a:r>
              <a:rPr lang="zh-CN" altLang="en-US" sz="120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代表主升波段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已经结束，可用于止盈。仅参考，不能替代，最好在触顶时止盈。</a:t>
            </a:r>
            <a:endParaRPr lang="en-US" altLang="zh-CN" sz="12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8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）替代候选项：跌排。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之上形成跌排，仅适用于两种情况：冲高形成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BSHA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偏较大；连阳形成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DTZA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较久。可用于止盈。</a:t>
            </a:r>
          </a:p>
          <a:p>
            <a:endParaRPr lang="en-US" altLang="zh-CN" sz="12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zh-CN" altLang="en-US" sz="12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25FDE649-61E9-D40B-AA98-2E45BD7FC680}"/>
              </a:ext>
            </a:extLst>
          </p:cNvPr>
          <p:cNvSpPr/>
          <p:nvPr/>
        </p:nvSpPr>
        <p:spPr>
          <a:xfrm>
            <a:off x="1" y="3510458"/>
            <a:ext cx="653142" cy="3347541"/>
          </a:xfrm>
          <a:prstGeom prst="rect">
            <a:avLst/>
          </a:pr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卖出</a:t>
            </a: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22A50E8E-141F-A200-AF6D-6FF098244011}"/>
              </a:ext>
            </a:extLst>
          </p:cNvPr>
          <p:cNvSpPr/>
          <p:nvPr/>
        </p:nvSpPr>
        <p:spPr>
          <a:xfrm>
            <a:off x="653135" y="4913371"/>
            <a:ext cx="653142" cy="194462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止盈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23074938-E68F-681E-199C-7D300C771750}"/>
              </a:ext>
            </a:extLst>
          </p:cNvPr>
          <p:cNvSpPr/>
          <p:nvPr/>
        </p:nvSpPr>
        <p:spPr>
          <a:xfrm>
            <a:off x="1306275" y="4913370"/>
            <a:ext cx="10885720" cy="1944629"/>
          </a:xfrm>
          <a:prstGeom prst="rect">
            <a:avLst/>
          </a:prstGeom>
          <a:solidFill>
            <a:schemeClr val="accent4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日类运行规律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波浪前进，每过一段时间，会出现偏离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DJA/DJC/DJE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的波峰，尽量在触顶时卖掉浮仓；剩余底仓止损于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DJE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或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DJE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之上形成下降趋势时。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顶增幅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高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偏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连阳；久上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ZA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宽</a:t>
            </a:r>
            <a:endParaRPr lang="en-US" altLang="zh-CN" sz="12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日级别止盈线：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DJA*1.1 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5%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以上可以考虑止盈；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10%</a:t>
            </a:r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是较好止盈，但如果为阴柱仍是机会）</a:t>
            </a:r>
          </a:p>
          <a:p>
            <a:r>
              <a:rPr lang="zh-CN" altLang="en-US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日级别止盈线：</a:t>
            </a:r>
            <a:r>
              <a:rPr lang="en-US" altLang="zh-CN" sz="12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DJC*1.2</a:t>
            </a:r>
          </a:p>
          <a:p>
            <a:endParaRPr lang="zh-CN" altLang="en-US" sz="12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ED6B2794-91A5-68C3-307B-318908C618D8}"/>
              </a:ext>
            </a:extLst>
          </p:cNvPr>
          <p:cNvSpPr txBox="1"/>
          <p:nvPr/>
        </p:nvSpPr>
        <p:spPr>
          <a:xfrm>
            <a:off x="4623275" y="2507950"/>
            <a:ext cx="7988121" cy="646331"/>
          </a:xfrm>
          <a:prstGeom prst="rect">
            <a:avLst/>
          </a:prstGeom>
          <a:solidFill>
            <a:srgbClr val="FFCCCC">
              <a:alpha val="90000"/>
            </a:srgbClr>
          </a:solidFill>
        </p:spPr>
        <p:txBody>
          <a:bodyPr wrap="square">
            <a:spAutoFit/>
          </a:bodyPr>
          <a:lstStyle/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800" b="1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（注</a:t>
            </a:r>
            <a:r>
              <a:rPr lang="en-US" altLang="zh-CN" sz="1800" b="1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20251025</a:t>
            </a:r>
            <a:r>
              <a:rPr lang="zh-CN" altLang="en-US" sz="1800" b="1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</a:t>
            </a:r>
            <a:r>
              <a:rPr lang="en-US" altLang="zh-CN" sz="1800" b="1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800" b="1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不再承担止损任务，要包容</a:t>
            </a:r>
            <a:r>
              <a:rPr lang="en-US" altLang="zh-CN" sz="1800" b="1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WXZA</a:t>
            </a:r>
            <a:r>
              <a:rPr lang="zh-CN" altLang="en-US" sz="1800" b="1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级别的震荡。）</a:t>
            </a:r>
            <a:endParaRPr lang="en-US" altLang="zh-CN" sz="1800" b="1" dirty="0">
              <a:solidFill>
                <a:srgbClr val="FF0000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800" b="1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只针对“已冲高”“已整弧”，可用</a:t>
            </a:r>
            <a:r>
              <a:rPr lang="en-US" altLang="zh-CN" sz="1800" b="1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1800" b="1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止损。</a:t>
            </a:r>
            <a:endParaRPr lang="en-US" altLang="zh-CN" sz="18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37562448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18E50B-272D-4A01-8251-5749F08DEE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标题 1">
            <a:extLst>
              <a:ext uri="{FF2B5EF4-FFF2-40B4-BE49-F238E27FC236}">
                <a16:creationId xmlns:a16="http://schemas.microsoft.com/office/drawing/2014/main" id="{818ACF72-9549-1FE1-7179-DF8B217DBE56}"/>
              </a:ext>
            </a:extLst>
          </p:cNvPr>
          <p:cNvSpPr txBox="1">
            <a:spLocks/>
          </p:cNvSpPr>
          <p:nvPr/>
        </p:nvSpPr>
        <p:spPr>
          <a:xfrm>
            <a:off x="0" y="-17942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 fontScale="85000" lnSpcReduction="2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】《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日止盈方法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（日级别）主升结构结束信号</a:t>
            </a:r>
            <a:endParaRPr lang="en-US" altLang="zh-CN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要么删除日类信息？要么合并至周类？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本页内容：汇总止盈方法，并研究各方法的使用场景与优先级。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文本框 38">
            <a:extLst>
              <a:ext uri="{FF2B5EF4-FFF2-40B4-BE49-F238E27FC236}">
                <a16:creationId xmlns:a16="http://schemas.microsoft.com/office/drawing/2014/main" id="{4C098A80-AE85-6825-46E3-14A01FC635C3}"/>
              </a:ext>
            </a:extLst>
          </p:cNvPr>
          <p:cNvSpPr txBox="1"/>
          <p:nvPr/>
        </p:nvSpPr>
        <p:spPr>
          <a:xfrm>
            <a:off x="6105600" y="699171"/>
            <a:ext cx="6105600" cy="30777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冲高最后一柱特征（顶部特征）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745FBA4A-BE06-5D33-8C92-F14B442CEACA}"/>
              </a:ext>
            </a:extLst>
          </p:cNvPr>
          <p:cNvSpPr txBox="1"/>
          <p:nvPr/>
        </p:nvSpPr>
        <p:spPr>
          <a:xfrm>
            <a:off x="6108414" y="3916494"/>
            <a:ext cx="14157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连阳之后高开吞阴</a:t>
            </a:r>
          </a:p>
        </p:txBody>
      </p:sp>
      <p:grpSp>
        <p:nvGrpSpPr>
          <p:cNvPr id="4" name="组合 3">
            <a:extLst>
              <a:ext uri="{FF2B5EF4-FFF2-40B4-BE49-F238E27FC236}">
                <a16:creationId xmlns:a16="http://schemas.microsoft.com/office/drawing/2014/main" id="{E93055CE-DFD4-32D2-68B9-9D2F217760D7}"/>
              </a:ext>
            </a:extLst>
          </p:cNvPr>
          <p:cNvGrpSpPr/>
          <p:nvPr/>
        </p:nvGrpSpPr>
        <p:grpSpPr>
          <a:xfrm>
            <a:off x="9153378" y="4283633"/>
            <a:ext cx="422681" cy="504000"/>
            <a:chOff x="7681854" y="4253102"/>
            <a:chExt cx="422681" cy="504000"/>
          </a:xfrm>
        </p:grpSpPr>
        <p:sp>
          <p:nvSpPr>
            <p:cNvPr id="5" name="矩形 4">
              <a:extLst>
                <a:ext uri="{FF2B5EF4-FFF2-40B4-BE49-F238E27FC236}">
                  <a16:creationId xmlns:a16="http://schemas.microsoft.com/office/drawing/2014/main" id="{3B5BFC13-CA62-370B-6808-1FE82467D0C3}"/>
                </a:ext>
              </a:extLst>
            </p:cNvPr>
            <p:cNvSpPr/>
            <p:nvPr/>
          </p:nvSpPr>
          <p:spPr>
            <a:xfrm>
              <a:off x="7681854" y="4541102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" name="矩形 7">
              <a:extLst>
                <a:ext uri="{FF2B5EF4-FFF2-40B4-BE49-F238E27FC236}">
                  <a16:creationId xmlns:a16="http://schemas.microsoft.com/office/drawing/2014/main" id="{4452B01D-A82A-162A-6558-3BB7EA883C78}"/>
                </a:ext>
              </a:extLst>
            </p:cNvPr>
            <p:cNvSpPr/>
            <p:nvPr/>
          </p:nvSpPr>
          <p:spPr>
            <a:xfrm>
              <a:off x="8032535" y="4253102"/>
              <a:ext cx="72000" cy="28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" name="矩形 8">
              <a:extLst>
                <a:ext uri="{FF2B5EF4-FFF2-40B4-BE49-F238E27FC236}">
                  <a16:creationId xmlns:a16="http://schemas.microsoft.com/office/drawing/2014/main" id="{8EBD852E-515A-E56B-1FBB-7CC2E99F2D30}"/>
                </a:ext>
              </a:extLst>
            </p:cNvPr>
            <p:cNvSpPr/>
            <p:nvPr/>
          </p:nvSpPr>
          <p:spPr>
            <a:xfrm>
              <a:off x="7920761" y="4296355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" name="矩形 9">
              <a:extLst>
                <a:ext uri="{FF2B5EF4-FFF2-40B4-BE49-F238E27FC236}">
                  <a16:creationId xmlns:a16="http://schemas.microsoft.com/office/drawing/2014/main" id="{A8BC564C-C2F1-D72D-5B76-94D29C288B72}"/>
                </a:ext>
              </a:extLst>
            </p:cNvPr>
            <p:cNvSpPr/>
            <p:nvPr/>
          </p:nvSpPr>
          <p:spPr>
            <a:xfrm>
              <a:off x="7797984" y="4433102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1" name="文本框 10">
            <a:extLst>
              <a:ext uri="{FF2B5EF4-FFF2-40B4-BE49-F238E27FC236}">
                <a16:creationId xmlns:a16="http://schemas.microsoft.com/office/drawing/2014/main" id="{07868010-9BC2-8F7C-DDE9-00D2A74104EC}"/>
              </a:ext>
            </a:extLst>
          </p:cNvPr>
          <p:cNvSpPr txBox="1"/>
          <p:nvPr/>
        </p:nvSpPr>
        <p:spPr>
          <a:xfrm>
            <a:off x="6105600" y="1022931"/>
            <a:ext cx="56316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连续拉升后，不重叠柱体，逐渐转变为，</a:t>
            </a:r>
            <a:r>
              <a:rPr lang="en-US" altLang="zh-CN" sz="12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12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并排平移</a:t>
            </a:r>
            <a:r>
              <a:rPr lang="en-US" altLang="zh-CN" sz="12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(</a:t>
            </a:r>
            <a:r>
              <a:rPr lang="zh-CN" altLang="en-US" sz="12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十字星或小阳柱</a:t>
            </a:r>
            <a:r>
              <a:rPr lang="en-US" altLang="zh-CN" sz="12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)/</a:t>
            </a:r>
            <a:r>
              <a:rPr lang="zh-CN" altLang="en-US" sz="12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阴阳交错。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37EB8EA8-B056-03D1-EFDC-34E07712B762}"/>
              </a:ext>
            </a:extLst>
          </p:cNvPr>
          <p:cNvSpPr txBox="1"/>
          <p:nvPr/>
        </p:nvSpPr>
        <p:spPr>
          <a:xfrm>
            <a:off x="6105600" y="2014181"/>
            <a:ext cx="295465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冲高形成偏离较大后迅速回撤：射击之星</a:t>
            </a: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E279CC1C-3B7B-72E9-9A63-5ABF3E2F7D1C}"/>
              </a:ext>
            </a:extLst>
          </p:cNvPr>
          <p:cNvSpPr txBox="1"/>
          <p:nvPr/>
        </p:nvSpPr>
        <p:spPr>
          <a:xfrm>
            <a:off x="6058713" y="2902471"/>
            <a:ext cx="37240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连阳之后悬空阴柱（可能仍是上涨但柱体高开低收）</a:t>
            </a:r>
          </a:p>
        </p:txBody>
      </p:sp>
      <p:pic>
        <p:nvPicPr>
          <p:cNvPr id="17" name="图片 16">
            <a:extLst>
              <a:ext uri="{FF2B5EF4-FFF2-40B4-BE49-F238E27FC236}">
                <a16:creationId xmlns:a16="http://schemas.microsoft.com/office/drawing/2014/main" id="{BF1C94F4-BD39-7A44-9482-6D81D567D6D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27111" y="4210731"/>
            <a:ext cx="1800000" cy="669400"/>
          </a:xfrm>
          <a:prstGeom prst="rect">
            <a:avLst/>
          </a:prstGeom>
        </p:spPr>
      </p:pic>
      <p:pic>
        <p:nvPicPr>
          <p:cNvPr id="19" name="图片 18">
            <a:extLst>
              <a:ext uri="{FF2B5EF4-FFF2-40B4-BE49-F238E27FC236}">
                <a16:creationId xmlns:a16="http://schemas.microsoft.com/office/drawing/2014/main" id="{8CCE03F6-2710-444F-A5EA-70F761CCA67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6782" y="3138555"/>
            <a:ext cx="1672258" cy="804859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00DEAA9F-5F40-ADE2-0574-3FBD1880614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108414" y="3138555"/>
            <a:ext cx="1264390" cy="804859"/>
          </a:xfrm>
          <a:prstGeom prst="rect">
            <a:avLst/>
          </a:prstGeom>
        </p:spPr>
      </p:pic>
      <p:grpSp>
        <p:nvGrpSpPr>
          <p:cNvPr id="48" name="组合 47">
            <a:extLst>
              <a:ext uri="{FF2B5EF4-FFF2-40B4-BE49-F238E27FC236}">
                <a16:creationId xmlns:a16="http://schemas.microsoft.com/office/drawing/2014/main" id="{272E9C85-2386-B359-49DA-7710DA4B482B}"/>
              </a:ext>
            </a:extLst>
          </p:cNvPr>
          <p:cNvGrpSpPr/>
          <p:nvPr/>
        </p:nvGrpSpPr>
        <p:grpSpPr>
          <a:xfrm>
            <a:off x="6101669" y="2251058"/>
            <a:ext cx="1800000" cy="663529"/>
            <a:chOff x="9853026" y="2948407"/>
            <a:chExt cx="1800000" cy="663529"/>
          </a:xfrm>
        </p:grpSpPr>
        <p:pic>
          <p:nvPicPr>
            <p:cNvPr id="46" name="图片 45">
              <a:extLst>
                <a:ext uri="{FF2B5EF4-FFF2-40B4-BE49-F238E27FC236}">
                  <a16:creationId xmlns:a16="http://schemas.microsoft.com/office/drawing/2014/main" id="{E9D2EE84-8BC4-2C9D-C575-4459F3A0128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9853026" y="2948407"/>
              <a:ext cx="1800000" cy="663529"/>
            </a:xfrm>
            <a:prstGeom prst="rect">
              <a:avLst/>
            </a:prstGeom>
          </p:spPr>
        </p:pic>
        <p:sp>
          <p:nvSpPr>
            <p:cNvPr id="47" name="文本框 46">
              <a:extLst>
                <a:ext uri="{FF2B5EF4-FFF2-40B4-BE49-F238E27FC236}">
                  <a16:creationId xmlns:a16="http://schemas.microsoft.com/office/drawing/2014/main" id="{EFD18278-2545-C067-2264-2387A5446F6B}"/>
                </a:ext>
              </a:extLst>
            </p:cNvPr>
            <p:cNvSpPr txBox="1"/>
            <p:nvPr/>
          </p:nvSpPr>
          <p:spPr>
            <a:xfrm>
              <a:off x="9853026" y="2948407"/>
              <a:ext cx="116259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菲达环保</a:t>
              </a:r>
              <a:r>
                <a:rPr lang="en-US" altLang="zh-CN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20130116</a:t>
              </a:r>
              <a:endParaRPr lang="zh-CN" altLang="en-US" sz="8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54" name="组合 53">
            <a:extLst>
              <a:ext uri="{FF2B5EF4-FFF2-40B4-BE49-F238E27FC236}">
                <a16:creationId xmlns:a16="http://schemas.microsoft.com/office/drawing/2014/main" id="{DAD4D4B6-F471-01F5-2C80-E37CC448CAF1}"/>
              </a:ext>
            </a:extLst>
          </p:cNvPr>
          <p:cNvGrpSpPr/>
          <p:nvPr/>
        </p:nvGrpSpPr>
        <p:grpSpPr>
          <a:xfrm>
            <a:off x="6105378" y="1262299"/>
            <a:ext cx="1800000" cy="764571"/>
            <a:chOff x="7967549" y="1483880"/>
            <a:chExt cx="1800000" cy="764571"/>
          </a:xfrm>
        </p:grpSpPr>
        <p:pic>
          <p:nvPicPr>
            <p:cNvPr id="52" name="图片 51">
              <a:extLst>
                <a:ext uri="{FF2B5EF4-FFF2-40B4-BE49-F238E27FC236}">
                  <a16:creationId xmlns:a16="http://schemas.microsoft.com/office/drawing/2014/main" id="{5793741D-B7F4-7FCD-5C79-1EE355C68F9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7967549" y="1483880"/>
              <a:ext cx="1800000" cy="764571"/>
            </a:xfrm>
            <a:prstGeom prst="rect">
              <a:avLst/>
            </a:prstGeom>
          </p:spPr>
        </p:pic>
        <p:sp>
          <p:nvSpPr>
            <p:cNvPr id="53" name="文本框 52">
              <a:extLst>
                <a:ext uri="{FF2B5EF4-FFF2-40B4-BE49-F238E27FC236}">
                  <a16:creationId xmlns:a16="http://schemas.microsoft.com/office/drawing/2014/main" id="{F55D69A7-8CA8-7561-3779-D60C0BAF30F0}"/>
                </a:ext>
              </a:extLst>
            </p:cNvPr>
            <p:cNvSpPr txBox="1"/>
            <p:nvPr/>
          </p:nvSpPr>
          <p:spPr>
            <a:xfrm>
              <a:off x="7967549" y="1490346"/>
              <a:ext cx="116259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菲达环保</a:t>
              </a:r>
              <a:r>
                <a:rPr lang="en-US" altLang="zh-CN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20140815</a:t>
              </a:r>
              <a:endParaRPr lang="zh-CN" altLang="en-US" sz="8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56" name="图片 55">
            <a:extLst>
              <a:ext uri="{FF2B5EF4-FFF2-40B4-BE49-F238E27FC236}">
                <a16:creationId xmlns:a16="http://schemas.microsoft.com/office/drawing/2014/main" id="{7338DA7B-9EEA-90F1-A740-941F504BE86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105378" y="4181949"/>
            <a:ext cx="565517" cy="720000"/>
          </a:xfrm>
          <a:prstGeom prst="rect">
            <a:avLst/>
          </a:prstGeom>
        </p:spPr>
      </p:pic>
      <p:sp>
        <p:nvSpPr>
          <p:cNvPr id="3" name="文本框 2">
            <a:extLst>
              <a:ext uri="{FF2B5EF4-FFF2-40B4-BE49-F238E27FC236}">
                <a16:creationId xmlns:a16="http://schemas.microsoft.com/office/drawing/2014/main" id="{B60C9566-49C1-2267-D78B-B2321B84020D}"/>
              </a:ext>
            </a:extLst>
          </p:cNvPr>
          <p:cNvSpPr txBox="1"/>
          <p:nvPr/>
        </p:nvSpPr>
        <p:spPr>
          <a:xfrm>
            <a:off x="-6206" y="2363862"/>
            <a:ext cx="6096000" cy="193899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（待完成）日类抓顶部：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要对冲高及随后回落进行单列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在日乾控制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  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日级别止盈线：顶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&gt;DJC×1.2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日级别止盈线：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DJA*1.1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 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（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5%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以上可以考虑止盈；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10%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是较好止盈，但如果为阴柱仍是机会）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寻找日类尾部标志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限制平震调整不超过五柱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  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G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，但（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en-US" altLang="zh-CN" sz="1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tZA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）：参考北方国际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20190416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，更应关注是否冲高后止盈。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KL  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每一波日类波动最顶部特征是哪种：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DSHA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大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连续触顶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走平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文本框 66">
            <a:extLst>
              <a:ext uri="{FF2B5EF4-FFF2-40B4-BE49-F238E27FC236}">
                <a16:creationId xmlns:a16="http://schemas.microsoft.com/office/drawing/2014/main" id="{64F1888A-8D49-291F-6B71-7B734DAB685D}"/>
              </a:ext>
            </a:extLst>
          </p:cNvPr>
          <p:cNvSpPr txBox="1"/>
          <p:nvPr/>
        </p:nvSpPr>
        <p:spPr>
          <a:xfrm>
            <a:off x="0" y="697014"/>
            <a:ext cx="6105378" cy="1231106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左侧止盈专页（主要针对急弧）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顶增幅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宽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" name="直接连接符 34">
            <a:extLst>
              <a:ext uri="{FF2B5EF4-FFF2-40B4-BE49-F238E27FC236}">
                <a16:creationId xmlns:a16="http://schemas.microsoft.com/office/drawing/2014/main" id="{C7C69F4E-B621-C7C1-CE8B-C1C2DEB7D3C5}"/>
              </a:ext>
            </a:extLst>
          </p:cNvPr>
          <p:cNvCxnSpPr>
            <a:cxnSpLocks/>
          </p:cNvCxnSpPr>
          <p:nvPr/>
        </p:nvCxnSpPr>
        <p:spPr>
          <a:xfrm>
            <a:off x="6096000" y="692263"/>
            <a:ext cx="0" cy="6165737"/>
          </a:xfrm>
          <a:prstGeom prst="line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>
            <a:extLst>
              <a:ext uri="{FF2B5EF4-FFF2-40B4-BE49-F238E27FC236}">
                <a16:creationId xmlns:a16="http://schemas.microsoft.com/office/drawing/2014/main" id="{711DD96C-7E5A-1629-00D3-C91046BB9932}"/>
              </a:ext>
            </a:extLst>
          </p:cNvPr>
          <p:cNvCxnSpPr>
            <a:cxnSpLocks/>
          </p:cNvCxnSpPr>
          <p:nvPr/>
        </p:nvCxnSpPr>
        <p:spPr>
          <a:xfrm flipV="1">
            <a:off x="8373471" y="1410515"/>
            <a:ext cx="932037" cy="592089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箭头连接符 24">
            <a:extLst>
              <a:ext uri="{FF2B5EF4-FFF2-40B4-BE49-F238E27FC236}">
                <a16:creationId xmlns:a16="http://schemas.microsoft.com/office/drawing/2014/main" id="{D25DBD21-AA32-9F7E-66B4-FB473DE57D1C}"/>
              </a:ext>
            </a:extLst>
          </p:cNvPr>
          <p:cNvCxnSpPr/>
          <p:nvPr/>
        </p:nvCxnSpPr>
        <p:spPr>
          <a:xfrm flipV="1">
            <a:off x="8373471" y="1413458"/>
            <a:ext cx="464200" cy="551633"/>
          </a:xfrm>
          <a:prstGeom prst="straightConnector1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矩形 25">
            <a:extLst>
              <a:ext uri="{FF2B5EF4-FFF2-40B4-BE49-F238E27FC236}">
                <a16:creationId xmlns:a16="http://schemas.microsoft.com/office/drawing/2014/main" id="{5C433AF0-CE43-66C9-DD46-CB8D1B0A2A02}"/>
              </a:ext>
            </a:extLst>
          </p:cNvPr>
          <p:cNvSpPr/>
          <p:nvPr/>
        </p:nvSpPr>
        <p:spPr>
          <a:xfrm>
            <a:off x="8885435" y="1413458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3842A43B-AE9E-CA23-8E3E-B2BDCA80AB33}"/>
              </a:ext>
            </a:extLst>
          </p:cNvPr>
          <p:cNvSpPr/>
          <p:nvPr/>
        </p:nvSpPr>
        <p:spPr>
          <a:xfrm>
            <a:off x="9030976" y="1406969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矩形 27">
            <a:extLst>
              <a:ext uri="{FF2B5EF4-FFF2-40B4-BE49-F238E27FC236}">
                <a16:creationId xmlns:a16="http://schemas.microsoft.com/office/drawing/2014/main" id="{89EF7AF4-CA2C-A650-115F-3FF3CA539460}"/>
              </a:ext>
            </a:extLst>
          </p:cNvPr>
          <p:cNvSpPr/>
          <p:nvPr/>
        </p:nvSpPr>
        <p:spPr>
          <a:xfrm>
            <a:off x="9154986" y="1323458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5BDC3763-6FE2-E8AD-B693-FED6D7D0514C}"/>
              </a:ext>
            </a:extLst>
          </p:cNvPr>
          <p:cNvSpPr/>
          <p:nvPr/>
        </p:nvSpPr>
        <p:spPr>
          <a:xfrm>
            <a:off x="9284332" y="1334969"/>
            <a:ext cx="72000" cy="180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文本框 29">
            <a:extLst>
              <a:ext uri="{FF2B5EF4-FFF2-40B4-BE49-F238E27FC236}">
                <a16:creationId xmlns:a16="http://schemas.microsoft.com/office/drawing/2014/main" id="{FE3D1669-AFB4-7DF3-72CF-D5C1FAD0CBAB}"/>
              </a:ext>
            </a:extLst>
          </p:cNvPr>
          <p:cNvSpPr txBox="1"/>
          <p:nvPr/>
        </p:nvSpPr>
        <p:spPr>
          <a:xfrm>
            <a:off x="8837671" y="1611596"/>
            <a:ext cx="6749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800" dirty="0"/>
              <a:t>快速上升后平移后下破</a:t>
            </a:r>
            <a:r>
              <a:rPr lang="en-US" altLang="zh-CN" sz="800" dirty="0"/>
              <a:t>DJA</a:t>
            </a:r>
            <a:endParaRPr lang="zh-CN" altLang="en-US" sz="800" dirty="0"/>
          </a:p>
        </p:txBody>
      </p:sp>
      <p:cxnSp>
        <p:nvCxnSpPr>
          <p:cNvPr id="31" name="直接连接符 30">
            <a:extLst>
              <a:ext uri="{FF2B5EF4-FFF2-40B4-BE49-F238E27FC236}">
                <a16:creationId xmlns:a16="http://schemas.microsoft.com/office/drawing/2014/main" id="{B99E5499-DA65-F056-5E2F-2EFDA2A747AB}"/>
              </a:ext>
            </a:extLst>
          </p:cNvPr>
          <p:cNvCxnSpPr>
            <a:cxnSpLocks/>
          </p:cNvCxnSpPr>
          <p:nvPr/>
        </p:nvCxnSpPr>
        <p:spPr>
          <a:xfrm flipV="1">
            <a:off x="8421235" y="2309004"/>
            <a:ext cx="932037" cy="592089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箭头连接符 31">
            <a:extLst>
              <a:ext uri="{FF2B5EF4-FFF2-40B4-BE49-F238E27FC236}">
                <a16:creationId xmlns:a16="http://schemas.microsoft.com/office/drawing/2014/main" id="{65682984-9C03-17BB-31EA-7EE5D8CA338B}"/>
              </a:ext>
            </a:extLst>
          </p:cNvPr>
          <p:cNvCxnSpPr/>
          <p:nvPr/>
        </p:nvCxnSpPr>
        <p:spPr>
          <a:xfrm flipV="1">
            <a:off x="8421235" y="2311947"/>
            <a:ext cx="464200" cy="551633"/>
          </a:xfrm>
          <a:prstGeom prst="straightConnector1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矩形 33">
            <a:extLst>
              <a:ext uri="{FF2B5EF4-FFF2-40B4-BE49-F238E27FC236}">
                <a16:creationId xmlns:a16="http://schemas.microsoft.com/office/drawing/2014/main" id="{03A9D391-3C1B-FD4C-B355-2942A3518D6E}"/>
              </a:ext>
            </a:extLst>
          </p:cNvPr>
          <p:cNvSpPr/>
          <p:nvPr/>
        </p:nvSpPr>
        <p:spPr>
          <a:xfrm>
            <a:off x="9021348" y="2373831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D2C995FB-9028-2A10-A684-23227D9732EA}"/>
              </a:ext>
            </a:extLst>
          </p:cNvPr>
          <p:cNvSpPr/>
          <p:nvPr/>
        </p:nvSpPr>
        <p:spPr>
          <a:xfrm>
            <a:off x="9145358" y="2290320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88802538-F5F9-9B74-0A28-F10080D2CC6F}"/>
              </a:ext>
            </a:extLst>
          </p:cNvPr>
          <p:cNvSpPr/>
          <p:nvPr/>
        </p:nvSpPr>
        <p:spPr>
          <a:xfrm>
            <a:off x="8900845" y="2327192"/>
            <a:ext cx="72000" cy="180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文本框 39">
            <a:extLst>
              <a:ext uri="{FF2B5EF4-FFF2-40B4-BE49-F238E27FC236}">
                <a16:creationId xmlns:a16="http://schemas.microsoft.com/office/drawing/2014/main" id="{5B6AE3EA-C037-D1A1-9EFE-FF1D95A3C32B}"/>
              </a:ext>
            </a:extLst>
          </p:cNvPr>
          <p:cNvSpPr txBox="1"/>
          <p:nvPr/>
        </p:nvSpPr>
        <p:spPr>
          <a:xfrm>
            <a:off x="8885435" y="2510085"/>
            <a:ext cx="6749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800" dirty="0"/>
              <a:t>快速上升后回踩后下破</a:t>
            </a:r>
            <a:r>
              <a:rPr lang="en-US" altLang="zh-CN" sz="800" dirty="0"/>
              <a:t>DJA</a:t>
            </a:r>
            <a:endParaRPr lang="zh-CN" altLang="en-US" sz="800" dirty="0"/>
          </a:p>
        </p:txBody>
      </p:sp>
      <p:sp>
        <p:nvSpPr>
          <p:cNvPr id="41" name="矩形 40">
            <a:extLst>
              <a:ext uri="{FF2B5EF4-FFF2-40B4-BE49-F238E27FC236}">
                <a16:creationId xmlns:a16="http://schemas.microsoft.com/office/drawing/2014/main" id="{67E9FB1B-56DB-98E0-9AB7-8F3E99AE569A}"/>
              </a:ext>
            </a:extLst>
          </p:cNvPr>
          <p:cNvSpPr/>
          <p:nvPr/>
        </p:nvSpPr>
        <p:spPr>
          <a:xfrm>
            <a:off x="9261220" y="2235969"/>
            <a:ext cx="72000" cy="180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15397FEE-BF5F-F48A-AE44-924C0BE545F6}"/>
              </a:ext>
            </a:extLst>
          </p:cNvPr>
          <p:cNvSpPr txBox="1"/>
          <p:nvPr/>
        </p:nvSpPr>
        <p:spPr>
          <a:xfrm>
            <a:off x="5563" y="5964658"/>
            <a:ext cx="6084874" cy="938719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待研究：进行两项统计涨停发生的位置（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/DJA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/DJA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/DJC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/DJE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之下）。</a:t>
            </a:r>
            <a:endParaRPr lang="en-US" altLang="zh-CN" sz="11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）统计每日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暴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中涨停发生的位置。</a:t>
            </a:r>
            <a:endParaRPr lang="en-US" altLang="zh-CN" sz="11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）遍历统计每只股票，在所有时间维度，涨停发生的位置。</a:t>
            </a:r>
            <a:endParaRPr lang="en-US" altLang="zh-CN" sz="11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待解决问题：按照不同的位置进行分类，统计最有可能出现涨停的位置与形态；按照规律进项筛选并编制推荐指数。</a:t>
            </a:r>
          </a:p>
        </p:txBody>
      </p:sp>
    </p:spTree>
    <p:extLst>
      <p:ext uri="{BB962C8B-B14F-4D97-AF65-F5344CB8AC3E}">
        <p14:creationId xmlns:p14="http://schemas.microsoft.com/office/powerpoint/2010/main" val="99840996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CCC0F7-3EBA-63DF-82C0-F4844C0600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2AFDFBE0-048A-71C9-A975-B83E24E6E0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】WJC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生命周期中的核心主题</a:t>
            </a:r>
            <a:b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【WJC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基于葛兰比法则，只依赖周类划定生命周期（不依赖日类划定生命周期），并据此分别研究核心主题。核心思维方式：不预测，只应对。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0" name="表格 19">
            <a:extLst>
              <a:ext uri="{FF2B5EF4-FFF2-40B4-BE49-F238E27FC236}">
                <a16:creationId xmlns:a16="http://schemas.microsoft.com/office/drawing/2014/main" id="{258711F6-5E1D-9ED4-AE01-2CE6B63E51D1}"/>
              </a:ext>
            </a:extLst>
          </p:cNvPr>
          <p:cNvGraphicFramePr>
            <a:graphicFrameLocks noGrp="1"/>
          </p:cNvGraphicFramePr>
          <p:nvPr/>
        </p:nvGraphicFramePr>
        <p:xfrm>
          <a:off x="0" y="719999"/>
          <a:ext cx="12191238" cy="1493520"/>
        </p:xfrm>
        <a:graphic>
          <a:graphicData uri="http://schemas.openxmlformats.org/drawingml/2006/table">
            <a:tbl>
              <a:tblPr firstRow="1" bandRow="1">
                <a:tableStyleId>{10A1B5D5-9B99-4C35-A422-299274C87663}</a:tableStyleId>
              </a:tblPr>
              <a:tblGrid>
                <a:gridCol w="853218">
                  <a:extLst>
                    <a:ext uri="{9D8B030D-6E8A-4147-A177-3AD203B41FA5}">
                      <a16:colId xmlns:a16="http://schemas.microsoft.com/office/drawing/2014/main" val="953820397"/>
                    </a:ext>
                  </a:extLst>
                </a:gridCol>
                <a:gridCol w="6719736">
                  <a:extLst>
                    <a:ext uri="{9D8B030D-6E8A-4147-A177-3AD203B41FA5}">
                      <a16:colId xmlns:a16="http://schemas.microsoft.com/office/drawing/2014/main" val="1615240762"/>
                    </a:ext>
                  </a:extLst>
                </a:gridCol>
                <a:gridCol w="2298264">
                  <a:extLst>
                    <a:ext uri="{9D8B030D-6E8A-4147-A177-3AD203B41FA5}">
                      <a16:colId xmlns:a16="http://schemas.microsoft.com/office/drawing/2014/main" val="510539943"/>
                    </a:ext>
                  </a:extLst>
                </a:gridCol>
                <a:gridCol w="2320020">
                  <a:extLst>
                    <a:ext uri="{9D8B030D-6E8A-4147-A177-3AD203B41FA5}">
                      <a16:colId xmlns:a16="http://schemas.microsoft.com/office/drawing/2014/main" val="1464359954"/>
                    </a:ext>
                  </a:extLst>
                </a:gridCol>
              </a:tblGrid>
              <a:tr h="134834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zh-CN" altLang="en-US" sz="800" b="1" kern="1200" dirty="0">
                          <a:solidFill>
                            <a:schemeClr val="lt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时点区域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altLang="zh-CN" sz="800" b="1" kern="1200" dirty="0">
                          <a:solidFill>
                            <a:schemeClr val="lt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1" kern="1200" dirty="0">
                          <a:solidFill>
                            <a:schemeClr val="lt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丘生命周期</a:t>
                      </a:r>
                      <a:endParaRPr lang="zh-CN" altLang="en-US" sz="800" b="1" kern="1200" dirty="0">
                        <a:solidFill>
                          <a:schemeClr val="lt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需参考主题：积极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需参考主题：消极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6443762"/>
                  </a:ext>
                </a:extLst>
              </a:tr>
              <a:tr h="134834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渡：储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之下，已破坏下跌趋势，要与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见顶信号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进行镜面对比。信号包括：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正交、上破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主题：进入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@WJC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之下预备信号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59821"/>
                  </a:ext>
                </a:extLst>
              </a:tr>
              <a:tr h="134834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渡：初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W1w/W1b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：是重要机会。初始突破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后会有一波连续拉升。当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WXAC&lt;0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WXBC&lt;0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：谨慎诱多。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主题：进入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@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初入信号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主题：防止初入诱多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5438350"/>
                  </a:ext>
                </a:extLst>
              </a:tr>
              <a:tr h="134834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渡：再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或有分支：再（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/ZB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/AC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劫）再次站上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。机会不大，很可能诱多，不要重仓。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主题：进入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@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再入信号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主题：防止再入诱多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6297148"/>
                  </a:ext>
                </a:extLst>
              </a:tr>
              <a:tr h="134834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主区域：主升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或有分支：形成升排且具有巨大上升预期。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主题：主升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龙战法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1810239"/>
                  </a:ext>
                </a:extLst>
              </a:tr>
              <a:tr h="207437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主区域：震荡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或有分支：在一大波拉升之后，回落至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可能反复贯穿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震荡，无任何机会。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主题：震荡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3930060"/>
                  </a:ext>
                </a:extLst>
              </a:tr>
              <a:tr h="134834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止损点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之上机会极少，可在下破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时先退出。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kern="1200" dirty="0">
                          <a:solidFill>
                            <a:schemeClr val="dk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lang="zh-CN" altLang="en-US" sz="800" kern="1200" dirty="0">
                          <a:solidFill>
                            <a:schemeClr val="dk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主题：退出程序</a:t>
                      </a:r>
                      <a:r>
                        <a:rPr lang="en-US" altLang="zh-CN" sz="800" kern="1200" dirty="0">
                          <a:solidFill>
                            <a:schemeClr val="dk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3108680"/>
                  </a:ext>
                </a:extLst>
              </a:tr>
            </a:tbl>
          </a:graphicData>
        </a:graphic>
      </p:graphicFrame>
      <p:cxnSp>
        <p:nvCxnSpPr>
          <p:cNvPr id="5" name="直接连接符 4">
            <a:extLst>
              <a:ext uri="{FF2B5EF4-FFF2-40B4-BE49-F238E27FC236}">
                <a16:creationId xmlns:a16="http://schemas.microsoft.com/office/drawing/2014/main" id="{2AC0430A-A015-954E-0125-EDC32D544885}"/>
              </a:ext>
            </a:extLst>
          </p:cNvPr>
          <p:cNvCxnSpPr/>
          <p:nvPr/>
        </p:nvCxnSpPr>
        <p:spPr>
          <a:xfrm flipV="1">
            <a:off x="-762" y="5330952"/>
            <a:ext cx="12192000" cy="1307592"/>
          </a:xfrm>
          <a:prstGeom prst="line">
            <a:avLst/>
          </a:prstGeom>
          <a:ln w="635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4DFFCE0E-73C0-112C-D4E6-8F64C4849AD7}"/>
              </a:ext>
            </a:extLst>
          </p:cNvPr>
          <p:cNvSpPr/>
          <p:nvPr/>
        </p:nvSpPr>
        <p:spPr>
          <a:xfrm>
            <a:off x="0" y="3523221"/>
            <a:ext cx="12225528" cy="3325635"/>
          </a:xfrm>
          <a:custGeom>
            <a:avLst/>
            <a:gdLst>
              <a:gd name="connsiteX0" fmla="*/ 0 w 12225528"/>
              <a:gd name="connsiteY0" fmla="*/ 4987519 h 4987519"/>
              <a:gd name="connsiteX1" fmla="*/ 1225296 w 12225528"/>
              <a:gd name="connsiteY1" fmla="*/ 4722343 h 4987519"/>
              <a:gd name="connsiteX2" fmla="*/ 2029968 w 12225528"/>
              <a:gd name="connsiteY2" fmla="*/ 3716503 h 4987519"/>
              <a:gd name="connsiteX3" fmla="*/ 3172968 w 12225528"/>
              <a:gd name="connsiteY3" fmla="*/ 3963391 h 4987519"/>
              <a:gd name="connsiteX4" fmla="*/ 4517136 w 12225528"/>
              <a:gd name="connsiteY4" fmla="*/ 891007 h 4987519"/>
              <a:gd name="connsiteX5" fmla="*/ 5769864 w 12225528"/>
              <a:gd name="connsiteY5" fmla="*/ 1275055 h 4987519"/>
              <a:gd name="connsiteX6" fmla="*/ 7132320 w 12225528"/>
              <a:gd name="connsiteY6" fmla="*/ 4039 h 4987519"/>
              <a:gd name="connsiteX7" fmla="*/ 7991856 w 12225528"/>
              <a:gd name="connsiteY7" fmla="*/ 863575 h 4987519"/>
              <a:gd name="connsiteX8" fmla="*/ 9217152 w 12225528"/>
              <a:gd name="connsiteY8" fmla="*/ 616687 h 4987519"/>
              <a:gd name="connsiteX9" fmla="*/ 10040112 w 12225528"/>
              <a:gd name="connsiteY9" fmla="*/ 1969999 h 4987519"/>
              <a:gd name="connsiteX10" fmla="*/ 10735056 w 12225528"/>
              <a:gd name="connsiteY10" fmla="*/ 1512799 h 4987519"/>
              <a:gd name="connsiteX11" fmla="*/ 11548872 w 12225528"/>
              <a:gd name="connsiteY11" fmla="*/ 3597631 h 4987519"/>
              <a:gd name="connsiteX12" fmla="*/ 12225528 w 12225528"/>
              <a:gd name="connsiteY12" fmla="*/ 4310863 h 4987519"/>
              <a:gd name="connsiteX13" fmla="*/ 12225528 w 12225528"/>
              <a:gd name="connsiteY13" fmla="*/ 4310863 h 4987519"/>
              <a:gd name="connsiteX14" fmla="*/ 12225528 w 12225528"/>
              <a:gd name="connsiteY14" fmla="*/ 4310863 h 4987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225528" h="4987519">
                <a:moveTo>
                  <a:pt x="0" y="4987519"/>
                </a:moveTo>
                <a:cubicBezTo>
                  <a:pt x="443484" y="4960849"/>
                  <a:pt x="886968" y="4934179"/>
                  <a:pt x="1225296" y="4722343"/>
                </a:cubicBezTo>
                <a:cubicBezTo>
                  <a:pt x="1563624" y="4510507"/>
                  <a:pt x="1705356" y="3842995"/>
                  <a:pt x="2029968" y="3716503"/>
                </a:cubicBezTo>
                <a:cubicBezTo>
                  <a:pt x="2354580" y="3590011"/>
                  <a:pt x="2758440" y="4434307"/>
                  <a:pt x="3172968" y="3963391"/>
                </a:cubicBezTo>
                <a:cubicBezTo>
                  <a:pt x="3587496" y="3492475"/>
                  <a:pt x="4084320" y="1339063"/>
                  <a:pt x="4517136" y="891007"/>
                </a:cubicBezTo>
                <a:cubicBezTo>
                  <a:pt x="4949952" y="442951"/>
                  <a:pt x="5334000" y="1422883"/>
                  <a:pt x="5769864" y="1275055"/>
                </a:cubicBezTo>
                <a:cubicBezTo>
                  <a:pt x="6205728" y="1127227"/>
                  <a:pt x="6761988" y="72619"/>
                  <a:pt x="7132320" y="4039"/>
                </a:cubicBezTo>
                <a:cubicBezTo>
                  <a:pt x="7502652" y="-64541"/>
                  <a:pt x="7644384" y="761467"/>
                  <a:pt x="7991856" y="863575"/>
                </a:cubicBezTo>
                <a:cubicBezTo>
                  <a:pt x="8339328" y="965683"/>
                  <a:pt x="8875776" y="432283"/>
                  <a:pt x="9217152" y="616687"/>
                </a:cubicBezTo>
                <a:cubicBezTo>
                  <a:pt x="9558528" y="801091"/>
                  <a:pt x="9787128" y="1820647"/>
                  <a:pt x="10040112" y="1969999"/>
                </a:cubicBezTo>
                <a:cubicBezTo>
                  <a:pt x="10293096" y="2119351"/>
                  <a:pt x="10483596" y="1241527"/>
                  <a:pt x="10735056" y="1512799"/>
                </a:cubicBezTo>
                <a:cubicBezTo>
                  <a:pt x="10986516" y="1784071"/>
                  <a:pt x="11300460" y="3131287"/>
                  <a:pt x="11548872" y="3597631"/>
                </a:cubicBezTo>
                <a:cubicBezTo>
                  <a:pt x="11797284" y="4063975"/>
                  <a:pt x="12225528" y="4310863"/>
                  <a:pt x="12225528" y="4310863"/>
                </a:cubicBezTo>
                <a:lnTo>
                  <a:pt x="12225528" y="4310863"/>
                </a:lnTo>
                <a:lnTo>
                  <a:pt x="12225528" y="4310863"/>
                </a:lnTo>
              </a:path>
            </a:pathLst>
          </a:custGeom>
          <a:noFill/>
          <a:ln w="254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 dirty="0"/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CCCA3B1B-7B08-24D3-8AD1-5A8C084AE6EC}"/>
              </a:ext>
            </a:extLst>
          </p:cNvPr>
          <p:cNvSpPr/>
          <p:nvPr/>
        </p:nvSpPr>
        <p:spPr>
          <a:xfrm>
            <a:off x="232380" y="5773602"/>
            <a:ext cx="1225295" cy="611934"/>
          </a:xfrm>
          <a:prstGeom prst="rect">
            <a:avLst/>
          </a:prstGeom>
          <a:solidFill>
            <a:schemeClr val="accent6">
              <a:lumMod val="60000"/>
              <a:lumOff val="40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主题：初入时点</a:t>
            </a:r>
            <a:endParaRPr lang="en-US" altLang="zh-CN" sz="9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初入信号</a:t>
            </a:r>
            <a:endParaRPr lang="en-US" altLang="zh-CN" sz="7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防止初入诱多</a:t>
            </a:r>
            <a:endParaRPr lang="en-US" altLang="zh-CN" sz="7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7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</a:t>
            </a:r>
            <a:r>
              <a:rPr lang="zh-CN" altLang="en-US" sz="7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之下预备信号</a:t>
            </a: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8F608196-9B7C-EFB8-9DB5-33E28DB46137}"/>
              </a:ext>
            </a:extLst>
          </p:cNvPr>
          <p:cNvSpPr/>
          <p:nvPr/>
        </p:nvSpPr>
        <p:spPr>
          <a:xfrm>
            <a:off x="3129699" y="4379557"/>
            <a:ext cx="1538312" cy="1728000"/>
          </a:xfrm>
          <a:prstGeom prst="rect">
            <a:avLst/>
          </a:pr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主题：主升区域</a:t>
            </a:r>
            <a:endParaRPr lang="en-US" altLang="zh-CN" sz="9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主升结构：</a:t>
            </a:r>
            <a:endParaRPr lang="en-US" altLang="zh-CN" sz="7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主升结构启动信号</a:t>
            </a:r>
            <a:endParaRPr lang="en-US" altLang="zh-CN" sz="7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主升结构结束信号</a:t>
            </a:r>
            <a:endParaRPr lang="en-US" altLang="zh-CN" sz="7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龙战法（专章）</a:t>
            </a:r>
            <a:endParaRPr lang="en-US" altLang="zh-CN" sz="7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大势形态模式</a:t>
            </a:r>
            <a:endParaRPr lang="en-US" altLang="zh-CN" sz="7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zh-CN" altLang="en-US" sz="7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7CF69479-8620-95AC-32B3-4863777408EA}"/>
              </a:ext>
            </a:extLst>
          </p:cNvPr>
          <p:cNvSpPr/>
          <p:nvPr/>
        </p:nvSpPr>
        <p:spPr>
          <a:xfrm>
            <a:off x="4668012" y="3785441"/>
            <a:ext cx="1424812" cy="585726"/>
          </a:xfrm>
          <a:prstGeom prst="rect">
            <a:avLst/>
          </a:prstGeom>
          <a:solidFill>
            <a:schemeClr val="accent4">
              <a:lumMod val="75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主题：顶部区域</a:t>
            </a:r>
            <a:endParaRPr lang="en-US" altLang="zh-CN" sz="9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顶部结构</a:t>
            </a:r>
            <a:endParaRPr lang="en-US" altLang="zh-CN" sz="7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zh-CN" altLang="en-US" sz="7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0184B711-1C95-85E9-5E9D-C3A7F30614F8}"/>
              </a:ext>
            </a:extLst>
          </p:cNvPr>
          <p:cNvSpPr/>
          <p:nvPr/>
        </p:nvSpPr>
        <p:spPr>
          <a:xfrm>
            <a:off x="6096000" y="4287766"/>
            <a:ext cx="1371600" cy="611934"/>
          </a:xfrm>
          <a:prstGeom prst="rect">
            <a:avLst/>
          </a:prstGeom>
          <a:solidFill>
            <a:schemeClr val="accent6">
              <a:lumMod val="60000"/>
              <a:lumOff val="40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主题：再入时点（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</a:t>
            </a:r>
            <a:endParaRPr lang="en-US" altLang="zh-CN" sz="9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再入信号</a:t>
            </a:r>
            <a:endParaRPr lang="en-US" altLang="zh-CN" sz="7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7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防止再入诱多</a:t>
            </a:r>
            <a:endParaRPr lang="en-US" altLang="zh-CN" sz="7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endParaRPr lang="zh-CN" altLang="en-US" sz="7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30" name="直接连接符 29">
            <a:extLst>
              <a:ext uri="{FF2B5EF4-FFF2-40B4-BE49-F238E27FC236}">
                <a16:creationId xmlns:a16="http://schemas.microsoft.com/office/drawing/2014/main" id="{6FCCDAF8-A2A3-3A85-E444-0733110C6D0D}"/>
              </a:ext>
            </a:extLst>
          </p:cNvPr>
          <p:cNvCxnSpPr>
            <a:cxnSpLocks/>
          </p:cNvCxnSpPr>
          <p:nvPr/>
        </p:nvCxnSpPr>
        <p:spPr>
          <a:xfrm>
            <a:off x="6092825" y="4239273"/>
            <a:ext cx="3175" cy="660427"/>
          </a:xfrm>
          <a:prstGeom prst="line">
            <a:avLst/>
          </a:prstGeom>
          <a:ln>
            <a:solidFill>
              <a:schemeClr val="accent1"/>
            </a:solidFill>
            <a:head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矩形 30">
            <a:extLst>
              <a:ext uri="{FF2B5EF4-FFF2-40B4-BE49-F238E27FC236}">
                <a16:creationId xmlns:a16="http://schemas.microsoft.com/office/drawing/2014/main" id="{F1E2F999-B25A-73D0-8E71-AC1B8FDDD07F}"/>
              </a:ext>
            </a:extLst>
          </p:cNvPr>
          <p:cNvSpPr/>
          <p:nvPr/>
        </p:nvSpPr>
        <p:spPr>
          <a:xfrm>
            <a:off x="9522967" y="4180665"/>
            <a:ext cx="1735581" cy="1251760"/>
          </a:xfrm>
          <a:prstGeom prst="rect">
            <a:avLst/>
          </a:prstGeom>
          <a:solidFill>
            <a:schemeClr val="accent4">
              <a:lumMod val="75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主题：退出程序</a:t>
            </a:r>
          </a:p>
        </p:txBody>
      </p:sp>
      <p:cxnSp>
        <p:nvCxnSpPr>
          <p:cNvPr id="40" name="直接连接符 39">
            <a:extLst>
              <a:ext uri="{FF2B5EF4-FFF2-40B4-BE49-F238E27FC236}">
                <a16:creationId xmlns:a16="http://schemas.microsoft.com/office/drawing/2014/main" id="{91F6AF73-D450-9EBD-D4BB-8149A5F6B902}"/>
              </a:ext>
            </a:extLst>
          </p:cNvPr>
          <p:cNvCxnSpPr>
            <a:cxnSpLocks/>
          </p:cNvCxnSpPr>
          <p:nvPr/>
        </p:nvCxnSpPr>
        <p:spPr>
          <a:xfrm flipV="1">
            <a:off x="1458468" y="5773602"/>
            <a:ext cx="0" cy="691487"/>
          </a:xfrm>
          <a:prstGeom prst="line">
            <a:avLst/>
          </a:prstGeom>
          <a:ln>
            <a:solidFill>
              <a:schemeClr val="accent1"/>
            </a:solidFill>
            <a:head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>
            <a:extLst>
              <a:ext uri="{FF2B5EF4-FFF2-40B4-BE49-F238E27FC236}">
                <a16:creationId xmlns:a16="http://schemas.microsoft.com/office/drawing/2014/main" id="{4929676D-BB81-04CD-8082-890212296CEF}"/>
              </a:ext>
            </a:extLst>
          </p:cNvPr>
          <p:cNvCxnSpPr>
            <a:cxnSpLocks/>
          </p:cNvCxnSpPr>
          <p:nvPr/>
        </p:nvCxnSpPr>
        <p:spPr>
          <a:xfrm flipV="1">
            <a:off x="4668013" y="3793830"/>
            <a:ext cx="0" cy="263212"/>
          </a:xfrm>
          <a:prstGeom prst="line">
            <a:avLst/>
          </a:prstGeom>
          <a:ln>
            <a:solidFill>
              <a:schemeClr val="accent1"/>
            </a:solidFill>
            <a:head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>
            <a:extLst>
              <a:ext uri="{FF2B5EF4-FFF2-40B4-BE49-F238E27FC236}">
                <a16:creationId xmlns:a16="http://schemas.microsoft.com/office/drawing/2014/main" id="{C5FE891D-02EC-584A-C4CF-74D24E9BEF70}"/>
              </a:ext>
            </a:extLst>
          </p:cNvPr>
          <p:cNvCxnSpPr>
            <a:cxnSpLocks/>
          </p:cNvCxnSpPr>
          <p:nvPr/>
        </p:nvCxnSpPr>
        <p:spPr>
          <a:xfrm>
            <a:off x="9522968" y="4138341"/>
            <a:ext cx="0" cy="1294084"/>
          </a:xfrm>
          <a:prstGeom prst="line">
            <a:avLst/>
          </a:prstGeom>
          <a:ln>
            <a:solidFill>
              <a:schemeClr val="accent1"/>
            </a:solidFill>
            <a:head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接连接符 54">
            <a:extLst>
              <a:ext uri="{FF2B5EF4-FFF2-40B4-BE49-F238E27FC236}">
                <a16:creationId xmlns:a16="http://schemas.microsoft.com/office/drawing/2014/main" id="{91EF260D-958E-E64A-CAE0-6127EA9BDD3A}"/>
              </a:ext>
            </a:extLst>
          </p:cNvPr>
          <p:cNvCxnSpPr>
            <a:cxnSpLocks/>
          </p:cNvCxnSpPr>
          <p:nvPr/>
        </p:nvCxnSpPr>
        <p:spPr>
          <a:xfrm flipV="1">
            <a:off x="3129699" y="4379556"/>
            <a:ext cx="0" cy="1758445"/>
          </a:xfrm>
          <a:prstGeom prst="line">
            <a:avLst/>
          </a:prstGeom>
          <a:ln>
            <a:solidFill>
              <a:schemeClr val="accent1"/>
            </a:solidFill>
            <a:head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矩形 3">
            <a:extLst>
              <a:ext uri="{FF2B5EF4-FFF2-40B4-BE49-F238E27FC236}">
                <a16:creationId xmlns:a16="http://schemas.microsoft.com/office/drawing/2014/main" id="{B38F141A-D3A1-1A0D-2F60-13F15F79BACB}"/>
              </a:ext>
            </a:extLst>
          </p:cNvPr>
          <p:cNvSpPr/>
          <p:nvPr/>
        </p:nvSpPr>
        <p:spPr>
          <a:xfrm>
            <a:off x="-763" y="3086484"/>
            <a:ext cx="3963155" cy="106067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主题：进入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@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再入信号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针对再（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/ZB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/AC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劫）再次站上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：由于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未破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WJC]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站上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WJB]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只差一柱，所以等站上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再介入。防止进入再诱多区域，等待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WTZA≥2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再介入。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离顶时上破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未触哼：很可能是诱多。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已触哼：最好等待后续回踩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或站稳。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多次触哼：在哼与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之间多柱，是非常好的机会。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再次合顶：在顶与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之间运行。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7CB21BD2-1210-6610-5D0E-340105168BE0}"/>
              </a:ext>
            </a:extLst>
          </p:cNvPr>
          <p:cNvSpPr/>
          <p:nvPr/>
        </p:nvSpPr>
        <p:spPr>
          <a:xfrm>
            <a:off x="-762" y="2511049"/>
            <a:ext cx="3963155" cy="57600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主题：进入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@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初入信号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针对突破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时长要求：要突破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两柱以上，特别是当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把握增大。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回踩进行确认：突破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后未快速拉升，回踩或平移后形成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/W1b/W1w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判断未来是否形成大幅拉升：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之下长时间运行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围绕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多次突破。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310769599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995EAD-2394-D0B4-91BB-356D84293C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>
            <a:extLst>
              <a:ext uri="{FF2B5EF4-FFF2-40B4-BE49-F238E27FC236}">
                <a16:creationId xmlns:a16="http://schemas.microsoft.com/office/drawing/2014/main" id="{A7E5F911-0D0C-3B4B-77C6-1F617B709752}"/>
              </a:ext>
            </a:extLst>
          </p:cNvPr>
          <p:cNvSpPr/>
          <p:nvPr/>
        </p:nvSpPr>
        <p:spPr>
          <a:xfrm>
            <a:off x="-11844" y="4111425"/>
            <a:ext cx="6084000" cy="1060674"/>
          </a:xfrm>
          <a:prstGeom prst="rect">
            <a:avLst/>
          </a:prstGeom>
          <a:solidFill>
            <a:srgbClr val="A9D18E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主题：进入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@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再入信号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针对再（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/ZB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劫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/AB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劫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/AC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劫）再次站上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上破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：由于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[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未破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DJC]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与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[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站上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DJB]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只差一柱，所以等站上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再介入。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离顶时上破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首上破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未触哼：很可能是诱多。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首上破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已触哼：最好等待后续回踩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或站稳。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多次触哼：在哼与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之间多柱，是非常好的机会。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再次合顶：在顶与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之间运行。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endParaRPr lang="en-US" altLang="zh-CN" sz="9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B34D9ED4-E87B-2370-598A-1EEB640ABA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】DJC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生命周期中的核心主题</a:t>
            </a:r>
            <a:b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【DJC</a:t>
            </a:r>
            <a:r>
              <a:rPr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生命周期</a:t>
            </a:r>
            <a:r>
              <a:rPr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2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为操盘首要参考，在持有过程中一定要首先关注</a:t>
            </a:r>
            <a:r>
              <a:rPr lang="en-US" altLang="zh-CN" sz="12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丘的生命周期。核心思维方式：不预测，只应对。</a:t>
            </a:r>
            <a:endParaRPr lang="en-US" altLang="zh-CN" sz="1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0" name="表格 19">
            <a:extLst>
              <a:ext uri="{FF2B5EF4-FFF2-40B4-BE49-F238E27FC236}">
                <a16:creationId xmlns:a16="http://schemas.microsoft.com/office/drawing/2014/main" id="{3F1AAD9B-6A52-AD72-C960-D1892214478B}"/>
              </a:ext>
            </a:extLst>
          </p:cNvPr>
          <p:cNvGraphicFramePr>
            <a:graphicFrameLocks noGrp="1"/>
          </p:cNvGraphicFramePr>
          <p:nvPr/>
        </p:nvGraphicFramePr>
        <p:xfrm>
          <a:off x="0" y="719999"/>
          <a:ext cx="12192815" cy="2686100"/>
        </p:xfrm>
        <a:graphic>
          <a:graphicData uri="http://schemas.openxmlformats.org/drawingml/2006/table">
            <a:tbl>
              <a:tblPr firstRow="1" bandRow="1">
                <a:tableStyleId>{10A1B5D5-9B99-4C35-A422-299274C87663}</a:tableStyleId>
              </a:tblPr>
              <a:tblGrid>
                <a:gridCol w="662191">
                  <a:extLst>
                    <a:ext uri="{9D8B030D-6E8A-4147-A177-3AD203B41FA5}">
                      <a16:colId xmlns:a16="http://schemas.microsoft.com/office/drawing/2014/main" val="953820397"/>
                    </a:ext>
                  </a:extLst>
                </a:gridCol>
                <a:gridCol w="7946327">
                  <a:extLst>
                    <a:ext uri="{9D8B030D-6E8A-4147-A177-3AD203B41FA5}">
                      <a16:colId xmlns:a16="http://schemas.microsoft.com/office/drawing/2014/main" val="1615240762"/>
                    </a:ext>
                  </a:extLst>
                </a:gridCol>
                <a:gridCol w="1783706">
                  <a:extLst>
                    <a:ext uri="{9D8B030D-6E8A-4147-A177-3AD203B41FA5}">
                      <a16:colId xmlns:a16="http://schemas.microsoft.com/office/drawing/2014/main" val="510539943"/>
                    </a:ext>
                  </a:extLst>
                </a:gridCol>
                <a:gridCol w="1800591">
                  <a:extLst>
                    <a:ext uri="{9D8B030D-6E8A-4147-A177-3AD203B41FA5}">
                      <a16:colId xmlns:a16="http://schemas.microsoft.com/office/drawing/2014/main" val="1464359954"/>
                    </a:ext>
                  </a:extLst>
                </a:gridCol>
              </a:tblGrid>
              <a:tr h="213667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zh-CN" altLang="en-US" sz="800" b="1" kern="1200" dirty="0">
                          <a:solidFill>
                            <a:schemeClr val="lt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  <a:cs typeface="+mn-cs"/>
                        </a:rPr>
                        <a:t>区域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altLang="zh-CN" sz="800" b="1" kern="1200" dirty="0">
                          <a:solidFill>
                            <a:schemeClr val="lt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800" b="1" kern="1200" dirty="0">
                          <a:solidFill>
                            <a:schemeClr val="lt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丘生命周期</a:t>
                      </a:r>
                      <a:endParaRPr lang="zh-CN" altLang="en-US" sz="800" b="1" kern="1200" dirty="0">
                        <a:solidFill>
                          <a:schemeClr val="lt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需参考主题：积极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需参考主题：消极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86443762"/>
                  </a:ext>
                </a:extLst>
              </a:tr>
              <a:tr h="213667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初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当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DXAC&lt;0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且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DXBC&lt;0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：谨慎诱多。</a:t>
                      </a: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80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主题：防止进入初诱多区域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】</a:t>
                      </a: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5620013"/>
                  </a:ext>
                </a:extLst>
              </a:tr>
              <a:tr h="213667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初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D1w/D1b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：是重要机会。初始突破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后会有一波</a:t>
                      </a:r>
                      <a:r>
                        <a:rPr lang="zh-CN" altLang="en-US" sz="80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连续拉升。</a:t>
                      </a: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主题：进入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@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初入信号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】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75871644"/>
                  </a:ext>
                </a:extLst>
              </a:tr>
              <a:tr h="213667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之上或首下破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</a:t>
                      </a:r>
                      <a:r>
                        <a:rPr lang="zh-CN" altLang="en-US" sz="80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之前是升排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，突然出现阴柱。</a:t>
                      </a: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主题：进入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@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捡漏信号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】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91066362"/>
                  </a:ext>
                </a:extLst>
              </a:tr>
              <a:tr h="213667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之上是可获利阳柱最多区域，一定要坚定持有，保证适当底仓。</a:t>
                      </a: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主题</a:t>
                      </a:r>
                      <a:r>
                        <a:rPr lang="zh-CN" altLang="en-US" sz="80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：上升时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保持仓位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】</a:t>
                      </a: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91266061"/>
                  </a:ext>
                </a:extLst>
              </a:tr>
              <a:tr h="213667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或有分支：</a:t>
                      </a:r>
                      <a:r>
                        <a:rPr lang="zh-CN" altLang="en-US" sz="80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出现主升启动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信号时要介入。如四柱栅。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主题：进入</a:t>
                      </a:r>
                      <a:r>
                        <a:rPr lang="en-US" altLang="zh-CN" sz="80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@</a:t>
                      </a:r>
                      <a:r>
                        <a:rPr lang="zh-CN" altLang="en-US" sz="80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主升启动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信号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】</a:t>
                      </a: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81810239"/>
                  </a:ext>
                </a:extLst>
              </a:tr>
              <a:tr h="213667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或有分支：</a:t>
                      </a:r>
                      <a:r>
                        <a:rPr lang="zh-CN" altLang="en-US" sz="80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出现主升冲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高信号时要左侧止盈减仓。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主题：止盈减仓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@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冲高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】</a:t>
                      </a: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5443954"/>
                  </a:ext>
                </a:extLst>
              </a:tr>
              <a:tr h="335763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或有分支</a:t>
                      </a:r>
                      <a:r>
                        <a:rPr lang="zh-CN" altLang="en-US" sz="80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：急升后转为非升排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或下破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要退出。</a:t>
                      </a:r>
                      <a:endParaRPr lang="en-US" altLang="zh-CN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或有分支</a:t>
                      </a:r>
                      <a:r>
                        <a:rPr lang="zh-CN" altLang="en-US" sz="80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：缓升后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下破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两柱或下破</a:t>
                      </a:r>
                      <a:r>
                        <a:rPr lang="en-US" altLang="zh-CN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要退出。</a:t>
                      </a:r>
                      <a:endParaRPr lang="en-US" altLang="zh-CN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主题：退出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@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见顶信号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】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5000858"/>
                  </a:ext>
                </a:extLst>
              </a:tr>
              <a:tr h="213667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之下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之上机会很少，但可被动持有，等待劫恢复再介入。</a:t>
                      </a: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800" kern="1200" dirty="0">
                        <a:solidFill>
                          <a:schemeClr val="dk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  <a:cs typeface="+mn-cs"/>
                      </a:endParaRPr>
                    </a:p>
                  </a:txBody>
                  <a:tcP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72288644"/>
                  </a:ext>
                </a:extLst>
              </a:tr>
              <a:tr h="213667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破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之下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之上机会极少，可在下破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时先退出。</a:t>
                      </a: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3108680"/>
                  </a:ext>
                </a:extLst>
              </a:tr>
              <a:tr h="213667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震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或有分支：在一大</a:t>
                      </a:r>
                      <a:r>
                        <a:rPr lang="zh-CN" altLang="en-US" sz="80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波拉升之后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，回落至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可能反复贯穿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或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震荡，无任何机会。</a:t>
                      </a: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主题：防止进入震荡区域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】</a:t>
                      </a: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3084391"/>
                  </a:ext>
                </a:extLst>
              </a:tr>
              <a:tr h="213667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再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或有分支：再（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/ZB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劫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劫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/AC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劫）再次站上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。机会不大，很可能诱多，不要重仓。</a:t>
                      </a: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主题：进入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@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再入信号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】</a:t>
                      </a: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【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主题：防止进入再诱多区域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】</a:t>
                      </a:r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7517704"/>
                  </a:ext>
                </a:extLst>
              </a:tr>
            </a:tbl>
          </a:graphicData>
        </a:graphic>
      </p:graphicFrame>
      <p:sp>
        <p:nvSpPr>
          <p:cNvPr id="13" name="矩形 12">
            <a:extLst>
              <a:ext uri="{FF2B5EF4-FFF2-40B4-BE49-F238E27FC236}">
                <a16:creationId xmlns:a16="http://schemas.microsoft.com/office/drawing/2014/main" id="{EE8CD88D-3D04-5B20-6F66-76777685623D}"/>
              </a:ext>
            </a:extLst>
          </p:cNvPr>
          <p:cNvSpPr/>
          <p:nvPr/>
        </p:nvSpPr>
        <p:spPr>
          <a:xfrm>
            <a:off x="-11844" y="6099900"/>
            <a:ext cx="6084000" cy="755178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主题：防止进入震荡区域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急涨后破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，可能由主升转变为震荡。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区分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[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纵向运动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]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与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[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横向运动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]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交替出现，一定不要在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横向运动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区域操作。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纵向运动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：一般为主升区域。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合顶且触顶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从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突破后急升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特殊结构（四柱栅）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横向运动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：一般为震荡区域。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离顶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贴附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贯穿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震荡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967E2DFB-12FA-D7AC-CF22-DD7B28D9070E}"/>
              </a:ext>
            </a:extLst>
          </p:cNvPr>
          <p:cNvSpPr/>
          <p:nvPr/>
        </p:nvSpPr>
        <p:spPr>
          <a:xfrm>
            <a:off x="-11844" y="3760466"/>
            <a:ext cx="6084000" cy="360000"/>
          </a:xfrm>
          <a:prstGeom prst="rect">
            <a:avLst/>
          </a:prstGeom>
          <a:solidFill>
            <a:srgbClr val="A9D18E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主题：进入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@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捡漏信号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】DTZA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≥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-1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之上或首下破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</a:t>
            </a:r>
            <a:r>
              <a:rPr lang="zh-CN" altLang="en-US" sz="90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之前是升排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，突然出现阴柱。</a:t>
            </a:r>
          </a:p>
          <a:p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可接受阴柱：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上跌孕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 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上跌吞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反薡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首下破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endParaRPr lang="en-US" altLang="zh-CN" sz="9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F2C4222C-6451-9922-52CA-77EFD213C773}"/>
              </a:ext>
            </a:extLst>
          </p:cNvPr>
          <p:cNvSpPr/>
          <p:nvPr/>
        </p:nvSpPr>
        <p:spPr>
          <a:xfrm>
            <a:off x="-11844" y="3410475"/>
            <a:ext cx="6084000" cy="360000"/>
          </a:xfrm>
          <a:prstGeom prst="rect">
            <a:avLst/>
          </a:prstGeom>
          <a:solidFill>
            <a:srgbClr val="A9D18E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主题：进入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@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初入信号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针对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/D1w/D1b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特别是当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DTZC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≥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3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把握增大：突破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后未</a:t>
            </a:r>
            <a:r>
              <a:rPr lang="zh-CN" altLang="en-US" sz="90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快速拉升，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回踩或平移后形成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/D1b/D1w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9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6D563D2E-25DC-A33A-C54E-19B1BBF99CA9}"/>
              </a:ext>
            </a:extLst>
          </p:cNvPr>
          <p:cNvSpPr/>
          <p:nvPr/>
        </p:nvSpPr>
        <p:spPr>
          <a:xfrm>
            <a:off x="6072000" y="4033082"/>
            <a:ext cx="6120000" cy="2596318"/>
          </a:xfrm>
          <a:prstGeom prst="rect">
            <a:avLst/>
          </a:prstGeom>
          <a:solidFill>
            <a:schemeClr val="accent5"/>
          </a:solidFill>
          <a:ln>
            <a:solidFill>
              <a:schemeClr val="accent5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主题</a:t>
            </a:r>
            <a:r>
              <a:rPr lang="zh-CN" altLang="en-US" sz="900" b="1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：上升时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保持仓位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依据周线操作简单，是因为只以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关键均线作为进出点，不需要顾忌中间操作。所以要保证仓位就不能考虑止盈，只有当出现明确的见顶逆转信号以后才可考虑卖出。这意味着：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不能见阳柱就卖：至少应在冲高情况才能止盈，只能减仓不能清仓。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不能把止盈线定得太低：如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或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，否则退出时无收益且浪费时间。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不能把止盈线定得太高：如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之上阴柱或下破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，否则会导致频繁操作且会踏空。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不能把级别定得太低：如分时下跌波动，任何下跌都是日级别以下某个级别的下跌，怕震荡就在阳柱时卖出。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主题：退出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@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见顶信号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一定要出现逆向信号，但各种信号（包含：离顶、</a:t>
            </a:r>
            <a:r>
              <a:rPr lang="en-US" altLang="zh-CN" sz="90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上升排转为非升排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、下破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、下破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）只是等级不同，例如将某条规则（如下破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）作为通用规则没有意义，必须要结合波段走势进行判断，酌情使用。可以利用周级别出现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跌吞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跌连，代表</a:t>
            </a:r>
            <a:r>
              <a:rPr lang="zh-CN" altLang="en-US" sz="90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原上升趋势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停止，进入震荡行情，择机退出。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走势分类：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&gt;45°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zh-CN" altLang="en-US" sz="90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大幅急升完全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脱离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）：出现左侧冲高信号。当出现以下信号可退出</a:t>
            </a:r>
            <a:r>
              <a:rPr lang="zh-CN" altLang="en-US" sz="90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：非升排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、下破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30-45°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之上未接触完整弧）：当出现以下信号可退出：离顶、跌连、下破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&lt;30°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之上频繁贯穿）：当出现以下信号可退出：下破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两柱、下破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&lt;10°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（任意情况）：下破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必须退出。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主题：止盈减仓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@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冲高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宽偏连。不再考虑久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DTZA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</a:t>
            </a:r>
            <a:r>
              <a:rPr lang="zh-CN" altLang="en-US" sz="90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对于缓升情况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等待出现见顶信号再退出。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宽：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DS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顶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JC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＞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20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偏：包含高幅。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BDHA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＞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10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连：五连阳。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8" name="矩形 17">
            <a:extLst>
              <a:ext uri="{FF2B5EF4-FFF2-40B4-BE49-F238E27FC236}">
                <a16:creationId xmlns:a16="http://schemas.microsoft.com/office/drawing/2014/main" id="{69E6B358-4F85-8362-867C-26FD2D74F8AD}"/>
              </a:ext>
            </a:extLst>
          </p:cNvPr>
          <p:cNvSpPr/>
          <p:nvPr/>
        </p:nvSpPr>
        <p:spPr>
          <a:xfrm>
            <a:off x="6067425" y="3411187"/>
            <a:ext cx="6120000" cy="631904"/>
          </a:xfrm>
          <a:prstGeom prst="rect">
            <a:avLst/>
          </a:prstGeom>
          <a:solidFill>
            <a:schemeClr val="accent5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主题：进入</a:t>
            </a:r>
            <a:r>
              <a:rPr lang="en-US" altLang="zh-CN" sz="900" b="1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@</a:t>
            </a:r>
            <a:r>
              <a:rPr lang="zh-CN" altLang="en-US" sz="900" b="1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主升启动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信号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特殊形态包括：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四柱栅：</a:t>
            </a:r>
            <a:endParaRPr lang="en-US" altLang="zh-CN" sz="9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回踩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后连阳：</a:t>
            </a:r>
            <a:endParaRPr lang="en-US" altLang="zh-CN" sz="9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涨停战法：出现涨停后再介入。</a:t>
            </a:r>
            <a:endParaRPr lang="en-US" altLang="zh-CN" sz="9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9" name="矩形 18">
            <a:extLst>
              <a:ext uri="{FF2B5EF4-FFF2-40B4-BE49-F238E27FC236}">
                <a16:creationId xmlns:a16="http://schemas.microsoft.com/office/drawing/2014/main" id="{41E2C5D1-FB51-F690-3F7C-4FB53D5030D0}"/>
              </a:ext>
            </a:extLst>
          </p:cNvPr>
          <p:cNvSpPr/>
          <p:nvPr/>
        </p:nvSpPr>
        <p:spPr>
          <a:xfrm>
            <a:off x="-11844" y="5745880"/>
            <a:ext cx="6084000" cy="3530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主题：防止进入初诱多区域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等待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/D1w/D1b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再介入。柱</a:t>
            </a:r>
            <a:r>
              <a:rPr lang="zh-CN" altLang="en-US" sz="900" b="1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排为升排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或四柱栅。</a:t>
            </a:r>
            <a:endParaRPr lang="en-US" altLang="zh-CN" sz="9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主题：防止进入再诱多区域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等待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DTZA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≥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再介入。弃</a:t>
            </a:r>
            <a:r>
              <a:rPr lang="en-US" altLang="zh-CN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DXAC</a:t>
            </a:r>
            <a:r>
              <a:rPr lang="zh-CN" altLang="en-US" sz="9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劫。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114840059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00466BD-7C80-7718-E6D8-FD36BB7AC8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53000" y="365125"/>
            <a:ext cx="6400800" cy="1325563"/>
          </a:xfrm>
        </p:spPr>
        <p:txBody>
          <a:bodyPr/>
          <a:lstStyle/>
          <a:p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仓位管理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A657A548-CD22-C17E-BF3B-58FF0DC2EB5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53000" y="1825625"/>
            <a:ext cx="6400800" cy="4351338"/>
          </a:xfrm>
        </p:spPr>
        <p:txBody>
          <a:bodyPr>
            <a:normAutofit/>
          </a:bodyPr>
          <a:lstStyle/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投资产品选择：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ETF</a:t>
            </a: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宏观轮动（统码轮动）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18AF385B-1446-60A4-1676-09A770A62892}"/>
              </a:ext>
            </a:extLst>
          </p:cNvPr>
          <p:cNvSpPr txBox="1"/>
          <p:nvPr/>
        </p:nvSpPr>
        <p:spPr>
          <a:xfrm>
            <a:off x="1095375" y="1690688"/>
            <a:ext cx="2867025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0" dirty="0">
                <a:solidFill>
                  <a:schemeClr val="tx2">
                    <a:lumMod val="75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仓</a:t>
            </a:r>
          </a:p>
        </p:txBody>
      </p:sp>
    </p:spTree>
    <p:extLst>
      <p:ext uri="{BB962C8B-B14F-4D97-AF65-F5344CB8AC3E}">
        <p14:creationId xmlns:p14="http://schemas.microsoft.com/office/powerpoint/2010/main" val="2314205290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5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DA331BB-658D-8188-AA36-986068A326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>
            <a:extLst>
              <a:ext uri="{FF2B5EF4-FFF2-40B4-BE49-F238E27FC236}">
                <a16:creationId xmlns:a16="http://schemas.microsoft.com/office/drawing/2014/main" id="{00DD9271-4494-7EEA-53F3-082FB71B7441}"/>
              </a:ext>
            </a:extLst>
          </p:cNvPr>
          <p:cNvSpPr txBox="1"/>
          <p:nvPr/>
        </p:nvSpPr>
        <p:spPr>
          <a:xfrm>
            <a:off x="0" y="722313"/>
            <a:ext cx="12193200" cy="276999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标题 1">
            <a:extLst>
              <a:ext uri="{FF2B5EF4-FFF2-40B4-BE49-F238E27FC236}">
                <a16:creationId xmlns:a16="http://schemas.microsoft.com/office/drawing/2014/main" id="{141AA479-184B-836D-C906-B07AB74F84A6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投资产品选择：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ETF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秉持中庸理念。成功案例，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Jane Street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6DF2B60A-9200-D7C0-2F83-DD67C6EC5A90}"/>
              </a:ext>
            </a:extLst>
          </p:cNvPr>
          <p:cNvSpPr txBox="1"/>
          <p:nvPr/>
        </p:nvSpPr>
        <p:spPr>
          <a:xfrm>
            <a:off x="0" y="4753842"/>
            <a:ext cx="6096000" cy="830997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买龙头，放弃底部 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买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ETF+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个股，必买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ETF) 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不作随手盘，不在周中、日中买（收盘买，周五买）</a:t>
            </a:r>
            <a:endParaRPr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波段操作是最合理的操作，曲线拉直。</a:t>
            </a:r>
            <a:endParaRPr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市场温度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当上证指数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分钟下破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，不使用浮仓，仅仅使用底仓。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B68FD5A6-5C50-0C0D-DFDF-38DB8992890F}"/>
              </a:ext>
            </a:extLst>
          </p:cNvPr>
          <p:cNvSpPr txBox="1"/>
          <p:nvPr/>
        </p:nvSpPr>
        <p:spPr>
          <a:xfrm>
            <a:off x="0" y="5919281"/>
            <a:ext cx="12192000" cy="938719"/>
          </a:xfrm>
          <a:prstGeom prst="rect">
            <a:avLst/>
          </a:prstGeom>
          <a:solidFill>
            <a:schemeClr val="accent4">
              <a:lumMod val="75000"/>
            </a:schemeClr>
          </a:solidFill>
          <a:ln w="28575">
            <a:solidFill>
              <a:schemeClr val="accent4">
                <a:lumMod val="50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筛选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SOP】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股票池分为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持备筛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三级。先周后日，不要盲目按照日级别进行筛选。</a:t>
            </a:r>
            <a:endParaRPr lang="en-US" altLang="zh-CN" sz="11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持池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必须满足：底仓按周级别，等日级别出机会进行加仓；冲高触顶后止盈减至底仓，继续按照周级别操作。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持仓操作级别：破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必退；破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不主动进入；破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等待站上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之上是主战场；触顶是辅助。底仓必须在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WJC&amp;WJB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之上；浮仓必须附加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备池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en-US" altLang="zh-CN" sz="11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zw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属于周级别，用于下周备选：应于每周末按照周级别筛选（圈定可能出现周大阳柱的区域），等待日级别</a:t>
            </a:r>
            <a:r>
              <a:rPr lang="zh-CN" altLang="en-US" sz="110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出现主升信号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筛池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属于日级别，仅用于参考：可以在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备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中无优选目标，或出现板块异动时进行操作；一般应在当天收盘之后进行筛选，用于本周剩余时间或下周操作。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表格 1">
            <a:extLst>
              <a:ext uri="{FF2B5EF4-FFF2-40B4-BE49-F238E27FC236}">
                <a16:creationId xmlns:a16="http://schemas.microsoft.com/office/drawing/2014/main" id="{F35CF8A0-173E-4715-1ACD-6694ABCE50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6054289"/>
              </p:ext>
            </p:extLst>
          </p:nvPr>
        </p:nvGraphicFramePr>
        <p:xfrm>
          <a:off x="0" y="719666"/>
          <a:ext cx="12192000" cy="3383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32547">
                  <a:extLst>
                    <a:ext uri="{9D8B030D-6E8A-4147-A177-3AD203B41FA5}">
                      <a16:colId xmlns:a16="http://schemas.microsoft.com/office/drawing/2014/main" val="3832079295"/>
                    </a:ext>
                  </a:extLst>
                </a:gridCol>
                <a:gridCol w="10459453">
                  <a:extLst>
                    <a:ext uri="{9D8B030D-6E8A-4147-A177-3AD203B41FA5}">
                      <a16:colId xmlns:a16="http://schemas.microsoft.com/office/drawing/2014/main" val="545262975"/>
                    </a:ext>
                  </a:extLst>
                </a:gridCol>
              </a:tblGrid>
              <a:tr h="0">
                <a:tc rowSpan="6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投资</a:t>
                      </a:r>
                      <a:r>
                        <a:rPr lang="en-US" altLang="zh-CN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ETF</a:t>
                      </a: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与个股的区别：</a:t>
                      </a:r>
                      <a:endParaRPr lang="en-US" altLang="zh-CN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10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可控性：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ETF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更加光滑，可被预测；个股虽然有可能成为妖股，但波动无规律，难以把控。</a:t>
                      </a:r>
                      <a:endParaRPr lang="en-US" altLang="zh-CN" sz="10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776888"/>
                  </a:ext>
                </a:extLst>
              </a:tr>
              <a:tr h="264498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可按规则操作：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ETF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可以完全按规则操作，如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/DJC/WJC/DJB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做丘，特别是在退出阶段，一旦下破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就应立即退出；但个股即使跌破，仍然心存侥幸心理，例如（该股是妖股可以特立独行；该股股性更活跃；大盘虽然不好但该股很坚挺），但该股一旦仓位过大或补跌，则会造成更大损失。</a:t>
                      </a:r>
                      <a:endParaRPr lang="en-US" altLang="zh-CN" sz="10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3795902"/>
                  </a:ext>
                </a:extLst>
              </a:tr>
              <a:tr h="211599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占据风口机会。一旦风口来临，个股妖股涨幅大且猛，一般不敢长久介入妖股，转而押注同板块低位股，但滞胀股非但不跟涨，且在风口过后下跌更多。但投资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ETF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可以分享板块的部分涨幅，从而部分参与妖股的炒作，属于中庸平均之道。</a:t>
                      </a:r>
                      <a:endParaRPr lang="en-US" altLang="zh-CN" sz="10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0830604"/>
                  </a:ext>
                </a:extLst>
              </a:tr>
              <a:tr h="158699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退出绿色通道。相比个股，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ETF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不会退市，也不会出现跌停不能卖出的情况。</a:t>
                      </a:r>
                      <a:endParaRPr lang="en-US" altLang="zh-CN" sz="10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669386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防止指数骗线或指数趋势矛盾。大盘宽基指数的作用，一般用来判断大势，如果投资个股，会同时利用多个指数用于判断趋势，但多个指数之间可能存在矛盾或指数骗线。例如，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股指数或恒生指数通常先于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股大盘引导趋势，另外小盘可能领先上证指数（大金融护盘）。在种种骗线可能存在的情况下，直接投资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宽基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ETF/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行业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ETF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，可以完全按规则进行操作，从而避免趋势判断的矛盾与困扰。</a:t>
                      </a:r>
                      <a:endParaRPr lang="en-US" altLang="zh-CN" sz="10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59915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避免逆势而动。市场趋势传到链条是：大势⇒宽基指数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行业指数⇒个股。在大势为升时，顺风顺水，个股可能出现妖股，但投资宽基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ETF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或行业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ETF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也不会错过风口；但在大势为逆势时，特别是在由顺势转为逆势的过渡阶段，大势可能已经衰败，但个股仍然没有走坏，这时，如果按原有筛选流程，个股仍然符合条件的已经很少，且有可能补跌，从而造成非常大的损失。投资能够代表趋势的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宽基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ETF/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行业</a:t>
                      </a:r>
                      <a:r>
                        <a:rPr lang="en-US" altLang="zh-CN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ETF</a:t>
                      </a:r>
                      <a:r>
                        <a:rPr lang="zh-CN" altLang="en-US" sz="10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，才是顺势而为的好方法。</a:t>
                      </a:r>
                      <a:endParaRPr lang="en-US" altLang="zh-CN" sz="10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5013200"/>
                  </a:ext>
                </a:extLst>
              </a:tr>
              <a:tr h="16625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备选</a:t>
                      </a:r>
                      <a:r>
                        <a:rPr lang="en-US" altLang="zh-CN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ETF</a:t>
                      </a:r>
                      <a:r>
                        <a:rPr lang="zh-CN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应具备的特征：</a:t>
                      </a:r>
                      <a:endParaRPr lang="en-US" altLang="zh-CN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波动较大：日均高幅≥</a:t>
                      </a:r>
                      <a:r>
                        <a:rPr lang="en-US" altLang="zh-CN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符合趋势：周级别</a:t>
                      </a:r>
                      <a:r>
                        <a:rPr lang="en-US" altLang="zh-CN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&amp;</a:t>
                      </a:r>
                      <a:r>
                        <a:rPr lang="zh-CN" altLang="en-US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日级别</a:t>
                      </a:r>
                      <a:endParaRPr lang="en-US" altLang="zh-CN" sz="10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轮动效应：符合轮动规律。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走势平稳光滑</a:t>
                      </a:r>
                      <a:endParaRPr lang="en-US" altLang="zh-CN" sz="10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交易活跃：市值较大</a:t>
                      </a:r>
                      <a:r>
                        <a:rPr lang="en-US" altLang="zh-CN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成交量较大。</a:t>
                      </a:r>
                      <a:endParaRPr lang="en-US" altLang="zh-CN" sz="10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覆盖面：同类</a:t>
                      </a:r>
                      <a:r>
                        <a:rPr lang="en-US" altLang="zh-CN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ETF</a:t>
                      </a:r>
                      <a:r>
                        <a:rPr lang="zh-CN" altLang="en-US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选择成交活跃；增加境外</a:t>
                      </a:r>
                      <a:r>
                        <a:rPr lang="en-US" altLang="zh-CN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T+0</a:t>
                      </a:r>
                      <a:r>
                        <a:rPr lang="zh-CN" altLang="en-US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交易</a:t>
                      </a:r>
                      <a:r>
                        <a:rPr lang="en-US" altLang="zh-CN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ETF</a:t>
                      </a:r>
                      <a:r>
                        <a:rPr lang="zh-CN" altLang="en-US" sz="10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zh-CN" altLang="en-US" sz="10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70389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50911764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5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6E4DCF6-59ED-BFCD-BB92-F39E0E5871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>
            <a:extLst>
              <a:ext uri="{FF2B5EF4-FFF2-40B4-BE49-F238E27FC236}">
                <a16:creationId xmlns:a16="http://schemas.microsoft.com/office/drawing/2014/main" id="{57D4B26C-09E2-A93A-07B9-9614F30ABFE9}"/>
              </a:ext>
            </a:extLst>
          </p:cNvPr>
          <p:cNvSpPr txBox="1"/>
          <p:nvPr/>
        </p:nvSpPr>
        <p:spPr>
          <a:xfrm>
            <a:off x="0" y="722313"/>
            <a:ext cx="12193200" cy="1384995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统码轮动统表：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宏观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柱：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均高幅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均涨幅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均低幅，三者构成整个市场的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柱。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均振幅：重要性不如宏观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柱。如果均振幅≤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，则设置均振幅为灰色；如果均涨幅为正，则设置均振幅为蓝色；如果均涨幅为负，则设置均振幅为黄色。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涨身比：代表日内波动的方向。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涨幅分布：重点关注涨幅为正的比例。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综合（均涨幅）与（涨身比）：可以总结日内形态特征（待完成）。可能的类型包括：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冲高回落</a:t>
            </a:r>
            <a:r>
              <a:rPr lang="en-US" altLang="zh-CN" sz="120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高升光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脚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探</a:t>
            </a:r>
            <a:r>
              <a:rPr lang="zh-CN" altLang="en-US" sz="120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底回升。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市值效应：利用宽基指数（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/SZ50/HS300/ZZ500/ZZ1000/ZZ2000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），获取市场风口的市值风格。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标题 1">
            <a:extLst>
              <a:ext uri="{FF2B5EF4-FFF2-40B4-BE49-F238E27FC236}">
                <a16:creationId xmlns:a16="http://schemas.microsoft.com/office/drawing/2014/main" id="{BB652195-B2BB-C6BE-A3DD-04B9D578DE88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宏观轮动（统码轮动）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观察宏观大势，结合宽基行业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ETF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进行操作。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3C81098B-2024-9C37-143F-5D6D3F9A650C}"/>
              </a:ext>
            </a:extLst>
          </p:cNvPr>
          <p:cNvSpPr txBox="1"/>
          <p:nvPr/>
        </p:nvSpPr>
        <p:spPr>
          <a:xfrm>
            <a:off x="-1200" y="2107308"/>
            <a:ext cx="12193200" cy="1200329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判定周期的工具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统计涨幅分布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高幅分布的比例变化规律判定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波动周期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统计仓类别的比例变化规律判定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趋势周期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市场波动规律：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按涨幅比例形成波动顶部（例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20241008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）⇒按均线关系形成趋势顶部（市场中多数股票的上升趋势比例最大）⇒按涨幅比例形成波动底部⇒按均线关系形成趋势底部（市场中多数股票的下降趋势比例最大）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4D94E0D4-0754-F67A-8DC0-1B94C7C1CA33}"/>
              </a:ext>
            </a:extLst>
          </p:cNvPr>
          <p:cNvSpPr txBox="1"/>
          <p:nvPr/>
        </p:nvSpPr>
        <p:spPr>
          <a:xfrm>
            <a:off x="-1200" y="5842337"/>
            <a:ext cx="12193200" cy="1015663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每日需要关注的数据：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先行大盘指标：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股、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股、中概股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大盘波动周期：决定持仓仓位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行业轮动规律：决定需要重点关注的板块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持仓的操作：是否需要退出、加仓。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06DAD951-8C36-9E2E-FEA3-D76965CB6F5C}"/>
              </a:ext>
            </a:extLst>
          </p:cNvPr>
          <p:cNvSpPr txBox="1"/>
          <p:nvPr/>
        </p:nvSpPr>
        <p:spPr>
          <a:xfrm>
            <a:off x="-1200" y="3307637"/>
            <a:ext cx="12193200" cy="1200329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跨码跨时仓类矩阵：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内容：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把核心指数的神谕仓类指标，跨码跨时进行展示对比。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作用：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将原来的日类波动幅度矩阵，深化成为均线趋势矩阵。由原先的浮于表面的波动指标，进化成为慎入骨肉的趋势性指标。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类型：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针对核心指数，可以展示宽基与行业的趋势分布，用于判断大势与投资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ETF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。耗时较小，可以盘中运行。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针对全体股票，可以统计仓类的比例分布变化，当符合趋势的比例变小时也是市场低谷。用于判断市场低谷，从而降低总体仓位。耗时长，只能周末盘后运行。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143429496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>
            <a:lumMod val="5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B22AD61-5FD5-86DF-2363-3E7E62DB52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279C8450-897B-9B39-7B43-F45A0861F7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53000" y="365125"/>
            <a:ext cx="6400800" cy="1325563"/>
          </a:xfrm>
        </p:spPr>
        <p:txBody>
          <a:bodyPr/>
          <a:lstStyle/>
          <a:p>
            <a:r>
              <a:rPr lang="zh-CN" altLang="en-US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思维陷阱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3A9F549C-589E-A780-915C-A225FA3B7A3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53000" y="1825625"/>
            <a:ext cx="6400800" cy="4351338"/>
          </a:xfrm>
        </p:spPr>
        <p:txBody>
          <a:bodyPr>
            <a:normAutofit/>
          </a:bodyPr>
          <a:lstStyle/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开口饭精髓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思维陷阱总结：人性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思维陷阱总结：持仓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知名算法核心思想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CAAD9F7B-C53D-5C17-6CD3-3D77772AB89C}"/>
              </a:ext>
            </a:extLst>
          </p:cNvPr>
          <p:cNvSpPr txBox="1"/>
          <p:nvPr/>
        </p:nvSpPr>
        <p:spPr>
          <a:xfrm>
            <a:off x="1095375" y="1690688"/>
            <a:ext cx="2867025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0" dirty="0">
                <a:solidFill>
                  <a:schemeClr val="tx2">
                    <a:lumMod val="75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思</a:t>
            </a:r>
          </a:p>
        </p:txBody>
      </p:sp>
    </p:spTree>
    <p:extLst>
      <p:ext uri="{BB962C8B-B14F-4D97-AF65-F5344CB8AC3E}">
        <p14:creationId xmlns:p14="http://schemas.microsoft.com/office/powerpoint/2010/main" val="3183083048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7ED67D-1216-A1A5-9FCA-9EE49DF51C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>
            <a:extLst>
              <a:ext uri="{FF2B5EF4-FFF2-40B4-BE49-F238E27FC236}">
                <a16:creationId xmlns:a16="http://schemas.microsoft.com/office/drawing/2014/main" id="{39C41508-5EA8-A914-7C9D-F32444371081}"/>
              </a:ext>
            </a:extLst>
          </p:cNvPr>
          <p:cNvSpPr txBox="1"/>
          <p:nvPr/>
        </p:nvSpPr>
        <p:spPr>
          <a:xfrm>
            <a:off x="0" y="722313"/>
            <a:ext cx="12193200" cy="1015663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开口饭核心均线的选择：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要具有趋势性特征。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不要频繁交叉。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从最高点到下破均线：回撤不要太大。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结论：周级别最适合按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吃开口饭；日级别最适合按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吃开口饭。</a:t>
            </a:r>
          </a:p>
        </p:txBody>
      </p:sp>
      <p:sp>
        <p:nvSpPr>
          <p:cNvPr id="3" name="标题 1">
            <a:extLst>
              <a:ext uri="{FF2B5EF4-FFF2-40B4-BE49-F238E27FC236}">
                <a16:creationId xmlns:a16="http://schemas.microsoft.com/office/drawing/2014/main" id="{A0FF0E78-8C82-1917-12CC-B41CB2F0943E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开口饭精髓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开口饭的基石是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数学特性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DE48B40A-ABD8-BB00-1465-A68B9F2BAF1E}"/>
              </a:ext>
            </a:extLst>
          </p:cNvPr>
          <p:cNvSpPr txBox="1"/>
          <p:nvPr/>
        </p:nvSpPr>
        <p:spPr>
          <a:xfrm>
            <a:off x="0" y="1729699"/>
            <a:ext cx="12193200" cy="1200329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开口饭要坚信什么力量，不要被以下胡思乱想所困扰：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对于上涨，不要担心是否停止继续上涨或会回跌。涨了可止盈减至底仓，但不要清仓。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对于下跌，不要担心会继续下跌。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仓位较大按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做丘；仓位较小按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做丘。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遇劫不要立刻割肉，要相信神秘力量会修复（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天劫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/ZA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/ZB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劫）。回升后可以止盈或继续吃开口饭。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激进做法，坚信神秘力量。在下跌时买入，最好选择连跌后力量衰竭止跌或大阴线之后。</a:t>
            </a: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5A3BFDDA-7E2D-BBD5-A288-023BD0090ADA}"/>
              </a:ext>
            </a:extLst>
          </p:cNvPr>
          <p:cNvSpPr txBox="1"/>
          <p:nvPr/>
        </p:nvSpPr>
        <p:spPr>
          <a:xfrm>
            <a:off x="0" y="2930028"/>
            <a:ext cx="12193200" cy="1384995"/>
          </a:xfrm>
          <a:prstGeom prst="rect">
            <a:avLst/>
          </a:prstGeom>
          <a:solidFill>
            <a:schemeClr val="accent4"/>
          </a:solidFill>
        </p:spPr>
        <p:txBody>
          <a:bodyPr wrap="square">
            <a:spAutoFit/>
          </a:bodyPr>
          <a:lstStyle/>
          <a:p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坚守对的位置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的意义：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孙悟空给唐僧画了个圈，待在圈内就保证安全，出了圈就会遭遇危险。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股市中最该追求的是阳柱，有没有一条线能够划分阳柱聚集地与阴柱聚集地？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有，基本上就是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，或可以放宽至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DJC/DJD/DJE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。在其上阳柱较多，在其下阴柱较多。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注意一，不意味着在之上一定不会下跌，要在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巨连久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止盈减仓，在破线清仓，在劫恢复时加仓。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注意二，不意味着在之下一定没有阳柱，如果没有阳柱怎么能回到均线上方。但一定不要珍惜这些线下阳柱，一定要等待站上再进入，下破就要离开。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注意三，重视长期均线作用，一定要在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DJE&amp;DJD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F4C02358-EC6A-6336-A2D7-0A6842B38BC3}"/>
              </a:ext>
            </a:extLst>
          </p:cNvPr>
          <p:cNvSpPr/>
          <p:nvPr/>
        </p:nvSpPr>
        <p:spPr>
          <a:xfrm>
            <a:off x="-1198" y="5990492"/>
            <a:ext cx="12192002" cy="867508"/>
          </a:xfrm>
          <a:prstGeom prst="rect">
            <a:avLst/>
          </a:prstGeom>
          <a:solidFill>
            <a:srgbClr val="FF999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图形观察必杀技</a:t>
            </a:r>
            <a:r>
              <a:rPr lang="en-US" altLang="zh-CN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观察图形时，严重一定时刻要关注：</a:t>
            </a:r>
            <a:r>
              <a:rPr lang="en-US" altLang="zh-CN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护型、（顶</a:t>
            </a:r>
            <a:r>
              <a:rPr lang="en-US" altLang="zh-CN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,DJC</a:t>
            </a:r>
            <a:r>
              <a:rPr lang="zh-CN" altLang="en-US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）管、</a:t>
            </a:r>
            <a:r>
              <a:rPr lang="en-US" altLang="zh-CN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护型。</a:t>
            </a:r>
            <a:endParaRPr lang="en-US" altLang="zh-CN" sz="105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在思想上明确：</a:t>
            </a:r>
            <a:endParaRPr lang="en-US" altLang="zh-CN" sz="105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护型：是主级运动趋势，代表了趋势开展的最基本模式，必须时刻关注。</a:t>
            </a:r>
            <a:endParaRPr lang="en-US" altLang="zh-CN" sz="105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护型：是次级运动趋势，日类短期的运动模式。</a:t>
            </a:r>
            <a:endParaRPr lang="en-US" altLang="zh-CN" sz="105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（顶</a:t>
            </a:r>
            <a:r>
              <a:rPr lang="en-US" altLang="zh-CN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,DJC</a:t>
            </a:r>
            <a:r>
              <a:rPr lang="zh-CN" altLang="en-US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）管：配合</a:t>
            </a:r>
            <a:r>
              <a:rPr lang="en-US" altLang="zh-CN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05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进行控制。</a:t>
            </a:r>
            <a:endParaRPr lang="en-US" altLang="zh-CN" sz="105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105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579296890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D52CC50-893F-182A-E4CE-D1DCB29D05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394EF4B-7066-D97A-3CD6-A86755DA43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思维陷阱总结：人性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汇总思维陷阱并制定应对策略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6E4A7830-690B-B8AC-135D-66C605A063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0773344"/>
              </p:ext>
            </p:extLst>
          </p:nvPr>
        </p:nvGraphicFramePr>
        <p:xfrm>
          <a:off x="0" y="720000"/>
          <a:ext cx="12192000" cy="4993640"/>
        </p:xfrm>
        <a:graphic>
          <a:graphicData uri="http://schemas.openxmlformats.org/drawingml/2006/table">
            <a:tbl>
              <a:tblPr firstRow="1" bandRow="1">
                <a:tableStyleId>{FABFCF23-3B69-468F-B69F-88F6DE6A72F2}</a:tableStyleId>
              </a:tblPr>
              <a:tblGrid>
                <a:gridCol w="819632">
                  <a:extLst>
                    <a:ext uri="{9D8B030D-6E8A-4147-A177-3AD203B41FA5}">
                      <a16:colId xmlns:a16="http://schemas.microsoft.com/office/drawing/2014/main" val="2080878611"/>
                    </a:ext>
                  </a:extLst>
                </a:gridCol>
                <a:gridCol w="11372368">
                  <a:extLst>
                    <a:ext uri="{9D8B030D-6E8A-4147-A177-3AD203B41FA5}">
                      <a16:colId xmlns:a16="http://schemas.microsoft.com/office/drawing/2014/main" val="287479896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endParaRPr lang="zh-CN" altLang="en-US" sz="9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591331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b="1" dirty="0"/>
                        <a:t>操自己的心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/>
                        <a:t>思维陷阱：不要从大局为重</a:t>
                      </a:r>
                      <a:r>
                        <a:rPr lang="en-US" altLang="zh-CN" sz="900" b="1" dirty="0"/>
                        <a:t>&amp;</a:t>
                      </a:r>
                      <a:r>
                        <a:rPr lang="zh-CN" altLang="en-US" sz="900" b="1" dirty="0"/>
                        <a:t>把事情办好的角度揣摩市场参与者心态；要以各自为政的角度去设想参与者心态。</a:t>
                      </a:r>
                      <a:endParaRPr lang="en-US" altLang="zh-CN" sz="900" b="1" dirty="0"/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具体情况：假想科创</a:t>
                      </a:r>
                      <a:r>
                        <a:rPr lang="en-US" altLang="zh-CN" sz="900" dirty="0"/>
                        <a:t>50</a:t>
                      </a:r>
                      <a:r>
                        <a:rPr lang="zh-CN" altLang="en-US" sz="900" dirty="0"/>
                        <a:t>不会下破</a:t>
                      </a:r>
                      <a:r>
                        <a:rPr lang="en-US" altLang="zh-CN" sz="900" dirty="0"/>
                        <a:t>1000</a:t>
                      </a:r>
                      <a:r>
                        <a:rPr lang="zh-CN" altLang="en-US" sz="900" dirty="0"/>
                        <a:t>；假想</a:t>
                      </a:r>
                      <a:r>
                        <a:rPr lang="en-US" altLang="zh-CN" sz="900" dirty="0"/>
                        <a:t>2025</a:t>
                      </a:r>
                      <a:r>
                        <a:rPr lang="zh-CN" altLang="en-US" sz="900" dirty="0"/>
                        <a:t>春节前会大涨从而吸引入市；假想上证横盘且有大金融护盘从而就能向上突破三角形。</a:t>
                      </a:r>
                      <a:endParaRPr lang="en-US" altLang="zh-CN" sz="900" dirty="0"/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应对策略：一定重视市场异动，一旦先行指数（</a:t>
                      </a:r>
                      <a:r>
                        <a:rPr lang="en-US" altLang="zh-CN" sz="900" dirty="0"/>
                        <a:t>B</a:t>
                      </a:r>
                      <a:r>
                        <a:rPr lang="zh-CN" altLang="en-US" sz="900" dirty="0"/>
                        <a:t>股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恒生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小盘）趋势走坏，就尽快退出。不要对少数逆势个股抱太大期望加仓，要使用能够代表市场趋势的宽基</a:t>
                      </a:r>
                      <a:r>
                        <a:rPr lang="en-US" altLang="zh-CN" sz="900" dirty="0"/>
                        <a:t>ETF</a:t>
                      </a:r>
                      <a:r>
                        <a:rPr lang="zh-CN" altLang="en-US" sz="900" dirty="0"/>
                        <a:t>与行业</a:t>
                      </a:r>
                      <a:r>
                        <a:rPr lang="en-US" altLang="zh-CN" sz="900" dirty="0"/>
                        <a:t>ETF</a:t>
                      </a:r>
                      <a:r>
                        <a:rPr lang="zh-CN" altLang="en-US" sz="900" dirty="0"/>
                        <a:t>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1844604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b="1" dirty="0"/>
                        <a:t>惧怕压力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/>
                        <a:t>思维陷阱：不原承担持仓压力，就可能承受错过涨幅的郁闷。</a:t>
                      </a:r>
                      <a:endParaRPr lang="en-US" altLang="zh-CN" sz="900" b="1" dirty="0"/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具体情况：持仓稍有盈利，就按照低阶均线波动减仓，甚至清仓。最终导致错过涨幅。</a:t>
                      </a:r>
                      <a:endParaRPr lang="en-US" altLang="zh-CN" sz="900" dirty="0"/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应对策略：一定要保留底仓，一定要按照统一时间维度操盘，一定不要按照自己意愿而非市场走势进行持仓。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65950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 dirty="0"/>
                        <a:t>逆人性</a:t>
                      </a: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/>
                        <a:t>思维陷阱：操作要逆反人性，不要做的舒服。</a:t>
                      </a:r>
                      <a:endParaRPr lang="en-US" altLang="zh-CN" sz="900" b="1" dirty="0"/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具体情况：何为顺从人性，总抓低位股，在</a:t>
                      </a:r>
                      <a:r>
                        <a:rPr lang="en-US" altLang="zh-CN" sz="900" dirty="0"/>
                        <a:t>WJC</a:t>
                      </a:r>
                      <a:r>
                        <a:rPr lang="zh-CN" altLang="en-US" sz="900" dirty="0"/>
                        <a:t>之下操作，一有阳线就卖出，不敢在阴线进入。</a:t>
                      </a:r>
                      <a:endParaRPr lang="en-US" altLang="zh-CN" sz="900" dirty="0"/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应对策略：</a:t>
                      </a:r>
                      <a:r>
                        <a:rPr lang="zh-CN" altLang="en-US" sz="900" b="1" dirty="0">
                          <a:solidFill>
                            <a:srgbClr val="FF0000"/>
                          </a:solidFill>
                        </a:rPr>
                        <a:t>不预测，不期望，只应对。</a:t>
                      </a:r>
                      <a:endParaRPr lang="en-US" altLang="zh-CN" sz="900" b="1" dirty="0">
                        <a:solidFill>
                          <a:srgbClr val="FF0000"/>
                        </a:solidFill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一定要保留底仓，要在关键均线之上操作，要像被套牢一样守住仓位。对应于，亏损持仓始终持有。</a:t>
                      </a:r>
                      <a:endParaRPr lang="en-US" altLang="zh-CN" sz="900" dirty="0"/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当出现次级均线下破时，出现阳中阴要敢于买入。对应于，空头排列时出现日级别突破就进入。</a:t>
                      </a:r>
                      <a:endParaRPr lang="en-US" altLang="zh-CN" sz="900" dirty="0"/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出现大阳柱要卖出，要找时机再次进入。对应于，在空头排列时总在大阴柱捡漏，但却被套。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823281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 dirty="0"/>
                        <a:t>要“无我”</a:t>
                      </a: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/>
                        <a:t>思维陷阱：总是依靠个人判断。</a:t>
                      </a:r>
                      <a:endParaRPr lang="en-US" altLang="zh-CN" sz="900" b="1" dirty="0"/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应对策略：完全依靠昭明算法，将算法实现为虚拟仓位，进行复盘验证，并按系统进行操作。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563457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/>
                        <a:t>思维陷阱：没有坚持自身判断，任由市场走势不如所愿改变既定策略。</a:t>
                      </a:r>
                      <a:endParaRPr lang="en-US" altLang="zh-CN" sz="900" b="1" dirty="0"/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具体情况：</a:t>
                      </a:r>
                      <a:r>
                        <a:rPr lang="en-US" altLang="zh-CN" sz="900" dirty="0"/>
                        <a:t>2024</a:t>
                      </a:r>
                      <a:r>
                        <a:rPr lang="zh-CN" altLang="en-US" sz="900" dirty="0"/>
                        <a:t>年</a:t>
                      </a:r>
                      <a:r>
                        <a:rPr lang="en-US" altLang="zh-CN" sz="900" dirty="0"/>
                        <a:t>9</a:t>
                      </a:r>
                      <a:r>
                        <a:rPr lang="zh-CN" altLang="en-US" sz="900" dirty="0"/>
                        <a:t>月</a:t>
                      </a:r>
                      <a:r>
                        <a:rPr lang="en-US" altLang="zh-CN" sz="900" dirty="0"/>
                        <a:t>26</a:t>
                      </a:r>
                      <a:r>
                        <a:rPr lang="zh-CN" altLang="en-US" sz="900" dirty="0"/>
                        <a:t>号之后，认定地产是主要战场，但由于股票走势缓慢，则认为市场未达成这一共识。但在</a:t>
                      </a:r>
                      <a:r>
                        <a:rPr lang="en-US" altLang="zh-CN" sz="900" dirty="0"/>
                        <a:t>10</a:t>
                      </a:r>
                      <a:r>
                        <a:rPr lang="zh-CN" altLang="en-US" sz="900" dirty="0"/>
                        <a:t>月</a:t>
                      </a:r>
                      <a:r>
                        <a:rPr lang="en-US" altLang="zh-CN" sz="900" dirty="0"/>
                        <a:t>2</a:t>
                      </a:r>
                      <a:r>
                        <a:rPr lang="zh-CN" altLang="en-US" sz="900" dirty="0"/>
                        <a:t>日，港股地产股多支暴涨</a:t>
                      </a:r>
                      <a:r>
                        <a:rPr lang="en-US" altLang="zh-CN" sz="900" dirty="0"/>
                        <a:t>100%</a:t>
                      </a:r>
                      <a:r>
                        <a:rPr lang="zh-CN" altLang="en-US" sz="900" dirty="0"/>
                        <a:t>以上。之前投资富力地产，也为稳定持仓，最终错过。</a:t>
                      </a:r>
                      <a:endParaRPr lang="en-US" altLang="zh-CN" sz="900" dirty="0"/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应对策略：一定要坚持判断，做好亏损准备。避免起个大早赶个晚集。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8382728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 dirty="0"/>
                        <a:t>依赖市场</a:t>
                      </a: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/>
                        <a:t>思维陷阱：没有坚持分析市场的异常变动。</a:t>
                      </a:r>
                      <a:endParaRPr lang="en-US" altLang="zh-CN" sz="900" b="1" dirty="0"/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具体情况：</a:t>
                      </a:r>
                      <a:r>
                        <a:rPr lang="en-US" altLang="zh-CN" sz="900" dirty="0"/>
                        <a:t>2024</a:t>
                      </a:r>
                      <a:r>
                        <a:rPr lang="zh-CN" altLang="en-US" sz="900" dirty="0"/>
                        <a:t>年</a:t>
                      </a:r>
                      <a:r>
                        <a:rPr lang="en-US" altLang="zh-CN" sz="900" dirty="0"/>
                        <a:t>9</a:t>
                      </a:r>
                      <a:r>
                        <a:rPr lang="zh-CN" altLang="en-US" sz="900" dirty="0"/>
                        <a:t>月</a:t>
                      </a:r>
                      <a:r>
                        <a:rPr lang="en-US" altLang="zh-CN" sz="900" dirty="0"/>
                        <a:t>26</a:t>
                      </a:r>
                      <a:r>
                        <a:rPr lang="zh-CN" altLang="en-US" sz="900" dirty="0"/>
                        <a:t>号之前，从</a:t>
                      </a:r>
                      <a:r>
                        <a:rPr lang="en-US" altLang="zh-CN" sz="900" dirty="0"/>
                        <a:t>7</a:t>
                      </a:r>
                      <a:r>
                        <a:rPr lang="zh-CN" altLang="en-US" sz="900" dirty="0"/>
                        <a:t>月</a:t>
                      </a:r>
                      <a:r>
                        <a:rPr lang="en-US" altLang="zh-CN" sz="900" dirty="0"/>
                        <a:t>8</a:t>
                      </a:r>
                      <a:r>
                        <a:rPr lang="zh-CN" altLang="en-US" sz="900" dirty="0"/>
                        <a:t>日开始，虽然股市持续下跌，但人民币汇率上升明显。必然有离岸机构收集人民币筹码，并在行情启动后，迅速拉升股市。这个人到底是谁，很可能是离岸国家队。因为如果是离岸外资，没有保持汇率的愿望，且如果即时购买港股，如此大的走势必然导致汇率急速上升，从而必然是离岸国家队，首先收集人民币筹码稳定汇率，然后急速拉升股市，设法改变趋势。</a:t>
                      </a:r>
                      <a:endParaRPr lang="en-US" altLang="zh-CN" sz="900" dirty="0"/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应对策略：一定要关注异常变动，并关注异常个股变动，如阿里巴巴、证券。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996082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 dirty="0"/>
                        <a:t>不尊重大势</a:t>
                      </a: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/>
                        <a:t>思维陷阱：市场由盛转衰过程中的亏欠过程，侥幸心理</a:t>
                      </a:r>
                      <a:r>
                        <a:rPr lang="en-US" altLang="zh-CN" sz="900" b="1" dirty="0"/>
                        <a:t>+</a:t>
                      </a:r>
                      <a:r>
                        <a:rPr lang="zh-CN" altLang="en-US" sz="900" b="1" dirty="0"/>
                        <a:t>没有固定规则，导致亏损。</a:t>
                      </a:r>
                      <a:endParaRPr lang="en-US" altLang="zh-CN" sz="900" b="1" dirty="0"/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具体情况：（步</a:t>
                      </a:r>
                      <a:r>
                        <a:rPr lang="en-US" altLang="zh-CN" sz="900" dirty="0"/>
                        <a:t>1</a:t>
                      </a:r>
                      <a:r>
                        <a:rPr lang="zh-CN" altLang="en-US" sz="900" dirty="0"/>
                        <a:t>）大盘指数下破重要均线</a:t>
                      </a:r>
                      <a:r>
                        <a:rPr lang="en-US" altLang="zh-CN" sz="900" dirty="0"/>
                        <a:t>DJC</a:t>
                      </a:r>
                      <a:r>
                        <a:rPr lang="zh-CN" altLang="en-US" sz="900" dirty="0"/>
                        <a:t>，但执迷于少数还未走坏得个股；（步</a:t>
                      </a:r>
                      <a:r>
                        <a:rPr lang="en-US" altLang="zh-CN" sz="900" dirty="0"/>
                        <a:t>2</a:t>
                      </a:r>
                      <a:r>
                        <a:rPr lang="zh-CN" altLang="en-US" sz="900" dirty="0"/>
                        <a:t>）认为</a:t>
                      </a:r>
                      <a:r>
                        <a:rPr lang="en-US" altLang="zh-CN" sz="900" dirty="0"/>
                        <a:t>WJC</a:t>
                      </a:r>
                      <a:r>
                        <a:rPr lang="zh-CN" altLang="en-US" sz="900" dirty="0"/>
                        <a:t>是止损线，忍受亏损；（步</a:t>
                      </a:r>
                      <a:r>
                        <a:rPr lang="en-US" altLang="zh-CN" sz="900" dirty="0"/>
                        <a:t>3</a:t>
                      </a:r>
                      <a:r>
                        <a:rPr lang="zh-CN" altLang="en-US" sz="900" dirty="0"/>
                        <a:t>）转变为下破</a:t>
                      </a:r>
                      <a:r>
                        <a:rPr lang="en-US" altLang="zh-CN" sz="900" dirty="0"/>
                        <a:t>DJD</a:t>
                      </a:r>
                      <a:r>
                        <a:rPr lang="zh-CN" altLang="en-US" sz="900" dirty="0"/>
                        <a:t>不持有，割肉离场。（步</a:t>
                      </a:r>
                      <a:r>
                        <a:rPr lang="en-US" altLang="zh-CN" sz="900" dirty="0"/>
                        <a:t>4</a:t>
                      </a:r>
                      <a:r>
                        <a:rPr lang="zh-CN" altLang="en-US" sz="900" dirty="0"/>
                        <a:t>）认为升势集中在</a:t>
                      </a:r>
                      <a:r>
                        <a:rPr lang="en-US" altLang="zh-CN" sz="900" dirty="0"/>
                        <a:t>DJA</a:t>
                      </a:r>
                      <a:r>
                        <a:rPr lang="zh-CN" altLang="en-US" sz="900" dirty="0"/>
                        <a:t>之上，割肉旧仓，移仓至新股票。（步</a:t>
                      </a:r>
                      <a:r>
                        <a:rPr lang="en-US" altLang="zh-CN" sz="900" dirty="0"/>
                        <a:t>5</a:t>
                      </a:r>
                      <a:r>
                        <a:rPr lang="zh-CN" altLang="en-US" sz="900" dirty="0"/>
                        <a:t>）等到行情反弹，就会看新标的，砍仓亏损，导致本金损失。</a:t>
                      </a:r>
                      <a:endParaRPr lang="en-US" altLang="zh-CN" sz="900" dirty="0"/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应对策略：</a:t>
                      </a:r>
                      <a:endParaRPr lang="en-US" altLang="zh-CN" sz="900" dirty="0"/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（</a:t>
                      </a:r>
                      <a:r>
                        <a:rPr lang="en-US" altLang="zh-CN" sz="900" dirty="0"/>
                        <a:t>1</a:t>
                      </a:r>
                      <a:r>
                        <a:rPr lang="zh-CN" altLang="en-US" sz="900" dirty="0"/>
                        <a:t>）明确规则：坚决不持有</a:t>
                      </a:r>
                      <a:r>
                        <a:rPr lang="en-US" altLang="zh-CN" sz="900" dirty="0"/>
                        <a:t>DJD</a:t>
                      </a:r>
                      <a:r>
                        <a:rPr lang="zh-CN" altLang="en-US" sz="900" dirty="0"/>
                        <a:t>之下，下破必砍仓。</a:t>
                      </a:r>
                      <a:endParaRPr lang="en-US" altLang="zh-CN" sz="900" dirty="0"/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（</a:t>
                      </a:r>
                      <a:r>
                        <a:rPr lang="en-US" altLang="zh-CN" sz="900" dirty="0"/>
                        <a:t>2</a:t>
                      </a:r>
                      <a:r>
                        <a:rPr lang="zh-CN" altLang="en-US" sz="900" dirty="0"/>
                        <a:t>）重视大盘影响，当所在大盘指数下破重要均线，必须限制仓位，不要心存侥幸。</a:t>
                      </a:r>
                      <a:r>
                        <a:rPr lang="en-US" altLang="zh-CN" sz="900" dirty="0"/>
                        <a:t>		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（</a:t>
                      </a:r>
                      <a:r>
                        <a:rPr lang="en-US" altLang="zh-CN" sz="900" dirty="0"/>
                        <a:t>3</a:t>
                      </a:r>
                      <a:r>
                        <a:rPr lang="zh-CN" altLang="en-US" sz="900" dirty="0"/>
                        <a:t>）对于日线要阴买阳卖，在均线之上意味着有机会上升，但真的出现阳柱后应减至底仓（按均线操作）。牢记，真正的机会只有几个阳柱。</a:t>
                      </a:r>
                      <a:endParaRPr lang="en-US" altLang="zh-CN" sz="900" dirty="0"/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（</a:t>
                      </a:r>
                      <a:r>
                        <a:rPr lang="en-US" altLang="zh-CN" sz="900" dirty="0"/>
                        <a:t>4</a:t>
                      </a:r>
                      <a:r>
                        <a:rPr lang="zh-CN" altLang="en-US" sz="900" dirty="0"/>
                        <a:t>）只有大均线</a:t>
                      </a:r>
                      <a:r>
                        <a:rPr lang="en-US" altLang="zh-CN" sz="900" dirty="0"/>
                        <a:t>/DJE/DJD/DJC</a:t>
                      </a:r>
                      <a:r>
                        <a:rPr lang="zh-CN" altLang="en-US" sz="900" dirty="0"/>
                        <a:t>站上后才能保持一段时间，对小均线</a:t>
                      </a:r>
                      <a:r>
                        <a:rPr lang="en-US" altLang="zh-CN" sz="900" dirty="0"/>
                        <a:t>/DJA/DJB</a:t>
                      </a:r>
                      <a:r>
                        <a:rPr lang="zh-CN" altLang="en-US" sz="900" dirty="0"/>
                        <a:t>要奉行见好就收原则。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447091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4380618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42453C-9538-F85F-C1B7-F4E3BE16D3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2E5AEBE8-7783-4FE0-9F17-1AA5E72083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思维陷阱总结：人性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汇总思维陷阱并制定应对策略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9" name="表格 8">
            <a:extLst>
              <a:ext uri="{FF2B5EF4-FFF2-40B4-BE49-F238E27FC236}">
                <a16:creationId xmlns:a16="http://schemas.microsoft.com/office/drawing/2014/main" id="{1C86CA2E-8895-B68F-30A9-A0795520C4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0985769"/>
              </p:ext>
            </p:extLst>
          </p:nvPr>
        </p:nvGraphicFramePr>
        <p:xfrm>
          <a:off x="0" y="720000"/>
          <a:ext cx="12192000" cy="4221480"/>
        </p:xfrm>
        <a:graphic>
          <a:graphicData uri="http://schemas.openxmlformats.org/drawingml/2006/table">
            <a:tbl>
              <a:tblPr firstRow="1" bandRow="1">
                <a:tableStyleId>{FABFCF23-3B69-468F-B69F-88F6DE6A72F2}</a:tableStyleId>
              </a:tblPr>
              <a:tblGrid>
                <a:gridCol w="819632">
                  <a:extLst>
                    <a:ext uri="{9D8B030D-6E8A-4147-A177-3AD203B41FA5}">
                      <a16:colId xmlns:a16="http://schemas.microsoft.com/office/drawing/2014/main" val="2080878611"/>
                    </a:ext>
                  </a:extLst>
                </a:gridCol>
                <a:gridCol w="11372368">
                  <a:extLst>
                    <a:ext uri="{9D8B030D-6E8A-4147-A177-3AD203B41FA5}">
                      <a16:colId xmlns:a16="http://schemas.microsoft.com/office/drawing/2014/main" val="287479896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endParaRPr lang="zh-CN" altLang="en-US" sz="9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591331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b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反人性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思维陷阱：他人恐惧我贪婪；他人贪婪我恐惧。</a:t>
                      </a:r>
                      <a:endParaRPr lang="en-US" altLang="zh-CN" sz="900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应对策略：这两句谈论的都是走极端情况，还应该加上中国传统信条：中庸之道。不要总是在极端游走，要选择中庸之道，走宽阔大路。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1844604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b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贪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思维陷阱：</a:t>
                      </a:r>
                      <a:endParaRPr lang="en-US" altLang="zh-CN" sz="900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总认为持仓种类越多越好（无上限）；</a:t>
                      </a:r>
                      <a:endParaRPr lang="en-US" altLang="zh-CN" sz="900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总认为单票仓位越小越好（无下限） ；</a:t>
                      </a:r>
                      <a:endParaRPr lang="en-US" altLang="zh-CN" sz="900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总认为持仓的不会有机会（总在减仓） ；</a:t>
                      </a:r>
                      <a:endParaRPr lang="en-US" altLang="zh-CN" sz="900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总认为不在持仓的才有更多机会（总在搜索新票）。</a:t>
                      </a:r>
                      <a:endParaRPr lang="en-US" altLang="zh-CN" sz="900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应对策略：限制持仓个数（总仓位</a:t>
                      </a:r>
                      <a:r>
                        <a:rPr lang="en-US" altLang="zh-CN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万），限制单票持仓下限（每股</a:t>
                      </a:r>
                      <a:r>
                        <a:rPr lang="en-US" altLang="zh-CN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0.5</a:t>
                      </a:r>
                      <a:r>
                        <a:rPr lang="zh-CN" altLang="en-US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万</a:t>
                      </a:r>
                      <a:r>
                        <a:rPr lang="en-US" altLang="zh-CN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-2</a:t>
                      </a:r>
                      <a:r>
                        <a:rPr lang="zh-CN" altLang="en-US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万），只关注持仓，不要总挑选新票。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65950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就事论事</a:t>
                      </a:r>
                      <a:endParaRPr lang="zh-CN" altLang="en-US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思维陷阱：不要认为明天会涨，参考各种信息：港股、美股、夜盘、消息、同板块。</a:t>
                      </a:r>
                      <a:endParaRPr lang="en-US" altLang="zh-CN" sz="900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应对策略：</a:t>
                      </a:r>
                      <a:r>
                        <a:rPr lang="zh-CN" altLang="en-US" sz="900" b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而要分情况：涨要做什么；跌要做什么。体会“竹杖芒鞋轻胜马，谁怕，一蓑烟雨任平生。”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823281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镜面原则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如何利用原有亏损持仓方法，制定可行的持仓方法？利用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镜面原则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反向操作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亏损被套时装死不操作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	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⇒盈利时装死不操作（即使卖出也每次不要超过半仓，如果总额已小于底仓限额则禁止卖出）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空头排列时遇见小阳就买入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	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⇒多头排列时遇见小阴就买入（原方法是假捡漏，新方法是真捡漏）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空头排列时遇见小阴就卖出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	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⇒多头排列时遇见小阳就卖出（原方法是假止损，新方法是真止盈）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563457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要不要“捡漏”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思维游戏：如何面对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阳中阴捡漏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必须认识到，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阳中阴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多数为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/D2d/D2e/D3v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等，即使下破均线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，均线之间的距离也很小。分情况讨论：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如果捡漏成功，反弹上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，原情况会迅速转变为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D2c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，甚至触顶。真正需要处理的问题应为，如何面对重新站上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，以及如何面对首次触顶？后者涨幅空间更大。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如果捡漏失败，会下破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或形成日级别连跌，要么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正式止损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或继续捡漏算法。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8382728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马太效应（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20260126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这是人生的一大领悟，可以指导很多事情，例如对于成长良好的孩子要严格要求，但对于普通孩子则可以见好就收。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思维游戏：对于好的情况要提严格的要求；对于差的情况，则不要坚持严格的要求。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针对处于周主升（龙猪；触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，升排），要求按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止损，从而正确经过最高点；但对于震荡行情，则没必要非要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止损，可以逢高提前退出。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推导过程：不破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不卖，或，不破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不卖，可以保证经过最高点。⇒但如果严格执行，代表了，必然要经历从最高点回落至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的回撤。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对于主升浪，总体上升幅度较大。即使等到下破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，仍可获得较大收益。⇒所以，应守住主升浪，在确认处于主升浪时，坚持以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作为止损线。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对于震荡阶段，如果坚持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丘，收益极小。⇒所以，在震荡阶段，应逢高提前退出。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99608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9041268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思维陷阱总结：持仓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汇总思维陷阱并制定应对策略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A3C71313-E571-E854-2693-4E0DF7FA48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5705397"/>
              </p:ext>
            </p:extLst>
          </p:nvPr>
        </p:nvGraphicFramePr>
        <p:xfrm>
          <a:off x="0" y="720000"/>
          <a:ext cx="12192000" cy="4555858"/>
        </p:xfrm>
        <a:graphic>
          <a:graphicData uri="http://schemas.openxmlformats.org/drawingml/2006/table">
            <a:tbl>
              <a:tblPr firstRow="1" bandRow="1">
                <a:tableStyleId>{FABFCF23-3B69-468F-B69F-88F6DE6A72F2}</a:tableStyleId>
              </a:tblPr>
              <a:tblGrid>
                <a:gridCol w="819632">
                  <a:extLst>
                    <a:ext uri="{9D8B030D-6E8A-4147-A177-3AD203B41FA5}">
                      <a16:colId xmlns:a16="http://schemas.microsoft.com/office/drawing/2014/main" val="2080878611"/>
                    </a:ext>
                  </a:extLst>
                </a:gridCol>
                <a:gridCol w="11372368">
                  <a:extLst>
                    <a:ext uri="{9D8B030D-6E8A-4147-A177-3AD203B41FA5}">
                      <a16:colId xmlns:a16="http://schemas.microsoft.com/office/drawing/2014/main" val="2874798963"/>
                    </a:ext>
                  </a:extLst>
                </a:gridCol>
              </a:tblGrid>
              <a:tr h="349618">
                <a:tc>
                  <a:txBody>
                    <a:bodyPr/>
                    <a:lstStyle/>
                    <a:p>
                      <a:endParaRPr lang="zh-CN" altLang="en-US" sz="9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591331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均线至上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思维陷阱：违反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均线之上不做空，均线之下不做多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具体情况：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2024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9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26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号，行情启动之前就一直做多股指期货，但随着股指暴升两日，开始平仓多头，开仓空头，完全违反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《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均线之上不做空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》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这一基本原则。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应对策略：坚持基本原则，不要将个人主观思维凌驾于市场客观走势之上，未破线不会下跌。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1844604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周期统一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思维陷阱：过于依赖盯盘，开仓与清仓所依赖周期不匹配。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具体情况：在周线或日线级别开仓，但盯盘过程中，依赖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30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分钟或以下级别周期进行盯盘，一旦破线就急于清仓，导致失去仓位。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应对策略：坚持底仓，在同一级别统一视角，同时明确低级别破线在高级别看来恰恰是捡漏机会而非清仓危险。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lvl="1"/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         如果以小级别周期退出，当小周期满足时要在进入，背后原因是小周期走势不要影响大周期的持仓原则。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65950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守住底仓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思维陷阱：没有守住底仓。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具体情况：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2024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9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26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号，行情启动始终持有较大仓位证券，但随着上升，就依赖偏离较大等指标相继清仓，错过较大涨幅。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应对策略：坚持以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分配固定仓位底仓（日类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BTZE&gt;0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），不能依赖其他周期如分钟线进行清仓。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823281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放弃幻想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思维陷阱：总是逆向幻想，不正视市场客观走势，不能舍弃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我</a:t>
                      </a:r>
                      <a:r>
                        <a:rPr lang="en-US" altLang="zh-CN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，总是反市场而动。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具体情况：在市场低迷，没有出现上涨信号的时候，总是坚信一定会涨起来。在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2024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9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26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号行情启动后，由于行情过度拉升，急于交出筹码，但是在没有出现：破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、跌连、跌吞情况下，没有理由地单独依靠偏离来判定走势。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应对策略：一定要坚持实事求是，不要将个人主观思维凌驾于市场客观走势之上，以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均线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】【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】【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顶型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作为客观走势的考量。守住均线底仓。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563457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锁定算法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思维陷阱：总是寻找必赢算法，在不同操盘方法中举棋不定，反复切换。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具体情况：在趋势跟随算法、冲仓算法、捡漏算法之间，多次切换，导致持仓不稳。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两种原动力推动上涨：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）触顶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+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升排，推动趋势性冲高；（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2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）系统性均线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WJC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，推动破线后重回上升。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  <a:sym typeface="Wingdings" panose="05000000000000000000" pitchFamily="2" charset="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需要躲避的下跌阶段：（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）冲高要止盈，其后的回落可躲避也可忍耐，然后进行捡漏；（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2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Wingdings" panose="05000000000000000000" pitchFamily="2" charset="2"/>
                        </a:rPr>
                        <a:t>）经过顶部震荡，下破均线形成趋势性下跌要躲避。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策略：对不同账户应用不同算法：小贱账户使用分仓趋势算法，我账户使用冲仓算法与捡漏算法（可以认为是冲仓算法）。对于冲仓算法，一定要在本柱即将结束时减仓（一般周五下午），一定要设置预期止盈幅度见好就收。一定要注意操作位置，必须符合趋势算法基本要求：在系统性均线之上寻找阳中阴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8382728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过于关注成本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思维陷阱：认为把成本做低，就能不受涨跌影响。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具体情况：通过做</a:t>
                      </a:r>
                      <a:r>
                        <a:rPr lang="en-US" altLang="zh-CN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把成本做低。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应对策略：根本还是要看走势，即使成本低，仍然会亏钱。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996082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过于关注持股比例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思维陷阱：限制单股持仓比例，如果单股金额过高，就会影响整体收益。</a:t>
                      </a:r>
                      <a:endParaRPr lang="en-US" altLang="zh-CN" sz="9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具体情况：过于分散持仓。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应对策略：把重仓单一个股可以看做多支股票，从而每支金额低于限额。但即使分散持仓，背后的板块、逻辑、操盘手仍然可能属于同质。要克服金额影响，关注根本走势。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294313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1879368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知名交易思想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汇总思维陷阱并制定应对策略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6096000" y="720000"/>
            <a:ext cx="6096000" cy="1384995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待完成任务</a:t>
            </a:r>
            <a:endParaRPr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总结笔记：退学妙股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炒股养家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/CIS/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抖音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邻家大爷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读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围棋十诀</a:t>
            </a:r>
            <a:endParaRPr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读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原则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》《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论持久战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》《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孙子兵法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看三大战役和军事指挥书籍</a:t>
            </a:r>
            <a:endParaRPr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研究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Livermore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操盘术操作流程：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是否在触顶时止盈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?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还是有一些回撤时止盈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?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优选后者并实现策略。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1FE1505F-9A6F-CFBE-FA81-32D88BDD1409}"/>
              </a:ext>
            </a:extLst>
          </p:cNvPr>
          <p:cNvSpPr txBox="1"/>
          <p:nvPr/>
        </p:nvSpPr>
        <p:spPr>
          <a:xfrm>
            <a:off x="0" y="5842337"/>
            <a:ext cx="12192000" cy="10156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54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股市心态模拟：</a:t>
            </a:r>
            <a:endParaRPr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赌博：重仓赌明日冲高超短线。</a:t>
            </a:r>
            <a:endParaRPr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考试：基本面分析，分仓投资等结果。</a:t>
            </a:r>
            <a:endParaRPr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工作：每期收益，追求固定收益。</a:t>
            </a:r>
            <a:endParaRPr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结婚：势不变不抛。</a:t>
            </a:r>
            <a:endParaRPr lang="en-US" altLang="zh-CN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F0A00847-2157-EFE8-B6A1-0EBCC15C45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541714"/>
              </p:ext>
            </p:extLst>
          </p:nvPr>
        </p:nvGraphicFramePr>
        <p:xfrm>
          <a:off x="0" y="720000"/>
          <a:ext cx="6096000" cy="2468880"/>
        </p:xfrm>
        <a:graphic>
          <a:graphicData uri="http://schemas.openxmlformats.org/drawingml/2006/table">
            <a:tbl>
              <a:tblPr firstRow="1" bandRow="1">
                <a:tableStyleId>{775DCB02-9BB8-47FD-8907-85C794F793BA}</a:tableStyleId>
              </a:tblPr>
              <a:tblGrid>
                <a:gridCol w="815340">
                  <a:extLst>
                    <a:ext uri="{9D8B030D-6E8A-4147-A177-3AD203B41FA5}">
                      <a16:colId xmlns:a16="http://schemas.microsoft.com/office/drawing/2014/main" val="3902044304"/>
                    </a:ext>
                  </a:extLst>
                </a:gridCol>
                <a:gridCol w="5280660">
                  <a:extLst>
                    <a:ext uri="{9D8B030D-6E8A-4147-A177-3AD203B41FA5}">
                      <a16:colId xmlns:a16="http://schemas.microsoft.com/office/drawing/2014/main" val="19246081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知名算法核心思想</a:t>
                      </a:r>
                      <a:endParaRPr lang="zh-CN" altLang="en-US" sz="10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Livermore</a:t>
                      </a: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：见新高纪录</a:t>
                      </a:r>
                      <a:endParaRPr lang="en-US" altLang="zh-CN" sz="10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海龟：新高开仓</a:t>
                      </a:r>
                      <a:endParaRPr lang="en-US" altLang="zh-CN" sz="10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陈江挺：不要怕，不要悔。</a:t>
                      </a:r>
                      <a:endParaRPr lang="en-US" altLang="zh-CN" sz="10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徐小明：</a:t>
                      </a:r>
                      <a:endParaRPr lang="en-US" altLang="zh-CN" sz="10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不要把偏离作为交易规则。不要耍小聪明，傻傻持有。</a:t>
                      </a:r>
                      <a:endParaRPr lang="en-US" altLang="zh-CN" sz="10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九转序列：参考</a:t>
                      </a:r>
                      <a:r>
                        <a:rPr lang="en-US" altLang="zh-CN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TD13</a:t>
                      </a: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回转。</a:t>
                      </a:r>
                      <a:endParaRPr lang="en-US" altLang="zh-CN" sz="10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急跌不抄底：要等待反弹再跌后走缓。</a:t>
                      </a:r>
                      <a:endParaRPr lang="en-US" altLang="zh-CN" sz="10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大盘决定仓位，个股决定战场。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855699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对我有巨大影响的经验</a:t>
                      </a:r>
                      <a:endParaRPr lang="zh-CN" altLang="en-US" sz="10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交大包玉刚图书馆藏书：每次上穿年线都会扭转趋势。</a:t>
                      </a:r>
                      <a:endParaRPr lang="en-US" altLang="zh-CN" sz="10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期货操盘手自白：均线之上不做空，均线之下不做多。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操盘手视频：短线下破</a:t>
                      </a:r>
                      <a:r>
                        <a:rPr lang="en-US" altLang="zh-CN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</a:t>
                      </a: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日均线就要退出，最迟下破</a:t>
                      </a:r>
                      <a:r>
                        <a:rPr lang="en-US" altLang="zh-CN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</a:t>
                      </a: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日均线。</a:t>
                      </a:r>
                      <a:endParaRPr lang="en-US" altLang="zh-CN" sz="10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葛卫东：要在阴柱买入。</a:t>
                      </a:r>
                      <a:endParaRPr lang="en-US" altLang="zh-CN" sz="10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郑总：下破两柱卖出。</a:t>
                      </a:r>
                      <a:endParaRPr lang="en-US" altLang="zh-CN" sz="10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10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汪东岩：不要频繁交易；不要逆势交易；盈利了要拿得住；不要亏损加仓。协调你知道与你做到，做好交易系统，按明确的信号，按交易系统被动执行，从心里接受系统。</a:t>
                      </a:r>
                      <a:endParaRPr lang="en-US" altLang="zh-CN" sz="10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120272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85500490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5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0F504BB-2F3F-D445-3457-7A9DB4BD37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0353F45-DDF5-C63A-3AAA-DDC6D2E615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53000" y="365125"/>
            <a:ext cx="6400800" cy="1325563"/>
          </a:xfrm>
        </p:spPr>
        <p:txBody>
          <a:bodyPr/>
          <a:lstStyle/>
          <a:p>
            <a:r>
              <a:rPr lang="zh-CN" altLang="en-US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全部算法总览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0C3E8380-684E-B3D0-259F-0514AC08011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53000" y="1825625"/>
            <a:ext cx="6400800" cy="4351338"/>
          </a:xfrm>
        </p:spPr>
        <p:txBody>
          <a:bodyPr>
            <a:normAutofit/>
          </a:bodyPr>
          <a:lstStyle/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所有卖出条件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算法优化路径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仓位管理总览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FE36DF63-C8F4-1BF8-9C28-6AF1DE608808}"/>
              </a:ext>
            </a:extLst>
          </p:cNvPr>
          <p:cNvSpPr txBox="1"/>
          <p:nvPr/>
        </p:nvSpPr>
        <p:spPr>
          <a:xfrm>
            <a:off x="1071312" y="1746835"/>
            <a:ext cx="2867025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0" dirty="0">
                <a:solidFill>
                  <a:schemeClr val="tx2">
                    <a:lumMod val="75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算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0A43D13B-BDDE-E0CB-DFB3-CF31BBAD09D0}"/>
              </a:ext>
            </a:extLst>
          </p:cNvPr>
          <p:cNvSpPr txBox="1"/>
          <p:nvPr/>
        </p:nvSpPr>
        <p:spPr>
          <a:xfrm>
            <a:off x="0" y="0"/>
            <a:ext cx="4019075" cy="646331"/>
          </a:xfrm>
          <a:prstGeom prst="rect">
            <a:avLst/>
          </a:prstGeom>
          <a:solidFill>
            <a:srgbClr val="FF99CC"/>
          </a:solidFill>
        </p:spPr>
        <p:txBody>
          <a:bodyPr wrap="square">
            <a:spAutoFit/>
          </a:bodyPr>
          <a:lstStyle/>
          <a:p>
            <a:r>
              <a:rPr lang="zh-CN" altLang="en-US" sz="12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</a:t>
            </a:r>
            <a:r>
              <a:rPr lang="en-US" altLang="zh-CN" sz="12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20260216</a:t>
            </a:r>
            <a:r>
              <a:rPr lang="zh-CN" altLang="en-US" sz="12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1200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出现路线错误，不再继续维护。</a:t>
            </a:r>
            <a:endParaRPr lang="en-US" altLang="zh-CN" sz="1200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如时间不足⇒整体封存，等待后续有时间再整理</a:t>
            </a:r>
            <a:endParaRPr lang="zh-CN" altLang="en-US" sz="1200" dirty="0"/>
          </a:p>
        </p:txBody>
      </p:sp>
    </p:spTree>
    <p:extLst>
      <p:ext uri="{BB962C8B-B14F-4D97-AF65-F5344CB8AC3E}">
        <p14:creationId xmlns:p14="http://schemas.microsoft.com/office/powerpoint/2010/main" val="4151695542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55F1F2-2899-8BC0-22AC-8D0FAAC90C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矩形 81">
            <a:extLst>
              <a:ext uri="{FF2B5EF4-FFF2-40B4-BE49-F238E27FC236}">
                <a16:creationId xmlns:a16="http://schemas.microsoft.com/office/drawing/2014/main" id="{E37E4D06-79B1-E72E-C0C1-2F4C184FD631}"/>
              </a:ext>
            </a:extLst>
          </p:cNvPr>
          <p:cNvSpPr/>
          <p:nvPr/>
        </p:nvSpPr>
        <p:spPr>
          <a:xfrm>
            <a:off x="-7576" y="2729505"/>
            <a:ext cx="7078232" cy="4132551"/>
          </a:xfrm>
          <a:prstGeom prst="rect">
            <a:avLst/>
          </a:prstGeom>
          <a:solidFill>
            <a:schemeClr val="accent2">
              <a:lumMod val="60000"/>
              <a:lumOff val="40000"/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b"/>
          <a:lstStyle/>
          <a:p>
            <a:pPr algn="ctr"/>
            <a:r>
              <a:rPr lang="zh-CN" altLang="en-US" b="1" dirty="0">
                <a:solidFill>
                  <a:schemeClr val="tx1"/>
                </a:solidFill>
              </a:rPr>
              <a:t>非必赢算法</a:t>
            </a:r>
            <a:endParaRPr lang="en-US" altLang="zh-CN" b="1" dirty="0">
              <a:solidFill>
                <a:schemeClr val="tx1"/>
              </a:solidFill>
            </a:endParaRPr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ED97C5E7-B425-5D66-A76E-9B3661F5658A}"/>
              </a:ext>
            </a:extLst>
          </p:cNvPr>
          <p:cNvSpPr/>
          <p:nvPr/>
        </p:nvSpPr>
        <p:spPr>
          <a:xfrm>
            <a:off x="2758232" y="720000"/>
            <a:ext cx="3866593" cy="6138000"/>
          </a:xfrm>
          <a:prstGeom prst="rect">
            <a:avLst/>
          </a:prstGeom>
          <a:solidFill>
            <a:schemeClr val="accent6">
              <a:lumMod val="20000"/>
              <a:lumOff val="80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b="1" dirty="0">
                <a:solidFill>
                  <a:schemeClr val="tx1"/>
                </a:solidFill>
              </a:rPr>
              <a:t>日级别算法</a:t>
            </a:r>
            <a:endParaRPr lang="en-US" altLang="zh-CN" b="1" dirty="0">
              <a:solidFill>
                <a:schemeClr val="tx1"/>
              </a:solidFill>
            </a:endParaRPr>
          </a:p>
        </p:txBody>
      </p:sp>
      <p:sp>
        <p:nvSpPr>
          <p:cNvPr id="45" name="矩形 44">
            <a:extLst>
              <a:ext uri="{FF2B5EF4-FFF2-40B4-BE49-F238E27FC236}">
                <a16:creationId xmlns:a16="http://schemas.microsoft.com/office/drawing/2014/main" id="{B423C435-124F-EDCD-B9AC-B304173BB0DB}"/>
              </a:ext>
            </a:extLst>
          </p:cNvPr>
          <p:cNvSpPr/>
          <p:nvPr/>
        </p:nvSpPr>
        <p:spPr>
          <a:xfrm>
            <a:off x="204" y="723931"/>
            <a:ext cx="7701470" cy="2005575"/>
          </a:xfrm>
          <a:prstGeom prst="rect">
            <a:avLst/>
          </a:prstGeom>
          <a:solidFill>
            <a:schemeClr val="accent2">
              <a:lumMod val="20000"/>
              <a:lumOff val="8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b"/>
          <a:lstStyle/>
          <a:p>
            <a:pPr algn="ctr"/>
            <a:r>
              <a:rPr lang="zh-CN" altLang="en-US" b="1" dirty="0">
                <a:solidFill>
                  <a:schemeClr val="tx1"/>
                </a:solidFill>
              </a:rPr>
              <a:t>必赢算法</a:t>
            </a:r>
            <a:endParaRPr lang="en-US" altLang="zh-CN" b="1" dirty="0">
              <a:solidFill>
                <a:schemeClr val="tx1"/>
              </a:solidFill>
            </a:endParaRPr>
          </a:p>
        </p:txBody>
      </p:sp>
      <p:sp>
        <p:nvSpPr>
          <p:cNvPr id="108" name="矩形 107">
            <a:extLst>
              <a:ext uri="{FF2B5EF4-FFF2-40B4-BE49-F238E27FC236}">
                <a16:creationId xmlns:a16="http://schemas.microsoft.com/office/drawing/2014/main" id="{33F398F5-E092-7BB5-BF52-2D6061C307E1}"/>
              </a:ext>
            </a:extLst>
          </p:cNvPr>
          <p:cNvSpPr/>
          <p:nvPr/>
        </p:nvSpPr>
        <p:spPr>
          <a:xfrm>
            <a:off x="6615838" y="718817"/>
            <a:ext cx="5576162" cy="6138000"/>
          </a:xfrm>
          <a:prstGeom prst="rect">
            <a:avLst/>
          </a:prstGeom>
          <a:solidFill>
            <a:schemeClr val="tx1">
              <a:lumMod val="95000"/>
              <a:lumOff val="5000"/>
              <a:alpha val="92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rtlCol="0" anchor="t"/>
          <a:lstStyle/>
          <a:p>
            <a:pPr algn="ctr"/>
            <a:r>
              <a:rPr lang="zh-CN" altLang="en-US" b="1" dirty="0">
                <a:solidFill>
                  <a:schemeClr val="bg1"/>
                </a:solidFill>
              </a:rPr>
              <a:t>实际操作算法</a:t>
            </a:r>
            <a:endParaRPr lang="en-US" altLang="zh-CN" b="1" dirty="0">
              <a:solidFill>
                <a:schemeClr val="bg1"/>
              </a:solidFill>
            </a:endParaRPr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A75A1168-A35C-C8F2-438A-810B0DC252C1}"/>
              </a:ext>
            </a:extLst>
          </p:cNvPr>
          <p:cNvSpPr/>
          <p:nvPr/>
        </p:nvSpPr>
        <p:spPr>
          <a:xfrm>
            <a:off x="1" y="720000"/>
            <a:ext cx="2758232" cy="6138000"/>
          </a:xfrm>
          <a:prstGeom prst="rect">
            <a:avLst/>
          </a:prstGeom>
          <a:solidFill>
            <a:schemeClr val="accent1">
              <a:lumMod val="40000"/>
              <a:lumOff val="60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b="1" dirty="0">
                <a:solidFill>
                  <a:schemeClr val="tx1"/>
                </a:solidFill>
              </a:rPr>
              <a:t>周级别算法</a:t>
            </a:r>
            <a:endParaRPr lang="en-US" altLang="zh-CN" b="1" dirty="0">
              <a:solidFill>
                <a:schemeClr val="tx1"/>
              </a:solidFill>
            </a:endParaRP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02637168-6CCE-430C-2EC7-53093E56C7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算法基石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算法优化路线图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研究算法优化的路线图，并时时刻刻以这些原理为指导原则，不要被细节勾引偏离主线。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1FFC9965-8B31-528E-98A9-0B1D2B11CE04}"/>
              </a:ext>
            </a:extLst>
          </p:cNvPr>
          <p:cNvSpPr/>
          <p:nvPr/>
        </p:nvSpPr>
        <p:spPr>
          <a:xfrm>
            <a:off x="504826" y="1075575"/>
            <a:ext cx="1800000" cy="576000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altLang="zh-CN" dirty="0"/>
              <a:t>WJC</a:t>
            </a:r>
            <a:r>
              <a:rPr lang="zh-CN" altLang="en-US" dirty="0"/>
              <a:t>丘</a:t>
            </a:r>
            <a:endParaRPr lang="en-US" altLang="zh-CN" dirty="0"/>
          </a:p>
          <a:p>
            <a:pPr algn="ctr"/>
            <a:r>
              <a:rPr lang="en-US" altLang="zh-CN" sz="1100" dirty="0">
                <a:solidFill>
                  <a:schemeClr val="tx1"/>
                </a:solidFill>
              </a:rPr>
              <a:t>WXZC&gt;0</a:t>
            </a: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AFA7544B-1F59-2AE2-D010-3805CD85835F}"/>
              </a:ext>
            </a:extLst>
          </p:cNvPr>
          <p:cNvSpPr/>
          <p:nvPr/>
        </p:nvSpPr>
        <p:spPr>
          <a:xfrm>
            <a:off x="504826" y="1876523"/>
            <a:ext cx="1800000" cy="576000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altLang="zh-CN" dirty="0"/>
              <a:t>WJC&amp;WJB</a:t>
            </a:r>
            <a:r>
              <a:rPr lang="zh-CN" altLang="en-US" dirty="0"/>
              <a:t>丘</a:t>
            </a:r>
            <a:endParaRPr lang="en-US" altLang="zh-CN" dirty="0"/>
          </a:p>
          <a:p>
            <a:pPr algn="ctr"/>
            <a:r>
              <a:rPr lang="en-US" altLang="zh-CN" sz="1100" dirty="0">
                <a:solidFill>
                  <a:schemeClr val="tx1"/>
                </a:solidFill>
              </a:rPr>
              <a:t>WXZC&gt;0</a:t>
            </a:r>
            <a:r>
              <a:rPr lang="zh-CN" altLang="en-US" sz="1100" dirty="0">
                <a:solidFill>
                  <a:schemeClr val="tx1"/>
                </a:solidFill>
              </a:rPr>
              <a:t>且</a:t>
            </a:r>
            <a:r>
              <a:rPr lang="en-US" altLang="zh-CN" sz="1100" dirty="0">
                <a:solidFill>
                  <a:schemeClr val="tx1"/>
                </a:solidFill>
              </a:rPr>
              <a:t>WXZB&gt;0</a:t>
            </a: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4A34994F-B4C1-9753-C97E-A755757D5F53}"/>
              </a:ext>
            </a:extLst>
          </p:cNvPr>
          <p:cNvSpPr/>
          <p:nvPr/>
        </p:nvSpPr>
        <p:spPr>
          <a:xfrm>
            <a:off x="504894" y="2913385"/>
            <a:ext cx="1800000" cy="576000"/>
          </a:xfrm>
          <a:prstGeom prst="rect">
            <a:avLst/>
          </a:prstGeom>
          <a:solidFill>
            <a:srgbClr val="4472C4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1400" dirty="0"/>
              <a:t>稳升状态操作法</a:t>
            </a:r>
            <a:endParaRPr lang="en-US" altLang="zh-CN" sz="1400" dirty="0"/>
          </a:p>
          <a:p>
            <a:pPr algn="ctr"/>
            <a:r>
              <a:rPr lang="en-US" altLang="zh-CN" sz="1100" dirty="0">
                <a:solidFill>
                  <a:schemeClr val="tx1"/>
                </a:solidFill>
              </a:rPr>
              <a:t>WJC&amp;WJB</a:t>
            </a:r>
            <a:r>
              <a:rPr lang="zh-CN" altLang="en-US" sz="1100" dirty="0">
                <a:solidFill>
                  <a:schemeClr val="tx1"/>
                </a:solidFill>
              </a:rPr>
              <a:t>丘</a:t>
            </a:r>
            <a:r>
              <a:rPr lang="en-US" altLang="zh-CN" sz="1100" dirty="0">
                <a:solidFill>
                  <a:schemeClr val="tx1"/>
                </a:solidFill>
              </a:rPr>
              <a:t>+WXAB</a:t>
            </a:r>
            <a:r>
              <a:rPr lang="zh-CN" altLang="en-US" sz="1100" dirty="0">
                <a:solidFill>
                  <a:schemeClr val="tx1"/>
                </a:solidFill>
              </a:rPr>
              <a:t>护型</a:t>
            </a:r>
            <a:endParaRPr lang="en-US" altLang="zh-CN" sz="1400" dirty="0">
              <a:solidFill>
                <a:schemeClr val="tx1"/>
              </a:solidFill>
            </a:endParaRPr>
          </a:p>
        </p:txBody>
      </p:sp>
      <p:sp>
        <p:nvSpPr>
          <p:cNvPr id="21" name="矩形 20">
            <a:extLst>
              <a:ext uri="{FF2B5EF4-FFF2-40B4-BE49-F238E27FC236}">
                <a16:creationId xmlns:a16="http://schemas.microsoft.com/office/drawing/2014/main" id="{AD7713E4-94DC-F577-0137-E602487B75A1}"/>
              </a:ext>
            </a:extLst>
          </p:cNvPr>
          <p:cNvSpPr/>
          <p:nvPr/>
        </p:nvSpPr>
        <p:spPr>
          <a:xfrm>
            <a:off x="3165009" y="1075575"/>
            <a:ext cx="1800000" cy="576000"/>
          </a:xfrm>
          <a:prstGeom prst="rect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altLang="zh-CN" dirty="0"/>
              <a:t>DJE</a:t>
            </a:r>
            <a:r>
              <a:rPr lang="zh-CN" altLang="en-US" dirty="0"/>
              <a:t>丘</a:t>
            </a:r>
            <a:endParaRPr lang="en-US" altLang="zh-CN" dirty="0"/>
          </a:p>
          <a:p>
            <a:pPr algn="ctr"/>
            <a:r>
              <a:rPr lang="en-US" altLang="zh-CN" sz="1100" dirty="0">
                <a:solidFill>
                  <a:schemeClr val="tx1"/>
                </a:solidFill>
              </a:rPr>
              <a:t>DXZE&gt;0</a:t>
            </a:r>
          </a:p>
          <a:p>
            <a:pPr algn="ctr"/>
            <a:endParaRPr lang="en-US" altLang="zh-CN" dirty="0"/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E36EE4B1-764F-1C06-1487-6778A7206A5C}"/>
              </a:ext>
            </a:extLst>
          </p:cNvPr>
          <p:cNvSpPr/>
          <p:nvPr/>
        </p:nvSpPr>
        <p:spPr>
          <a:xfrm>
            <a:off x="3165009" y="1876523"/>
            <a:ext cx="1800000" cy="576000"/>
          </a:xfrm>
          <a:prstGeom prst="rect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altLang="zh-CN" dirty="0"/>
              <a:t>DJE&amp;DJC</a:t>
            </a:r>
            <a:r>
              <a:rPr lang="zh-CN" altLang="en-US" dirty="0"/>
              <a:t>丘</a:t>
            </a:r>
            <a:endParaRPr lang="en-US" altLang="zh-CN" dirty="0"/>
          </a:p>
          <a:p>
            <a:pPr algn="ctr"/>
            <a:r>
              <a:rPr lang="en-US" altLang="zh-CN" sz="1100" dirty="0">
                <a:solidFill>
                  <a:schemeClr val="tx1"/>
                </a:solidFill>
              </a:rPr>
              <a:t>DXZE&gt;0</a:t>
            </a:r>
            <a:r>
              <a:rPr lang="zh-CN" altLang="en-US" sz="1100" dirty="0">
                <a:solidFill>
                  <a:schemeClr val="tx1"/>
                </a:solidFill>
              </a:rPr>
              <a:t>且</a:t>
            </a:r>
            <a:r>
              <a:rPr lang="en-US" altLang="zh-CN" sz="1100" dirty="0">
                <a:solidFill>
                  <a:schemeClr val="tx1"/>
                </a:solidFill>
              </a:rPr>
              <a:t>DXZC&gt;0</a:t>
            </a:r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A3F44A71-C94A-FF09-7C78-FD2E0F9565F2}"/>
              </a:ext>
            </a:extLst>
          </p:cNvPr>
          <p:cNvSpPr/>
          <p:nvPr/>
        </p:nvSpPr>
        <p:spPr>
          <a:xfrm>
            <a:off x="3165009" y="2913385"/>
            <a:ext cx="1800000" cy="576000"/>
          </a:xfrm>
          <a:prstGeom prst="rect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1400" dirty="0"/>
              <a:t>稳升状态操作法</a:t>
            </a:r>
            <a:endParaRPr lang="en-US" altLang="zh-CN" sz="1400" dirty="0"/>
          </a:p>
          <a:p>
            <a:pPr algn="ctr"/>
            <a:r>
              <a:rPr lang="en-US" altLang="zh-CN" sz="1100" dirty="0">
                <a:solidFill>
                  <a:schemeClr val="tx1"/>
                </a:solidFill>
              </a:rPr>
              <a:t>DJE&amp;DJC</a:t>
            </a:r>
            <a:r>
              <a:rPr lang="zh-CN" altLang="en-US" sz="1100" dirty="0">
                <a:solidFill>
                  <a:schemeClr val="tx1"/>
                </a:solidFill>
              </a:rPr>
              <a:t>丘</a:t>
            </a:r>
            <a:r>
              <a:rPr lang="en-US" altLang="zh-CN" sz="1100" dirty="0">
                <a:solidFill>
                  <a:schemeClr val="tx1"/>
                </a:solidFill>
              </a:rPr>
              <a:t>+DXCD</a:t>
            </a:r>
            <a:r>
              <a:rPr lang="zh-CN" altLang="en-US" sz="1100" dirty="0">
                <a:solidFill>
                  <a:schemeClr val="tx1"/>
                </a:solidFill>
              </a:rPr>
              <a:t>护型</a:t>
            </a:r>
            <a:endParaRPr lang="en-US" altLang="zh-CN" sz="1100" dirty="0">
              <a:solidFill>
                <a:schemeClr val="tx1"/>
              </a:solidFill>
            </a:endParaRP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FC46147F-5AAB-9237-C84B-44AACF8F4E1D}"/>
              </a:ext>
            </a:extLst>
          </p:cNvPr>
          <p:cNvSpPr/>
          <p:nvPr/>
        </p:nvSpPr>
        <p:spPr>
          <a:xfrm>
            <a:off x="3167659" y="5674672"/>
            <a:ext cx="3276000" cy="891340"/>
          </a:xfrm>
          <a:prstGeom prst="rect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1400" dirty="0"/>
              <a:t>稳升状态操作法</a:t>
            </a:r>
            <a:endParaRPr lang="en-US" altLang="zh-CN" sz="1400" dirty="0"/>
          </a:p>
          <a:p>
            <a:pPr algn="ctr"/>
            <a:r>
              <a:rPr lang="en-US" altLang="zh-CN" sz="1100" dirty="0">
                <a:solidFill>
                  <a:schemeClr val="tx1"/>
                </a:solidFill>
              </a:rPr>
              <a:t>DJE&amp;DJC</a:t>
            </a:r>
            <a:r>
              <a:rPr lang="zh-CN" altLang="en-US" sz="1100" dirty="0">
                <a:solidFill>
                  <a:schemeClr val="tx1"/>
                </a:solidFill>
              </a:rPr>
              <a:t>丘</a:t>
            </a:r>
            <a:r>
              <a:rPr lang="en-US" altLang="zh-CN" sz="1100" dirty="0">
                <a:solidFill>
                  <a:schemeClr val="tx1"/>
                </a:solidFill>
              </a:rPr>
              <a:t>+DXCD</a:t>
            </a:r>
            <a:r>
              <a:rPr lang="zh-CN" altLang="en-US" sz="1100" dirty="0">
                <a:solidFill>
                  <a:schemeClr val="tx1"/>
                </a:solidFill>
              </a:rPr>
              <a:t>护型</a:t>
            </a:r>
            <a:r>
              <a:rPr lang="en-US" altLang="zh-CN" sz="1100" dirty="0">
                <a:solidFill>
                  <a:schemeClr val="tx1"/>
                </a:solidFill>
              </a:rPr>
              <a:t>+DXAB</a:t>
            </a:r>
            <a:r>
              <a:rPr lang="zh-CN" altLang="en-US" sz="1100" dirty="0">
                <a:solidFill>
                  <a:schemeClr val="tx1"/>
                </a:solidFill>
              </a:rPr>
              <a:t>护型</a:t>
            </a:r>
            <a:r>
              <a:rPr lang="zh-CN" altLang="en-US" sz="1100" dirty="0">
                <a:solidFill>
                  <a:srgbClr val="FF0000"/>
                </a:solidFill>
              </a:rPr>
              <a:t>（</a:t>
            </a:r>
            <a:r>
              <a:rPr lang="en-US" altLang="zh-CN" sz="1100" dirty="0">
                <a:solidFill>
                  <a:srgbClr val="FF0000"/>
                </a:solidFill>
              </a:rPr>
              <a:t>DXBC</a:t>
            </a:r>
            <a:r>
              <a:rPr lang="zh-CN" altLang="en-US" sz="1100" dirty="0">
                <a:solidFill>
                  <a:srgbClr val="FF0000"/>
                </a:solidFill>
              </a:rPr>
              <a:t>护型）</a:t>
            </a:r>
          </a:p>
          <a:p>
            <a:pPr algn="ctr"/>
            <a:r>
              <a:rPr lang="en-US" altLang="zh-CN" sz="1100" dirty="0">
                <a:solidFill>
                  <a:schemeClr val="tx1"/>
                </a:solidFill>
              </a:rPr>
              <a:t>DXZE&gt;0</a:t>
            </a:r>
            <a:r>
              <a:rPr lang="zh-CN" altLang="en-US" sz="1100" dirty="0">
                <a:solidFill>
                  <a:schemeClr val="tx1"/>
                </a:solidFill>
              </a:rPr>
              <a:t>且</a:t>
            </a:r>
            <a:r>
              <a:rPr lang="en-US" altLang="zh-CN" sz="1100" dirty="0">
                <a:solidFill>
                  <a:schemeClr val="tx1"/>
                </a:solidFill>
              </a:rPr>
              <a:t>DXZC&gt;0</a:t>
            </a:r>
            <a:r>
              <a:rPr lang="zh-CN" altLang="en-US" sz="1100" dirty="0">
                <a:solidFill>
                  <a:schemeClr val="tx1"/>
                </a:solidFill>
              </a:rPr>
              <a:t>且</a:t>
            </a:r>
            <a:r>
              <a:rPr lang="en-US" altLang="zh-CN" sz="1100" dirty="0">
                <a:solidFill>
                  <a:schemeClr val="tx1"/>
                </a:solidFill>
              </a:rPr>
              <a:t>DXAB&gt;0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</a:rPr>
              <a:t>适用于：</a:t>
            </a:r>
            <a:r>
              <a:rPr lang="en-US" altLang="zh-CN" sz="900" dirty="0">
                <a:solidFill>
                  <a:schemeClr val="tx1"/>
                </a:solidFill>
              </a:rPr>
              <a:t>DJBA</a:t>
            </a:r>
            <a:r>
              <a:rPr lang="zh-CN" altLang="en-US" sz="900" dirty="0">
                <a:solidFill>
                  <a:schemeClr val="tx1"/>
                </a:solidFill>
              </a:rPr>
              <a:t>呈放射状，沿</a:t>
            </a:r>
            <a:r>
              <a:rPr lang="en-US" altLang="zh-CN" sz="900" dirty="0">
                <a:solidFill>
                  <a:schemeClr val="tx1"/>
                </a:solidFill>
              </a:rPr>
              <a:t>DJB</a:t>
            </a:r>
            <a:r>
              <a:rPr lang="zh-CN" altLang="en-US" sz="900" dirty="0">
                <a:solidFill>
                  <a:schemeClr val="tx1"/>
                </a:solidFill>
              </a:rPr>
              <a:t>形成上升波段。</a:t>
            </a:r>
            <a:endParaRPr lang="en-US" altLang="zh-CN" sz="900" dirty="0">
              <a:solidFill>
                <a:schemeClr val="tx1"/>
              </a:solidFill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</a:rPr>
              <a:t>要放弃按低级均线过度优化：放弃以</a:t>
            </a:r>
            <a:r>
              <a:rPr lang="en-US" altLang="zh-CN" sz="900" dirty="0">
                <a:solidFill>
                  <a:schemeClr val="tx1"/>
                </a:solidFill>
              </a:rPr>
              <a:t>DJB</a:t>
            </a:r>
            <a:r>
              <a:rPr lang="zh-CN" altLang="en-US" sz="900" dirty="0">
                <a:solidFill>
                  <a:schemeClr val="tx1"/>
                </a:solidFill>
              </a:rPr>
              <a:t>或</a:t>
            </a:r>
            <a:r>
              <a:rPr lang="en-US" altLang="zh-CN" sz="900" dirty="0">
                <a:solidFill>
                  <a:schemeClr val="tx1"/>
                </a:solidFill>
              </a:rPr>
              <a:t>DJA</a:t>
            </a:r>
            <a:r>
              <a:rPr lang="zh-CN" altLang="en-US" sz="900" dirty="0">
                <a:solidFill>
                  <a:schemeClr val="tx1"/>
                </a:solidFill>
              </a:rPr>
              <a:t>止损。</a:t>
            </a:r>
            <a:endParaRPr lang="en-US" altLang="zh-CN" sz="900" dirty="0">
              <a:solidFill>
                <a:schemeClr val="tx1"/>
              </a:solidFill>
            </a:endParaRPr>
          </a:p>
        </p:txBody>
      </p:sp>
      <p:cxnSp>
        <p:nvCxnSpPr>
          <p:cNvPr id="29" name="直接箭头连接符 28">
            <a:extLst>
              <a:ext uri="{FF2B5EF4-FFF2-40B4-BE49-F238E27FC236}">
                <a16:creationId xmlns:a16="http://schemas.microsoft.com/office/drawing/2014/main" id="{F7909CA1-1A1A-B714-3F26-3F5911A27F3C}"/>
              </a:ext>
            </a:extLst>
          </p:cNvPr>
          <p:cNvCxnSpPr>
            <a:cxnSpLocks/>
            <a:stCxn id="8" idx="2"/>
            <a:endCxn id="9" idx="0"/>
          </p:cNvCxnSpPr>
          <p:nvPr/>
        </p:nvCxnSpPr>
        <p:spPr>
          <a:xfrm>
            <a:off x="1404826" y="1651575"/>
            <a:ext cx="0" cy="224948"/>
          </a:xfrm>
          <a:prstGeom prst="straightConnector1">
            <a:avLst/>
          </a:prstGeom>
          <a:ln w="3810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箭头连接符 29">
            <a:extLst>
              <a:ext uri="{FF2B5EF4-FFF2-40B4-BE49-F238E27FC236}">
                <a16:creationId xmlns:a16="http://schemas.microsoft.com/office/drawing/2014/main" id="{5550A4F9-2E37-77E8-637E-142143B5114F}"/>
              </a:ext>
            </a:extLst>
          </p:cNvPr>
          <p:cNvCxnSpPr>
            <a:cxnSpLocks/>
            <a:stCxn id="9" idx="2"/>
            <a:endCxn id="20" idx="0"/>
          </p:cNvCxnSpPr>
          <p:nvPr/>
        </p:nvCxnSpPr>
        <p:spPr>
          <a:xfrm>
            <a:off x="1404826" y="2452523"/>
            <a:ext cx="68" cy="460862"/>
          </a:xfrm>
          <a:prstGeom prst="straightConnector1">
            <a:avLst/>
          </a:prstGeom>
          <a:ln w="3810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箭头连接符 32">
            <a:extLst>
              <a:ext uri="{FF2B5EF4-FFF2-40B4-BE49-F238E27FC236}">
                <a16:creationId xmlns:a16="http://schemas.microsoft.com/office/drawing/2014/main" id="{02E8C09C-C5B6-9EC8-CE5F-7E42F321B8C9}"/>
              </a:ext>
            </a:extLst>
          </p:cNvPr>
          <p:cNvCxnSpPr>
            <a:cxnSpLocks/>
            <a:stCxn id="8" idx="3"/>
            <a:endCxn id="21" idx="1"/>
          </p:cNvCxnSpPr>
          <p:nvPr/>
        </p:nvCxnSpPr>
        <p:spPr>
          <a:xfrm>
            <a:off x="2304826" y="1363575"/>
            <a:ext cx="860183" cy="0"/>
          </a:xfrm>
          <a:prstGeom prst="straightConnector1">
            <a:avLst/>
          </a:prstGeom>
          <a:ln w="38100">
            <a:solidFill>
              <a:schemeClr val="tx1">
                <a:lumMod val="50000"/>
                <a:lumOff val="5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箭头连接符 35">
            <a:extLst>
              <a:ext uri="{FF2B5EF4-FFF2-40B4-BE49-F238E27FC236}">
                <a16:creationId xmlns:a16="http://schemas.microsoft.com/office/drawing/2014/main" id="{9E34C498-3569-DB71-940F-258964453479}"/>
              </a:ext>
            </a:extLst>
          </p:cNvPr>
          <p:cNvCxnSpPr>
            <a:cxnSpLocks/>
            <a:stCxn id="21" idx="2"/>
            <a:endCxn id="22" idx="0"/>
          </p:cNvCxnSpPr>
          <p:nvPr/>
        </p:nvCxnSpPr>
        <p:spPr>
          <a:xfrm>
            <a:off x="4065009" y="1651575"/>
            <a:ext cx="0" cy="224948"/>
          </a:xfrm>
          <a:prstGeom prst="straightConnector1">
            <a:avLst/>
          </a:prstGeom>
          <a:ln w="3810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箭头连接符 39">
            <a:extLst>
              <a:ext uri="{FF2B5EF4-FFF2-40B4-BE49-F238E27FC236}">
                <a16:creationId xmlns:a16="http://schemas.microsoft.com/office/drawing/2014/main" id="{CD6BE454-3E9E-C975-34AA-F612D8D0BD45}"/>
              </a:ext>
            </a:extLst>
          </p:cNvPr>
          <p:cNvCxnSpPr>
            <a:cxnSpLocks/>
            <a:stCxn id="22" idx="2"/>
            <a:endCxn id="24" idx="0"/>
          </p:cNvCxnSpPr>
          <p:nvPr/>
        </p:nvCxnSpPr>
        <p:spPr>
          <a:xfrm>
            <a:off x="4065009" y="2452523"/>
            <a:ext cx="0" cy="460862"/>
          </a:xfrm>
          <a:prstGeom prst="straightConnector1">
            <a:avLst/>
          </a:prstGeom>
          <a:ln w="3810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矩形 61">
            <a:extLst>
              <a:ext uri="{FF2B5EF4-FFF2-40B4-BE49-F238E27FC236}">
                <a16:creationId xmlns:a16="http://schemas.microsoft.com/office/drawing/2014/main" id="{C64DDBA3-2AE1-B267-FB0C-B051149DCCF4}"/>
              </a:ext>
            </a:extLst>
          </p:cNvPr>
          <p:cNvSpPr/>
          <p:nvPr/>
        </p:nvSpPr>
        <p:spPr>
          <a:xfrm>
            <a:off x="504826" y="4591063"/>
            <a:ext cx="1800000" cy="971550"/>
          </a:xfrm>
          <a:prstGeom prst="rect">
            <a:avLst/>
          </a:prstGeom>
          <a:solidFill>
            <a:srgbClr val="4472C4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1400" dirty="0"/>
              <a:t>下周冲高战法</a:t>
            </a:r>
            <a:endParaRPr lang="en-US" altLang="zh-CN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</a:rPr>
              <a:t>专注于下周冲高。</a:t>
            </a:r>
            <a:endParaRPr lang="en-US" altLang="zh-CN" sz="900" dirty="0">
              <a:solidFill>
                <a:schemeClr val="tx1"/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</a:rPr>
              <a:t>总结日周联动的日类实现</a:t>
            </a:r>
            <a:endParaRPr lang="en-US" altLang="zh-CN" sz="900" dirty="0">
              <a:solidFill>
                <a:schemeClr val="tx1"/>
              </a:solidFill>
            </a:endParaRPr>
          </a:p>
          <a:p>
            <a:pPr algn="ctr"/>
            <a:endParaRPr lang="en-US" altLang="zh-CN" sz="1400" dirty="0"/>
          </a:p>
        </p:txBody>
      </p:sp>
      <p:cxnSp>
        <p:nvCxnSpPr>
          <p:cNvPr id="63" name="直接箭头连接符 62">
            <a:extLst>
              <a:ext uri="{FF2B5EF4-FFF2-40B4-BE49-F238E27FC236}">
                <a16:creationId xmlns:a16="http://schemas.microsoft.com/office/drawing/2014/main" id="{DA1F1C12-47BD-F54A-C571-1629B6EA6BB9}"/>
              </a:ext>
            </a:extLst>
          </p:cNvPr>
          <p:cNvCxnSpPr>
            <a:cxnSpLocks/>
            <a:stCxn id="20" idx="2"/>
            <a:endCxn id="62" idx="0"/>
          </p:cNvCxnSpPr>
          <p:nvPr/>
        </p:nvCxnSpPr>
        <p:spPr>
          <a:xfrm flipH="1">
            <a:off x="1404826" y="3489385"/>
            <a:ext cx="68" cy="1101678"/>
          </a:xfrm>
          <a:prstGeom prst="straightConnector1">
            <a:avLst/>
          </a:prstGeom>
          <a:ln w="3810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矩形 43">
            <a:extLst>
              <a:ext uri="{FF2B5EF4-FFF2-40B4-BE49-F238E27FC236}">
                <a16:creationId xmlns:a16="http://schemas.microsoft.com/office/drawing/2014/main" id="{082DCAD0-472F-300C-6C3C-9B5D48FEFF62}"/>
              </a:ext>
            </a:extLst>
          </p:cNvPr>
          <p:cNvSpPr/>
          <p:nvPr/>
        </p:nvSpPr>
        <p:spPr>
          <a:xfrm>
            <a:off x="6624825" y="5811714"/>
            <a:ext cx="5571066" cy="1046655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靠谱的基础算法：</a:t>
            </a:r>
            <a:endParaRPr lang="en-US" altLang="zh-CN" sz="800" dirty="0">
              <a:solidFill>
                <a:schemeClr val="bg1">
                  <a:lumMod val="6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</a:t>
            </a:r>
            <a:r>
              <a:rPr lang="zh-CN" altLang="en-US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丘必赢</a:t>
            </a:r>
            <a:endParaRPr lang="en-US" altLang="zh-CN" sz="800" dirty="0">
              <a:solidFill>
                <a:schemeClr val="bg1">
                  <a:lumMod val="6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WJC&amp;WJB</a:t>
            </a:r>
            <a:r>
              <a:rPr lang="zh-CN" altLang="en-US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丘必赢</a:t>
            </a:r>
            <a:endParaRPr lang="en-US" altLang="zh-CN" sz="800" dirty="0">
              <a:solidFill>
                <a:schemeClr val="bg1">
                  <a:lumMod val="6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不靠谱的基础算法：</a:t>
            </a:r>
            <a:endParaRPr lang="en-US" altLang="zh-CN" sz="800" dirty="0">
              <a:solidFill>
                <a:schemeClr val="bg1">
                  <a:lumMod val="6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丘：可用于操作过程中逆踢，不代表趋势结束。</a:t>
            </a:r>
            <a:endParaRPr lang="en-US" altLang="zh-CN" sz="800" dirty="0">
              <a:solidFill>
                <a:schemeClr val="bg1">
                  <a:lumMod val="6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DXAB</a:t>
            </a:r>
            <a:r>
              <a:rPr lang="zh-CN" altLang="en-US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护型：可用于冲高时增强信心，不能依据此条件止损。</a:t>
            </a:r>
            <a:endParaRPr lang="en-US" altLang="zh-CN" sz="800" dirty="0">
              <a:solidFill>
                <a:schemeClr val="bg1">
                  <a:lumMod val="6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止损：不要依据此条件止损，转为：以异常冲高退出，等待异常消失后再按（</a:t>
            </a:r>
            <a:r>
              <a:rPr lang="en-US" altLang="zh-CN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DJW&amp;DJC</a:t>
            </a:r>
            <a:r>
              <a:rPr lang="zh-CN" altLang="en-US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丘）介入。</a:t>
            </a:r>
            <a:endParaRPr lang="en-US" altLang="zh-CN" sz="800" dirty="0">
              <a:solidFill>
                <a:schemeClr val="bg1">
                  <a:lumMod val="6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止损：不要以来此条件止损，转为：以异常冲高退出，等待异常消失后再按（</a:t>
            </a:r>
            <a:r>
              <a:rPr lang="en-US" altLang="zh-CN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DJW&amp;DJC</a:t>
            </a:r>
            <a:r>
              <a:rPr lang="zh-CN" altLang="en-US" sz="800" dirty="0">
                <a:solidFill>
                  <a:schemeClr val="bg1">
                    <a:lumMod val="6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丘）介入。</a:t>
            </a:r>
            <a:endParaRPr lang="en-US" altLang="zh-CN" sz="800" dirty="0">
              <a:solidFill>
                <a:schemeClr val="bg1">
                  <a:lumMod val="6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50" name="矩形 49">
            <a:extLst>
              <a:ext uri="{FF2B5EF4-FFF2-40B4-BE49-F238E27FC236}">
                <a16:creationId xmlns:a16="http://schemas.microsoft.com/office/drawing/2014/main" id="{02BE484F-A79A-F1C5-318D-5802D9910C19}"/>
              </a:ext>
            </a:extLst>
          </p:cNvPr>
          <p:cNvSpPr/>
          <p:nvPr/>
        </p:nvSpPr>
        <p:spPr>
          <a:xfrm>
            <a:off x="6943681" y="1066990"/>
            <a:ext cx="4990073" cy="647075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altLang="zh-CN" dirty="0"/>
              <a:t>WJC&amp;WJB</a:t>
            </a:r>
            <a:r>
              <a:rPr lang="zh-CN" altLang="en-US" dirty="0"/>
              <a:t>丘</a:t>
            </a:r>
            <a:endParaRPr lang="en-US" altLang="zh-CN" dirty="0"/>
          </a:p>
          <a:p>
            <a:pPr algn="ctr"/>
            <a:r>
              <a:rPr lang="en-US" altLang="zh-CN" sz="1100" dirty="0">
                <a:solidFill>
                  <a:schemeClr val="tx1"/>
                </a:solidFill>
              </a:rPr>
              <a:t>WXZC&gt;0</a:t>
            </a:r>
            <a:r>
              <a:rPr lang="zh-CN" altLang="en-US" sz="1100" dirty="0">
                <a:solidFill>
                  <a:schemeClr val="tx1"/>
                </a:solidFill>
              </a:rPr>
              <a:t>且</a:t>
            </a:r>
            <a:r>
              <a:rPr lang="en-US" altLang="zh-CN" sz="1100" dirty="0">
                <a:solidFill>
                  <a:schemeClr val="tx1"/>
                </a:solidFill>
              </a:rPr>
              <a:t>WXZB&gt;0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WJC&amp;WJB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之上趋势未改变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71" name="矩形 70">
            <a:extLst>
              <a:ext uri="{FF2B5EF4-FFF2-40B4-BE49-F238E27FC236}">
                <a16:creationId xmlns:a16="http://schemas.microsoft.com/office/drawing/2014/main" id="{F221CFE4-FF0F-19A1-574A-B88F579FFEAC}"/>
              </a:ext>
            </a:extLst>
          </p:cNvPr>
          <p:cNvSpPr/>
          <p:nvPr/>
        </p:nvSpPr>
        <p:spPr>
          <a:xfrm>
            <a:off x="3167659" y="4571195"/>
            <a:ext cx="3276000" cy="1088789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1400" dirty="0"/>
              <a:t>日柱级优化</a:t>
            </a:r>
            <a:endParaRPr lang="en-US" altLang="zh-CN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</a:rPr>
              <a:t>出点优化</a:t>
            </a:r>
            <a:r>
              <a:rPr lang="zh-CN" altLang="en-US" sz="1000" dirty="0">
                <a:solidFill>
                  <a:schemeClr val="tx1"/>
                </a:solidFill>
              </a:rPr>
              <a:t>：划分弧型，分别制定提前退出策略。</a:t>
            </a:r>
            <a:endParaRPr lang="en-US" altLang="zh-CN" sz="1000" dirty="0">
              <a:solidFill>
                <a:schemeClr val="tx1"/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</a:rPr>
              <a:t>入点优化</a:t>
            </a:r>
            <a:r>
              <a:rPr lang="zh-CN" altLang="en-US" sz="1000" dirty="0">
                <a:solidFill>
                  <a:schemeClr val="tx1"/>
                </a:solidFill>
              </a:rPr>
              <a:t>：如何提前判断会</a:t>
            </a:r>
            <a:r>
              <a:rPr lang="zh-CN" altLang="en-US" sz="1000">
                <a:solidFill>
                  <a:schemeClr val="tx1"/>
                </a:solidFill>
              </a:rPr>
              <a:t>有大升，</a:t>
            </a:r>
            <a:r>
              <a:rPr lang="zh-CN" altLang="en-US" sz="1000" dirty="0">
                <a:solidFill>
                  <a:schemeClr val="tx1"/>
                </a:solidFill>
              </a:rPr>
              <a:t>利用周级别形态与日</a:t>
            </a:r>
            <a:r>
              <a:rPr lang="zh-CN" altLang="en-US" sz="1000">
                <a:solidFill>
                  <a:schemeClr val="tx1"/>
                </a:solidFill>
              </a:rPr>
              <a:t>类主升启动</a:t>
            </a:r>
            <a:r>
              <a:rPr lang="zh-CN" altLang="en-US" sz="1000" dirty="0">
                <a:solidFill>
                  <a:schemeClr val="tx1"/>
                </a:solidFill>
              </a:rPr>
              <a:t>结构。</a:t>
            </a:r>
            <a:endParaRPr lang="en-US" altLang="zh-CN" sz="1000" dirty="0">
              <a:solidFill>
                <a:schemeClr val="tx1"/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</a:rPr>
              <a:t>中间优化</a:t>
            </a:r>
            <a:r>
              <a:rPr lang="zh-CN" altLang="en-US" sz="1000" dirty="0">
                <a:solidFill>
                  <a:schemeClr val="tx1"/>
                </a:solidFill>
              </a:rPr>
              <a:t>：持有的标准形态。</a:t>
            </a:r>
            <a:endParaRPr lang="en-US" altLang="zh-CN" sz="1000" dirty="0">
              <a:solidFill>
                <a:schemeClr val="tx1"/>
              </a:solidFill>
            </a:endParaRPr>
          </a:p>
        </p:txBody>
      </p:sp>
      <p:sp>
        <p:nvSpPr>
          <p:cNvPr id="54" name="矩形 53">
            <a:extLst>
              <a:ext uri="{FF2B5EF4-FFF2-40B4-BE49-F238E27FC236}">
                <a16:creationId xmlns:a16="http://schemas.microsoft.com/office/drawing/2014/main" id="{CE932A0A-4E57-396C-202B-2B4F24DE80A8}"/>
              </a:ext>
            </a:extLst>
          </p:cNvPr>
          <p:cNvSpPr/>
          <p:nvPr/>
        </p:nvSpPr>
        <p:spPr>
          <a:xfrm>
            <a:off x="6943681" y="1774854"/>
            <a:ext cx="4990073" cy="792517"/>
          </a:xfrm>
          <a:prstGeom prst="rect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altLang="zh-CN" dirty="0"/>
              <a:t>DJE&amp;DJC</a:t>
            </a:r>
            <a:r>
              <a:rPr lang="zh-CN" altLang="en-US" dirty="0"/>
              <a:t>丘</a:t>
            </a:r>
            <a:endParaRPr lang="en-US" altLang="zh-CN" dirty="0"/>
          </a:p>
          <a:p>
            <a:pPr algn="ctr"/>
            <a:r>
              <a:rPr lang="en-US" altLang="zh-CN" sz="1100" dirty="0">
                <a:solidFill>
                  <a:schemeClr val="tx1"/>
                </a:solidFill>
              </a:rPr>
              <a:t>DXZE&gt;0</a:t>
            </a:r>
            <a:r>
              <a:rPr lang="zh-CN" altLang="en-US" sz="1100" dirty="0">
                <a:solidFill>
                  <a:schemeClr val="tx1"/>
                </a:solidFill>
              </a:rPr>
              <a:t>且</a:t>
            </a:r>
            <a:r>
              <a:rPr lang="en-US" altLang="zh-CN" sz="1100" dirty="0">
                <a:solidFill>
                  <a:schemeClr val="tx1"/>
                </a:solidFill>
              </a:rPr>
              <a:t>DXZC&gt;0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避免趋势性均线之下：没必要参与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之下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保证替代完整性：</a:t>
            </a:r>
            <a:r>
              <a:rPr lang="en-US" altLang="zh-CN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之上要持仓</a:t>
            </a:r>
            <a:endParaRPr lang="en-US" altLang="zh-CN" sz="9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55" name="矩形 54">
            <a:extLst>
              <a:ext uri="{FF2B5EF4-FFF2-40B4-BE49-F238E27FC236}">
                <a16:creationId xmlns:a16="http://schemas.microsoft.com/office/drawing/2014/main" id="{A4AA6C7D-C571-B52A-F540-DFB61A31E9DC}"/>
              </a:ext>
            </a:extLst>
          </p:cNvPr>
          <p:cNvSpPr/>
          <p:nvPr/>
        </p:nvSpPr>
        <p:spPr>
          <a:xfrm>
            <a:off x="6943681" y="2632036"/>
            <a:ext cx="4990073" cy="3106222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altLang="zh-CN" dirty="0">
                <a:solidFill>
                  <a:schemeClr val="bg1"/>
                </a:solidFill>
              </a:rPr>
              <a:t>DJE&amp;DJC</a:t>
            </a:r>
            <a:r>
              <a:rPr lang="zh-CN" altLang="en-US" dirty="0">
                <a:solidFill>
                  <a:schemeClr val="bg1"/>
                </a:solidFill>
              </a:rPr>
              <a:t>丘</a:t>
            </a:r>
            <a:r>
              <a:rPr lang="en-US" altLang="zh-CN" dirty="0">
                <a:solidFill>
                  <a:schemeClr val="bg1"/>
                </a:solidFill>
              </a:rPr>
              <a:t>+</a:t>
            </a:r>
            <a:r>
              <a:rPr lang="zh-CN" altLang="en-US" dirty="0">
                <a:solidFill>
                  <a:schemeClr val="bg1"/>
                </a:solidFill>
              </a:rPr>
              <a:t>日柱优化</a:t>
            </a:r>
            <a:endParaRPr lang="en-US" altLang="zh-CN" dirty="0">
              <a:solidFill>
                <a:schemeClr val="bg1"/>
              </a:solidFill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剔除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之上不应持有的情况（虽然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DXZC&gt;0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但不会继续上升）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哪些情况必须介入？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即将周级别大阳柱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哪些情况不必介入？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/DXBC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劫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周级别首上破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已冲高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已完整弧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哪些情况可提前退出？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宽：针对（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已冲高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已完整弧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），退出不再参与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高偏连：等回调，异常条件消失后再介入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哪些情况不可提前退出？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不应提前退出：周柱排可能下周冲高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不应提前退出：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D2e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有可能是机会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判断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之上不应持有的工具包括：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剔除弧型：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已冲高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已完整弧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护型：映射至周线，观察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护型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+WJA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+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周柱排组合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（仅参考） 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护型：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DXAB&gt;0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代表远离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，但反交不代表须止损。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（仅参考）顶型：利用顶离对已完整弧进行判断。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（仅参考）当周五柱与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关系：计数（柱与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关系），判断趋势的延续与逆转。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实际操作规则：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预判下柱升且已买入：实际升则减仓；实际未升则按（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DJE&amp;DJC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丘）操作。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预判下柱降且未买入：按照（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WJC&amp;WJB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丘）判断趋势且放入备选池观察。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64" name="直接箭头连接符 63">
            <a:extLst>
              <a:ext uri="{FF2B5EF4-FFF2-40B4-BE49-F238E27FC236}">
                <a16:creationId xmlns:a16="http://schemas.microsoft.com/office/drawing/2014/main" id="{D374D7B5-2A03-B4EC-B248-08C64C90AF26}"/>
              </a:ext>
            </a:extLst>
          </p:cNvPr>
          <p:cNvCxnSpPr>
            <a:cxnSpLocks/>
            <a:stCxn id="24" idx="2"/>
          </p:cNvCxnSpPr>
          <p:nvPr/>
        </p:nvCxnSpPr>
        <p:spPr>
          <a:xfrm>
            <a:off x="4065009" y="3489385"/>
            <a:ext cx="0" cy="1067122"/>
          </a:xfrm>
          <a:prstGeom prst="straightConnector1">
            <a:avLst/>
          </a:prstGeom>
          <a:ln w="3810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矩形 2">
            <a:extLst>
              <a:ext uri="{FF2B5EF4-FFF2-40B4-BE49-F238E27FC236}">
                <a16:creationId xmlns:a16="http://schemas.microsoft.com/office/drawing/2014/main" id="{EEC1D5A3-E450-5DE2-6F40-2FF5150E1544}"/>
              </a:ext>
            </a:extLst>
          </p:cNvPr>
          <p:cNvSpPr/>
          <p:nvPr/>
        </p:nvSpPr>
        <p:spPr>
          <a:xfrm>
            <a:off x="2711601" y="806335"/>
            <a:ext cx="3900346" cy="3217024"/>
          </a:xfrm>
          <a:prstGeom prst="rect">
            <a:avLst/>
          </a:prstGeom>
          <a:solidFill>
            <a:srgbClr val="FFCCCC">
              <a:alpha val="90000"/>
            </a:srgb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1600" dirty="0">
                <a:solidFill>
                  <a:schemeClr val="tx1"/>
                </a:solidFill>
              </a:rPr>
              <a:t>注</a:t>
            </a:r>
            <a:r>
              <a:rPr lang="en-US" altLang="zh-CN" sz="1600" dirty="0">
                <a:solidFill>
                  <a:schemeClr val="tx1"/>
                </a:solidFill>
              </a:rPr>
              <a:t>20251030</a:t>
            </a:r>
            <a:r>
              <a:rPr lang="zh-CN" altLang="en-US" sz="1600" dirty="0">
                <a:solidFill>
                  <a:schemeClr val="tx1"/>
                </a:solidFill>
              </a:rPr>
              <a:t>：</a:t>
            </a:r>
            <a:endParaRPr lang="en-US" altLang="zh-CN" sz="1600" dirty="0">
              <a:solidFill>
                <a:schemeClr val="tx1"/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600" dirty="0">
                <a:solidFill>
                  <a:schemeClr val="tx1"/>
                </a:solidFill>
              </a:rPr>
              <a:t>大势与趋势都由周级别及以上均线决定，不需要对应地映射至日线级别。</a:t>
            </a:r>
            <a:endParaRPr lang="en-US" altLang="zh-CN" sz="1600" dirty="0">
              <a:solidFill>
                <a:schemeClr val="tx1"/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600" dirty="0">
                <a:solidFill>
                  <a:schemeClr val="tx1"/>
                </a:solidFill>
              </a:rPr>
              <a:t>针对日线级别，只需要按照周柱排的不同类型（叠垒连阳、含阴柱调整、初始突破）等类型，参考日类对应走势。日线，不负责止损，只按照周柱排列的不同类型进行展开，提供参考细节。</a:t>
            </a:r>
            <a:endParaRPr lang="en-US" altLang="zh-CN" sz="1600" dirty="0">
              <a:solidFill>
                <a:schemeClr val="tx1"/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600" dirty="0">
                <a:solidFill>
                  <a:schemeClr val="tx1"/>
                </a:solidFill>
              </a:rPr>
              <a:t>所以，此区域覆盖部分可以去掉，对应只保留以下</a:t>
            </a:r>
            <a:r>
              <a:rPr lang="en-US" altLang="zh-CN" sz="1600" dirty="0">
                <a:solidFill>
                  <a:schemeClr val="tx1"/>
                </a:solidFill>
              </a:rPr>
              <a:t>《</a:t>
            </a:r>
            <a:r>
              <a:rPr lang="zh-CN" altLang="en-US" sz="1600" dirty="0">
                <a:solidFill>
                  <a:schemeClr val="tx1"/>
                </a:solidFill>
              </a:rPr>
              <a:t>日柱级优化</a:t>
            </a:r>
            <a:r>
              <a:rPr lang="en-US" altLang="zh-CN" sz="1600" dirty="0">
                <a:solidFill>
                  <a:schemeClr val="tx1"/>
                </a:solidFill>
              </a:rPr>
              <a:t>》</a:t>
            </a:r>
            <a:r>
              <a:rPr lang="zh-CN" altLang="en-US" sz="1600" dirty="0">
                <a:solidFill>
                  <a:schemeClr val="tx1"/>
                </a:solidFill>
              </a:rPr>
              <a:t>部分。</a:t>
            </a:r>
          </a:p>
        </p:txBody>
      </p:sp>
    </p:spTree>
    <p:extLst>
      <p:ext uri="{BB962C8B-B14F-4D97-AF65-F5344CB8AC3E}">
        <p14:creationId xmlns:p14="http://schemas.microsoft.com/office/powerpoint/2010/main" val="1392706060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B0311A-1BA4-D4D7-254A-509E2F025B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37C9521-E502-21A1-6B78-631AED74CA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rgbClr val="C00000"/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算法基石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单条形式的操盘策略</a:t>
            </a:r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（待与日类操盘方法合并）</a:t>
            </a:r>
            <a:br>
              <a:rPr lang="en-US" altLang="zh-CN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研究设计算法的基石原理，并时时刻刻以这些原理为指导原则，不要被细节勾引偏离主线。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1F2EE9F3-791F-5802-75BF-7F382633A442}"/>
              </a:ext>
            </a:extLst>
          </p:cNvPr>
          <p:cNvSpPr/>
          <p:nvPr/>
        </p:nvSpPr>
        <p:spPr>
          <a:xfrm>
            <a:off x="7541623" y="720000"/>
            <a:ext cx="4650377" cy="6138000"/>
          </a:xfrm>
          <a:prstGeom prst="rect">
            <a:avLst/>
          </a:prstGeom>
          <a:solidFill>
            <a:schemeClr val="accent4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操盘错误行为包括：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）迷惑于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丘中途的鼎，总在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中途介入。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违背了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丘的必赢法则，要以丘为准从头吃到顶。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鼎本柱代表</a:t>
            </a:r>
            <a:r>
              <a:rPr lang="zh-CN" altLang="en-US" sz="1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了上升，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但不代表后续柱</a:t>
            </a:r>
            <a:r>
              <a:rPr lang="zh-CN" altLang="en-US" sz="1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继续上升。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特别是当鼎属于以下情况：四柱栅、鼎柱较大。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）错误认为日触顶会持续创新高，甚至会连续涨停。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要纠正错误幻想，不要奢望触顶后必然会连续涨停，正常情况是维持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,DJA)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固定管宽，只有少数形态结构后会开启大喇叭（喇叭形态总结见专页）。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）错误认为触顶时应该买而不是卖。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在最后触顶柱之后，必然会下跌，所以要在以下情况止盈：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异常偏离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连阳：是否过多；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异常偏离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大阳：单柱是否过大；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异常偏离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：偏离过大，特指大阳柱的后续柱；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异常偏离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：管是否过大；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止涨标志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悬阴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大上影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十字星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柱体忽然变小。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）错误认为触顶是与均线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/DJE/DJC/DJA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同等重要的指标。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首先，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【DJC+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触顶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是日</a:t>
            </a:r>
            <a:r>
              <a:rPr lang="zh-CN" altLang="en-US" sz="1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类主升阶段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的特征。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其次，要明确触顶只是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偏离的体现。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只要柱</a:t>
            </a:r>
            <a:r>
              <a:rPr lang="zh-CN" altLang="en-US" sz="1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排为升排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，触顶后仍然会保持触顶。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在触顶时，如出现偏离较大，导致对后续走势不能把握的情况，可减至底仓。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底仓清仓规则：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必清仓。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不破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不清仓。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介于两者之间：出现失势标志可提前清仓，但失势标志消失后要补齐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对应仓位。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）错误尝试在管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,DJA)</a:t>
            </a:r>
            <a:r>
              <a:rPr lang="zh-CN" altLang="en-US" sz="1000" b="1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中的升排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，寻找哪些迹象应逃顶。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首先不要鸡蛋中找骨头。管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,DJA</a:t>
            </a:r>
            <a:r>
              <a:rPr lang="en-US" altLang="zh-CN" sz="1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中升排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，只要未大幅偏离，都属于应当给与仓位的正常情况。不要试图定义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之上升排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属于失势标志。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其次看见棺材心要死。真正需要确定的是，当出现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后，是否应清仓或继续持有。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）总是会背弃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丘，不由自主寻求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丘或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丘包含：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区间。由于受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压制，可以按照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严格进出，但关键是下破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如果退出，再次站上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时必须再此进入补足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权重。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。只有下破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时，且出现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失势标志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才能提前退出，且失势标志消失后要再次进入补足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底仓。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）太把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之上的震动当事。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不要把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以上震动太当事，不要因此调整仓位。如：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之上跌连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BEEEA16B-2FE4-CE58-91E6-767FB2F6360E}"/>
              </a:ext>
            </a:extLst>
          </p:cNvPr>
          <p:cNvSpPr/>
          <p:nvPr/>
        </p:nvSpPr>
        <p:spPr>
          <a:xfrm>
            <a:off x="0" y="1174540"/>
            <a:ext cx="1236617" cy="934178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必赢策略：</a:t>
            </a:r>
            <a:endParaRPr lang="en-US" altLang="zh-CN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E77820E6-6AE2-D6BD-4B9E-2FE1A76A7958}"/>
              </a:ext>
            </a:extLst>
          </p:cNvPr>
          <p:cNvSpPr/>
          <p:nvPr/>
        </p:nvSpPr>
        <p:spPr>
          <a:xfrm>
            <a:off x="1236617" y="1174540"/>
            <a:ext cx="6305006" cy="934178"/>
          </a:xfrm>
          <a:prstGeom prst="rect">
            <a:avLst/>
          </a:prstGeom>
          <a:solidFill>
            <a:schemeClr val="accent6">
              <a:lumMod val="75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基础上增加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丘的效果，因为：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可以增加收益：（完整按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（满足条件就补齐仓位）≥（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必持股池：一定要凡是满足条件（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）就持有底仓。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备选范围为：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WXZC&gt;0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且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WXZB&gt;0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11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持仓范围为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  <a:sym typeface="Wingdings" panose="05000000000000000000" pitchFamily="2" charset="2"/>
              </a:rPr>
              <a:t>：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  <a:sym typeface="Wingdings" panose="05000000000000000000" pitchFamily="2" charset="2"/>
              </a:rPr>
              <a:t>(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满足前条件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)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且</a:t>
            </a:r>
            <a:r>
              <a:rPr lang="en-US" altLang="zh-CN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DXZC&gt;0</a:t>
            </a:r>
            <a:r>
              <a:rPr lang="zh-CN" altLang="en-US" sz="1100" b="1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1100" b="1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11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59E527EB-CC08-E9AC-C281-E90DF5E79E6F}"/>
              </a:ext>
            </a:extLst>
          </p:cNvPr>
          <p:cNvSpPr/>
          <p:nvPr/>
        </p:nvSpPr>
        <p:spPr>
          <a:xfrm>
            <a:off x="269966" y="2108718"/>
            <a:ext cx="966651" cy="147832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日类操作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C786BFF8-7C1D-AB67-C335-D6BE29D67BC8}"/>
              </a:ext>
            </a:extLst>
          </p:cNvPr>
          <p:cNvSpPr/>
          <p:nvPr/>
        </p:nvSpPr>
        <p:spPr>
          <a:xfrm>
            <a:off x="1236617" y="2108718"/>
            <a:ext cx="6305006" cy="1478327"/>
          </a:xfrm>
          <a:prstGeom prst="rect">
            <a:avLst/>
          </a:prstGeom>
          <a:solidFill>
            <a:schemeClr val="accent6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在以上基础上，以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为持仓线：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触顶时，</a:t>
            </a:r>
            <a:r>
              <a:rPr lang="zh-CN" altLang="en-US" sz="11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只要保持升排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就可持有底仓和浮仓，直到对后续走势没把握减至底仓；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触顶时，出现异常偏离或止涨标志，可以减至底仓；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后，出现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失势标志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后可退出底仓，但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失势恢复标志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且在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之上要补齐底仓；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必清仓，但再次站上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需要补足底仓。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F0B79E9F-7C41-60A3-C797-B65F682AC3AD}"/>
              </a:ext>
            </a:extLst>
          </p:cNvPr>
          <p:cNvSpPr/>
          <p:nvPr/>
        </p:nvSpPr>
        <p:spPr>
          <a:xfrm>
            <a:off x="1236617" y="4733491"/>
            <a:ext cx="6305006" cy="2098335"/>
          </a:xfrm>
          <a:prstGeom prst="rect">
            <a:avLst/>
          </a:prstGeom>
          <a:solidFill>
            <a:schemeClr val="tx1">
              <a:lumMod val="75000"/>
              <a:lumOff val="25000"/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综上，在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之上：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底仓：在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之上就持有；在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之上，遇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失势标志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暂时退出，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【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失势恢复标志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补齐底仓；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浮仓：</a:t>
            </a:r>
            <a:r>
              <a:rPr lang="zh-CN" altLang="en-US" sz="11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有上升把握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时增加浮仓，对后续走势没把握时减至底仓。</a:t>
            </a:r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755B80B7-D100-6B98-8E85-918FAD5440A4}"/>
              </a:ext>
            </a:extLst>
          </p:cNvPr>
          <p:cNvSpPr/>
          <p:nvPr/>
        </p:nvSpPr>
        <p:spPr>
          <a:xfrm>
            <a:off x="269966" y="3591408"/>
            <a:ext cx="966651" cy="1142083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管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,DJA)</a:t>
            </a:r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724C4085-02CC-FCD5-A438-6CA7E1C43D36}"/>
              </a:ext>
            </a:extLst>
          </p:cNvPr>
          <p:cNvSpPr/>
          <p:nvPr/>
        </p:nvSpPr>
        <p:spPr>
          <a:xfrm>
            <a:off x="1236617" y="3591408"/>
            <a:ext cx="6305006" cy="1142083"/>
          </a:xfrm>
          <a:prstGeom prst="rect">
            <a:avLst/>
          </a:prstGeom>
          <a:solidFill>
            <a:schemeClr val="accent6">
              <a:lumMod val="60000"/>
              <a:lumOff val="40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在以上基础上，以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为持仓线，聚焦管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,DJA)</a:t>
            </a:r>
            <a:r>
              <a:rPr lang="zh-CN" altLang="en-US" sz="11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进行主升操作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首先明确，在管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,DJA)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中，正常是以恒定管宽均匀前进，不要奢望喇叭忽然放大。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跌孕：靠近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是正常的行进方式，是最有把握的日机。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要小心出管，并进一步导致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失势标志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喇叭放大：特定形态组合，可能形成喇叭口急剧放大，见后续专页。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触顶：如果没有把握就减至底仓。触顶不是后续必涨的信号，只是偏离的体现。</a:t>
            </a:r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512DF9EE-8061-4850-18DA-943BDBA82B6B}"/>
              </a:ext>
            </a:extLst>
          </p:cNvPr>
          <p:cNvSpPr/>
          <p:nvPr/>
        </p:nvSpPr>
        <p:spPr>
          <a:xfrm>
            <a:off x="0" y="4733490"/>
            <a:ext cx="1236617" cy="2098336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日类</a:t>
            </a:r>
            <a:endParaRPr lang="en-US" altLang="zh-CN" sz="1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操盘策略</a:t>
            </a:r>
            <a:endParaRPr lang="en-US" altLang="zh-CN" sz="1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9C8FE05F-DCA8-F230-FD6A-C8CA3862253C}"/>
              </a:ext>
            </a:extLst>
          </p:cNvPr>
          <p:cNvSpPr txBox="1"/>
          <p:nvPr/>
        </p:nvSpPr>
        <p:spPr>
          <a:xfrm>
            <a:off x="1839707" y="2932034"/>
            <a:ext cx="425629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000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替代</a:t>
            </a:r>
            <a:r>
              <a:rPr lang="en-US" altLang="zh-CN" sz="1000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000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仓位管理的改进之处为：将仓位分为两部分。</a:t>
            </a:r>
            <a:endParaRPr lang="en-US" altLang="zh-CN" sz="1000" dirty="0">
              <a:solidFill>
                <a:srgbClr val="FF0000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000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原（浮仓</a:t>
            </a:r>
            <a:r>
              <a:rPr lang="en-US" altLang="zh-CN" sz="1000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+</a:t>
            </a:r>
            <a:r>
              <a:rPr lang="zh-CN" altLang="en-US" sz="1000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底仓）完全走完</a:t>
            </a:r>
            <a:r>
              <a:rPr lang="en-US" altLang="zh-CN" sz="1000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000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丘。转变为</a:t>
            </a:r>
            <a:endParaRPr lang="en-US" altLang="zh-CN" sz="1000" dirty="0">
              <a:solidFill>
                <a:srgbClr val="FF0000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000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底仓：走完</a:t>
            </a:r>
            <a:r>
              <a:rPr lang="en-US" altLang="zh-CN" sz="1000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000" dirty="0">
                <a:solidFill>
                  <a:srgbClr val="FF0000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丘（遇失势可提前退出）；浮仓：只走最有把握的部分。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D3E86F7C-3041-C246-DCB3-8F281D113F94}"/>
              </a:ext>
            </a:extLst>
          </p:cNvPr>
          <p:cNvSpPr/>
          <p:nvPr/>
        </p:nvSpPr>
        <p:spPr>
          <a:xfrm>
            <a:off x="0" y="719999"/>
            <a:ext cx="1236617" cy="461100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必赢策略：</a:t>
            </a:r>
            <a:endParaRPr lang="en-US" altLang="zh-CN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3C332FD2-49F0-489B-9BB2-460F050488EC}"/>
              </a:ext>
            </a:extLst>
          </p:cNvPr>
          <p:cNvSpPr/>
          <p:nvPr/>
        </p:nvSpPr>
        <p:spPr>
          <a:xfrm>
            <a:off x="1236617" y="719999"/>
            <a:ext cx="6305006" cy="461100"/>
          </a:xfrm>
          <a:prstGeom prst="rect">
            <a:avLst/>
          </a:prstGeom>
          <a:solidFill>
            <a:schemeClr val="accent5">
              <a:lumMod val="75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遍历观察，可以得出结论，下破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能够代表趋势已逆转。见专页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周类操盘算法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周类以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作为卖线，不可早卖只能晚卖。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WXZC&gt;0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WXZB&gt;0</a:t>
            </a:r>
            <a:r>
              <a:rPr lang="zh-CN" altLang="en-US" sz="11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必持（类比亏损时被套）。</a:t>
            </a:r>
          </a:p>
          <a:p>
            <a:endParaRPr lang="zh-CN" altLang="en-US" sz="11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文本框 18">
            <a:extLst>
              <a:ext uri="{FF2B5EF4-FFF2-40B4-BE49-F238E27FC236}">
                <a16:creationId xmlns:a16="http://schemas.microsoft.com/office/drawing/2014/main" id="{9DAF2F0B-3AC2-1CC0-8CD5-B78195F15CC1}"/>
              </a:ext>
            </a:extLst>
          </p:cNvPr>
          <p:cNvSpPr txBox="1"/>
          <p:nvPr/>
        </p:nvSpPr>
        <p:spPr>
          <a:xfrm>
            <a:off x="1236617" y="5385276"/>
            <a:ext cx="6305006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核心思想：</a:t>
            </a:r>
            <a:endParaRPr lang="en-US" altLang="zh-CN" sz="11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最重要的是要</a:t>
            </a:r>
            <a:r>
              <a:rPr lang="zh-CN" altLang="en-US" sz="110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抓主升，</a:t>
            </a:r>
            <a:r>
              <a:rPr lang="en-US" altLang="zh-CN" sz="110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DXZA&gt;0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，处于管内且触顶。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在可能创新高时进入，最好是触顶，长期持有才有对应收益；在经过高点后确保不会再创新高时退出。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提前退出：逆转趋势只能是破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，其余提前退出都是逆踢，一旦逆踢的条件消失要再进入。如，破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后站上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；破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后站上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之上跌排后</a:t>
            </a:r>
            <a:r>
              <a:rPr lang="zh-CN" altLang="en-US" sz="110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又出现升排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待研究：如果按照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DJC/WJA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作为退出线，那么从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触顶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WJA】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中间会有哪些情况？</a:t>
            </a:r>
            <a:endParaRPr lang="en-US" altLang="zh-CN" sz="11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待研究：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之上，哪些区域</a:t>
            </a:r>
            <a:r>
              <a:rPr lang="zh-CN" altLang="en-US" sz="1100" b="1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是主升，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哪些区域是震荡？结论是：合顶</a:t>
            </a:r>
            <a:r>
              <a:rPr lang="zh-CN" altLang="en-US" sz="1100" b="1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是主升。</a:t>
            </a:r>
            <a:endParaRPr lang="zh-CN" altLang="en-US" sz="11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120AE68F-656C-CDB4-9C47-112E1BC5B1B3}"/>
              </a:ext>
            </a:extLst>
          </p:cNvPr>
          <p:cNvSpPr txBox="1"/>
          <p:nvPr/>
        </p:nvSpPr>
        <p:spPr>
          <a:xfrm>
            <a:off x="219890" y="1067960"/>
            <a:ext cx="79683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可替代为</a:t>
            </a:r>
            <a:endParaRPr lang="zh-CN" altLang="en-US" sz="1000" b="1" dirty="0"/>
          </a:p>
        </p:txBody>
      </p:sp>
      <p:sp>
        <p:nvSpPr>
          <p:cNvPr id="18" name="矩形 17">
            <a:extLst>
              <a:ext uri="{FF2B5EF4-FFF2-40B4-BE49-F238E27FC236}">
                <a16:creationId xmlns:a16="http://schemas.microsoft.com/office/drawing/2014/main" id="{F8D2F544-A82B-77A5-73C4-362733F61280}"/>
              </a:ext>
            </a:extLst>
          </p:cNvPr>
          <p:cNvSpPr/>
          <p:nvPr/>
        </p:nvSpPr>
        <p:spPr>
          <a:xfrm>
            <a:off x="0" y="2108717"/>
            <a:ext cx="7218776" cy="2640565"/>
          </a:xfrm>
          <a:prstGeom prst="rect">
            <a:avLst/>
          </a:prstGeom>
          <a:solidFill>
            <a:srgbClr val="FFCCCC">
              <a:alpha val="90000"/>
            </a:srgb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</a:t>
            </a:r>
            <a:r>
              <a:rPr lang="en-US" altLang="zh-CN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20251030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14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大势与趋势都由周级别及以上均线决定，不需要对应地映射至日线级别。</a:t>
            </a:r>
            <a:endParaRPr lang="en-US" altLang="zh-CN" sz="14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针对日线级别，只需要按照周柱排的不同类型（叠垒连阳、含阴柱调整、初始突破）等类型，参考日类对应走势。日线，不负责止损，只按照周柱排列的不同类型进行展开，提供参考细节。</a:t>
            </a:r>
            <a:endParaRPr lang="en-US" altLang="zh-CN" sz="14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所以，此区域覆盖部分可以去掉，对应只保留以下</a:t>
            </a:r>
            <a:r>
              <a:rPr lang="en-US" altLang="zh-CN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日柱级优化</a:t>
            </a:r>
            <a:r>
              <a:rPr lang="en-US" altLang="zh-CN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部分。</a:t>
            </a:r>
          </a:p>
        </p:txBody>
      </p:sp>
    </p:spTree>
    <p:extLst>
      <p:ext uri="{BB962C8B-B14F-4D97-AF65-F5344CB8AC3E}">
        <p14:creationId xmlns:p14="http://schemas.microsoft.com/office/powerpoint/2010/main" val="3774145846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AD5729-19DE-8A93-B509-602F1C8242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矩形 14">
            <a:extLst>
              <a:ext uri="{FF2B5EF4-FFF2-40B4-BE49-F238E27FC236}">
                <a16:creationId xmlns:a16="http://schemas.microsoft.com/office/drawing/2014/main" id="{20F28601-13E1-F203-4A1A-FB8233564EAC}"/>
              </a:ext>
            </a:extLst>
          </p:cNvPr>
          <p:cNvSpPr/>
          <p:nvPr/>
        </p:nvSpPr>
        <p:spPr>
          <a:xfrm>
            <a:off x="-2652" y="1360532"/>
            <a:ext cx="12192000" cy="2916000"/>
          </a:xfrm>
          <a:prstGeom prst="rect">
            <a:avLst/>
          </a:prstGeom>
          <a:solidFill>
            <a:srgbClr val="2E75B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A83975ED-C1F7-01A3-F89E-FF342C14BD58}"/>
              </a:ext>
            </a:extLst>
          </p:cNvPr>
          <p:cNvSpPr/>
          <p:nvPr/>
        </p:nvSpPr>
        <p:spPr>
          <a:xfrm>
            <a:off x="3046002" y="1360532"/>
            <a:ext cx="9144000" cy="2916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4901694E-60F2-815B-954B-19727D50B158}"/>
              </a:ext>
            </a:extLst>
          </p:cNvPr>
          <p:cNvSpPr/>
          <p:nvPr/>
        </p:nvSpPr>
        <p:spPr>
          <a:xfrm>
            <a:off x="6093762" y="1360532"/>
            <a:ext cx="6098400" cy="2916000"/>
          </a:xfrm>
          <a:prstGeom prst="rect">
            <a:avLst/>
          </a:prstGeom>
          <a:solidFill>
            <a:srgbClr val="70AD4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8" name="矩形 17">
            <a:extLst>
              <a:ext uri="{FF2B5EF4-FFF2-40B4-BE49-F238E27FC236}">
                <a16:creationId xmlns:a16="http://schemas.microsoft.com/office/drawing/2014/main" id="{EADDF58D-8879-A02A-DB76-CB2560FADE6F}"/>
              </a:ext>
            </a:extLst>
          </p:cNvPr>
          <p:cNvSpPr/>
          <p:nvPr/>
        </p:nvSpPr>
        <p:spPr>
          <a:xfrm>
            <a:off x="9140148" y="1360532"/>
            <a:ext cx="3049200" cy="2916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9335B8C3-49C0-171C-CB3F-F846EA915F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算法基石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仓位管理专页</a:t>
            </a:r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（待与日类操盘方法合并）</a:t>
            </a:r>
            <a:b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在单条形式的操盘策略基础上，增加汇总仓位管理方法，并研究仓位管理方法的演变路径与特殊情况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D53DD371-B72B-DCCF-9325-7E668C58F957}"/>
              </a:ext>
            </a:extLst>
          </p:cNvPr>
          <p:cNvSpPr txBox="1"/>
          <p:nvPr/>
        </p:nvSpPr>
        <p:spPr>
          <a:xfrm>
            <a:off x="0" y="719999"/>
            <a:ext cx="12193200" cy="64633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真理勿删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仓位管理的基石是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数学特性与偏离止盈。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两仓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底仓按照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DJEDC(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代替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WJC)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持有，最好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DXCE&gt;0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DXCD&gt;0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；浮仓根据（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DJA+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热板）进入，只买（日类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即将触哼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已经触哼）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优选周触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ab)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日类运行规律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波浪前进，每过一段时间，会出现偏离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DJA/DJC/DJE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的波峰，尽量在触顶时卖掉浮仓；剩余底仓止损于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DJEDC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之上形成下降趋势时。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E1ADF25E-9BFE-5E62-2D0C-E8E2B025A184}"/>
              </a:ext>
            </a:extLst>
          </p:cNvPr>
          <p:cNvSpPr txBox="1"/>
          <p:nvPr/>
        </p:nvSpPr>
        <p:spPr>
          <a:xfrm>
            <a:off x="174849" y="1729958"/>
            <a:ext cx="161775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之上恒定仓位</a:t>
            </a: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EDA363B5-7F6C-CFC4-FE9B-4F242FA0B339}"/>
              </a:ext>
            </a:extLst>
          </p:cNvPr>
          <p:cNvSpPr txBox="1"/>
          <p:nvPr/>
        </p:nvSpPr>
        <p:spPr>
          <a:xfrm>
            <a:off x="3057363" y="1729958"/>
            <a:ext cx="178286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之上可以止盈</a:t>
            </a:r>
            <a:endParaRPr lang="en-US" altLang="zh-CN" sz="14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破</a:t>
            </a:r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才可退出底仓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BA523EE1-EC72-0F4F-D728-E3AA435C0C59}"/>
              </a:ext>
            </a:extLst>
          </p:cNvPr>
          <p:cNvSpPr txBox="1"/>
          <p:nvPr/>
        </p:nvSpPr>
        <p:spPr>
          <a:xfrm>
            <a:off x="6090511" y="1729958"/>
            <a:ext cx="195438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分仓管理：必</a:t>
            </a:r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DXZE&gt;0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之上可加</a:t>
            </a:r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浮仓</a:t>
            </a:r>
            <a:endParaRPr lang="en-US" altLang="zh-CN" sz="14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破</a:t>
            </a:r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保留</a:t>
            </a:r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3/3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底仓</a:t>
            </a:r>
            <a:endParaRPr lang="en-US" altLang="zh-CN" sz="14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破</a:t>
            </a:r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保留</a:t>
            </a:r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2/3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底仓</a:t>
            </a:r>
            <a:endParaRPr lang="en-US" altLang="zh-CN" sz="14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破</a:t>
            </a:r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DJD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保留</a:t>
            </a:r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1/3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底仓</a:t>
            </a:r>
            <a:endParaRPr lang="en-US" altLang="zh-CN" sz="14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破</a:t>
            </a:r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DJE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清仓</a:t>
            </a:r>
          </a:p>
        </p:txBody>
      </p:sp>
      <p:sp>
        <p:nvSpPr>
          <p:cNvPr id="19" name="矩形 18">
            <a:extLst>
              <a:ext uri="{FF2B5EF4-FFF2-40B4-BE49-F238E27FC236}">
                <a16:creationId xmlns:a16="http://schemas.microsoft.com/office/drawing/2014/main" id="{0411E3B8-EE82-1E62-811C-5C2E4EE1D69C}"/>
              </a:ext>
            </a:extLst>
          </p:cNvPr>
          <p:cNvSpPr/>
          <p:nvPr/>
        </p:nvSpPr>
        <p:spPr>
          <a:xfrm>
            <a:off x="-2652" y="3127225"/>
            <a:ext cx="12192000" cy="1152000"/>
          </a:xfrm>
          <a:prstGeom prst="rect">
            <a:avLst/>
          </a:prstGeom>
          <a:solidFill>
            <a:schemeClr val="bg1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8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84F8649B-56F1-AE4B-BA73-F9F6BFD534A9}"/>
              </a:ext>
            </a:extLst>
          </p:cNvPr>
          <p:cNvSpPr txBox="1"/>
          <p:nvPr/>
        </p:nvSpPr>
        <p:spPr>
          <a:xfrm>
            <a:off x="9152369" y="1729958"/>
            <a:ext cx="2162772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分仓管理：必</a:t>
            </a:r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DXZE&gt;0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之上可加</a:t>
            </a:r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浮仓</a:t>
            </a:r>
            <a:endParaRPr lang="en-US" altLang="zh-CN" sz="14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DJEDC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</a:t>
            </a:r>
            <a:r>
              <a:rPr lang="zh-CN" altLang="zh-CN" sz="1400" b="1" kern="1200" dirty="0">
                <a:solidFill>
                  <a:srgbClr val="000000"/>
                </a:solidFill>
                <a:effectLst/>
                <a:latin typeface="Microsoft YaHei Light" panose="020B0502040204020203" pitchFamily="34" charset="-122"/>
                <a:ea typeface="Microsoft YaHei Light" panose="020B0502040204020203" pitchFamily="34" charset="-122"/>
                <a:cs typeface="+mn-cs"/>
              </a:rPr>
              <a:t>保留</a:t>
            </a:r>
            <a:r>
              <a:rPr lang="en-US" altLang="zh-CN" sz="1400" b="1" kern="1200" dirty="0">
                <a:solidFill>
                  <a:srgbClr val="000000"/>
                </a:solidFill>
                <a:effectLst/>
                <a:latin typeface="Microsoft YaHei Light" panose="020B0502040204020203" pitchFamily="34" charset="-122"/>
                <a:ea typeface="Microsoft YaHei Light" panose="020B0502040204020203" pitchFamily="34" charset="-122"/>
                <a:cs typeface="+mn-cs"/>
              </a:rPr>
              <a:t>1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底仓</a:t>
            </a:r>
            <a:endParaRPr lang="en-US" altLang="zh-CN" sz="14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400" b="1" kern="1200" dirty="0">
                <a:solidFill>
                  <a:srgbClr val="000000"/>
                </a:solidFill>
                <a:effectLst/>
                <a:latin typeface="Microsoft YaHei Light" panose="020B0502040204020203" pitchFamily="34" charset="-122"/>
                <a:ea typeface="Microsoft YaHei Light" panose="020B0502040204020203" pitchFamily="34" charset="-122"/>
                <a:cs typeface="+mn-cs"/>
              </a:rPr>
              <a:t>DJEDC</a:t>
            </a:r>
            <a:r>
              <a:rPr lang="zh-CN" altLang="zh-CN" sz="1400" b="1" kern="1200" dirty="0">
                <a:solidFill>
                  <a:srgbClr val="000000"/>
                </a:solidFill>
                <a:effectLst/>
                <a:latin typeface="Microsoft YaHei Light" panose="020B0502040204020203" pitchFamily="34" charset="-122"/>
                <a:ea typeface="Microsoft YaHei Light" panose="020B0502040204020203" pitchFamily="34" charset="-122"/>
                <a:cs typeface="+mn-cs"/>
              </a:rPr>
              <a:t>之</a:t>
            </a:r>
            <a:r>
              <a:rPr lang="zh-CN" altLang="en-US" sz="1400" b="1" kern="1200" dirty="0">
                <a:solidFill>
                  <a:srgbClr val="000000"/>
                </a:solidFill>
                <a:effectLst/>
                <a:latin typeface="Microsoft YaHei Light" panose="020B0502040204020203" pitchFamily="34" charset="-122"/>
                <a:ea typeface="Microsoft YaHei Light" panose="020B0502040204020203" pitchFamily="34" charset="-122"/>
                <a:cs typeface="+mn-cs"/>
              </a:rPr>
              <a:t>下</a:t>
            </a:r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清仓</a:t>
            </a: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6B414A1B-8F89-0C52-6871-94A12DFADDDD}"/>
              </a:ext>
            </a:extLst>
          </p:cNvPr>
          <p:cNvSpPr txBox="1"/>
          <p:nvPr/>
        </p:nvSpPr>
        <p:spPr>
          <a:xfrm>
            <a:off x="174849" y="3179479"/>
            <a:ext cx="209223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周级别仓位管理：必赢策略</a:t>
            </a:r>
            <a:endParaRPr lang="en-US" altLang="zh-CN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之下：不主动进入，只被动持仓。</a:t>
            </a:r>
            <a:endParaRPr lang="en-US" altLang="zh-CN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存在问题：可能会错过逃顶。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7A0C7E64-6541-5BFE-02A5-573DAD338257}"/>
              </a:ext>
            </a:extLst>
          </p:cNvPr>
          <p:cNvSpPr txBox="1"/>
          <p:nvPr/>
        </p:nvSpPr>
        <p:spPr>
          <a:xfrm>
            <a:off x="3057363" y="3179479"/>
            <a:ext cx="260520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周级别仓位管理：增加止盈操作</a:t>
            </a:r>
            <a:endParaRPr lang="en-US" altLang="zh-CN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为保证不踏空顶部，保留底仓只等待破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退出。</a:t>
            </a:r>
            <a:endParaRPr lang="en-US" altLang="zh-CN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改进之处：增加止盈且不会错过大顶部。</a:t>
            </a:r>
            <a:endParaRPr lang="en-US" altLang="zh-CN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存在问题：可能会错过日级别逃顶。</a:t>
            </a: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49AB8094-3F5D-2A69-585A-08AF4261B3A8}"/>
              </a:ext>
            </a:extLst>
          </p:cNvPr>
          <p:cNvSpPr txBox="1"/>
          <p:nvPr/>
        </p:nvSpPr>
        <p:spPr>
          <a:xfrm>
            <a:off x="6090511" y="3179479"/>
            <a:ext cx="3047477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周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+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日级别仓位管理：必须首先满足周线要求</a:t>
            </a:r>
            <a:endParaRPr lang="en-US" altLang="zh-CN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基础要求：必在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DJE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之上。</a:t>
            </a:r>
            <a:endParaRPr lang="en-US" altLang="zh-CN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入点：主选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与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之上，三工具（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DJA+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触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+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柱排）</a:t>
            </a:r>
            <a:endParaRPr lang="en-US" altLang="zh-CN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退出浮仓：当下破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退出浮仓，特别是沿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跌排</a:t>
            </a:r>
            <a:endParaRPr lang="en-US" altLang="zh-CN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改进之处：充分利用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EMA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数学特性。</a:t>
            </a:r>
            <a:endParaRPr lang="en-US" altLang="zh-CN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存在问题： 操作频繁，底仓占用资金。在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之下只有两种机会：一是远低于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后反弹；一是重新站上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。但两种情况都会受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趋势压制，底仓始终运行在下降趋势或震荡。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AA7CA1CA-C9D3-E3E9-D28A-7BE41F28BB73}"/>
              </a:ext>
            </a:extLst>
          </p:cNvPr>
          <p:cNvSpPr txBox="1"/>
          <p:nvPr/>
        </p:nvSpPr>
        <p:spPr>
          <a:xfrm>
            <a:off x="9152369" y="3179479"/>
            <a:ext cx="304834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周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+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日级别仓位管理：必须首先满足周线要求</a:t>
            </a:r>
            <a:endParaRPr lang="en-US" altLang="zh-CN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基础要求：必在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DJE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之上。</a:t>
            </a:r>
            <a:endParaRPr lang="en-US" altLang="zh-CN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改进之处：跳过底仓，直接</a:t>
            </a:r>
            <a:r>
              <a:rPr lang="zh-CN" altLang="en-US" sz="80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抓主升阶段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。注意，不是只按照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DJCBA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决定仓位，而是将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与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DJE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之间的底仓转移为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DJEDC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综合底仓。</a:t>
            </a:r>
            <a:endParaRPr lang="en-US" altLang="zh-CN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存在问题：有可能反复操作，必须过滤震荡，利用三工具（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DJA+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触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+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柱排）以及热点板块确定主攻方向。</a:t>
            </a: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EA7527B0-7A62-FA53-9028-9DE7D73927F5}"/>
              </a:ext>
            </a:extLst>
          </p:cNvPr>
          <p:cNvSpPr/>
          <p:nvPr/>
        </p:nvSpPr>
        <p:spPr>
          <a:xfrm>
            <a:off x="-2652" y="1365515"/>
            <a:ext cx="12193200" cy="338554"/>
          </a:xfrm>
          <a:prstGeom prst="rect">
            <a:avLst/>
          </a:prstGeom>
          <a:solidFill>
            <a:schemeClr val="accent1">
              <a:lumMod val="50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b="1" kern="2500" spc="1500" dirty="0">
                <a:solidFill>
                  <a:schemeClr val="bg1">
                    <a:lumMod val="95000"/>
                  </a:schemeClr>
                </a:solidFill>
              </a:rPr>
              <a:t> 仓位管理进化路径</a:t>
            </a:r>
          </a:p>
        </p:txBody>
      </p:sp>
      <p:sp>
        <p:nvSpPr>
          <p:cNvPr id="25" name="文本框 24">
            <a:extLst>
              <a:ext uri="{FF2B5EF4-FFF2-40B4-BE49-F238E27FC236}">
                <a16:creationId xmlns:a16="http://schemas.microsoft.com/office/drawing/2014/main" id="{A911BE8A-7C58-E601-CAF2-9038D6957663}"/>
              </a:ext>
            </a:extLst>
          </p:cNvPr>
          <p:cNvSpPr txBox="1"/>
          <p:nvPr/>
        </p:nvSpPr>
        <p:spPr>
          <a:xfrm>
            <a:off x="0" y="5567988"/>
            <a:ext cx="12193200" cy="127727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25400"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防出界策略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针对持仓，只检查是否属于操作范围（大于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WJC/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储），对于不符合的要清仓。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防踏空策略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确保不错过最高点的方法：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锁住底仓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底仓只在下破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之后再考虑清仓。即，浮仓可以途中冲高止盈，小于底仓可以长期持有。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贴附于顶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上升过程中，连升阳柱，贴附于顶，不与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接触，是稳定主升状态。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冲高出货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对于未冲高情况，在经历升连过程中持仓不动，遇到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跌连后等待再次冲高出货。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分辨下跌性质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之上，单跌（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跌吞）是机会；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跌连要警惕。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硬头皮建仓法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回归顶型指标的本质：在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之上最高涨幅可以分解为，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之上触哼后△哼的累积加和。所以，可在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DJE&amp;DJD&amp;DJC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之上，无论何种状态买底仓且持有。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文本框 25">
            <a:extLst>
              <a:ext uri="{FF2B5EF4-FFF2-40B4-BE49-F238E27FC236}">
                <a16:creationId xmlns:a16="http://schemas.microsoft.com/office/drawing/2014/main" id="{A071EE83-C2BD-6140-FDF0-5DCC48D73139}"/>
              </a:ext>
            </a:extLst>
          </p:cNvPr>
          <p:cNvSpPr txBox="1"/>
          <p:nvPr/>
        </p:nvSpPr>
        <p:spPr>
          <a:xfrm>
            <a:off x="-1200" y="4287499"/>
            <a:ext cx="12193200" cy="127727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25400"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周级别管理仓位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清仓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为强制止损线：价破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强制止损。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建仓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丘为根本：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WXAC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正交开启主升，当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WXAC&lt;0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P&gt;WJC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按照柱排进行操作，注意防止诱多。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底仓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如何防止失去仓位，底仓必须等待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价破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WJB]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再考虑退出（底仓：破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可退可不退，但破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必须退），主要针对贴伏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当价破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，需要看：是否已冲高，是否顶离，是否形成跌排，柱排是否下破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两柱。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设定仓位限额（</a:t>
            </a:r>
            <a:r>
              <a:rPr lang="en-US" altLang="zh-CN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2500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）：小于限额属于底仓，大于限额才能进行止盈等复杂操作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1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止盈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如何防止过山车，当偏离大时按管宽止盈退出，但仓位不能低于底仓。</a:t>
            </a:r>
            <a:endParaRPr lang="en-US" altLang="zh-CN" sz="11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D466484E-5996-F2E0-9F20-86CC8C9E9147}"/>
              </a:ext>
            </a:extLst>
          </p:cNvPr>
          <p:cNvSpPr/>
          <p:nvPr/>
        </p:nvSpPr>
        <p:spPr>
          <a:xfrm>
            <a:off x="5313090" y="1506441"/>
            <a:ext cx="6582423" cy="2257813"/>
          </a:xfrm>
          <a:prstGeom prst="rect">
            <a:avLst/>
          </a:prstGeom>
          <a:solidFill>
            <a:srgbClr val="FFCCCC">
              <a:alpha val="90000"/>
            </a:srgb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</a:t>
            </a:r>
            <a:r>
              <a:rPr lang="en-US" altLang="zh-CN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20251030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：仓位只由周类指标控制，不要在日类级别设置仓位指标。</a:t>
            </a:r>
            <a:endParaRPr lang="en-US" altLang="zh-CN" sz="14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大势与趋势都由周级别及以上均线决定，不需要对应地映射至日线级别。</a:t>
            </a:r>
            <a:endParaRPr lang="en-US" altLang="zh-CN" sz="14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针对日线级别，只需要按照周柱排的不同类型（叠垒连阳、含阴柱调整、初始突破）等类型，参考日类对应走势。日线，不负责止损，只按照周柱排列的不同类型进行展开，提供参考细节。</a:t>
            </a:r>
            <a:endParaRPr lang="en-US" altLang="zh-CN" sz="14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所以，此区域覆盖部分可以去掉，对应只保留以下</a:t>
            </a:r>
            <a:r>
              <a:rPr lang="en-US" altLang="zh-CN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日柱级优化</a:t>
            </a:r>
            <a:r>
              <a:rPr lang="en-US" altLang="zh-CN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部分。</a:t>
            </a:r>
          </a:p>
        </p:txBody>
      </p:sp>
    </p:spTree>
    <p:extLst>
      <p:ext uri="{BB962C8B-B14F-4D97-AF65-F5344CB8AC3E}">
        <p14:creationId xmlns:p14="http://schemas.microsoft.com/office/powerpoint/2010/main" val="1488724618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784ED9-5994-7426-3255-28C2D91752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>
            <a:extLst>
              <a:ext uri="{FF2B5EF4-FFF2-40B4-BE49-F238E27FC236}">
                <a16:creationId xmlns:a16="http://schemas.microsoft.com/office/drawing/2014/main" id="{16738AD5-5CF2-7F19-5BC5-6ABC904EAB6F}"/>
              </a:ext>
            </a:extLst>
          </p:cNvPr>
          <p:cNvSpPr txBox="1"/>
          <p:nvPr/>
        </p:nvSpPr>
        <p:spPr>
          <a:xfrm>
            <a:off x="0" y="722313"/>
            <a:ext cx="12193200" cy="3939540"/>
          </a:xfrm>
          <a:prstGeom prst="rect">
            <a:avLst/>
          </a:prstGeom>
          <a:solidFill>
            <a:srgbClr val="FBE5D6"/>
          </a:solidFill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【@20250501】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重新提炼下周冲高战法。四句真言：以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为界；以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为丘；尽量提前退出；下周冲高要止盈。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【@20250303】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主升状态操盘法：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真理：在主升趋势一定维持状态：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DXCD&gt;0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）且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DXAB&gt;0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。如果这个状态失效，则代表不再是主升状态。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【@20250215】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护型放射线对（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）进行优化。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【@20250201】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以（顶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）为管可以圈住所有（可获利升势区域）。在此区域内，触顶可卖出；下跌不要卖出，等待劫恢复；下破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可退出。破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必清仓。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【@20250120】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所有真正的上涨都集中在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之上，所以聚焦于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之上，以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为操作线。当上破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时，无脑买入（此时必在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上），当可能下破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时减仓。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【@20250107】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为参考线观察柱排列。同时将此逻辑应用于日类，以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辅助判断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周期。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之上（仓类为日级别）：同时也在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之上，特别关注刚突破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之上。如长时间在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之上会偏离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较大，从而导致回归。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之下（仓类为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）：特殊情况为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频繁贯穿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之上很久后下破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贯穿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（仓类为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y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）：要非常小心，很可能是尾部震荡。在下破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时先退出。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初始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WXBC&lt;0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w1w/w1v/w6w/w6v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）：很可能失败。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【@20250105】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仅投资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ETF+DJC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丘以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轮动：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投资代表趋势的产品防止逆势且分享风口；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ETF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走势光滑规矩从而可依赖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丘：破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必出，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辅助判断势头。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待优化轮动的判断方法，从而捕捉风口。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优化针对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ETF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的下周冲高策略。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【@202412】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持仓策略：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触顶减仓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忽略：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天劫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/ZA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站上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再入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【@202411】 WJC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周出点：破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且破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两柱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【@202411】DJC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丘，用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辅助判断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丘的生命周期，在每个劫后恢复时进入。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可入：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天劫阴柱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/ZA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劫阳柱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/ZB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劫回踩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/AB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劫回踩。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作为再次介入的必要条件，不能在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之下仅站上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就介入。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不入：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AC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/AB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劫未回踩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标题 1">
            <a:extLst>
              <a:ext uri="{FF2B5EF4-FFF2-40B4-BE49-F238E27FC236}">
                <a16:creationId xmlns:a16="http://schemas.microsoft.com/office/drawing/2014/main" id="{7EA72FE6-B4A4-F14F-BA17-4338FC215388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罗列各时期的核心方法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总结记录每周的核心方法，找出可以兼容各方法有点的终极解决方案。破解不断变化操盘方法的执念。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140740566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 fontScale="90000"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操盘方法汇总与统一</a:t>
            </a:r>
            <a:b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待完成任务：总结跨周期操盘方法，统一合并形成筛选与操盘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SOP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，不要同时存在多种操盘方法。</a:t>
            </a:r>
            <a:b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核心思路：选定周范围，按周进入与止损， 按日确定进入时点，按日止盈。要把日线当作周线辅助工具，而不要把日线当作操作依据，白线帮周线，日线说了不算。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0" y="723193"/>
            <a:ext cx="5848350" cy="1954381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已被其他算法替代</a:t>
            </a:r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</a:t>
            </a:r>
            <a:r>
              <a:rPr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核心是以</a:t>
            </a:r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为基线</a:t>
            </a:r>
            <a:endParaRPr lang="en-US" altLang="zh-CN" sz="11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①追求（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WS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JC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）最大化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原旨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方法：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优化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适用于主升浪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止盈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长期弧后第一波打到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止盈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再优化：争取在偏离最大处止盈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长期触顶情况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已被其他算法替代</a:t>
            </a:r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</a:t>
            </a:r>
            <a:r>
              <a:rPr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核心是以</a:t>
            </a:r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为基线</a:t>
            </a:r>
            <a:endParaRPr lang="en-US" altLang="zh-CN" sz="11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② 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花模型：</a:t>
            </a:r>
            <a:endParaRPr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WJC/WJB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为界，在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WJC&amp;WJB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同侧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非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之下两柱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首下破可持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非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非首上破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WJA(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须在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之上两柱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⇒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不能下破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两柱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未扭转趋势：要像看 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w2e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一样看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w5e</a:t>
            </a:r>
            <a:endParaRPr lang="zh-CN" altLang="en-US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8ECC2EFE-EB04-3F1B-16BF-86C9DB57AF22}"/>
              </a:ext>
            </a:extLst>
          </p:cNvPr>
          <p:cNvSpPr txBox="1"/>
          <p:nvPr/>
        </p:nvSpPr>
        <p:spPr>
          <a:xfrm>
            <a:off x="0" y="2699282"/>
            <a:ext cx="5848350" cy="938719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已被其他算法替代</a:t>
            </a:r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</a:t>
            </a:r>
            <a:r>
              <a:rPr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下周冲高战法</a:t>
            </a:r>
            <a:endParaRPr lang="en-US" altLang="zh-CN" sz="11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③日类：在周线符合趋势时进行操作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止</a:t>
            </a:r>
            <a:r>
              <a:rPr lang="zh-CN" altLang="en-US" sz="1100">
                <a:latin typeface="微软雅黑" panose="020B0503020204020204" pitchFamily="34" charset="-122"/>
                <a:ea typeface="微软雅黑" panose="020B0503020204020204" pitchFamily="34" charset="-122"/>
              </a:rPr>
              <a:t>盈：升连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触顶或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/BSHA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大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管宽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周日联合：在周线可能出现大阳柱地方选择日线操作，不要仅按日线操作。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周负责买入与止损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日负责止盈：跌了按周买入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涨了按日止盈。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FA59D46C-0F93-7A23-6D3B-7F184C5B96A8}"/>
              </a:ext>
            </a:extLst>
          </p:cNvPr>
          <p:cNvSpPr txBox="1"/>
          <p:nvPr/>
        </p:nvSpPr>
        <p:spPr>
          <a:xfrm>
            <a:off x="0" y="3659709"/>
            <a:ext cx="5848350" cy="769441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已被其他算法替代</a:t>
            </a:r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</a:t>
            </a:r>
          </a:p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④综合考虑月级别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MJCBA(WJEDC)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是必赢策略：要重新结合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结论是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只作参考确定大势，主要依据仍然是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丘。</a:t>
            </a: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B58680FC-722E-5A0C-0B0E-D44094386F0D}"/>
              </a:ext>
            </a:extLst>
          </p:cNvPr>
          <p:cNvSpPr txBox="1"/>
          <p:nvPr/>
        </p:nvSpPr>
        <p:spPr>
          <a:xfrm>
            <a:off x="0" y="4454640"/>
            <a:ext cx="5848350" cy="1277273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已被其他算法替代</a:t>
            </a:r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</a:t>
            </a:r>
          </a:p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⑤周机</a:t>
            </a:r>
          </a:p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之下至少要在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之上才试仓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(W6w/W6v)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：注意下破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要上损</a:t>
            </a:r>
          </a:p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必抓区域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与月共振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必抓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介于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WJE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必抓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介于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可抓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介于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9DD9C578-91DB-8092-1608-F71E3854C80B}"/>
              </a:ext>
            </a:extLst>
          </p:cNvPr>
          <p:cNvSpPr txBox="1"/>
          <p:nvPr/>
        </p:nvSpPr>
        <p:spPr>
          <a:xfrm>
            <a:off x="5848350" y="720000"/>
            <a:ext cx="6343650" cy="938719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1270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已被其他算法替代</a:t>
            </a:r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</a:t>
            </a:r>
            <a:r>
              <a:rPr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替换为，在周范围内，按前周中符操作</a:t>
            </a:r>
            <a:endParaRPr lang="en-US" altLang="zh-CN" sz="11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① 周类：核心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WXZC&gt;0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WXZC&lt;0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：要求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WXZB&gt;0 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WXZC&gt;0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：要求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/DTZA≥2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可入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/DTZA=1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观察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/DTZA=-1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不出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/BT2A≤-2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不要映射周到日，要同时参考。 可以设置盯盘变量：同时考察是否满足周与日条件。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F3B2F586-DE7F-F3D0-66D2-4C4E865BA7B6}"/>
              </a:ext>
            </a:extLst>
          </p:cNvPr>
          <p:cNvSpPr txBox="1"/>
          <p:nvPr/>
        </p:nvSpPr>
        <p:spPr>
          <a:xfrm>
            <a:off x="5848350" y="1686713"/>
            <a:ext cx="6343650" cy="1615827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1270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已被其他算法替代</a:t>
            </a:r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</a:t>
            </a:r>
            <a:r>
              <a:rPr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持仓按周类形态止损；日类形态只用于冲高止盈，不用于止损。</a:t>
            </a:r>
            <a:endParaRPr lang="en-US" altLang="zh-CN" sz="11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② 日类：按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操作，找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丘最高</a:t>
            </a:r>
          </a:p>
          <a:p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必须要求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与周类范围不同：周类扩大范围是因为周柱变化快。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DXZE&lt;0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有多种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丘，不能以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为准。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即使上破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仍为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DJEFG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空头</a:t>
            </a:r>
          </a:p>
          <a:p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：不破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两柱⇒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可以下破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，但不能形成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/D4b/D5c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等空头排列，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D3w/D3v/D4w/D4v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仍是日类可取机会，放弃日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层。</a:t>
            </a:r>
          </a:p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止盈方法：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管宽：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DBS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JC/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连阳：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周连阳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日连阳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偏：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BSHA</a:t>
            </a: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0F6415C1-5C1F-D855-1378-D0EE740F3FDA}"/>
              </a:ext>
            </a:extLst>
          </p:cNvPr>
          <p:cNvSpPr txBox="1"/>
          <p:nvPr/>
        </p:nvSpPr>
        <p:spPr>
          <a:xfrm>
            <a:off x="5848350" y="3344204"/>
            <a:ext cx="6343650" cy="178510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1270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已被其他算法替代</a:t>
            </a:r>
            <a:r>
              <a:rPr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</a:t>
            </a:r>
          </a:p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③偏方：不应使用，都是基于低阶均线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并符：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上柱排列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位置关系：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首上破要等第二柱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首下破要等第二柱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柱要完全在均线的一侧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顶型分段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在日图中，以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当周五柱排列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组成周柱进行思考走势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不要畏高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做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的核心问题：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如何判定应卖出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?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偏宽叠久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如何判定</a:t>
            </a:r>
            <a:r>
              <a:rPr lang="zh-CN" altLang="en-US" sz="1100">
                <a:latin typeface="微软雅黑" panose="020B0503020204020204" pitchFamily="34" charset="-122"/>
                <a:ea typeface="微软雅黑" panose="020B0503020204020204" pitchFamily="34" charset="-122"/>
              </a:rPr>
              <a:t>阴柱上升趋势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未变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? T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哼≥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-2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且未破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JB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是否在阴柱进入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?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进入后继续下跌怎么办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005960973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CFEE3A-4D7C-891D-3BD6-C197371F36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236221E-F4A4-22EA-CBF6-D09DAFC528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全局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操盘方法梳理与统一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各种操盘方法单独运行良好，但相互之间会有冲突⇒须仿照右手法则走出迷宫，先罗列各种方法，以及可能的冲突，确定单一操盘方法或最有效的操盘方法。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EF7DF0A8-15C8-5E76-4974-73BC2DAFA8FA}"/>
              </a:ext>
            </a:extLst>
          </p:cNvPr>
          <p:cNvSpPr txBox="1"/>
          <p:nvPr/>
        </p:nvSpPr>
        <p:spPr>
          <a:xfrm>
            <a:off x="0" y="1740201"/>
            <a:ext cx="12192000" cy="2308324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罗列各种方法，以及可能的冲突，确定单一操盘方法或最有效的操盘方法。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]WJC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丘必赢：原旨必胜。</a:t>
            </a:r>
          </a:p>
          <a:p>
            <a:pPr marL="228600" indent="-228600">
              <a:buFont typeface="+mj-ea"/>
              <a:buAutoNum type="circleNumDbPlain"/>
            </a:pP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]WJC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之上，用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确定趋势：用于确定备选范围。</a:t>
            </a:r>
          </a:p>
          <a:p>
            <a:pPr marL="228600" indent="-228600">
              <a:buFont typeface="+mj-ea"/>
              <a:buAutoNum type="circleNumDbPlain"/>
            </a:pP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不破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不出：用于保证经过最高点，适用于底仓。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</a:t>
            </a:r>
            <a:r>
              <a:rPr lang="en-US" altLang="zh-CN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20250420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：改为按周中符，以</a:t>
            </a:r>
            <a:r>
              <a:rPr lang="en-US" altLang="zh-CN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止损，可在</a:t>
            </a:r>
            <a:r>
              <a:rPr lang="en-US" altLang="zh-CN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EF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柱提前退出。</a:t>
            </a:r>
          </a:p>
          <a:p>
            <a:pPr marL="228600" indent="-228600">
              <a:buFont typeface="+mj-ea"/>
              <a:buAutoNum type="circleNumDbPlain"/>
            </a:pP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DJE+DJC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替代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：可完美替代，风险是资金被占用以及快速启动无法买入。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</a:t>
            </a:r>
            <a:r>
              <a:rPr lang="en-US" altLang="zh-CN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20250420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：改为按周中符，以</a:t>
            </a:r>
            <a:r>
              <a:rPr lang="en-US" altLang="zh-CN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止损，可在</a:t>
            </a:r>
            <a:r>
              <a:rPr lang="en-US" altLang="zh-CN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EF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柱提前退出。</a:t>
            </a:r>
            <a:endParaRPr lang="zh-CN" altLang="en-US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妄图用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替代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。是否下破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退出，与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以上持有矛盾，只能用于浮仓捕捉分段上涨。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</a:t>
            </a:r>
            <a:r>
              <a:rPr lang="en-US" altLang="zh-CN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20250420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：改为按周中符，以</a:t>
            </a:r>
            <a:r>
              <a:rPr lang="en-US" altLang="zh-CN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止损，可在</a:t>
            </a:r>
            <a:r>
              <a:rPr lang="en-US" altLang="zh-CN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EF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柱提前退出。</a:t>
            </a:r>
            <a:endParaRPr lang="zh-CN" altLang="en-US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冲高下破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退出：冲高后下破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要退出。</a:t>
            </a:r>
          </a:p>
          <a:p>
            <a:pPr marL="228600" indent="-228600">
              <a:buFont typeface="+mj-ea"/>
              <a:buAutoNum type="circleNumDbPlain"/>
            </a:pP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]DJB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(BCD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不要参与：与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之上替代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矛盾，不能用于浮仓。</a:t>
            </a:r>
          </a:p>
          <a:p>
            <a:pPr marL="228600" indent="-228600">
              <a:buFont typeface="+mj-ea"/>
              <a:buAutoNum type="circleNumDbPlain"/>
            </a:pP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]DJC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中间特殊形态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鼎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栅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失败后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或未如预期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是否继续持有，还是退出。与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之上必持矛盾，只能用于浮仓。</a:t>
            </a:r>
          </a:p>
          <a:p>
            <a:pPr marL="228600" indent="-228600">
              <a:buFont typeface="+mj-ea"/>
              <a:buAutoNum type="circleNumDbPlain"/>
            </a:pP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冲高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高偏宽连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止盈 ⇒与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之上持有矛盾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用管宽来协调，即使是升排，只要宽大于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就减至底仓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228600" indent="-228600">
              <a:buFont typeface="+mj-ea"/>
              <a:buAutoNum type="circleNumDbPlain"/>
            </a:pP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]DJE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&amp;DJC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&amp;DJB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之上，升排进入：保持升排持有；转为人排可持可退；转为跌排止盈。适用于浮仓。</a:t>
            </a:r>
          </a:p>
          <a:p>
            <a:pPr marL="228600" indent="-228600">
              <a:buFont typeface="+mj-ea"/>
              <a:buAutoNum type="circleNumDbPlain"/>
            </a:pP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合顶特有，离顶沿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震动</a:t>
            </a: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B8C6FF54-C3F2-D1E5-BE9A-5FBDFD4800C4}"/>
              </a:ext>
            </a:extLst>
          </p:cNvPr>
          <p:cNvSpPr txBox="1"/>
          <p:nvPr/>
        </p:nvSpPr>
        <p:spPr>
          <a:xfrm>
            <a:off x="0" y="6211669"/>
            <a:ext cx="12192000" cy="646331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可能的错误包括：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认为是机会但亏损：实际造成亏损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认为会下跌但</a:t>
            </a:r>
            <a:r>
              <a:rPr lang="zh-CN" altLang="en-US" sz="120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继续上升：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机会损失 无实际损失 ⇒要触顶时减至底仓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A4CE935B-5211-57E4-D9C8-E8C2B0E4E2D7}"/>
              </a:ext>
            </a:extLst>
          </p:cNvPr>
          <p:cNvSpPr txBox="1"/>
          <p:nvPr/>
        </p:nvSpPr>
        <p:spPr>
          <a:xfrm>
            <a:off x="0" y="724538"/>
            <a:ext cx="12192000" cy="1015663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必然正确的原理：</a:t>
            </a:r>
          </a:p>
          <a:p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）按周止损：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止损；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确定趋势。两者结合确定备选范围。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</a:t>
            </a:r>
            <a:r>
              <a:rPr lang="en-US" altLang="zh-CN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20250420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止损，改为，按周中符分类，周中下破</a:t>
            </a:r>
            <a:r>
              <a:rPr lang="en-US" altLang="zh-CN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不止损。</a:t>
            </a:r>
          </a:p>
          <a:p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）日</a:t>
            </a:r>
            <a:r>
              <a:rPr lang="zh-CN" altLang="en-US" sz="120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类主升：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集中于合顶。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）指标的应变效率由快到慢：柱排⇒ 均线⇒ 顶型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数学特性</a:t>
            </a:r>
          </a:p>
        </p:txBody>
      </p:sp>
    </p:spTree>
    <p:extLst>
      <p:ext uri="{BB962C8B-B14F-4D97-AF65-F5344CB8AC3E}">
        <p14:creationId xmlns:p14="http://schemas.microsoft.com/office/powerpoint/2010/main" val="1269870597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00466BD-7C80-7718-E6D8-FD36BB7AC8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53000" y="365126"/>
            <a:ext cx="6400800" cy="1150166"/>
          </a:xfrm>
        </p:spPr>
        <p:txBody>
          <a:bodyPr/>
          <a:lstStyle/>
          <a:p>
            <a:r>
              <a:rPr lang="zh-CN" altLang="en-US" sz="4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周级必赢算法</a:t>
            </a:r>
            <a:br>
              <a: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6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优化至</a:t>
            </a:r>
            <a:r>
              <a:rPr lang="en-US" altLang="zh-CN" sz="16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6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丘为止</a:t>
            </a:r>
            <a:endParaRPr lang="zh-CN" altLang="en-US" sz="2000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A657A548-CD22-C17E-BF3B-58FF0DC2EB5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53000" y="1825625"/>
            <a:ext cx="6400800" cy="4351338"/>
          </a:xfrm>
        </p:spPr>
        <p:txBody>
          <a:bodyPr>
            <a:normAutofit/>
          </a:bodyPr>
          <a:lstStyle/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周层优化路径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周层界：圈定操作范围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圈定主升区域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周类策略概览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周机策略专页：下周冲高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操盘方法：工具箱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B708A15A-0D63-69E0-5E19-5C7A0D9212FC}"/>
              </a:ext>
            </a:extLst>
          </p:cNvPr>
          <p:cNvSpPr txBox="1"/>
          <p:nvPr/>
        </p:nvSpPr>
        <p:spPr>
          <a:xfrm>
            <a:off x="1063291" y="1843950"/>
            <a:ext cx="2867025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0" dirty="0">
                <a:solidFill>
                  <a:schemeClr val="tx2">
                    <a:lumMod val="75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周</a:t>
            </a: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B3F6A93F-7A83-EC92-CE77-B7D09EFDBB45}"/>
              </a:ext>
            </a:extLst>
          </p:cNvPr>
          <p:cNvSpPr txBox="1"/>
          <p:nvPr/>
        </p:nvSpPr>
        <p:spPr>
          <a:xfrm>
            <a:off x="0" y="0"/>
            <a:ext cx="4019075" cy="646331"/>
          </a:xfrm>
          <a:prstGeom prst="rect">
            <a:avLst/>
          </a:prstGeom>
          <a:solidFill>
            <a:srgbClr val="FF99CC"/>
          </a:solidFill>
        </p:spPr>
        <p:txBody>
          <a:bodyPr wrap="square">
            <a:spAutoFit/>
          </a:bodyPr>
          <a:lstStyle/>
          <a:p>
            <a:r>
              <a:rPr lang="zh-CN" altLang="en-US" sz="12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</a:t>
            </a:r>
            <a:r>
              <a:rPr lang="en-US" altLang="zh-CN" sz="12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20260216</a:t>
            </a:r>
            <a:r>
              <a:rPr lang="zh-CN" altLang="en-US" sz="12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1200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按新算法系统整理为阶段结果</a:t>
            </a:r>
            <a:endParaRPr lang="en-US" altLang="zh-CN" sz="1200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如时间不足⇒整体封存，等待后续有时间再整理</a:t>
            </a:r>
            <a:endParaRPr lang="zh-CN" altLang="en-US" sz="1200" dirty="0"/>
          </a:p>
        </p:txBody>
      </p:sp>
    </p:spTree>
    <p:extLst>
      <p:ext uri="{BB962C8B-B14F-4D97-AF65-F5344CB8AC3E}">
        <p14:creationId xmlns:p14="http://schemas.microsoft.com/office/powerpoint/2010/main" val="269954527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矩形 8">
            <a:extLst>
              <a:ext uri="{FF2B5EF4-FFF2-40B4-BE49-F238E27FC236}">
                <a16:creationId xmlns:a16="http://schemas.microsoft.com/office/drawing/2014/main" id="{B5BB9F9A-DA09-FA14-B3C4-9FC63CEC2454}"/>
              </a:ext>
            </a:extLst>
          </p:cNvPr>
          <p:cNvSpPr/>
          <p:nvPr/>
        </p:nvSpPr>
        <p:spPr>
          <a:xfrm>
            <a:off x="1" y="720000"/>
            <a:ext cx="1002660" cy="6137999"/>
          </a:xfrm>
          <a:prstGeom prst="rect">
            <a:avLst/>
          </a:prstGeom>
          <a:solidFill>
            <a:srgbClr val="222A35"/>
          </a:solidFill>
          <a:ln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矩形 44">
            <a:extLst>
              <a:ext uri="{FF2B5EF4-FFF2-40B4-BE49-F238E27FC236}">
                <a16:creationId xmlns:a16="http://schemas.microsoft.com/office/drawing/2014/main" id="{B1EA6FB2-6838-BF12-61A9-7CE5188358E4}"/>
              </a:ext>
            </a:extLst>
          </p:cNvPr>
          <p:cNvSpPr/>
          <p:nvPr/>
        </p:nvSpPr>
        <p:spPr>
          <a:xfrm>
            <a:off x="1006987" y="716026"/>
            <a:ext cx="11181869" cy="1359045"/>
          </a:xfrm>
          <a:prstGeom prst="rect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71616BE1-6246-BAE3-A965-9198F9E622E1}"/>
              </a:ext>
            </a:extLst>
          </p:cNvPr>
          <p:cNvSpPr/>
          <p:nvPr/>
        </p:nvSpPr>
        <p:spPr>
          <a:xfrm>
            <a:off x="1010131" y="1908020"/>
            <a:ext cx="11181869" cy="1633387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周层优化路径</a:t>
            </a:r>
            <a:b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主要目标是圈定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可操作区域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200" b="1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b="1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主升区域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C8A98338-012E-517F-EE5B-6C473E1B15A7}"/>
              </a:ext>
            </a:extLst>
          </p:cNvPr>
          <p:cNvSpPr txBox="1"/>
          <p:nvPr/>
        </p:nvSpPr>
        <p:spPr>
          <a:xfrm>
            <a:off x="1010128" y="1919669"/>
            <a:ext cx="10705622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优化层界的两个事实：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⇒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开启趋势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⇒区分储与初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花模型 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		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⇒破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破坏趋势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⇒区分再与主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圈定操作范围：周与日共用操作范围（只说明在此范围内寻找上涨，不代表一定会涨）。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之上：不剔除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/W3v/W3w(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仅在特定情况清仓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		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⇒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持有范围是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WTZC&gt;0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(WTZB&gt;0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C&gt;WJC)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之下：仅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/W6w/W6v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提供备选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选择特定情况入仓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	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⇒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参考范围是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WTZC&gt;0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WTZB&gt;0</a:t>
            </a:r>
          </a:p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圈定主升区域：抓主升但不弃震。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正升区域：一般为触顶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(/a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龙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正震区域：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储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再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负震区域：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/_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再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存在非趋势性机会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zh-CN" altLang="en-US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3F739440-0FB2-4458-4873-4343E1CA5592}"/>
              </a:ext>
            </a:extLst>
          </p:cNvPr>
          <p:cNvSpPr txBox="1"/>
          <p:nvPr/>
        </p:nvSpPr>
        <p:spPr>
          <a:xfrm>
            <a:off x="20638" y="796944"/>
            <a:ext cx="96885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algn="ctr">
              <a:defRPr sz="1600" b="1"/>
            </a:lvl1pPr>
          </a:lstStyle>
          <a:p>
            <a:r>
              <a:rPr lang="zh-CN" altLang="en-US" dirty="0">
                <a:solidFill>
                  <a:schemeClr val="bg1"/>
                </a:solidFill>
              </a:rPr>
              <a:t>周层类</a:t>
            </a:r>
          </a:p>
        </p:txBody>
      </p:sp>
      <p:sp>
        <p:nvSpPr>
          <p:cNvPr id="17" name="箭头: 右 16">
            <a:extLst>
              <a:ext uri="{FF2B5EF4-FFF2-40B4-BE49-F238E27FC236}">
                <a16:creationId xmlns:a16="http://schemas.microsoft.com/office/drawing/2014/main" id="{1764AD8D-99BB-ADD0-E760-FC4BEA4DC2D5}"/>
              </a:ext>
            </a:extLst>
          </p:cNvPr>
          <p:cNvSpPr/>
          <p:nvPr/>
        </p:nvSpPr>
        <p:spPr>
          <a:xfrm rot="5400000">
            <a:off x="20130" y="1711104"/>
            <a:ext cx="1011142" cy="269283"/>
          </a:xfrm>
          <a:prstGeom prst="rightArrow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76B2CAFE-F01F-28DD-F3F5-AC87D9E9D828}"/>
              </a:ext>
            </a:extLst>
          </p:cNvPr>
          <p:cNvSpPr txBox="1"/>
          <p:nvPr/>
        </p:nvSpPr>
        <p:spPr>
          <a:xfrm>
            <a:off x="20638" y="2304506"/>
            <a:ext cx="96885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algn="ctr">
              <a:defRPr sz="1600" b="1"/>
            </a:lvl1pPr>
          </a:lstStyle>
          <a:p>
            <a:r>
              <a:rPr lang="zh-CN" altLang="en-US" dirty="0">
                <a:solidFill>
                  <a:schemeClr val="bg1"/>
                </a:solidFill>
              </a:rPr>
              <a:t>周层界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6F02DF05-F433-954D-8FC5-71FE40FF92D1}"/>
              </a:ext>
            </a:extLst>
          </p:cNvPr>
          <p:cNvSpPr txBox="1"/>
          <p:nvPr/>
        </p:nvSpPr>
        <p:spPr>
          <a:xfrm>
            <a:off x="20638" y="3869063"/>
            <a:ext cx="96885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</a:rPr>
              <a:t>周层势</a:t>
            </a: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86468916-D6E3-3074-825C-DE0A18C575E0}"/>
              </a:ext>
            </a:extLst>
          </p:cNvPr>
          <p:cNvSpPr/>
          <p:nvPr/>
        </p:nvSpPr>
        <p:spPr>
          <a:xfrm>
            <a:off x="1010131" y="3541407"/>
            <a:ext cx="11181869" cy="276067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83FB6B35-C102-BC87-7853-857BB5F568E3}"/>
              </a:ext>
            </a:extLst>
          </p:cNvPr>
          <p:cNvSpPr txBox="1"/>
          <p:nvPr/>
        </p:nvSpPr>
        <p:spPr>
          <a:xfrm>
            <a:off x="1010128" y="3630554"/>
            <a:ext cx="10705622" cy="1785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层势涵盖宏观与微观两方面信息，作为从大势向细节过渡的纽带变量。</a:t>
            </a:r>
            <a:endParaRPr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宏观：前缀用于指引大势，利用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作为核心均线，核心是以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为权重仓位。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上下，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之上只有偏离异常需要止盈，其余都属于可持 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微观：缠（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排列）、小管类型、柱排，三者结合主要用于寻找主升阶段，负责处置在管中行进的节奏。</a:t>
            </a:r>
            <a:endParaRPr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层势主要包含以下信息：</a:t>
            </a:r>
            <a:endParaRPr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前缀：       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√破潜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×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。主要依赖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作为大势划分依据。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缠分类：   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上中下忐忠忑。根据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关系划分为六类，主要用于提取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信息。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层界类型：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储初主再破。主要用于提供长期持有策略，以及划分小管类型。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小管类型：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触管（顶管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哼管）柱管（〇管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芽管）。主要用于定位主升，即触管。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柱排类型：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升人跌。主要对主升阶段的柱排列进行参考。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层势根据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裂分为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层段芽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层段根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，分别进行以下分析：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警止盈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机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持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仓位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警止损。</a:t>
            </a:r>
            <a:endParaRPr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箭头: 右 19">
            <a:extLst>
              <a:ext uri="{FF2B5EF4-FFF2-40B4-BE49-F238E27FC236}">
                <a16:creationId xmlns:a16="http://schemas.microsoft.com/office/drawing/2014/main" id="{2D93A376-49C6-49AF-CF12-5594C431E77C}"/>
              </a:ext>
            </a:extLst>
          </p:cNvPr>
          <p:cNvSpPr/>
          <p:nvPr/>
        </p:nvSpPr>
        <p:spPr>
          <a:xfrm rot="5400000">
            <a:off x="-8374" y="3049705"/>
            <a:ext cx="1068148" cy="269284"/>
          </a:xfrm>
          <a:prstGeom prst="rightArrow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25" name="文本框 24">
            <a:extLst>
              <a:ext uri="{FF2B5EF4-FFF2-40B4-BE49-F238E27FC236}">
                <a16:creationId xmlns:a16="http://schemas.microsoft.com/office/drawing/2014/main" id="{AF361D57-8724-56EC-EF87-606C9CB899E5}"/>
              </a:ext>
            </a:extLst>
          </p:cNvPr>
          <p:cNvSpPr txBox="1"/>
          <p:nvPr/>
        </p:nvSpPr>
        <p:spPr>
          <a:xfrm>
            <a:off x="0" y="4142405"/>
            <a:ext cx="101013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</a:rPr>
              <a:t>周层段芽</a:t>
            </a:r>
          </a:p>
        </p:txBody>
      </p:sp>
      <p:sp>
        <p:nvSpPr>
          <p:cNvPr id="27" name="文本框 26">
            <a:extLst>
              <a:ext uri="{FF2B5EF4-FFF2-40B4-BE49-F238E27FC236}">
                <a16:creationId xmlns:a16="http://schemas.microsoft.com/office/drawing/2014/main" id="{D6C1D29D-A028-5B59-82B1-77F6EFB839C9}"/>
              </a:ext>
            </a:extLst>
          </p:cNvPr>
          <p:cNvSpPr txBox="1"/>
          <p:nvPr/>
        </p:nvSpPr>
        <p:spPr>
          <a:xfrm>
            <a:off x="0" y="4677002"/>
            <a:ext cx="101013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>
                    <a:lumMod val="50000"/>
                  </a:schemeClr>
                </a:solidFill>
              </a:rPr>
              <a:t>周层警盈</a:t>
            </a:r>
          </a:p>
        </p:txBody>
      </p:sp>
      <p:sp>
        <p:nvSpPr>
          <p:cNvPr id="28" name="文本框 27">
            <a:extLst>
              <a:ext uri="{FF2B5EF4-FFF2-40B4-BE49-F238E27FC236}">
                <a16:creationId xmlns:a16="http://schemas.microsoft.com/office/drawing/2014/main" id="{79896A85-06CA-C39F-9564-71A9CB2CFDF0}"/>
              </a:ext>
            </a:extLst>
          </p:cNvPr>
          <p:cNvSpPr txBox="1"/>
          <p:nvPr/>
        </p:nvSpPr>
        <p:spPr>
          <a:xfrm>
            <a:off x="0" y="4950343"/>
            <a:ext cx="101013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>
                    <a:lumMod val="50000"/>
                  </a:schemeClr>
                </a:solidFill>
              </a:rPr>
              <a:t>周层冲机</a:t>
            </a:r>
          </a:p>
        </p:txBody>
      </p:sp>
      <p:sp>
        <p:nvSpPr>
          <p:cNvPr id="29" name="文本框 28">
            <a:extLst>
              <a:ext uri="{FF2B5EF4-FFF2-40B4-BE49-F238E27FC236}">
                <a16:creationId xmlns:a16="http://schemas.microsoft.com/office/drawing/2014/main" id="{2F55BE5B-39FA-7888-E9B8-88D9D64AD799}"/>
              </a:ext>
            </a:extLst>
          </p:cNvPr>
          <p:cNvSpPr txBox="1"/>
          <p:nvPr/>
        </p:nvSpPr>
        <p:spPr>
          <a:xfrm>
            <a:off x="1037179" y="730059"/>
            <a:ext cx="568014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000" b="1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丘战法</a:t>
            </a:r>
            <a:endParaRPr lang="en-US" altLang="zh-CN" sz="1000" b="1" dirty="0">
              <a:solidFill>
                <a:schemeClr val="bg2">
                  <a:lumMod val="7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核心目标：</a:t>
            </a:r>
            <a:r>
              <a:rPr lang="zh-CN" altLang="en-US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抓从</a:t>
            </a:r>
            <a:r>
              <a:rPr lang="en-US" altLang="zh-CN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到哼的升幅。即以</a:t>
            </a:r>
            <a:r>
              <a:rPr lang="en-US" altLang="zh-CN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为基准，寻找距离</a:t>
            </a:r>
            <a:r>
              <a:rPr lang="en-US" altLang="zh-CN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最远位置。</a:t>
            </a:r>
            <a:endParaRPr lang="en-US" altLang="zh-CN" sz="1000" dirty="0">
              <a:solidFill>
                <a:schemeClr val="bg2">
                  <a:lumMod val="7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优化过程：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必赢原始策略</a:t>
            </a:r>
            <a:r>
              <a:rPr lang="en-US" altLang="zh-CN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endParaRPr lang="en-US" altLang="zh-CN" sz="1000" dirty="0">
              <a:solidFill>
                <a:schemeClr val="bg2">
                  <a:lumMod val="7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优化退出策略（花模型）：任意长时间主升后在</a:t>
            </a:r>
            <a:r>
              <a:rPr lang="en-US" altLang="zh-CN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退出。</a:t>
            </a:r>
            <a:endParaRPr lang="en-US" altLang="zh-CN" sz="1000" dirty="0">
              <a:solidFill>
                <a:schemeClr val="bg2">
                  <a:lumMod val="7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优化主升策略（顶型）：抓住以连续触顶为标志的主升，主要针对层</a:t>
            </a:r>
            <a:r>
              <a:rPr lang="en-US" altLang="zh-CN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AG</a:t>
            </a:r>
            <a:r>
              <a:rPr lang="zh-CN" altLang="en-US" sz="1000" dirty="0">
                <a:solidFill>
                  <a:schemeClr val="bg2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</p:txBody>
      </p:sp>
      <p:sp>
        <p:nvSpPr>
          <p:cNvPr id="30" name="文本框 29">
            <a:extLst>
              <a:ext uri="{FF2B5EF4-FFF2-40B4-BE49-F238E27FC236}">
                <a16:creationId xmlns:a16="http://schemas.microsoft.com/office/drawing/2014/main" id="{701E9242-28E9-B880-B820-1F40AD4CD3FB}"/>
              </a:ext>
            </a:extLst>
          </p:cNvPr>
          <p:cNvSpPr txBox="1"/>
          <p:nvPr/>
        </p:nvSpPr>
        <p:spPr>
          <a:xfrm>
            <a:off x="10658960" y="776293"/>
            <a:ext cx="1561646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周类波动五阶段：</a:t>
            </a:r>
            <a:endParaRPr lang="en-US" altLang="zh-CN" sz="10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buFont typeface="+mj-ea"/>
              <a:buAutoNum type="circleNumDbPlain"/>
            </a:pP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合顶且为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/a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/b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</a:t>
            </a:r>
            <a:endParaRPr lang="en-US" altLang="zh-CN" sz="10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buFont typeface="+mj-ea"/>
              <a:buAutoNum type="circleNumDbPlain"/>
            </a:pP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未触顶且未破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</a:p>
          <a:p>
            <a:pPr marL="342900" indent="-342900">
              <a:buFont typeface="+mj-ea"/>
              <a:buAutoNum type="circleNumDbPlain"/>
            </a:pP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</a:p>
          <a:p>
            <a:pPr marL="342900" indent="-342900">
              <a:buFont typeface="+mj-ea"/>
              <a:buAutoNum type="circleNumDbPlain"/>
            </a:pP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围绕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小丘震荡</a:t>
            </a:r>
            <a:endParaRPr lang="en-US" altLang="zh-CN" sz="10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buFont typeface="+mj-ea"/>
              <a:buAutoNum type="circleNumDbPlain"/>
            </a:pPr>
            <a:r>
              <a:rPr lang="zh-CN" altLang="en-US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1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endParaRPr lang="zh-CN" altLang="en-US" sz="10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>
            <a:extLst>
              <a:ext uri="{FF2B5EF4-FFF2-40B4-BE49-F238E27FC236}">
                <a16:creationId xmlns:a16="http://schemas.microsoft.com/office/drawing/2014/main" id="{5263C32B-B50D-D86B-90C9-498B4C3566D8}"/>
              </a:ext>
            </a:extLst>
          </p:cNvPr>
          <p:cNvGrpSpPr/>
          <p:nvPr/>
        </p:nvGrpSpPr>
        <p:grpSpPr>
          <a:xfrm>
            <a:off x="6724652" y="864420"/>
            <a:ext cx="3836602" cy="987607"/>
            <a:chOff x="6026373" y="926262"/>
            <a:chExt cx="3836602" cy="987607"/>
          </a:xfrm>
        </p:grpSpPr>
        <p:cxnSp>
          <p:nvCxnSpPr>
            <p:cNvPr id="32" name="直接连接符 31">
              <a:extLst>
                <a:ext uri="{FF2B5EF4-FFF2-40B4-BE49-F238E27FC236}">
                  <a16:creationId xmlns:a16="http://schemas.microsoft.com/office/drawing/2014/main" id="{9721026E-3324-B4F3-BC52-7720B10DE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52053" y="1266891"/>
              <a:ext cx="3266661" cy="260313"/>
            </a:xfrm>
            <a:prstGeom prst="line">
              <a:avLst/>
            </a:prstGeom>
            <a:ln w="3810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接连接符 32">
              <a:extLst>
                <a:ext uri="{FF2B5EF4-FFF2-40B4-BE49-F238E27FC236}">
                  <a16:creationId xmlns:a16="http://schemas.microsoft.com/office/drawing/2014/main" id="{A70AD438-09F7-5741-5ADC-7EC43CCF871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52052" y="1499668"/>
              <a:ext cx="3266661" cy="260313"/>
            </a:xfrm>
            <a:prstGeom prst="line">
              <a:avLst/>
            </a:prstGeom>
            <a:ln w="3810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文本框 33">
              <a:extLst>
                <a:ext uri="{FF2B5EF4-FFF2-40B4-BE49-F238E27FC236}">
                  <a16:creationId xmlns:a16="http://schemas.microsoft.com/office/drawing/2014/main" id="{A346C4E3-48D9-702A-73A2-B72666A7CDBD}"/>
                </a:ext>
              </a:extLst>
            </p:cNvPr>
            <p:cNvSpPr txBox="1"/>
            <p:nvPr/>
          </p:nvSpPr>
          <p:spPr>
            <a:xfrm>
              <a:off x="6026373" y="1422375"/>
              <a:ext cx="49276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400" dirty="0">
                  <a:solidFill>
                    <a:schemeClr val="accent1">
                      <a:lumMod val="60000"/>
                      <a:lumOff val="40000"/>
                    </a:schemeClr>
                  </a:solidFill>
                </a:rPr>
                <a:t>WJB</a:t>
              </a:r>
              <a:endParaRPr lang="zh-CN" altLang="en-US" sz="1400" dirty="0">
                <a:solidFill>
                  <a:schemeClr val="accent1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5" name="文本框 34">
              <a:extLst>
                <a:ext uri="{FF2B5EF4-FFF2-40B4-BE49-F238E27FC236}">
                  <a16:creationId xmlns:a16="http://schemas.microsoft.com/office/drawing/2014/main" id="{130C485B-E6CC-9797-D089-65FB6CA2DBF3}"/>
                </a:ext>
              </a:extLst>
            </p:cNvPr>
            <p:cNvSpPr txBox="1"/>
            <p:nvPr/>
          </p:nvSpPr>
          <p:spPr>
            <a:xfrm>
              <a:off x="6026373" y="1606092"/>
              <a:ext cx="49116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400" dirty="0">
                  <a:solidFill>
                    <a:schemeClr val="accent1">
                      <a:lumMod val="60000"/>
                      <a:lumOff val="40000"/>
                    </a:schemeClr>
                  </a:solidFill>
                </a:rPr>
                <a:t>WJC</a:t>
              </a:r>
              <a:endParaRPr lang="zh-CN" altLang="en-US" sz="1400" dirty="0">
                <a:solidFill>
                  <a:schemeClr val="accent1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6" name="任意多边形: 形状 35">
              <a:extLst>
                <a:ext uri="{FF2B5EF4-FFF2-40B4-BE49-F238E27FC236}">
                  <a16:creationId xmlns:a16="http://schemas.microsoft.com/office/drawing/2014/main" id="{BB43C2C6-A097-D290-195D-191AB229639B}"/>
                </a:ext>
              </a:extLst>
            </p:cNvPr>
            <p:cNvSpPr/>
            <p:nvPr/>
          </p:nvSpPr>
          <p:spPr>
            <a:xfrm>
              <a:off x="6737583" y="972646"/>
              <a:ext cx="3125392" cy="737601"/>
            </a:xfrm>
            <a:custGeom>
              <a:avLst/>
              <a:gdLst>
                <a:gd name="connsiteX0" fmla="*/ 0 w 3125392"/>
                <a:gd name="connsiteY0" fmla="*/ 666568 h 737601"/>
                <a:gd name="connsiteX1" fmla="*/ 417444 w 3125392"/>
                <a:gd name="connsiteY1" fmla="*/ 646 h 737601"/>
                <a:gd name="connsiteX2" fmla="*/ 1152940 w 3125392"/>
                <a:gd name="connsiteY2" fmla="*/ 537359 h 737601"/>
                <a:gd name="connsiteX3" fmla="*/ 1709531 w 3125392"/>
                <a:gd name="connsiteY3" fmla="*/ 209368 h 737601"/>
                <a:gd name="connsiteX4" fmla="*/ 1967948 w 3125392"/>
                <a:gd name="connsiteY4" fmla="*/ 487663 h 737601"/>
                <a:gd name="connsiteX5" fmla="*/ 2604053 w 3125392"/>
                <a:gd name="connsiteY5" fmla="*/ 70220 h 737601"/>
                <a:gd name="connsiteX6" fmla="*/ 3031435 w 3125392"/>
                <a:gd name="connsiteY6" fmla="*/ 616872 h 737601"/>
                <a:gd name="connsiteX7" fmla="*/ 3120887 w 3125392"/>
                <a:gd name="connsiteY7" fmla="*/ 736142 h 737601"/>
                <a:gd name="connsiteX8" fmla="*/ 3110948 w 3125392"/>
                <a:gd name="connsiteY8" fmla="*/ 686446 h 737601"/>
                <a:gd name="connsiteX9" fmla="*/ 3101009 w 3125392"/>
                <a:gd name="connsiteY9" fmla="*/ 736142 h 73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5392" h="737601">
                  <a:moveTo>
                    <a:pt x="0" y="666568"/>
                  </a:moveTo>
                  <a:cubicBezTo>
                    <a:pt x="112643" y="344374"/>
                    <a:pt x="225287" y="22181"/>
                    <a:pt x="417444" y="646"/>
                  </a:cubicBezTo>
                  <a:cubicBezTo>
                    <a:pt x="609601" y="-20889"/>
                    <a:pt x="937592" y="502572"/>
                    <a:pt x="1152940" y="537359"/>
                  </a:cubicBezTo>
                  <a:cubicBezTo>
                    <a:pt x="1368288" y="572146"/>
                    <a:pt x="1573696" y="217651"/>
                    <a:pt x="1709531" y="209368"/>
                  </a:cubicBezTo>
                  <a:cubicBezTo>
                    <a:pt x="1845366" y="201085"/>
                    <a:pt x="1818861" y="510854"/>
                    <a:pt x="1967948" y="487663"/>
                  </a:cubicBezTo>
                  <a:cubicBezTo>
                    <a:pt x="2117035" y="464472"/>
                    <a:pt x="2426805" y="48685"/>
                    <a:pt x="2604053" y="70220"/>
                  </a:cubicBezTo>
                  <a:cubicBezTo>
                    <a:pt x="2781301" y="91755"/>
                    <a:pt x="2945296" y="505885"/>
                    <a:pt x="3031435" y="616872"/>
                  </a:cubicBezTo>
                  <a:cubicBezTo>
                    <a:pt x="3117574" y="727859"/>
                    <a:pt x="3107635" y="724546"/>
                    <a:pt x="3120887" y="736142"/>
                  </a:cubicBezTo>
                  <a:cubicBezTo>
                    <a:pt x="3134139" y="747738"/>
                    <a:pt x="3114261" y="686446"/>
                    <a:pt x="3110948" y="686446"/>
                  </a:cubicBezTo>
                  <a:cubicBezTo>
                    <a:pt x="3107635" y="686446"/>
                    <a:pt x="3104322" y="711294"/>
                    <a:pt x="3101009" y="736142"/>
                  </a:cubicBezTo>
                </a:path>
              </a:pathLst>
            </a:custGeom>
            <a:noFill/>
            <a:ln w="2540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7" name="椭圆 36">
              <a:extLst>
                <a:ext uri="{FF2B5EF4-FFF2-40B4-BE49-F238E27FC236}">
                  <a16:creationId xmlns:a16="http://schemas.microsoft.com/office/drawing/2014/main" id="{DF42C6A5-CE6B-E812-FEE2-C3B4949514D1}"/>
                </a:ext>
              </a:extLst>
            </p:cNvPr>
            <p:cNvSpPr/>
            <p:nvPr/>
          </p:nvSpPr>
          <p:spPr>
            <a:xfrm>
              <a:off x="6700133" y="1100422"/>
              <a:ext cx="188844" cy="188844"/>
            </a:xfrm>
            <a:prstGeom prst="ellipse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200" dirty="0"/>
                <a:t>1</a:t>
              </a:r>
              <a:endParaRPr lang="zh-CN" altLang="en-US" sz="1200" dirty="0"/>
            </a:p>
          </p:txBody>
        </p:sp>
        <p:sp>
          <p:nvSpPr>
            <p:cNvPr id="38" name="椭圆 37">
              <a:extLst>
                <a:ext uri="{FF2B5EF4-FFF2-40B4-BE49-F238E27FC236}">
                  <a16:creationId xmlns:a16="http://schemas.microsoft.com/office/drawing/2014/main" id="{C37B8CDD-3CB2-AEE9-51BA-CC85F84FDFD5}"/>
                </a:ext>
              </a:extLst>
            </p:cNvPr>
            <p:cNvSpPr/>
            <p:nvPr/>
          </p:nvSpPr>
          <p:spPr>
            <a:xfrm>
              <a:off x="7478791" y="1028313"/>
              <a:ext cx="188844" cy="188844"/>
            </a:xfrm>
            <a:prstGeom prst="ellipse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200" dirty="0"/>
                <a:t>2</a:t>
              </a:r>
              <a:endParaRPr lang="zh-CN" altLang="en-US" sz="1200" dirty="0"/>
            </a:p>
          </p:txBody>
        </p:sp>
        <p:sp>
          <p:nvSpPr>
            <p:cNvPr id="39" name="椭圆 38">
              <a:extLst>
                <a:ext uri="{FF2B5EF4-FFF2-40B4-BE49-F238E27FC236}">
                  <a16:creationId xmlns:a16="http://schemas.microsoft.com/office/drawing/2014/main" id="{AD192AA9-1EE3-D511-1B93-BB6B31AEDCC0}"/>
                </a:ext>
              </a:extLst>
            </p:cNvPr>
            <p:cNvSpPr/>
            <p:nvPr/>
          </p:nvSpPr>
          <p:spPr>
            <a:xfrm>
              <a:off x="7836918" y="1521403"/>
              <a:ext cx="188844" cy="188844"/>
            </a:xfrm>
            <a:prstGeom prst="ellipse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200" dirty="0"/>
                <a:t>3</a:t>
              </a:r>
              <a:endParaRPr lang="zh-CN" altLang="en-US" sz="1200" dirty="0"/>
            </a:p>
          </p:txBody>
        </p:sp>
        <p:sp>
          <p:nvSpPr>
            <p:cNvPr id="40" name="椭圆 39">
              <a:extLst>
                <a:ext uri="{FF2B5EF4-FFF2-40B4-BE49-F238E27FC236}">
                  <a16:creationId xmlns:a16="http://schemas.microsoft.com/office/drawing/2014/main" id="{127CAEC4-2F7E-960D-26BD-CA1A6B510D48}"/>
                </a:ext>
              </a:extLst>
            </p:cNvPr>
            <p:cNvSpPr/>
            <p:nvPr/>
          </p:nvSpPr>
          <p:spPr>
            <a:xfrm>
              <a:off x="8314421" y="984976"/>
              <a:ext cx="188844" cy="188844"/>
            </a:xfrm>
            <a:prstGeom prst="ellipse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200" dirty="0"/>
                <a:t>4</a:t>
              </a:r>
              <a:endParaRPr lang="zh-CN" altLang="en-US" sz="1200" dirty="0"/>
            </a:p>
          </p:txBody>
        </p:sp>
        <p:sp>
          <p:nvSpPr>
            <p:cNvPr id="41" name="椭圆 40">
              <a:extLst>
                <a:ext uri="{FF2B5EF4-FFF2-40B4-BE49-F238E27FC236}">
                  <a16:creationId xmlns:a16="http://schemas.microsoft.com/office/drawing/2014/main" id="{8E497BF4-2D33-B8DB-40D3-0D023E86847A}"/>
                </a:ext>
              </a:extLst>
            </p:cNvPr>
            <p:cNvSpPr/>
            <p:nvPr/>
          </p:nvSpPr>
          <p:spPr>
            <a:xfrm>
              <a:off x="9036273" y="926262"/>
              <a:ext cx="188844" cy="188844"/>
            </a:xfrm>
            <a:prstGeom prst="ellipse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200" dirty="0"/>
                <a:t>4</a:t>
              </a:r>
              <a:endParaRPr lang="zh-CN" altLang="en-US" sz="1200" dirty="0"/>
            </a:p>
          </p:txBody>
        </p:sp>
      </p:grpSp>
      <p:sp>
        <p:nvSpPr>
          <p:cNvPr id="42" name="文本框 41">
            <a:extLst>
              <a:ext uri="{FF2B5EF4-FFF2-40B4-BE49-F238E27FC236}">
                <a16:creationId xmlns:a16="http://schemas.microsoft.com/office/drawing/2014/main" id="{65B6AAAC-2084-02AF-6D3D-F6E58FA78403}"/>
              </a:ext>
            </a:extLst>
          </p:cNvPr>
          <p:cNvSpPr txBox="1"/>
          <p:nvPr/>
        </p:nvSpPr>
        <p:spPr>
          <a:xfrm>
            <a:off x="1010128" y="6302083"/>
            <a:ext cx="11181600" cy="55399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日周联动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打通周类与日类决策通道：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周图负责买入与止损：在周层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买入，在周管冲高上盈，在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上损。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日图负责止盈：利用下周冲高或偏离太大止盈⇒等回落走稳再进入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文本框 42">
            <a:extLst>
              <a:ext uri="{FF2B5EF4-FFF2-40B4-BE49-F238E27FC236}">
                <a16:creationId xmlns:a16="http://schemas.microsoft.com/office/drawing/2014/main" id="{CA820A50-981A-A30D-8380-A7E7EF16593A}"/>
              </a:ext>
            </a:extLst>
          </p:cNvPr>
          <p:cNvSpPr txBox="1"/>
          <p:nvPr/>
        </p:nvSpPr>
        <p:spPr>
          <a:xfrm>
            <a:off x="0" y="6348022"/>
            <a:ext cx="101013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日周联动</a:t>
            </a:r>
          </a:p>
        </p:txBody>
      </p:sp>
      <p:sp>
        <p:nvSpPr>
          <p:cNvPr id="44" name="箭头: 右 43">
            <a:extLst>
              <a:ext uri="{FF2B5EF4-FFF2-40B4-BE49-F238E27FC236}">
                <a16:creationId xmlns:a16="http://schemas.microsoft.com/office/drawing/2014/main" id="{DC303AD3-BD5D-32B3-D1C2-34825849AD12}"/>
              </a:ext>
            </a:extLst>
          </p:cNvPr>
          <p:cNvSpPr/>
          <p:nvPr/>
        </p:nvSpPr>
        <p:spPr>
          <a:xfrm rot="5400000">
            <a:off x="106530" y="5653021"/>
            <a:ext cx="838340" cy="269284"/>
          </a:xfrm>
          <a:prstGeom prst="rightArrow">
            <a:avLst>
              <a:gd name="adj1" fmla="val 5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8E9899F7-C827-9E44-062A-39C14C9FA986}"/>
              </a:ext>
            </a:extLst>
          </p:cNvPr>
          <p:cNvSpPr txBox="1"/>
          <p:nvPr/>
        </p:nvSpPr>
        <p:spPr>
          <a:xfrm>
            <a:off x="0" y="4392984"/>
            <a:ext cx="101013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</a:rPr>
              <a:t>周层段根</a:t>
            </a: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6AFD2034-860E-48E1-E88B-A8D43C472A45}"/>
              </a:ext>
            </a:extLst>
          </p:cNvPr>
          <p:cNvSpPr txBox="1"/>
          <p:nvPr/>
        </p:nvSpPr>
        <p:spPr>
          <a:xfrm>
            <a:off x="3591316" y="3027244"/>
            <a:ext cx="871584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b="1" dirty="0">
                <a:solidFill>
                  <a:srgbClr val="FF0000"/>
                </a:solidFill>
              </a:rPr>
              <a:t>注</a:t>
            </a:r>
            <a:r>
              <a:rPr lang="en-US" altLang="zh-CN" b="1" dirty="0">
                <a:solidFill>
                  <a:srgbClr val="FF0000"/>
                </a:solidFill>
              </a:rPr>
              <a:t>20260215</a:t>
            </a:r>
            <a:r>
              <a:rPr lang="zh-CN" altLang="en-US" b="1" dirty="0">
                <a:solidFill>
                  <a:srgbClr val="FF0000"/>
                </a:solidFill>
              </a:rPr>
              <a:t>：此分类已出现重大逻辑错误，无需继续整理。⇒整体封存，仅作参考。</a:t>
            </a:r>
          </a:p>
        </p:txBody>
      </p:sp>
    </p:spTree>
    <p:extLst>
      <p:ext uri="{BB962C8B-B14F-4D97-AF65-F5344CB8AC3E}">
        <p14:creationId xmlns:p14="http://schemas.microsoft.com/office/powerpoint/2010/main" val="2810759157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文本框 44">
            <a:extLst>
              <a:ext uri="{FF2B5EF4-FFF2-40B4-BE49-F238E27FC236}">
                <a16:creationId xmlns:a16="http://schemas.microsoft.com/office/drawing/2014/main" id="{663323BD-EF9C-1A63-696A-D533C0AF4800}"/>
              </a:ext>
            </a:extLst>
          </p:cNvPr>
          <p:cNvSpPr txBox="1"/>
          <p:nvPr/>
        </p:nvSpPr>
        <p:spPr>
          <a:xfrm>
            <a:off x="0" y="719998"/>
            <a:ext cx="12192000" cy="162000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</p:spPr>
        <p:txBody>
          <a:bodyPr wrap="square" rtlCol="0">
            <a:spAutoFit/>
          </a:bodyPr>
          <a:lstStyle/>
          <a:p>
            <a:endParaRPr lang="zh-CN" altLang="en-US" dirty="0"/>
          </a:p>
        </p:txBody>
      </p:sp>
      <p:sp>
        <p:nvSpPr>
          <p:cNvPr id="52" name="文本框 51">
            <a:extLst>
              <a:ext uri="{FF2B5EF4-FFF2-40B4-BE49-F238E27FC236}">
                <a16:creationId xmlns:a16="http://schemas.microsoft.com/office/drawing/2014/main" id="{47C6F7A6-D74A-CC6A-F5B2-8F9F4A2C149E}"/>
              </a:ext>
            </a:extLst>
          </p:cNvPr>
          <p:cNvSpPr txBox="1"/>
          <p:nvPr/>
        </p:nvSpPr>
        <p:spPr>
          <a:xfrm>
            <a:off x="4880481" y="719998"/>
            <a:ext cx="7308000" cy="162000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endParaRPr lang="zh-CN" altLang="en-US" dirty="0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周层界：圈定操作范围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</a:t>
            </a:r>
            <a:r>
              <a:rPr lang="zh-CN" altLang="en-US" sz="28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圈定主升区域</a:t>
            </a:r>
            <a:b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作用：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确定趋势的始终特征；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20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120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在升趋势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中进一步</a:t>
            </a:r>
            <a:r>
              <a:rPr lang="zh-CN" altLang="en-US" sz="120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细分主升阶段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" y="6144945"/>
            <a:ext cx="456320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注意：</a:t>
            </a:r>
            <a:endParaRPr lang="en-US" altLang="zh-CN" sz="800" b="1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介入位置：尽量不在中途介入。在初</a:t>
            </a:r>
            <a:r>
              <a:rPr lang="en-US" altLang="zh-CN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入，或回归</a:t>
            </a:r>
            <a:r>
              <a:rPr lang="en-US" altLang="zh-CN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较近时止跌，其余慎入。</a:t>
            </a:r>
            <a:endParaRPr lang="en-US" altLang="zh-CN" sz="8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</a:t>
            </a:r>
            <a:r>
              <a:rPr lang="en-US" altLang="zh-CN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介入：</a:t>
            </a:r>
            <a:r>
              <a:rPr lang="en-US" altLang="zh-CN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柱必须已上穿</a:t>
            </a:r>
            <a:r>
              <a:rPr lang="en-US" altLang="zh-CN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，尽量放弃</a:t>
            </a:r>
            <a:r>
              <a:rPr lang="en-US" altLang="zh-CN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/w6w/w6v</a:t>
            </a: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，关注</a:t>
            </a:r>
            <a:r>
              <a:rPr lang="en-US" altLang="zh-CN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/w1b/w1w</a:t>
            </a: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</a:t>
            </a:r>
            <a:r>
              <a:rPr lang="en-US" altLang="zh-CN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BCD</a:t>
            </a: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：尽量见好就收，防止尾诱。</a:t>
            </a:r>
            <a:endParaRPr lang="en-US" altLang="zh-CN" sz="8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</a:t>
            </a:r>
            <a:r>
              <a:rPr lang="en-US" altLang="zh-CN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G</a:t>
            </a: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震：很可能已脱离主升进入震荡，一定要减仓。</a:t>
            </a:r>
            <a:endParaRPr lang="en-US" altLang="zh-CN" sz="8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2C0FF17F-3C2A-BD1B-9216-E8C508F64AFB}"/>
              </a:ext>
            </a:extLst>
          </p:cNvPr>
          <p:cNvGraphicFramePr>
            <a:graphicFrameLocks noGrp="1"/>
          </p:cNvGraphicFramePr>
          <p:nvPr/>
        </p:nvGraphicFramePr>
        <p:xfrm>
          <a:off x="4880481" y="2339999"/>
          <a:ext cx="7316803" cy="451800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420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69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5486">
                  <a:extLst>
                    <a:ext uri="{9D8B030D-6E8A-4147-A177-3AD203B41FA5}">
                      <a16:colId xmlns:a16="http://schemas.microsoft.com/office/drawing/2014/main" val="3614966982"/>
                    </a:ext>
                  </a:extLst>
                </a:gridCol>
                <a:gridCol w="76757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347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5143">
                <a:tc>
                  <a:txBody>
                    <a:bodyPr/>
                    <a:lstStyle/>
                    <a:p>
                      <a:r>
                        <a:rPr lang="zh-CN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层类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层界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信号方向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操作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i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备注</a:t>
                      </a:r>
                      <a:endParaRPr lang="en-US" altLang="zh-CN" sz="800" b="0" i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DD7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2902131"/>
                  </a:ext>
                </a:extLst>
              </a:tr>
              <a:tr h="215143">
                <a:tc rowSpan="5">
                  <a:txBody>
                    <a:bodyPr/>
                    <a:lstStyle/>
                    <a:p>
                      <a:r>
                        <a:rPr lang="zh-CN" altLang="en-US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  <a:r>
                        <a:rPr lang="en-US" altLang="zh-CN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G</a:t>
                      </a:r>
                      <a:endParaRPr lang="zh-CN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Ga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</a:t>
                      </a:r>
                      <a:endParaRPr lang="zh-CN" altLang="en-US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</a:t>
                      </a:r>
                      <a:r>
                        <a:rPr lang="en-US" altLang="zh-CN" sz="800" b="1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b="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只考虑应否止盈卖出，参考指标</a:t>
                      </a:r>
                      <a:r>
                        <a:rPr lang="en-US" altLang="zh-CN" sz="800" b="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空间</a:t>
                      </a:r>
                      <a:r>
                        <a:rPr lang="en-US" altLang="zh-CN" sz="800" b="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时间。例外，震后单柱冲高，应仍为震。</a:t>
                      </a:r>
                      <a:endParaRPr lang="en-US" altLang="zh-CN" sz="800" b="0" i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514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Gb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〇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判向点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</a:t>
                      </a:r>
                      <a:r>
                        <a:rPr lang="en-US" altLang="zh-CN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判定是否维持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触管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。是否止盈：确认之前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龙是否应止盈。是否进入：是否仍在触管中。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1538816"/>
                  </a:ext>
                </a:extLst>
              </a:tr>
              <a:tr h="21514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Gc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〇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判向点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做顶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判定是否维持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触管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i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6940014"/>
                  </a:ext>
                </a:extLst>
              </a:tr>
              <a:tr h="21514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Gd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芽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震向上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zh-CN" sz="800" i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0932616"/>
                  </a:ext>
                </a:extLst>
              </a:tr>
              <a:tr h="215143">
                <a:tc vMerge="1">
                  <a:txBody>
                    <a:bodyPr/>
                    <a:lstStyle/>
                    <a:p>
                      <a:endParaRPr lang="zh-CN" altLang="en-US" dirty="0">
                        <a:latin typeface="华文楷体" panose="02010600040101010101" pitchFamily="2" charset="-122"/>
                        <a:ea typeface="华文楷体" panose="02010600040101010101" pitchFamily="2" charset="-122"/>
                      </a:endParaRPr>
                    </a:p>
                  </a:txBody>
                  <a:tcPr>
                    <a:lnT w="38100" cmpd="sng">
                      <a:noFill/>
                    </a:lnT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Ge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i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震向下</a:t>
                      </a:r>
                      <a:endParaRPr lang="en-US" altLang="zh-CN" sz="800" b="0" i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i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做顶</a:t>
                      </a:r>
                      <a:endParaRPr lang="en-US" altLang="zh-CN" sz="800" b="0" i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例外。经小幅走缓后，沿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走稳后</a:t>
                      </a:r>
                      <a:r>
                        <a:rPr lang="zh-CN" altLang="en-US" sz="800" i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继续上升（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天劫）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5143">
                <a:tc rowSpan="5"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zh-CN" altLang="en-US" sz="12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初</a:t>
                      </a: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A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(1be/2cde)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b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</a:t>
                      </a:r>
                      <a:endParaRPr lang="zh-CN" altLang="en-US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b="1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</a:t>
                      </a:r>
                      <a:r>
                        <a:rPr lang="en-US" altLang="zh-CN" sz="800" b="1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i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5143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〇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判向点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b="1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主升</a:t>
                      </a:r>
                      <a:r>
                        <a:rPr lang="en-US" altLang="zh-CN" sz="800" b="1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判定是否维持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触管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514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Ac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〇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判向点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1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判定是否维持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触管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71156"/>
                  </a:ext>
                </a:extLst>
              </a:tr>
              <a:tr h="21514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Ad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芽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震向上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1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i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6824498"/>
                  </a:ext>
                </a:extLst>
              </a:tr>
              <a:tr h="21514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Ae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震向下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1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i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6209581"/>
                  </a:ext>
                </a:extLst>
              </a:tr>
              <a:tr h="215143">
                <a:tc rowSpan="4">
                  <a:txBody>
                    <a:bodyPr/>
                    <a:lstStyle/>
                    <a:p>
                      <a:r>
                        <a:rPr lang="zh-CN" altLang="en-US" sz="12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储</a:t>
                      </a:r>
                      <a:endParaRPr lang="en-US" altLang="zh-CN" sz="12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可能失败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储局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1w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altLang="en-US" sz="800" b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需判向</a:t>
                      </a:r>
                      <a:endParaRPr lang="zh-CN" altLang="en-US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次佳进入点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。判定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柱排列。机：跌孕。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8621980"/>
                  </a:ext>
                </a:extLst>
              </a:tr>
              <a:tr h="21514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储局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1v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altLang="en-US" sz="800" b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需判向</a:t>
                      </a:r>
                      <a:endParaRPr lang="zh-CN" altLang="en-US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试入点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。判定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柱排列。不要</a:t>
                      </a:r>
                      <a:r>
                        <a:rPr lang="zh-CN" altLang="en-US" sz="800" i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快速拉升。</a:t>
                      </a:r>
                      <a:endParaRPr lang="zh-CN" altLang="en-US" sz="800" i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6032156"/>
                  </a:ext>
                </a:extLst>
              </a:tr>
              <a:tr h="21514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储局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6w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altLang="en-US" sz="800" b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需判向</a:t>
                      </a:r>
                      <a:endParaRPr lang="zh-CN" altLang="en-US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试入点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。判定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柱排列。机：跌孕。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4174590"/>
                  </a:ext>
                </a:extLst>
              </a:tr>
              <a:tr h="215143">
                <a:tc vMerge="1">
                  <a:txBody>
                    <a:bodyPr/>
                    <a:lstStyle/>
                    <a:p>
                      <a:endParaRPr lang="zh-CN" altLang="en-US" sz="1600" b="1" dirty="0">
                        <a:solidFill>
                          <a:schemeClr val="tx1"/>
                        </a:solidFill>
                        <a:latin typeface="华文楷体" panose="02010600040101010101" pitchFamily="2" charset="-122"/>
                        <a:ea typeface="华文楷体" panose="02010600040101010101" pitchFamily="2" charset="-122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储局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6v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需判向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试入点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。判定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柱排列。机：跌孕。不尝试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w5e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，即使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三柱排列也不要尝试。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6101547"/>
                  </a:ext>
                </a:extLst>
              </a:tr>
              <a:tr h="215143">
                <a:tc rowSpan="4">
                  <a:txBody>
                    <a:bodyPr/>
                    <a:lstStyle/>
                    <a:p>
                      <a:r>
                        <a:rPr lang="zh-CN" altLang="en-US" sz="12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</a:t>
                      </a:r>
                      <a:r>
                        <a:rPr lang="en-US" altLang="zh-CN" sz="12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BCD</a:t>
                      </a:r>
                    </a:p>
                    <a:p>
                      <a:r>
                        <a:rPr lang="en-US" altLang="zh-CN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可能尾诱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endParaRPr lang="zh-CN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</a:t>
                      </a:r>
                      <a:r>
                        <a:rPr lang="en-US" altLang="zh-CN" sz="800" b="1" dirty="0" err="1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BCDa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向上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且战且退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判定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柱排列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6041817"/>
                  </a:ext>
                </a:extLst>
              </a:tr>
              <a:tr h="215143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</a:t>
                      </a:r>
                      <a:r>
                        <a:rPr lang="en-US" altLang="zh-CN" sz="800" b="1" dirty="0" err="1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BCDb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〇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判向点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且战且退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i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3201995"/>
                  </a:ext>
                </a:extLst>
              </a:tr>
              <a:tr h="215143">
                <a:tc vMerge="1">
                  <a:txBody>
                    <a:bodyPr/>
                    <a:lstStyle/>
                    <a:p>
                      <a:endParaRPr lang="zh-CN" altLang="en-US" sz="1200" b="1" dirty="0">
                        <a:solidFill>
                          <a:schemeClr val="tx1"/>
                        </a:solidFill>
                        <a:latin typeface="华文楷体" panose="02010600040101010101" pitchFamily="2" charset="-122"/>
                        <a:ea typeface="华文楷体" panose="02010600040101010101" pitchFamily="2" charset="-122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</a:t>
                      </a:r>
                      <a:r>
                        <a:rPr lang="en-US" altLang="zh-CN" sz="800" b="1" dirty="0" err="1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BCDd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芽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震向上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防尾诱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判定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柱排列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2136984"/>
                  </a:ext>
                </a:extLst>
              </a:tr>
              <a:tr h="215143">
                <a:tc vMerge="1">
                  <a:txBody>
                    <a:bodyPr/>
                    <a:lstStyle/>
                    <a:p>
                      <a:endParaRPr lang="zh-CN" altLang="en-US" sz="1200" b="1" dirty="0">
                        <a:solidFill>
                          <a:schemeClr val="tx1"/>
                        </a:solidFill>
                        <a:latin typeface="华文楷体" panose="02010600040101010101" pitchFamily="2" charset="-122"/>
                        <a:ea typeface="华文楷体" panose="02010600040101010101" pitchFamily="2" charset="-122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</a:t>
                      </a:r>
                      <a:r>
                        <a:rPr lang="en-US" altLang="zh-CN" sz="800" b="1" dirty="0" err="1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BCDe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震向下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YN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多次触哼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是否多次触哼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判定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柱排列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0183672"/>
                  </a:ext>
                </a:extLst>
              </a:tr>
              <a:tr h="215143">
                <a:tc rowSpan="2">
                  <a:txBody>
                    <a:bodyPr/>
                    <a:lstStyle/>
                    <a:p>
                      <a:r>
                        <a:rPr lang="zh-CN" altLang="en-US" sz="12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破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破局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3v/3w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降向下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可清仓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i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已大升破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线清仓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i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未大升按</a:t>
                      </a:r>
                      <a:r>
                        <a:rPr lang="en-US" altLang="zh-CN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持仓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7987187"/>
                  </a:ext>
                </a:extLst>
              </a:tr>
              <a:tr h="215143">
                <a:tc vMerge="1">
                  <a:txBody>
                    <a:bodyPr/>
                    <a:lstStyle/>
                    <a:p>
                      <a:endParaRPr lang="zh-CN" altLang="en-US" sz="1200" b="1" dirty="0">
                        <a:solidFill>
                          <a:schemeClr val="tx1"/>
                        </a:solidFill>
                        <a:latin typeface="华文楷体" panose="02010600040101010101" pitchFamily="2" charset="-122"/>
                        <a:ea typeface="华文楷体" panose="02010600040101010101" pitchFamily="2" charset="-122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破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JC</a:t>
                      </a:r>
                      <a:endParaRPr lang="zh-CN" altLang="en-US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降向下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必须清仓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i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7400682"/>
                  </a:ext>
                </a:extLst>
              </a:tr>
            </a:tbl>
          </a:graphicData>
        </a:graphic>
      </p:graphicFrame>
      <p:grpSp>
        <p:nvGrpSpPr>
          <p:cNvPr id="65" name="组合 64">
            <a:extLst>
              <a:ext uri="{FF2B5EF4-FFF2-40B4-BE49-F238E27FC236}">
                <a16:creationId xmlns:a16="http://schemas.microsoft.com/office/drawing/2014/main" id="{9DE7C13E-0CF0-4B59-45D6-1F66A429CE10}"/>
              </a:ext>
            </a:extLst>
          </p:cNvPr>
          <p:cNvGrpSpPr/>
          <p:nvPr/>
        </p:nvGrpSpPr>
        <p:grpSpPr>
          <a:xfrm>
            <a:off x="69391" y="2740276"/>
            <a:ext cx="4801565" cy="3435456"/>
            <a:chOff x="271608" y="2524675"/>
            <a:chExt cx="4757678" cy="3435456"/>
          </a:xfrm>
        </p:grpSpPr>
        <p:sp>
          <p:nvSpPr>
            <p:cNvPr id="6" name="矩形 5">
              <a:extLst>
                <a:ext uri="{FF2B5EF4-FFF2-40B4-BE49-F238E27FC236}">
                  <a16:creationId xmlns:a16="http://schemas.microsoft.com/office/drawing/2014/main" id="{32DF5C17-9C60-5201-5C39-DFA1404301F3}"/>
                </a:ext>
              </a:extLst>
            </p:cNvPr>
            <p:cNvSpPr/>
            <p:nvPr/>
          </p:nvSpPr>
          <p:spPr>
            <a:xfrm>
              <a:off x="2548793" y="2524675"/>
              <a:ext cx="1080000" cy="53671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lang="zh-CN" altLang="en-US" b="1" dirty="0">
                  <a:solidFill>
                    <a:schemeClr val="tx1"/>
                  </a:solidFill>
                </a:rPr>
                <a:t>主</a:t>
              </a:r>
              <a:r>
                <a:rPr lang="en-US" altLang="zh-CN" b="1" dirty="0">
                  <a:solidFill>
                    <a:schemeClr val="tx1"/>
                  </a:solidFill>
                </a:rPr>
                <a:t>G</a:t>
              </a:r>
              <a:r>
                <a:rPr lang="zh-CN" altLang="en-US" b="1" dirty="0">
                  <a:solidFill>
                    <a:schemeClr val="tx1"/>
                  </a:solidFill>
                </a:rPr>
                <a:t>龙</a:t>
              </a:r>
              <a:endParaRPr lang="en-US" altLang="zh-CN" b="1" dirty="0">
                <a:solidFill>
                  <a:schemeClr val="tx1"/>
                </a:solidFill>
              </a:endParaRPr>
            </a:p>
            <a:p>
              <a:pPr algn="ctr"/>
              <a:r>
                <a:rPr lang="zh-CN" altLang="en-US" sz="1000" dirty="0">
                  <a:solidFill>
                    <a:schemeClr val="accent5">
                      <a:lumMod val="75000"/>
                    </a:schemeClr>
                  </a:solidFill>
                </a:rPr>
                <a:t>触顶</a:t>
              </a:r>
              <a:r>
                <a:rPr lang="en-US" altLang="zh-CN" sz="1000" dirty="0">
                  <a:solidFill>
                    <a:schemeClr val="accent5">
                      <a:lumMod val="75000"/>
                    </a:schemeClr>
                  </a:solidFill>
                </a:rPr>
                <a:t>/</a:t>
              </a:r>
              <a:r>
                <a:rPr lang="zh-CN" altLang="en-US" sz="1000" dirty="0">
                  <a:solidFill>
                    <a:schemeClr val="accent5">
                      <a:lumMod val="75000"/>
                    </a:schemeClr>
                  </a:solidFill>
                </a:rPr>
                <a:t>偏</a:t>
              </a:r>
              <a:r>
                <a:rPr lang="en-US" altLang="zh-CN" sz="1000" dirty="0">
                  <a:solidFill>
                    <a:schemeClr val="accent5">
                      <a:lumMod val="75000"/>
                    </a:schemeClr>
                  </a:solidFill>
                </a:rPr>
                <a:t>JC</a:t>
              </a:r>
              <a:r>
                <a:rPr lang="zh-CN" altLang="en-US" sz="1000" dirty="0">
                  <a:solidFill>
                    <a:schemeClr val="accent5">
                      <a:lumMod val="75000"/>
                    </a:schemeClr>
                  </a:solidFill>
                </a:rPr>
                <a:t>止盈</a:t>
              </a:r>
            </a:p>
          </p:txBody>
        </p:sp>
        <p:sp>
          <p:nvSpPr>
            <p:cNvPr id="9" name="矩形 8">
              <a:extLst>
                <a:ext uri="{FF2B5EF4-FFF2-40B4-BE49-F238E27FC236}">
                  <a16:creationId xmlns:a16="http://schemas.microsoft.com/office/drawing/2014/main" id="{40D53BD0-DA99-848B-D7DA-1DE87F6C91E7}"/>
                </a:ext>
              </a:extLst>
            </p:cNvPr>
            <p:cNvSpPr/>
            <p:nvPr/>
          </p:nvSpPr>
          <p:spPr>
            <a:xfrm>
              <a:off x="2548793" y="3490922"/>
              <a:ext cx="1080000" cy="53671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solidFill>
                    <a:schemeClr val="tx1"/>
                  </a:solidFill>
                </a:rPr>
                <a:t>主</a:t>
              </a:r>
              <a:r>
                <a:rPr lang="en-US" altLang="zh-CN" b="1" dirty="0">
                  <a:solidFill>
                    <a:schemeClr val="tx1"/>
                  </a:solidFill>
                </a:rPr>
                <a:t>G</a:t>
              </a:r>
              <a:r>
                <a:rPr lang="zh-CN" altLang="en-US" b="1" dirty="0">
                  <a:solidFill>
                    <a:schemeClr val="tx1"/>
                  </a:solidFill>
                </a:rPr>
                <a:t>震</a:t>
              </a:r>
              <a:endParaRPr lang="en-US" altLang="zh-CN" b="1" dirty="0">
                <a:solidFill>
                  <a:schemeClr val="tx1"/>
                </a:solidFill>
              </a:endParaRPr>
            </a:p>
            <a:p>
              <a:pPr algn="ctr"/>
              <a:r>
                <a:rPr lang="zh-CN" altLang="en-US" sz="1000" dirty="0">
                  <a:solidFill>
                    <a:schemeClr val="accent5">
                      <a:lumMod val="75000"/>
                    </a:schemeClr>
                  </a:solidFill>
                </a:rPr>
                <a:t>天劫</a:t>
              </a:r>
              <a:r>
                <a:rPr lang="en-US" altLang="zh-CN" sz="1000" dirty="0">
                  <a:solidFill>
                    <a:schemeClr val="accent5">
                      <a:lumMod val="75000"/>
                    </a:schemeClr>
                  </a:solidFill>
                </a:rPr>
                <a:t>/AZ</a:t>
              </a:r>
              <a:r>
                <a:rPr lang="zh-CN" altLang="en-US" sz="1000" dirty="0">
                  <a:solidFill>
                    <a:schemeClr val="accent5">
                      <a:lumMod val="75000"/>
                    </a:schemeClr>
                  </a:solidFill>
                </a:rPr>
                <a:t>劫</a:t>
              </a:r>
            </a:p>
          </p:txBody>
        </p:sp>
        <p:sp>
          <p:nvSpPr>
            <p:cNvPr id="11" name="矩形 10">
              <a:extLst>
                <a:ext uri="{FF2B5EF4-FFF2-40B4-BE49-F238E27FC236}">
                  <a16:creationId xmlns:a16="http://schemas.microsoft.com/office/drawing/2014/main" id="{26C7E0A0-8CB8-2D6B-2B5C-6BF179F12A75}"/>
                </a:ext>
              </a:extLst>
            </p:cNvPr>
            <p:cNvSpPr/>
            <p:nvPr/>
          </p:nvSpPr>
          <p:spPr>
            <a:xfrm>
              <a:off x="2548793" y="4457169"/>
              <a:ext cx="1080000" cy="53671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solidFill>
                    <a:schemeClr val="tx1"/>
                  </a:solidFill>
                </a:rPr>
                <a:t>破</a:t>
              </a:r>
              <a:r>
                <a:rPr lang="en-US" altLang="zh-CN" b="1" dirty="0">
                  <a:solidFill>
                    <a:schemeClr val="tx1"/>
                  </a:solidFill>
                </a:rPr>
                <a:t>WJB</a:t>
              </a:r>
            </a:p>
            <a:p>
              <a:pPr algn="ctr"/>
              <a:r>
                <a:rPr lang="zh-CN" altLang="en-US" sz="1000" dirty="0">
                  <a:solidFill>
                    <a:schemeClr val="accent5">
                      <a:lumMod val="75000"/>
                    </a:schemeClr>
                  </a:solidFill>
                </a:rPr>
                <a:t>花模型破坏</a:t>
              </a:r>
            </a:p>
          </p:txBody>
        </p:sp>
        <p:sp>
          <p:nvSpPr>
            <p:cNvPr id="12" name="矩形 11">
              <a:extLst>
                <a:ext uri="{FF2B5EF4-FFF2-40B4-BE49-F238E27FC236}">
                  <a16:creationId xmlns:a16="http://schemas.microsoft.com/office/drawing/2014/main" id="{65E96BBE-1974-CB09-FC65-89E5ECF4F441}"/>
                </a:ext>
              </a:extLst>
            </p:cNvPr>
            <p:cNvSpPr/>
            <p:nvPr/>
          </p:nvSpPr>
          <p:spPr>
            <a:xfrm>
              <a:off x="2548793" y="5423417"/>
              <a:ext cx="1080000" cy="53671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solidFill>
                    <a:schemeClr val="tx1"/>
                  </a:solidFill>
                </a:rPr>
                <a:t>破</a:t>
              </a:r>
              <a:r>
                <a:rPr lang="en-US" altLang="zh-CN" b="1" dirty="0">
                  <a:solidFill>
                    <a:schemeClr val="tx1"/>
                  </a:solidFill>
                </a:rPr>
                <a:t>WJC</a:t>
              </a:r>
            </a:p>
            <a:p>
              <a:pPr algn="ctr"/>
              <a:r>
                <a:rPr lang="zh-CN" altLang="en-US" sz="1000" dirty="0">
                  <a:solidFill>
                    <a:schemeClr val="accent5">
                      <a:lumMod val="75000"/>
                    </a:schemeClr>
                  </a:solidFill>
                </a:rPr>
                <a:t>失势清仓</a:t>
              </a:r>
            </a:p>
          </p:txBody>
        </p:sp>
        <p:sp>
          <p:nvSpPr>
            <p:cNvPr id="13" name="矩形 12">
              <a:extLst>
                <a:ext uri="{FF2B5EF4-FFF2-40B4-BE49-F238E27FC236}">
                  <a16:creationId xmlns:a16="http://schemas.microsoft.com/office/drawing/2014/main" id="{3959E7F2-BDF7-9148-73C2-C0BEB808CBFA}"/>
                </a:ext>
              </a:extLst>
            </p:cNvPr>
            <p:cNvSpPr/>
            <p:nvPr/>
          </p:nvSpPr>
          <p:spPr>
            <a:xfrm>
              <a:off x="271608" y="2524676"/>
              <a:ext cx="854765" cy="53671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lang="zh-CN" altLang="en-US" b="1" dirty="0">
                  <a:solidFill>
                    <a:schemeClr val="tx1"/>
                  </a:solidFill>
                </a:rPr>
                <a:t>储</a:t>
              </a:r>
              <a:endParaRPr lang="en-US" altLang="zh-CN" b="1" dirty="0">
                <a:solidFill>
                  <a:schemeClr val="tx1"/>
                </a:solidFill>
              </a:endParaRPr>
            </a:p>
            <a:p>
              <a:pPr algn="ctr"/>
              <a:r>
                <a:rPr lang="zh-CN" altLang="en-US" sz="1000" dirty="0">
                  <a:solidFill>
                    <a:schemeClr val="accent5">
                      <a:lumMod val="75000"/>
                    </a:schemeClr>
                  </a:solidFill>
                </a:rPr>
                <a:t>从</a:t>
              </a:r>
              <a:r>
                <a:rPr lang="en-US" altLang="zh-CN" sz="1000" dirty="0">
                  <a:solidFill>
                    <a:schemeClr val="accent5">
                      <a:lumMod val="75000"/>
                    </a:schemeClr>
                  </a:solidFill>
                </a:rPr>
                <a:t>WJC</a:t>
              </a:r>
              <a:r>
                <a:rPr lang="zh-CN" altLang="en-US" sz="1000" dirty="0">
                  <a:solidFill>
                    <a:schemeClr val="accent5">
                      <a:lumMod val="75000"/>
                    </a:schemeClr>
                  </a:solidFill>
                </a:rPr>
                <a:t>出发</a:t>
              </a:r>
            </a:p>
          </p:txBody>
        </p:sp>
        <p:sp>
          <p:nvSpPr>
            <p:cNvPr id="19" name="矩形 18">
              <a:extLst>
                <a:ext uri="{FF2B5EF4-FFF2-40B4-BE49-F238E27FC236}">
                  <a16:creationId xmlns:a16="http://schemas.microsoft.com/office/drawing/2014/main" id="{EB592947-9CA4-47F9-1DE2-DEE44F8EADB2}"/>
                </a:ext>
              </a:extLst>
            </p:cNvPr>
            <p:cNvSpPr/>
            <p:nvPr/>
          </p:nvSpPr>
          <p:spPr>
            <a:xfrm>
              <a:off x="1328497" y="2524676"/>
              <a:ext cx="854765" cy="53671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lang="zh-CN" altLang="en-US" b="1" dirty="0">
                  <a:solidFill>
                    <a:schemeClr val="tx1"/>
                  </a:solidFill>
                </a:rPr>
                <a:t>初</a:t>
              </a:r>
              <a:r>
                <a:rPr lang="en-US" altLang="zh-CN" b="1" dirty="0">
                  <a:solidFill>
                    <a:schemeClr val="tx1"/>
                  </a:solidFill>
                </a:rPr>
                <a:t>A</a:t>
              </a:r>
            </a:p>
            <a:p>
              <a:pPr algn="ctr"/>
              <a:r>
                <a:rPr lang="zh-CN" altLang="en-US" sz="1000">
                  <a:solidFill>
                    <a:schemeClr val="accent5">
                      <a:lumMod val="75000"/>
                    </a:schemeClr>
                  </a:solidFill>
                </a:rPr>
                <a:t>主升开启</a:t>
              </a:r>
              <a:endParaRPr lang="zh-CN" altLang="en-US" sz="1000" dirty="0">
                <a:solidFill>
                  <a:schemeClr val="accent5">
                    <a:lumMod val="75000"/>
                  </a:schemeClr>
                </a:solidFill>
              </a:endParaRPr>
            </a:p>
          </p:txBody>
        </p:sp>
        <p:sp>
          <p:nvSpPr>
            <p:cNvPr id="20" name="矩形 19">
              <a:extLst>
                <a:ext uri="{FF2B5EF4-FFF2-40B4-BE49-F238E27FC236}">
                  <a16:creationId xmlns:a16="http://schemas.microsoft.com/office/drawing/2014/main" id="{F090C8CE-103D-EDC8-D291-2928148C3D00}"/>
                </a:ext>
              </a:extLst>
            </p:cNvPr>
            <p:cNvSpPr/>
            <p:nvPr/>
          </p:nvSpPr>
          <p:spPr>
            <a:xfrm>
              <a:off x="4174521" y="4457170"/>
              <a:ext cx="854765" cy="53671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solidFill>
                    <a:schemeClr val="tx1"/>
                  </a:solidFill>
                </a:rPr>
                <a:t>再</a:t>
              </a:r>
              <a:r>
                <a:rPr lang="en-US" altLang="zh-CN" b="1" dirty="0">
                  <a:solidFill>
                    <a:schemeClr val="tx1"/>
                  </a:solidFill>
                </a:rPr>
                <a:t>BCD</a:t>
              </a:r>
            </a:p>
            <a:p>
              <a:pPr algn="ctr"/>
              <a:r>
                <a:rPr lang="zh-CN" altLang="en-US" sz="1000" dirty="0">
                  <a:solidFill>
                    <a:schemeClr val="accent5">
                      <a:lumMod val="75000"/>
                    </a:schemeClr>
                  </a:solidFill>
                </a:rPr>
                <a:t>震荡模式</a:t>
              </a:r>
            </a:p>
          </p:txBody>
        </p:sp>
        <p:cxnSp>
          <p:nvCxnSpPr>
            <p:cNvPr id="22" name="直接箭头连接符 21">
              <a:extLst>
                <a:ext uri="{FF2B5EF4-FFF2-40B4-BE49-F238E27FC236}">
                  <a16:creationId xmlns:a16="http://schemas.microsoft.com/office/drawing/2014/main" id="{D5901226-0C5F-F8EF-496A-E6A04494A7C5}"/>
                </a:ext>
              </a:extLst>
            </p:cNvPr>
            <p:cNvCxnSpPr>
              <a:cxnSpLocks/>
            </p:cNvCxnSpPr>
            <p:nvPr/>
          </p:nvCxnSpPr>
          <p:spPr>
            <a:xfrm>
              <a:off x="954158" y="2753277"/>
              <a:ext cx="490266" cy="0"/>
            </a:xfrm>
            <a:prstGeom prst="straightConnector1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接箭头连接符 24">
              <a:extLst>
                <a:ext uri="{FF2B5EF4-FFF2-40B4-BE49-F238E27FC236}">
                  <a16:creationId xmlns:a16="http://schemas.microsoft.com/office/drawing/2014/main" id="{9EF2A216-07BC-C1AA-0078-73744FF82214}"/>
                </a:ext>
              </a:extLst>
            </p:cNvPr>
            <p:cNvCxnSpPr>
              <a:cxnSpLocks/>
            </p:cNvCxnSpPr>
            <p:nvPr/>
          </p:nvCxnSpPr>
          <p:spPr>
            <a:xfrm>
              <a:off x="2199797" y="2753277"/>
              <a:ext cx="377687" cy="0"/>
            </a:xfrm>
            <a:prstGeom prst="straightConnector1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箭头连接符 25">
              <a:extLst>
                <a:ext uri="{FF2B5EF4-FFF2-40B4-BE49-F238E27FC236}">
                  <a16:creationId xmlns:a16="http://schemas.microsoft.com/office/drawing/2014/main" id="{3E3720AA-C2E3-2189-D7DF-2AA174B2AEF1}"/>
                </a:ext>
              </a:extLst>
            </p:cNvPr>
            <p:cNvCxnSpPr>
              <a:cxnSpLocks/>
              <a:stCxn id="6" idx="2"/>
              <a:endCxn id="9" idx="0"/>
            </p:cNvCxnSpPr>
            <p:nvPr/>
          </p:nvCxnSpPr>
          <p:spPr>
            <a:xfrm>
              <a:off x="3088793" y="3061389"/>
              <a:ext cx="0" cy="429533"/>
            </a:xfrm>
            <a:prstGeom prst="straightConnector1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接箭头连接符 29">
              <a:extLst>
                <a:ext uri="{FF2B5EF4-FFF2-40B4-BE49-F238E27FC236}">
                  <a16:creationId xmlns:a16="http://schemas.microsoft.com/office/drawing/2014/main" id="{61673E3A-B22D-0B3E-5BFB-AE4E63DF1964}"/>
                </a:ext>
              </a:extLst>
            </p:cNvPr>
            <p:cNvCxnSpPr>
              <a:cxnSpLocks/>
              <a:stCxn id="9" idx="2"/>
              <a:endCxn id="11" idx="0"/>
            </p:cNvCxnSpPr>
            <p:nvPr/>
          </p:nvCxnSpPr>
          <p:spPr>
            <a:xfrm>
              <a:off x="3088793" y="4027636"/>
              <a:ext cx="0" cy="429533"/>
            </a:xfrm>
            <a:prstGeom prst="straightConnector1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接箭头连接符 30">
              <a:extLst>
                <a:ext uri="{FF2B5EF4-FFF2-40B4-BE49-F238E27FC236}">
                  <a16:creationId xmlns:a16="http://schemas.microsoft.com/office/drawing/2014/main" id="{D9F9B1D7-B50A-9AB7-55CF-0CA9BC29E9EA}"/>
                </a:ext>
              </a:extLst>
            </p:cNvPr>
            <p:cNvCxnSpPr>
              <a:cxnSpLocks/>
              <a:stCxn id="11" idx="2"/>
              <a:endCxn id="12" idx="0"/>
            </p:cNvCxnSpPr>
            <p:nvPr/>
          </p:nvCxnSpPr>
          <p:spPr>
            <a:xfrm>
              <a:off x="3088793" y="4993883"/>
              <a:ext cx="0" cy="429534"/>
            </a:xfrm>
            <a:prstGeom prst="straightConnector1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连接符: 曲线 36">
              <a:extLst>
                <a:ext uri="{FF2B5EF4-FFF2-40B4-BE49-F238E27FC236}">
                  <a16:creationId xmlns:a16="http://schemas.microsoft.com/office/drawing/2014/main" id="{7490509C-6A25-CF93-D6ED-1D8294541865}"/>
                </a:ext>
              </a:extLst>
            </p:cNvPr>
            <p:cNvCxnSpPr>
              <a:stCxn id="19" idx="2"/>
              <a:endCxn id="9" idx="1"/>
            </p:cNvCxnSpPr>
            <p:nvPr/>
          </p:nvCxnSpPr>
          <p:spPr>
            <a:xfrm rot="16200000" flipH="1">
              <a:off x="1803392" y="3013877"/>
              <a:ext cx="697889" cy="792913"/>
            </a:xfrm>
            <a:prstGeom prst="curvedConnector2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连接符: 曲线 37">
              <a:extLst>
                <a:ext uri="{FF2B5EF4-FFF2-40B4-BE49-F238E27FC236}">
                  <a16:creationId xmlns:a16="http://schemas.microsoft.com/office/drawing/2014/main" id="{0B1AEC99-F1CD-0EF9-0ED5-2126969B5BBF}"/>
                </a:ext>
              </a:extLst>
            </p:cNvPr>
            <p:cNvCxnSpPr>
              <a:cxnSpLocks/>
              <a:stCxn id="19" idx="2"/>
              <a:endCxn id="11" idx="1"/>
            </p:cNvCxnSpPr>
            <p:nvPr/>
          </p:nvCxnSpPr>
          <p:spPr>
            <a:xfrm rot="16200000" flipH="1">
              <a:off x="1320268" y="3497001"/>
              <a:ext cx="1664136" cy="792913"/>
            </a:xfrm>
            <a:prstGeom prst="curvedConnector2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连接符: 曲线 38">
              <a:extLst>
                <a:ext uri="{FF2B5EF4-FFF2-40B4-BE49-F238E27FC236}">
                  <a16:creationId xmlns:a16="http://schemas.microsoft.com/office/drawing/2014/main" id="{69055AB5-0338-AF3A-58D5-6D3BE171D1D9}"/>
                </a:ext>
              </a:extLst>
            </p:cNvPr>
            <p:cNvCxnSpPr>
              <a:cxnSpLocks/>
              <a:stCxn id="19" idx="2"/>
              <a:endCxn id="12" idx="1"/>
            </p:cNvCxnSpPr>
            <p:nvPr/>
          </p:nvCxnSpPr>
          <p:spPr>
            <a:xfrm rot="16200000" flipH="1">
              <a:off x="837144" y="3980125"/>
              <a:ext cx="2630384" cy="792913"/>
            </a:xfrm>
            <a:prstGeom prst="curvedConnector2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接箭头连接符 45">
              <a:extLst>
                <a:ext uri="{FF2B5EF4-FFF2-40B4-BE49-F238E27FC236}">
                  <a16:creationId xmlns:a16="http://schemas.microsoft.com/office/drawing/2014/main" id="{103D9635-1D79-8BFF-E47C-BA988FB532CF}"/>
                </a:ext>
              </a:extLst>
            </p:cNvPr>
            <p:cNvCxnSpPr>
              <a:cxnSpLocks/>
              <a:stCxn id="11" idx="3"/>
            </p:cNvCxnSpPr>
            <p:nvPr/>
          </p:nvCxnSpPr>
          <p:spPr>
            <a:xfrm>
              <a:off x="3628793" y="4725526"/>
              <a:ext cx="500320" cy="0"/>
            </a:xfrm>
            <a:prstGeom prst="straightConnector1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连接符: 曲线 48">
              <a:extLst>
                <a:ext uri="{FF2B5EF4-FFF2-40B4-BE49-F238E27FC236}">
                  <a16:creationId xmlns:a16="http://schemas.microsoft.com/office/drawing/2014/main" id="{5B1377E9-4A1E-65CF-C44A-FC07B31C0BC0}"/>
                </a:ext>
              </a:extLst>
            </p:cNvPr>
            <p:cNvCxnSpPr>
              <a:cxnSpLocks/>
              <a:stCxn id="20" idx="0"/>
              <a:endCxn id="6" idx="3"/>
            </p:cNvCxnSpPr>
            <p:nvPr/>
          </p:nvCxnSpPr>
          <p:spPr>
            <a:xfrm rot="16200000" flipV="1">
              <a:off x="3283280" y="3138545"/>
              <a:ext cx="1664138" cy="973111"/>
            </a:xfrm>
            <a:prstGeom prst="curvedConnector2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接箭头连接符 52">
              <a:extLst>
                <a:ext uri="{FF2B5EF4-FFF2-40B4-BE49-F238E27FC236}">
                  <a16:creationId xmlns:a16="http://schemas.microsoft.com/office/drawing/2014/main" id="{7E4D10C7-6F13-412B-AEAE-00643845B98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55063" y="3061389"/>
              <a:ext cx="0" cy="437462"/>
            </a:xfrm>
            <a:prstGeom prst="straightConnector1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4" name="文本框 63">
            <a:extLst>
              <a:ext uri="{FF2B5EF4-FFF2-40B4-BE49-F238E27FC236}">
                <a16:creationId xmlns:a16="http://schemas.microsoft.com/office/drawing/2014/main" id="{6D58BD58-56EA-114C-89C0-168FD17B8081}"/>
              </a:ext>
            </a:extLst>
          </p:cNvPr>
          <p:cNvSpPr txBox="1"/>
          <p:nvPr/>
        </p:nvSpPr>
        <p:spPr>
          <a:xfrm>
            <a:off x="218540" y="2326107"/>
            <a:ext cx="18261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周层界状态流转图</a:t>
            </a: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DDDCBA0A-D8BD-59F5-DBA9-353B6A980075}"/>
              </a:ext>
            </a:extLst>
          </p:cNvPr>
          <p:cNvSpPr txBox="1"/>
          <p:nvPr/>
        </p:nvSpPr>
        <p:spPr>
          <a:xfrm>
            <a:off x="0" y="720000"/>
            <a:ext cx="511614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丘核心目标：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即以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为基准，寻找距离</a:t>
            </a:r>
            <a:r>
              <a:rPr lang="en-US" altLang="zh-CN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最远位置。</a:t>
            </a:r>
            <a:endParaRPr lang="en-US" altLang="zh-CN" sz="12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AE23ECA7-8B00-8F8A-FD5B-3FDD595ACF9C}"/>
              </a:ext>
            </a:extLst>
          </p:cNvPr>
          <p:cNvSpPr txBox="1"/>
          <p:nvPr/>
        </p:nvSpPr>
        <p:spPr>
          <a:xfrm>
            <a:off x="3635756" y="1413941"/>
            <a:ext cx="1239442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周类波动五阶段：</a:t>
            </a:r>
            <a:endParaRPr lang="en-US" altLang="zh-CN" sz="8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合顶且为</a:t>
            </a:r>
            <a:r>
              <a:rPr lang="en-US" altLang="zh-CN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/a</a:t>
            </a: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</a:t>
            </a:r>
            <a:r>
              <a:rPr lang="en-US" altLang="zh-CN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/b</a:t>
            </a: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</a:t>
            </a:r>
            <a:endParaRPr lang="en-US" altLang="zh-CN" sz="8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未触顶且未破</a:t>
            </a:r>
            <a:r>
              <a:rPr lang="en-US" altLang="zh-CN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围绕</a:t>
            </a:r>
            <a:r>
              <a:rPr lang="en-US" altLang="zh-CN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</a:t>
            </a:r>
            <a:endParaRPr lang="en-US" altLang="zh-CN" sz="8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endParaRPr lang="zh-CN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D9E76885-5254-753B-A81B-F049F5F50C02}"/>
              </a:ext>
            </a:extLst>
          </p:cNvPr>
          <p:cNvGrpSpPr/>
          <p:nvPr/>
        </p:nvGrpSpPr>
        <p:grpSpPr>
          <a:xfrm>
            <a:off x="69391" y="1265099"/>
            <a:ext cx="3285863" cy="987607"/>
            <a:chOff x="6026373" y="926262"/>
            <a:chExt cx="3836602" cy="987607"/>
          </a:xfrm>
        </p:grpSpPr>
        <p:cxnSp>
          <p:nvCxnSpPr>
            <p:cNvPr id="16" name="直接连接符 15">
              <a:extLst>
                <a:ext uri="{FF2B5EF4-FFF2-40B4-BE49-F238E27FC236}">
                  <a16:creationId xmlns:a16="http://schemas.microsoft.com/office/drawing/2014/main" id="{C8A02807-B817-C4EA-5ED9-CC3000F3C6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52053" y="1266891"/>
              <a:ext cx="3266661" cy="260313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接连接符 16">
              <a:extLst>
                <a:ext uri="{FF2B5EF4-FFF2-40B4-BE49-F238E27FC236}">
                  <a16:creationId xmlns:a16="http://schemas.microsoft.com/office/drawing/2014/main" id="{0BA7D827-82DE-6F50-0D33-05C39BB613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52052" y="1499668"/>
              <a:ext cx="3266661" cy="260313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文本框 17">
              <a:extLst>
                <a:ext uri="{FF2B5EF4-FFF2-40B4-BE49-F238E27FC236}">
                  <a16:creationId xmlns:a16="http://schemas.microsoft.com/office/drawing/2014/main" id="{568BF294-5AAE-3AFA-820D-58F83310D7E6}"/>
                </a:ext>
              </a:extLst>
            </p:cNvPr>
            <p:cNvSpPr txBox="1"/>
            <p:nvPr/>
          </p:nvSpPr>
          <p:spPr>
            <a:xfrm>
              <a:off x="6026373" y="1422375"/>
              <a:ext cx="57535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4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WJB</a:t>
              </a:r>
              <a:endPara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1" name="文本框 20">
              <a:extLst>
                <a:ext uri="{FF2B5EF4-FFF2-40B4-BE49-F238E27FC236}">
                  <a16:creationId xmlns:a16="http://schemas.microsoft.com/office/drawing/2014/main" id="{58DEA8F6-4807-ABC4-F97A-C9EA9448322E}"/>
                </a:ext>
              </a:extLst>
            </p:cNvPr>
            <p:cNvSpPr txBox="1"/>
            <p:nvPr/>
          </p:nvSpPr>
          <p:spPr>
            <a:xfrm>
              <a:off x="6026373" y="1606092"/>
              <a:ext cx="57348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4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WJC</a:t>
              </a:r>
              <a:endPara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3" name="任意多边形: 形状 22">
              <a:extLst>
                <a:ext uri="{FF2B5EF4-FFF2-40B4-BE49-F238E27FC236}">
                  <a16:creationId xmlns:a16="http://schemas.microsoft.com/office/drawing/2014/main" id="{8CB89F70-E6CF-C2EE-4E65-1349658D35B9}"/>
                </a:ext>
              </a:extLst>
            </p:cNvPr>
            <p:cNvSpPr/>
            <p:nvPr/>
          </p:nvSpPr>
          <p:spPr>
            <a:xfrm>
              <a:off x="6737583" y="972646"/>
              <a:ext cx="3125392" cy="737601"/>
            </a:xfrm>
            <a:custGeom>
              <a:avLst/>
              <a:gdLst>
                <a:gd name="connsiteX0" fmla="*/ 0 w 3125392"/>
                <a:gd name="connsiteY0" fmla="*/ 666568 h 737601"/>
                <a:gd name="connsiteX1" fmla="*/ 417444 w 3125392"/>
                <a:gd name="connsiteY1" fmla="*/ 646 h 737601"/>
                <a:gd name="connsiteX2" fmla="*/ 1152940 w 3125392"/>
                <a:gd name="connsiteY2" fmla="*/ 537359 h 737601"/>
                <a:gd name="connsiteX3" fmla="*/ 1709531 w 3125392"/>
                <a:gd name="connsiteY3" fmla="*/ 209368 h 737601"/>
                <a:gd name="connsiteX4" fmla="*/ 1967948 w 3125392"/>
                <a:gd name="connsiteY4" fmla="*/ 487663 h 737601"/>
                <a:gd name="connsiteX5" fmla="*/ 2604053 w 3125392"/>
                <a:gd name="connsiteY5" fmla="*/ 70220 h 737601"/>
                <a:gd name="connsiteX6" fmla="*/ 3031435 w 3125392"/>
                <a:gd name="connsiteY6" fmla="*/ 616872 h 737601"/>
                <a:gd name="connsiteX7" fmla="*/ 3120887 w 3125392"/>
                <a:gd name="connsiteY7" fmla="*/ 736142 h 737601"/>
                <a:gd name="connsiteX8" fmla="*/ 3110948 w 3125392"/>
                <a:gd name="connsiteY8" fmla="*/ 686446 h 737601"/>
                <a:gd name="connsiteX9" fmla="*/ 3101009 w 3125392"/>
                <a:gd name="connsiteY9" fmla="*/ 736142 h 73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5392" h="737601">
                  <a:moveTo>
                    <a:pt x="0" y="666568"/>
                  </a:moveTo>
                  <a:cubicBezTo>
                    <a:pt x="112643" y="344374"/>
                    <a:pt x="225287" y="22181"/>
                    <a:pt x="417444" y="646"/>
                  </a:cubicBezTo>
                  <a:cubicBezTo>
                    <a:pt x="609601" y="-20889"/>
                    <a:pt x="937592" y="502572"/>
                    <a:pt x="1152940" y="537359"/>
                  </a:cubicBezTo>
                  <a:cubicBezTo>
                    <a:pt x="1368288" y="572146"/>
                    <a:pt x="1573696" y="217651"/>
                    <a:pt x="1709531" y="209368"/>
                  </a:cubicBezTo>
                  <a:cubicBezTo>
                    <a:pt x="1845366" y="201085"/>
                    <a:pt x="1818861" y="510854"/>
                    <a:pt x="1967948" y="487663"/>
                  </a:cubicBezTo>
                  <a:cubicBezTo>
                    <a:pt x="2117035" y="464472"/>
                    <a:pt x="2426805" y="48685"/>
                    <a:pt x="2604053" y="70220"/>
                  </a:cubicBezTo>
                  <a:cubicBezTo>
                    <a:pt x="2781301" y="91755"/>
                    <a:pt x="2945296" y="505885"/>
                    <a:pt x="3031435" y="616872"/>
                  </a:cubicBezTo>
                  <a:cubicBezTo>
                    <a:pt x="3117574" y="727859"/>
                    <a:pt x="3107635" y="724546"/>
                    <a:pt x="3120887" y="736142"/>
                  </a:cubicBezTo>
                  <a:cubicBezTo>
                    <a:pt x="3134139" y="747738"/>
                    <a:pt x="3114261" y="686446"/>
                    <a:pt x="3110948" y="686446"/>
                  </a:cubicBezTo>
                  <a:cubicBezTo>
                    <a:pt x="3107635" y="686446"/>
                    <a:pt x="3104322" y="711294"/>
                    <a:pt x="3101009" y="736142"/>
                  </a:cubicBezTo>
                </a:path>
              </a:pathLst>
            </a:custGeom>
            <a:noFill/>
            <a:ln w="25400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4" name="椭圆 23">
              <a:extLst>
                <a:ext uri="{FF2B5EF4-FFF2-40B4-BE49-F238E27FC236}">
                  <a16:creationId xmlns:a16="http://schemas.microsoft.com/office/drawing/2014/main" id="{3131534C-93A2-A8FC-1172-53E1C3F848CE}"/>
                </a:ext>
              </a:extLst>
            </p:cNvPr>
            <p:cNvSpPr/>
            <p:nvPr/>
          </p:nvSpPr>
          <p:spPr>
            <a:xfrm>
              <a:off x="6700133" y="1100422"/>
              <a:ext cx="188844" cy="188844"/>
            </a:xfrm>
            <a:prstGeom prst="ellipse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1</a:t>
              </a:r>
              <a:endPara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7" name="椭圆 26">
              <a:extLst>
                <a:ext uri="{FF2B5EF4-FFF2-40B4-BE49-F238E27FC236}">
                  <a16:creationId xmlns:a16="http://schemas.microsoft.com/office/drawing/2014/main" id="{E220AAB1-D240-07F1-FB7E-D62C2C3077CF}"/>
                </a:ext>
              </a:extLst>
            </p:cNvPr>
            <p:cNvSpPr/>
            <p:nvPr/>
          </p:nvSpPr>
          <p:spPr>
            <a:xfrm>
              <a:off x="7478791" y="1028313"/>
              <a:ext cx="188844" cy="188844"/>
            </a:xfrm>
            <a:prstGeom prst="ellipse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2</a:t>
              </a:r>
              <a:endPara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8" name="椭圆 27">
              <a:extLst>
                <a:ext uri="{FF2B5EF4-FFF2-40B4-BE49-F238E27FC236}">
                  <a16:creationId xmlns:a16="http://schemas.microsoft.com/office/drawing/2014/main" id="{938402F6-1FEB-B324-34DF-6649A95C6D7B}"/>
                </a:ext>
              </a:extLst>
            </p:cNvPr>
            <p:cNvSpPr/>
            <p:nvPr/>
          </p:nvSpPr>
          <p:spPr>
            <a:xfrm>
              <a:off x="7836918" y="1521403"/>
              <a:ext cx="188844" cy="188844"/>
            </a:xfrm>
            <a:prstGeom prst="ellipse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3</a:t>
              </a:r>
              <a:endPara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9" name="椭圆 28">
              <a:extLst>
                <a:ext uri="{FF2B5EF4-FFF2-40B4-BE49-F238E27FC236}">
                  <a16:creationId xmlns:a16="http://schemas.microsoft.com/office/drawing/2014/main" id="{F54B76D4-94D3-4102-2F01-448D11D24080}"/>
                </a:ext>
              </a:extLst>
            </p:cNvPr>
            <p:cNvSpPr/>
            <p:nvPr/>
          </p:nvSpPr>
          <p:spPr>
            <a:xfrm>
              <a:off x="8314421" y="984976"/>
              <a:ext cx="188844" cy="188844"/>
            </a:xfrm>
            <a:prstGeom prst="ellipse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4</a:t>
              </a:r>
              <a:endPara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32" name="椭圆 31">
              <a:extLst>
                <a:ext uri="{FF2B5EF4-FFF2-40B4-BE49-F238E27FC236}">
                  <a16:creationId xmlns:a16="http://schemas.microsoft.com/office/drawing/2014/main" id="{C5C05E2A-5727-3A1A-A85E-BF3E12D67611}"/>
                </a:ext>
              </a:extLst>
            </p:cNvPr>
            <p:cNvSpPr/>
            <p:nvPr/>
          </p:nvSpPr>
          <p:spPr>
            <a:xfrm>
              <a:off x="9036273" y="926262"/>
              <a:ext cx="188844" cy="188844"/>
            </a:xfrm>
            <a:prstGeom prst="ellipse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4</a:t>
              </a:r>
              <a:endPara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54" name="组合 53">
            <a:extLst>
              <a:ext uri="{FF2B5EF4-FFF2-40B4-BE49-F238E27FC236}">
                <a16:creationId xmlns:a16="http://schemas.microsoft.com/office/drawing/2014/main" id="{B29E469C-B204-7879-EAB5-EE9DC5CC5BEE}"/>
              </a:ext>
            </a:extLst>
          </p:cNvPr>
          <p:cNvGrpSpPr/>
          <p:nvPr/>
        </p:nvGrpSpPr>
        <p:grpSpPr>
          <a:xfrm>
            <a:off x="5025284" y="995099"/>
            <a:ext cx="6809124" cy="540000"/>
            <a:chOff x="5025284" y="995099"/>
            <a:chExt cx="6809124" cy="540000"/>
          </a:xfrm>
        </p:grpSpPr>
        <p:sp>
          <p:nvSpPr>
            <p:cNvPr id="35" name="矩形 34">
              <a:extLst>
                <a:ext uri="{FF2B5EF4-FFF2-40B4-BE49-F238E27FC236}">
                  <a16:creationId xmlns:a16="http://schemas.microsoft.com/office/drawing/2014/main" id="{394AA105-720A-ED7A-F2ED-BF9DA07E17D1}"/>
                </a:ext>
              </a:extLst>
            </p:cNvPr>
            <p:cNvSpPr/>
            <p:nvPr/>
          </p:nvSpPr>
          <p:spPr>
            <a:xfrm>
              <a:off x="8724700" y="995099"/>
              <a:ext cx="1260000" cy="54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lang="zh-CN" altLang="en-US" sz="1600" b="1" dirty="0">
                  <a:solidFill>
                    <a:schemeClr val="accent1">
                      <a:lumMod val="5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周层界</a:t>
              </a:r>
              <a:endParaRPr lang="en-US" altLang="zh-CN" sz="1600" b="1" dirty="0">
                <a:solidFill>
                  <a:schemeClr val="accent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800">
                  <a:solidFill>
                    <a:schemeClr val="accent1">
                      <a:lumMod val="5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区分主升与</a:t>
              </a:r>
              <a:r>
                <a:rPr lang="zh-CN" altLang="en-US" sz="800" dirty="0">
                  <a:solidFill>
                    <a:schemeClr val="accent1">
                      <a:lumMod val="5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震荡</a:t>
              </a:r>
              <a:endParaRPr lang="en-US" altLang="zh-CN" sz="800" dirty="0">
                <a:solidFill>
                  <a:schemeClr val="accent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800" dirty="0">
                  <a:solidFill>
                    <a:schemeClr val="accent1">
                      <a:lumMod val="5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圈定操作区域</a:t>
              </a:r>
            </a:p>
            <a:p>
              <a:pPr algn="ctr"/>
              <a:r>
                <a:rPr lang="zh-CN" altLang="en-US" sz="800">
                  <a:solidFill>
                    <a:schemeClr val="accent1">
                      <a:lumMod val="5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圈定主升区域</a:t>
              </a:r>
              <a:endParaRPr lang="zh-CN" altLang="en-US" sz="800" dirty="0">
                <a:solidFill>
                  <a:schemeClr val="accent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矩形 35">
              <a:extLst>
                <a:ext uri="{FF2B5EF4-FFF2-40B4-BE49-F238E27FC236}">
                  <a16:creationId xmlns:a16="http://schemas.microsoft.com/office/drawing/2014/main" id="{5214519A-C655-0306-C3EE-BE4073DB62D9}"/>
                </a:ext>
              </a:extLst>
            </p:cNvPr>
            <p:cNvSpPr/>
            <p:nvPr/>
          </p:nvSpPr>
          <p:spPr>
            <a:xfrm>
              <a:off x="6874992" y="995099"/>
              <a:ext cx="1260000" cy="54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lang="zh-CN" altLang="en-US" sz="1600" b="1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周层类</a:t>
              </a:r>
              <a:endParaRPr lang="en-US" altLang="zh-CN" sz="1600" b="1" dirty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800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区分劫</a:t>
              </a:r>
              <a:endParaRPr lang="en-US" altLang="zh-CN" sz="800" dirty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矩形 39">
              <a:extLst>
                <a:ext uri="{FF2B5EF4-FFF2-40B4-BE49-F238E27FC236}">
                  <a16:creationId xmlns:a16="http://schemas.microsoft.com/office/drawing/2014/main" id="{55F7E930-F8C5-7AED-95D1-6F2145D90AB9}"/>
                </a:ext>
              </a:extLst>
            </p:cNvPr>
            <p:cNvSpPr/>
            <p:nvPr/>
          </p:nvSpPr>
          <p:spPr>
            <a:xfrm>
              <a:off x="5025284" y="995099"/>
              <a:ext cx="1260000" cy="54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lang="en-US" altLang="zh-CN" sz="1600" b="1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WJC</a:t>
              </a:r>
              <a:r>
                <a:rPr lang="zh-CN" altLang="en-US" sz="1600" b="1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丘</a:t>
              </a:r>
              <a:endParaRPr lang="en-US" altLang="zh-CN" sz="1600" b="1" dirty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800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完全以</a:t>
              </a:r>
              <a:r>
                <a:rPr lang="en-US" altLang="zh-CN" sz="800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WJC</a:t>
              </a:r>
              <a:r>
                <a:rPr lang="zh-CN" altLang="en-US" sz="800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为界</a:t>
              </a:r>
            </a:p>
          </p:txBody>
        </p:sp>
        <p:sp>
          <p:nvSpPr>
            <p:cNvPr id="41" name="矩形 40">
              <a:extLst>
                <a:ext uri="{FF2B5EF4-FFF2-40B4-BE49-F238E27FC236}">
                  <a16:creationId xmlns:a16="http://schemas.microsoft.com/office/drawing/2014/main" id="{804F202F-A188-3408-FE04-5FD937385447}"/>
                </a:ext>
              </a:extLst>
            </p:cNvPr>
            <p:cNvSpPr/>
            <p:nvPr/>
          </p:nvSpPr>
          <p:spPr>
            <a:xfrm>
              <a:off x="10574408" y="995099"/>
              <a:ext cx="1260000" cy="54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lang="zh-CN" altLang="en-US" sz="1600" b="1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周层护型</a:t>
              </a:r>
              <a:endParaRPr lang="en-US" altLang="zh-CN" sz="1600" b="1" dirty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800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区分</a:t>
              </a:r>
              <a:r>
                <a:rPr lang="en-US" altLang="zh-CN" sz="800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WJA</a:t>
              </a:r>
              <a:r>
                <a:rPr lang="zh-CN" altLang="en-US" sz="800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柱排列</a:t>
              </a:r>
            </a:p>
          </p:txBody>
        </p:sp>
        <p:sp>
          <p:nvSpPr>
            <p:cNvPr id="42" name="箭头: 右 41">
              <a:extLst>
                <a:ext uri="{FF2B5EF4-FFF2-40B4-BE49-F238E27FC236}">
                  <a16:creationId xmlns:a16="http://schemas.microsoft.com/office/drawing/2014/main" id="{80C9F256-4AEC-ED52-ADED-124910E55ABE}"/>
                </a:ext>
              </a:extLst>
            </p:cNvPr>
            <p:cNvSpPr/>
            <p:nvPr/>
          </p:nvSpPr>
          <p:spPr>
            <a:xfrm>
              <a:off x="6305772" y="1083986"/>
              <a:ext cx="548732" cy="264712"/>
            </a:xfrm>
            <a:prstGeom prst="rightArrow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箭头: 右 42">
              <a:extLst>
                <a:ext uri="{FF2B5EF4-FFF2-40B4-BE49-F238E27FC236}">
                  <a16:creationId xmlns:a16="http://schemas.microsoft.com/office/drawing/2014/main" id="{ECC2595E-9041-D76D-4B0A-19CC03B928B2}"/>
                </a:ext>
              </a:extLst>
            </p:cNvPr>
            <p:cNvSpPr/>
            <p:nvPr/>
          </p:nvSpPr>
          <p:spPr>
            <a:xfrm>
              <a:off x="8155480" y="1083986"/>
              <a:ext cx="548732" cy="264712"/>
            </a:xfrm>
            <a:prstGeom prst="rightArrow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箭头: 右 43">
              <a:extLst>
                <a:ext uri="{FF2B5EF4-FFF2-40B4-BE49-F238E27FC236}">
                  <a16:creationId xmlns:a16="http://schemas.microsoft.com/office/drawing/2014/main" id="{A6BD354B-3823-803D-D210-4DA5CC5B1558}"/>
                </a:ext>
              </a:extLst>
            </p:cNvPr>
            <p:cNvSpPr/>
            <p:nvPr/>
          </p:nvSpPr>
          <p:spPr>
            <a:xfrm>
              <a:off x="10005188" y="1083986"/>
              <a:ext cx="548732" cy="264712"/>
            </a:xfrm>
            <a:prstGeom prst="rightArrow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7" name="文本框 46">
            <a:extLst>
              <a:ext uri="{FF2B5EF4-FFF2-40B4-BE49-F238E27FC236}">
                <a16:creationId xmlns:a16="http://schemas.microsoft.com/office/drawing/2014/main" id="{0008986F-8D2F-3373-DF14-E55179F210E3}"/>
              </a:ext>
            </a:extLst>
          </p:cNvPr>
          <p:cNvSpPr txBox="1"/>
          <p:nvPr/>
        </p:nvSpPr>
        <p:spPr>
          <a:xfrm>
            <a:off x="5229368" y="1639656"/>
            <a:ext cx="640095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周层界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优化过程：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整理各劫动线，区分动线中信号方向。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GA   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：不按是否合顶区分，除触顶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(/a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外，按劫型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天劫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区分，其中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劫区分柱排列。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BCD 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：仅将顶型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龙单列，其余区分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柱排列，放弃雀单列。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层储    ：不看顶型与柱排列，只区分周局。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注：不要将雀单独列示，因为触哼不触鼎可能只是诱多，将其与虎同等处理，只将龙单列。〇代表天劫。</a:t>
            </a: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DE4F767D-D2FB-2B30-5E59-5BB1A4B40AA1}"/>
              </a:ext>
            </a:extLst>
          </p:cNvPr>
          <p:cNvSpPr txBox="1"/>
          <p:nvPr/>
        </p:nvSpPr>
        <p:spPr>
          <a:xfrm>
            <a:off x="5305270" y="708594"/>
            <a:ext cx="292962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进化路径：周层界</a:t>
            </a:r>
            <a:endParaRPr lang="en-US" altLang="zh-CN" sz="12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文本框 54">
            <a:extLst>
              <a:ext uri="{FF2B5EF4-FFF2-40B4-BE49-F238E27FC236}">
                <a16:creationId xmlns:a16="http://schemas.microsoft.com/office/drawing/2014/main" id="{8B3DD570-5A2F-794C-DD86-DEE70343C26F}"/>
              </a:ext>
            </a:extLst>
          </p:cNvPr>
          <p:cNvSpPr txBox="1"/>
          <p:nvPr/>
        </p:nvSpPr>
        <p:spPr>
          <a:xfrm>
            <a:off x="12189115" y="4735084"/>
            <a:ext cx="2646878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dirty="0"/>
              <a:t>是否对</a:t>
            </a:r>
            <a:r>
              <a:rPr lang="en-US" altLang="zh-CN" sz="1200" dirty="0"/>
              <a:t>【</a:t>
            </a:r>
            <a:r>
              <a:rPr lang="zh-CN" altLang="en-US" sz="1200" dirty="0"/>
              <a:t>储</a:t>
            </a:r>
            <a:r>
              <a:rPr lang="en-US" altLang="zh-CN" sz="1200" dirty="0"/>
              <a:t>】</a:t>
            </a:r>
            <a:r>
              <a:rPr lang="zh-CN" altLang="en-US" sz="1200" dirty="0"/>
              <a:t>进行以下分类：</a:t>
            </a:r>
            <a:endParaRPr lang="en-US" altLang="zh-CN" sz="12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200" dirty="0"/>
              <a:t>a</a:t>
            </a:r>
            <a:r>
              <a:rPr lang="zh-CN" altLang="en-US" sz="1200" dirty="0"/>
              <a:t>龙</a:t>
            </a:r>
            <a:endParaRPr lang="en-US" altLang="zh-CN" sz="12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200" dirty="0"/>
              <a:t>b</a:t>
            </a:r>
            <a:r>
              <a:rPr lang="zh-CN" altLang="en-US" sz="1200" dirty="0"/>
              <a:t>龙</a:t>
            </a:r>
            <a:endParaRPr lang="en-US" altLang="zh-CN" sz="12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200" dirty="0"/>
              <a:t>芽</a:t>
            </a:r>
            <a:endParaRPr lang="en-US" altLang="zh-CN" sz="12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200" dirty="0"/>
              <a:t>根</a:t>
            </a:r>
            <a:endParaRPr lang="en-US" altLang="zh-CN" sz="1200" dirty="0"/>
          </a:p>
          <a:p>
            <a:r>
              <a:rPr lang="zh-CN" altLang="en-US" sz="1200" dirty="0"/>
              <a:t>是否按</a:t>
            </a:r>
            <a:r>
              <a:rPr lang="en-US" altLang="zh-CN" sz="1200" dirty="0"/>
              <a:t>【</a:t>
            </a:r>
            <a:r>
              <a:rPr lang="zh-CN" altLang="en-US" sz="1200" dirty="0"/>
              <a:t>哼</a:t>
            </a:r>
            <a:r>
              <a:rPr lang="en-US" altLang="zh-CN" sz="1200" dirty="0"/>
              <a:t>】</a:t>
            </a:r>
            <a:r>
              <a:rPr lang="zh-CN" altLang="en-US" sz="1200" dirty="0"/>
              <a:t>而非按</a:t>
            </a:r>
            <a:r>
              <a:rPr lang="en-US" altLang="zh-CN" sz="1200" dirty="0"/>
              <a:t>【</a:t>
            </a:r>
            <a:r>
              <a:rPr lang="zh-CN" altLang="en-US" sz="1200" dirty="0"/>
              <a:t>顶</a:t>
            </a:r>
            <a:r>
              <a:rPr lang="en-US" altLang="zh-CN" sz="1200" dirty="0"/>
              <a:t>】</a:t>
            </a:r>
            <a:r>
              <a:rPr lang="zh-CN" altLang="en-US" sz="1200" dirty="0"/>
              <a:t>进行分类</a:t>
            </a:r>
          </a:p>
        </p:txBody>
      </p:sp>
      <p:sp>
        <p:nvSpPr>
          <p:cNvPr id="56" name="文本框 55">
            <a:extLst>
              <a:ext uri="{FF2B5EF4-FFF2-40B4-BE49-F238E27FC236}">
                <a16:creationId xmlns:a16="http://schemas.microsoft.com/office/drawing/2014/main" id="{B90064D4-A9D0-0549-2A95-6F84157741CE}"/>
              </a:ext>
            </a:extLst>
          </p:cNvPr>
          <p:cNvSpPr txBox="1"/>
          <p:nvPr/>
        </p:nvSpPr>
        <p:spPr>
          <a:xfrm>
            <a:off x="12189115" y="3735405"/>
            <a:ext cx="156966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dirty="0"/>
              <a:t>是否合并以下分类：</a:t>
            </a:r>
            <a:endParaRPr lang="en-US" altLang="zh-CN" sz="1200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/>
              <a:t>初</a:t>
            </a:r>
            <a:r>
              <a:rPr lang="en-US" altLang="zh-CN" sz="1200" dirty="0"/>
              <a:t>A</a:t>
            </a:r>
            <a:r>
              <a:rPr lang="zh-CN" altLang="en-US" sz="1200" dirty="0"/>
              <a:t>震虎〇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/>
              <a:t>初</a:t>
            </a:r>
            <a:r>
              <a:rPr lang="en-US" altLang="zh-CN" sz="1200" dirty="0"/>
              <a:t>A</a:t>
            </a:r>
            <a:r>
              <a:rPr lang="zh-CN" altLang="en-US" sz="1200" dirty="0"/>
              <a:t>震芽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C582BE31-7704-4472-8E00-AA3C85B55350}"/>
              </a:ext>
            </a:extLst>
          </p:cNvPr>
          <p:cNvSpPr txBox="1"/>
          <p:nvPr/>
        </p:nvSpPr>
        <p:spPr>
          <a:xfrm>
            <a:off x="12189115" y="2532484"/>
            <a:ext cx="4163704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dirty="0"/>
              <a:t>触管：</a:t>
            </a:r>
            <a:endParaRPr lang="en-US" altLang="zh-CN" sz="1200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/>
              <a:t>由柱高点</a:t>
            </a:r>
            <a:r>
              <a:rPr lang="en-US" altLang="zh-CN" sz="1200" dirty="0"/>
              <a:t>[</a:t>
            </a:r>
            <a:r>
              <a:rPr lang="zh-CN" altLang="en-US" sz="1200" dirty="0"/>
              <a:t>哼</a:t>
            </a:r>
            <a:r>
              <a:rPr lang="en-US" altLang="zh-CN" sz="1200" dirty="0"/>
              <a:t>]</a:t>
            </a:r>
            <a:r>
              <a:rPr lang="zh-CN" altLang="en-US" sz="1200" dirty="0"/>
              <a:t>与</a:t>
            </a:r>
            <a:r>
              <a:rPr lang="en-US" altLang="zh-CN" sz="1200" dirty="0"/>
              <a:t>WJA</a:t>
            </a:r>
            <a:r>
              <a:rPr lang="zh-CN" altLang="en-US" sz="1200" dirty="0"/>
              <a:t>组成的管。</a:t>
            </a:r>
            <a:endParaRPr lang="en-US" altLang="zh-CN" sz="1200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/>
              <a:t>理想情况是柱在管内均匀分布，且上下有支撑。</a:t>
            </a:r>
            <a:endParaRPr lang="en-US" altLang="zh-CN" sz="1200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/>
              <a:t>向上特殊情况：连续触顶，且脱离</a:t>
            </a:r>
            <a:r>
              <a:rPr lang="en-US" altLang="zh-CN" sz="1200" dirty="0"/>
              <a:t>WJA</a:t>
            </a:r>
            <a:r>
              <a:rPr lang="zh-CN" altLang="en-US" sz="1200" dirty="0"/>
              <a:t>。管宽忽然放大。</a:t>
            </a:r>
            <a:endParaRPr lang="en-US" altLang="zh-CN" sz="1200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/>
              <a:t>向下特殊情况：</a:t>
            </a:r>
            <a:r>
              <a:rPr lang="en-US" altLang="zh-CN" sz="1200" dirty="0"/>
              <a:t>/</a:t>
            </a:r>
            <a:r>
              <a:rPr lang="zh-CN" altLang="en-US" sz="1200" dirty="0"/>
              <a:t>跌连</a:t>
            </a:r>
            <a:r>
              <a:rPr lang="en-US" altLang="zh-CN" sz="1200" dirty="0"/>
              <a:t>/</a:t>
            </a:r>
            <a:r>
              <a:rPr lang="zh-CN" altLang="en-US" sz="1200" dirty="0"/>
              <a:t>下破</a:t>
            </a:r>
            <a:r>
              <a:rPr lang="en-US" altLang="zh-CN" sz="1200" dirty="0"/>
              <a:t>WJA</a:t>
            </a:r>
            <a:endParaRPr lang="zh-CN" altLang="en-US" sz="1200" dirty="0"/>
          </a:p>
        </p:txBody>
      </p:sp>
    </p:spTree>
    <p:extLst>
      <p:ext uri="{BB962C8B-B14F-4D97-AF65-F5344CB8AC3E}">
        <p14:creationId xmlns:p14="http://schemas.microsoft.com/office/powerpoint/2010/main" val="3229173700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周层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警机矩阵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b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针对各种条件给出判定条件与应对策略，分别总结：虚拟仓位、是否止盈、是否机、期望柱排、是否止损。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5E7AE227-4CB6-069C-D334-DF8C2CEF7FA4}"/>
              </a:ext>
            </a:extLst>
          </p:cNvPr>
          <p:cNvGraphicFramePr>
            <a:graphicFrameLocks noGrp="1"/>
          </p:cNvGraphicFramePr>
          <p:nvPr/>
        </p:nvGraphicFramePr>
        <p:xfrm>
          <a:off x="0" y="720000"/>
          <a:ext cx="12189117" cy="613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0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8837">
                  <a:extLst>
                    <a:ext uri="{9D8B030D-6E8A-4147-A177-3AD203B41FA5}">
                      <a16:colId xmlns:a16="http://schemas.microsoft.com/office/drawing/2014/main" val="1410670758"/>
                    </a:ext>
                  </a:extLst>
                </a:gridCol>
                <a:gridCol w="24599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6588">
                  <a:extLst>
                    <a:ext uri="{9D8B030D-6E8A-4147-A177-3AD203B41FA5}">
                      <a16:colId xmlns:a16="http://schemas.microsoft.com/office/drawing/2014/main" val="4025462016"/>
                    </a:ext>
                  </a:extLst>
                </a:gridCol>
                <a:gridCol w="1310806">
                  <a:extLst>
                    <a:ext uri="{9D8B030D-6E8A-4147-A177-3AD203B41FA5}">
                      <a16:colId xmlns:a16="http://schemas.microsoft.com/office/drawing/2014/main" val="3158074539"/>
                    </a:ext>
                  </a:extLst>
                </a:gridCol>
                <a:gridCol w="1332203">
                  <a:extLst>
                    <a:ext uri="{9D8B030D-6E8A-4147-A177-3AD203B41FA5}">
                      <a16:colId xmlns:a16="http://schemas.microsoft.com/office/drawing/2014/main" val="3778596539"/>
                    </a:ext>
                  </a:extLst>
                </a:gridCol>
                <a:gridCol w="2185344">
                  <a:extLst>
                    <a:ext uri="{9D8B030D-6E8A-4147-A177-3AD203B41FA5}">
                      <a16:colId xmlns:a16="http://schemas.microsoft.com/office/drawing/2014/main" val="3340612915"/>
                    </a:ext>
                  </a:extLst>
                </a:gridCol>
                <a:gridCol w="1510292">
                  <a:extLst>
                    <a:ext uri="{9D8B030D-6E8A-4147-A177-3AD203B41FA5}">
                      <a16:colId xmlns:a16="http://schemas.microsoft.com/office/drawing/2014/main" val="4037689206"/>
                    </a:ext>
                  </a:extLst>
                </a:gridCol>
                <a:gridCol w="159419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6000">
                <a:tc>
                  <a:txBody>
                    <a:bodyPr/>
                    <a:lstStyle/>
                    <a:p>
                      <a:r>
                        <a:rPr lang="zh-CN" altLang="en-US" sz="11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</a:p>
                  </a:txBody>
                  <a:tcPr>
                    <a:lnL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段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层类子类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虚拟仓位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禁仓：是否止损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警仓（是否止盈）</a:t>
                      </a:r>
                      <a:endParaRPr lang="en-US" altLang="zh-CN" sz="9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仅参考不强制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机：冲仓</a:t>
                      </a:r>
                      <a:r>
                        <a:rPr lang="en-US" altLang="zh-CN" sz="9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9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试仓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常仓：特殊形态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i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备注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684049"/>
                  </a:ext>
                </a:extLst>
              </a:tr>
              <a:tr h="363000">
                <a:tc rowSpan="10">
                  <a:txBody>
                    <a:bodyPr/>
                    <a:lstStyle/>
                    <a:p>
                      <a:pPr algn="ctr"/>
                      <a:r>
                        <a:rPr lang="zh-CN" altLang="en-US" sz="12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周段芽</a:t>
                      </a:r>
                    </a:p>
                  </a:txBody>
                  <a:tcPr vert="vert270" anchor="ctr">
                    <a:lnL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tc rowSpan="3"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</a:p>
                    <a:p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a/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哼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a)</a:t>
                      </a:r>
                      <a:endParaRPr lang="zh-CN" altLang="en-US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是否止盈？宽偏连</a:t>
                      </a:r>
                      <a:endParaRPr lang="en-US" altLang="zh-CN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         只警告不强制清仓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警盈：高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&gt;15 / 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连阳≥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触管冲高过程不看管宽</a:t>
                      </a:r>
                      <a:endParaRPr lang="en-US" altLang="zh-CN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孕</a:t>
                      </a:r>
                      <a:r>
                        <a:rPr lang="en-US" altLang="zh-CN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altLang="en-US" sz="800" b="0" i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最后一柱的特征：</a:t>
                      </a:r>
                      <a:endParaRPr lang="en-US" altLang="zh-CN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l"/>
                      <a:r>
                        <a:rPr lang="en-US" altLang="zh-CN" sz="800" b="0" i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i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巨阳</a:t>
                      </a:r>
                      <a:r>
                        <a:rPr lang="en-US" altLang="zh-CN" sz="800" b="0" i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i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长上影</a:t>
                      </a:r>
                      <a:r>
                        <a:rPr lang="en-US" altLang="zh-CN" sz="800" b="0" i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i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endParaRPr lang="en-US" altLang="zh-CN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6940014"/>
                  </a:ext>
                </a:extLst>
              </a:tr>
              <a:tr h="23100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是否柱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排为升排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？赌下柱冲高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升：升排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（冲高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止盈）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zh-CN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043641"/>
                  </a:ext>
                </a:extLst>
              </a:tr>
              <a:tr h="231000">
                <a:tc vMerge="1">
                  <a:txBody>
                    <a:bodyPr/>
                    <a:lstStyle/>
                    <a:p>
                      <a:endParaRPr lang="en-US" altLang="zh-CN" sz="10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5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5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常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出现止升信号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：柱排为人排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跌排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常仓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5000">
                <a:tc vMerge="1">
                  <a:txBody>
                    <a:bodyPr/>
                    <a:lstStyle/>
                    <a:p>
                      <a:endParaRPr lang="en-US" altLang="zh-CN" sz="10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</a:p>
                    <a:p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b/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哼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b)</a:t>
                      </a:r>
                      <a:endParaRPr lang="zh-CN" altLang="en-US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判定是否已冲高？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触管内关注管宽：</a:t>
                      </a:r>
                      <a:endParaRPr lang="en-US" altLang="zh-CN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警宽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&gt;20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等待回落不要进入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3000">
                <a:tc vMerge="1"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vert="vert27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5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5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是否柱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排为升排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？赌下柱冲高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升：升排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（冲高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止盈）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孕</a:t>
                      </a:r>
                      <a:r>
                        <a:rPr lang="en-US" altLang="zh-CN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特四栅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0408068"/>
                  </a:ext>
                </a:extLst>
              </a:tr>
              <a:tr h="363000">
                <a:tc vMerge="1"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vert="vert27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5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5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试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是否捡漏？</a:t>
                      </a:r>
                      <a:endParaRPr lang="en-US" altLang="zh-CN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         针对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人排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跌排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阴柱进行试仓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试仓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试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跌（冲高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止盈）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3875112"/>
                  </a:ext>
                </a:extLst>
              </a:tr>
              <a:tr h="23100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5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5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常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未冲高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，非升排</a:t>
                      </a: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常仓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2131146"/>
                  </a:ext>
                </a:extLst>
              </a:tr>
              <a:tr h="363000">
                <a:tc vMerge="1"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vert="vert27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〇管</a:t>
                      </a:r>
                      <a:endParaRPr lang="en-US" altLang="zh-CN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芽管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判定是否已冲高？用丘而非管宽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警仓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警丘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&gt;30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已冲高应已止盈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8773468"/>
                  </a:ext>
                </a:extLst>
              </a:tr>
              <a:tr h="49500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试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是否柱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排为升排？升排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进行试仓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试仓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试〇升：升排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（冲高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止盈）</a:t>
                      </a:r>
                      <a:endParaRPr lang="en-US" altLang="zh-CN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试孕芽：突破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后回踩孕阴</a:t>
                      </a:r>
                      <a:endParaRPr lang="en-US" altLang="zh-CN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试继鼎：形成柱栅</a:t>
                      </a:r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i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特首忐：等回踩确认</a:t>
                      </a:r>
                      <a:endParaRPr lang="en-US" altLang="zh-CN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/W3h/W2I</a:t>
                      </a: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9253040"/>
                  </a:ext>
                </a:extLst>
              </a:tr>
              <a:tr h="23100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5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5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勿进入。未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形成上升信号</a:t>
                      </a: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85000"/>
                        <a:lumOff val="1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563303"/>
                  </a:ext>
                </a:extLst>
              </a:tr>
              <a:tr h="231000">
                <a:tc rowSpan="5">
                  <a:txBody>
                    <a:bodyPr/>
                    <a:lstStyle/>
                    <a:p>
                      <a:pPr algn="ctr"/>
                      <a:r>
                        <a:rPr lang="zh-CN" altLang="en-US" sz="12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周段根</a:t>
                      </a:r>
                    </a:p>
                  </a:txBody>
                  <a:tcPr vert="vert270" anchor="ctr">
                    <a:lnL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endParaRPr lang="zh-CN" altLang="en-US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判定已冲高？用丘而非管宽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85000"/>
                        <a:lumOff val="1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禁丘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&gt;30 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下破提前止损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4040378"/>
                  </a:ext>
                </a:extLst>
              </a:tr>
              <a:tr h="36300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5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5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常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只关注捡漏，不尝试止损。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常仓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不止损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警排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特首忑：赌下柱回弹</a:t>
                      </a:r>
                      <a:endParaRPr lang="en-US" altLang="zh-CN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赌第二柱站上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WJA</a:t>
                      </a: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0723096"/>
                  </a:ext>
                </a:extLst>
              </a:tr>
              <a:tr h="231000">
                <a:tc vMerge="1"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vert="vert27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endParaRPr lang="zh-CN" altLang="en-US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判定已冲高？用丘而非管宽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85000"/>
                        <a:lumOff val="1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禁丘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&gt;30 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下破提前止损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3012605"/>
                  </a:ext>
                </a:extLst>
              </a:tr>
              <a:tr h="36300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不主动进入，只被动持有。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         少数情况可以提前止损</a:t>
                      </a:r>
                      <a:endParaRPr lang="en-US" altLang="zh-CN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警仓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常仓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不止损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警哈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a/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警哈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警排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581552"/>
                  </a:ext>
                </a:extLst>
              </a:tr>
              <a:tr h="231000">
                <a:tc vMerge="1"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vert="vert27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endParaRPr lang="zh-CN" altLang="en-US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85000"/>
                        <a:lumOff val="1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强制止损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7164868"/>
                  </a:ext>
                </a:extLst>
              </a:tr>
              <a:tr h="231000">
                <a:tc rowSpan="3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12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</a:t>
                      </a:r>
                    </a:p>
                  </a:txBody>
                  <a:tcPr vert="vert270" anchor="ctr">
                    <a:lnL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WXZB&lt;0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85000"/>
                        <a:lumOff val="1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89344"/>
                  </a:ext>
                </a:extLst>
              </a:tr>
              <a:tr h="363000">
                <a:tc vMerge="1"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vert="vert27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endParaRPr lang="zh-CN" altLang="en-US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纳入观察备选。</a:t>
                      </a:r>
                      <a:endParaRPr lang="en-US" altLang="zh-CN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操作范围为：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WXZC&gt;0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WXZB&gt;0</a:t>
                      </a: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禁仓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85000"/>
                        <a:lumOff val="1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63077"/>
                  </a:ext>
                </a:extLst>
              </a:tr>
              <a:tr h="363000">
                <a:tc vMerge="1"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vert="vert27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endParaRPr lang="zh-CN" altLang="en-US" sz="8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试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是否即将突破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？</a:t>
                      </a:r>
                      <a:endParaRPr lang="en-US" altLang="zh-CN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P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试仓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升：升排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（冲高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止盈）</a:t>
                      </a:r>
                      <a:endParaRPr lang="en-US" altLang="zh-CN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</a:t>
                      </a:r>
                      <a:r>
                        <a:rPr lang="en-US" altLang="zh-CN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r>
                        <a:rPr lang="zh-CN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升：升排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（冲高</a:t>
                      </a:r>
                      <a:r>
                        <a:rPr lang="en-US" altLang="zh-CN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zh-CN" altLang="en-US" sz="8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止盈）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altLang="en-US" sz="800" b="0" i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6417180"/>
                  </a:ext>
                </a:extLst>
              </a:tr>
            </a:tbl>
          </a:graphicData>
        </a:graphic>
      </p:graphicFrame>
      <p:sp>
        <p:nvSpPr>
          <p:cNvPr id="4" name="文本框 3">
            <a:extLst>
              <a:ext uri="{FF2B5EF4-FFF2-40B4-BE49-F238E27FC236}">
                <a16:creationId xmlns:a16="http://schemas.microsoft.com/office/drawing/2014/main" id="{3C1DA8AD-1553-2B48-5344-DF61D1B5EA80}"/>
              </a:ext>
            </a:extLst>
          </p:cNvPr>
          <p:cNvSpPr txBox="1"/>
          <p:nvPr/>
        </p:nvSpPr>
        <p:spPr>
          <a:xfrm>
            <a:off x="12189115" y="3735405"/>
            <a:ext cx="24929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dirty="0"/>
              <a:t>要找出各区域中的下</a:t>
            </a:r>
            <a:r>
              <a:rPr lang="zh-CN" altLang="en-US" sz="1200"/>
              <a:t>柱必升状态</a:t>
            </a:r>
            <a:r>
              <a:rPr lang="zh-CN" altLang="en-US" sz="1200" dirty="0"/>
              <a:t>。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25ACA704-E1DC-2FB1-B053-3EEB92D70E75}"/>
              </a:ext>
            </a:extLst>
          </p:cNvPr>
          <p:cNvSpPr txBox="1"/>
          <p:nvPr/>
        </p:nvSpPr>
        <p:spPr>
          <a:xfrm>
            <a:off x="9556663" y="0"/>
            <a:ext cx="2632452" cy="707886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整理周层段列表分析</a:t>
            </a:r>
            <a:endParaRPr lang="en-US" altLang="zh-CN" sz="10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验证持仓决策图算法有效性</a:t>
            </a:r>
            <a:r>
              <a:rPr lang="en-US" altLang="zh-CN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=》</a:t>
            </a:r>
            <a:r>
              <a:rPr lang="zh-CN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定制仓位</a:t>
            </a:r>
            <a:endParaRPr lang="en-US" altLang="zh-CN" sz="10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验证柱排有效并结合均线细化</a:t>
            </a:r>
            <a:endParaRPr lang="en-US" altLang="zh-CN" sz="10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最后实现</a:t>
            </a:r>
            <a:r>
              <a:rPr lang="en-US" altLang="zh-CN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《VBA</a:t>
            </a:r>
            <a:r>
              <a:rPr lang="zh-CN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行程单</a:t>
            </a:r>
            <a:r>
              <a:rPr lang="en-US" altLang="zh-CN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endParaRPr lang="zh-CN" altLang="en-US" sz="10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819072419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" name="矩形 329">
            <a:extLst>
              <a:ext uri="{FF2B5EF4-FFF2-40B4-BE49-F238E27FC236}">
                <a16:creationId xmlns:a16="http://schemas.microsoft.com/office/drawing/2014/main" id="{51F528F5-528A-6751-6A82-08D340A35D58}"/>
              </a:ext>
            </a:extLst>
          </p:cNvPr>
          <p:cNvSpPr/>
          <p:nvPr/>
        </p:nvSpPr>
        <p:spPr>
          <a:xfrm>
            <a:off x="0" y="717937"/>
            <a:ext cx="12192000" cy="2294119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78" name="矩形 377">
            <a:extLst>
              <a:ext uri="{FF2B5EF4-FFF2-40B4-BE49-F238E27FC236}">
                <a16:creationId xmlns:a16="http://schemas.microsoft.com/office/drawing/2014/main" id="{F1FF3259-88B4-F0C4-16E3-9E90E4F0C5ED}"/>
              </a:ext>
            </a:extLst>
          </p:cNvPr>
          <p:cNvSpPr/>
          <p:nvPr/>
        </p:nvSpPr>
        <p:spPr>
          <a:xfrm>
            <a:off x="3595804" y="2137140"/>
            <a:ext cx="8604000" cy="1725546"/>
          </a:xfrm>
          <a:prstGeom prst="rect">
            <a:avLst/>
          </a:prstGeom>
          <a:solidFill>
            <a:schemeClr val="tx2">
              <a:lumMod val="60000"/>
              <a:lumOff val="40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周类持仓决策图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周类持仓判定条件与应对策略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1E324DFE-FF3E-C8FF-9A10-F3BD2560587C}"/>
              </a:ext>
            </a:extLst>
          </p:cNvPr>
          <p:cNvSpPr/>
          <p:nvPr/>
        </p:nvSpPr>
        <p:spPr>
          <a:xfrm>
            <a:off x="1667434" y="1519826"/>
            <a:ext cx="1800000" cy="332076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菱形 3">
            <a:extLst>
              <a:ext uri="{FF2B5EF4-FFF2-40B4-BE49-F238E27FC236}">
                <a16:creationId xmlns:a16="http://schemas.microsoft.com/office/drawing/2014/main" id="{95ACDBA5-5E48-0397-D179-68016372178E}"/>
              </a:ext>
            </a:extLst>
          </p:cNvPr>
          <p:cNvSpPr/>
          <p:nvPr/>
        </p:nvSpPr>
        <p:spPr>
          <a:xfrm>
            <a:off x="1667434" y="1070892"/>
            <a:ext cx="1800000" cy="432000"/>
          </a:xfrm>
          <a:prstGeom prst="diamond">
            <a:avLst/>
          </a:prstGeom>
          <a:solidFill>
            <a:schemeClr val="accent2">
              <a:lumMod val="50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" name="菱形 9">
            <a:extLst>
              <a:ext uri="{FF2B5EF4-FFF2-40B4-BE49-F238E27FC236}">
                <a16:creationId xmlns:a16="http://schemas.microsoft.com/office/drawing/2014/main" id="{86E32C07-B65C-544A-3F60-506160817F01}"/>
              </a:ext>
            </a:extLst>
          </p:cNvPr>
          <p:cNvSpPr/>
          <p:nvPr/>
        </p:nvSpPr>
        <p:spPr>
          <a:xfrm>
            <a:off x="1667434" y="2154196"/>
            <a:ext cx="1800000" cy="432000"/>
          </a:xfrm>
          <a:prstGeom prst="diamond">
            <a:avLst/>
          </a:prstGeom>
          <a:solidFill>
            <a:schemeClr val="accent2">
              <a:lumMod val="50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71CE9D7C-1C5E-8D9B-4176-FB6EC9357C46}"/>
              </a:ext>
            </a:extLst>
          </p:cNvPr>
          <p:cNvSpPr/>
          <p:nvPr/>
        </p:nvSpPr>
        <p:spPr>
          <a:xfrm>
            <a:off x="1667434" y="2644794"/>
            <a:ext cx="1800000" cy="324000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菱形 11">
            <a:extLst>
              <a:ext uri="{FF2B5EF4-FFF2-40B4-BE49-F238E27FC236}">
                <a16:creationId xmlns:a16="http://schemas.microsoft.com/office/drawing/2014/main" id="{3C20FEB3-B31B-FE30-1230-10BE19394457}"/>
              </a:ext>
            </a:extLst>
          </p:cNvPr>
          <p:cNvSpPr/>
          <p:nvPr/>
        </p:nvSpPr>
        <p:spPr>
          <a:xfrm>
            <a:off x="1667434" y="3087955"/>
            <a:ext cx="1800000" cy="432000"/>
          </a:xfrm>
          <a:prstGeom prst="diamond">
            <a:avLst/>
          </a:prstGeom>
          <a:solidFill>
            <a:schemeClr val="accent6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EEB63C58-C21B-AB3F-3FDA-DAAD88D0A424}"/>
              </a:ext>
            </a:extLst>
          </p:cNvPr>
          <p:cNvSpPr/>
          <p:nvPr/>
        </p:nvSpPr>
        <p:spPr>
          <a:xfrm>
            <a:off x="1667434" y="3560525"/>
            <a:ext cx="1800000" cy="216000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菱形 13">
            <a:extLst>
              <a:ext uri="{FF2B5EF4-FFF2-40B4-BE49-F238E27FC236}">
                <a16:creationId xmlns:a16="http://schemas.microsoft.com/office/drawing/2014/main" id="{4F4BD6DE-364E-0F3D-1FEC-D85F7C51C17C}"/>
              </a:ext>
            </a:extLst>
          </p:cNvPr>
          <p:cNvSpPr/>
          <p:nvPr/>
        </p:nvSpPr>
        <p:spPr>
          <a:xfrm>
            <a:off x="1667434" y="3897693"/>
            <a:ext cx="1800000" cy="432000"/>
          </a:xfrm>
          <a:prstGeom prst="diamond">
            <a:avLst/>
          </a:prstGeom>
          <a:solidFill>
            <a:schemeClr val="accent6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62430A63-C10C-3D51-DBF2-9F31AD8E5151}"/>
              </a:ext>
            </a:extLst>
          </p:cNvPr>
          <p:cNvSpPr/>
          <p:nvPr/>
        </p:nvSpPr>
        <p:spPr>
          <a:xfrm>
            <a:off x="4140741" y="3990074"/>
            <a:ext cx="1080000" cy="252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菱形 15">
            <a:extLst>
              <a:ext uri="{FF2B5EF4-FFF2-40B4-BE49-F238E27FC236}">
                <a16:creationId xmlns:a16="http://schemas.microsoft.com/office/drawing/2014/main" id="{5C285982-30A5-EFBC-9834-A1C8F7DB4FC8}"/>
              </a:ext>
            </a:extLst>
          </p:cNvPr>
          <p:cNvSpPr/>
          <p:nvPr/>
        </p:nvSpPr>
        <p:spPr>
          <a:xfrm>
            <a:off x="5387906" y="5039293"/>
            <a:ext cx="1800000" cy="252000"/>
          </a:xfrm>
          <a:prstGeom prst="diamond">
            <a:avLst/>
          </a:prstGeom>
          <a:solidFill>
            <a:schemeClr val="accent6">
              <a:lumMod val="75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010612C0-62FC-71B0-2D15-28EF8FD4F5D0}"/>
              </a:ext>
            </a:extLst>
          </p:cNvPr>
          <p:cNvSpPr txBox="1"/>
          <p:nvPr/>
        </p:nvSpPr>
        <p:spPr>
          <a:xfrm>
            <a:off x="2204397" y="1123708"/>
            <a:ext cx="761747" cy="369332"/>
          </a:xfrm>
          <a:prstGeom prst="rect">
            <a:avLst/>
          </a:prstGeom>
          <a:noFill/>
          <a:ln w="12700"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判定丘模型</a:t>
            </a:r>
            <a:endParaRPr lang="en-US" altLang="zh-CN" sz="9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algn="ctr"/>
            <a:r>
              <a:rPr lang="en-US" altLang="zh-CN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WXZC&gt;0</a:t>
            </a:r>
            <a:endParaRPr lang="zh-CN" altLang="en-US" sz="9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19" name="直接箭头连接符 18">
            <a:extLst>
              <a:ext uri="{FF2B5EF4-FFF2-40B4-BE49-F238E27FC236}">
                <a16:creationId xmlns:a16="http://schemas.microsoft.com/office/drawing/2014/main" id="{2A07F2D9-4EC5-5925-294E-E26C9EDE462A}"/>
              </a:ext>
            </a:extLst>
          </p:cNvPr>
          <p:cNvCxnSpPr>
            <a:cxnSpLocks/>
            <a:stCxn id="25" idx="4"/>
            <a:endCxn id="4" idx="0"/>
          </p:cNvCxnSpPr>
          <p:nvPr/>
        </p:nvCxnSpPr>
        <p:spPr>
          <a:xfrm>
            <a:off x="2567434" y="694181"/>
            <a:ext cx="0" cy="376711"/>
          </a:xfrm>
          <a:prstGeom prst="straightConnector1">
            <a:avLst/>
          </a:prstGeom>
          <a:ln w="25400">
            <a:solidFill>
              <a:schemeClr val="tx1">
                <a:lumMod val="65000"/>
                <a:lumOff val="3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椭圆 24">
            <a:extLst>
              <a:ext uri="{FF2B5EF4-FFF2-40B4-BE49-F238E27FC236}">
                <a16:creationId xmlns:a16="http://schemas.microsoft.com/office/drawing/2014/main" id="{8AC00C79-569E-FE9F-0A79-DC6A5E33E5DD}"/>
              </a:ext>
            </a:extLst>
          </p:cNvPr>
          <p:cNvSpPr>
            <a:spLocks noChangeAspect="1"/>
          </p:cNvSpPr>
          <p:nvPr/>
        </p:nvSpPr>
        <p:spPr>
          <a:xfrm>
            <a:off x="2495434" y="550181"/>
            <a:ext cx="144000" cy="144000"/>
          </a:xfrm>
          <a:prstGeom prst="ellipse">
            <a:avLst/>
          </a:prstGeom>
          <a:solidFill>
            <a:srgbClr val="FFFF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000" b="1" dirty="0"/>
          </a:p>
        </p:txBody>
      </p:sp>
      <p:cxnSp>
        <p:nvCxnSpPr>
          <p:cNvPr id="30" name="直接箭头连接符 29">
            <a:extLst>
              <a:ext uri="{FF2B5EF4-FFF2-40B4-BE49-F238E27FC236}">
                <a16:creationId xmlns:a16="http://schemas.microsoft.com/office/drawing/2014/main" id="{D3D6A8E8-BFBB-2AE4-6442-D77F074A7E9E}"/>
              </a:ext>
            </a:extLst>
          </p:cNvPr>
          <p:cNvCxnSpPr>
            <a:cxnSpLocks/>
            <a:endCxn id="3" idx="0"/>
          </p:cNvCxnSpPr>
          <p:nvPr/>
        </p:nvCxnSpPr>
        <p:spPr>
          <a:xfrm>
            <a:off x="2567434" y="1488214"/>
            <a:ext cx="0" cy="31612"/>
          </a:xfrm>
          <a:prstGeom prst="straightConnector1">
            <a:avLst/>
          </a:prstGeom>
          <a:ln w="254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箭头连接符 30">
            <a:extLst>
              <a:ext uri="{FF2B5EF4-FFF2-40B4-BE49-F238E27FC236}">
                <a16:creationId xmlns:a16="http://schemas.microsoft.com/office/drawing/2014/main" id="{315CD8AD-244F-E486-4C8D-C405BC866B10}"/>
              </a:ext>
            </a:extLst>
          </p:cNvPr>
          <p:cNvCxnSpPr>
            <a:cxnSpLocks/>
            <a:stCxn id="3" idx="2"/>
            <a:endCxn id="10" idx="0"/>
          </p:cNvCxnSpPr>
          <p:nvPr/>
        </p:nvCxnSpPr>
        <p:spPr>
          <a:xfrm>
            <a:off x="2567434" y="1851902"/>
            <a:ext cx="0" cy="302294"/>
          </a:xfrm>
          <a:prstGeom prst="straightConnector1">
            <a:avLst/>
          </a:prstGeom>
          <a:ln w="254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箭头连接符 35">
            <a:extLst>
              <a:ext uri="{FF2B5EF4-FFF2-40B4-BE49-F238E27FC236}">
                <a16:creationId xmlns:a16="http://schemas.microsoft.com/office/drawing/2014/main" id="{7E60FFF5-E88D-863A-9BEA-B03B6484087C}"/>
              </a:ext>
            </a:extLst>
          </p:cNvPr>
          <p:cNvCxnSpPr>
            <a:cxnSpLocks/>
            <a:stCxn id="10" idx="2"/>
            <a:endCxn id="11" idx="0"/>
          </p:cNvCxnSpPr>
          <p:nvPr/>
        </p:nvCxnSpPr>
        <p:spPr>
          <a:xfrm>
            <a:off x="2567434" y="2586196"/>
            <a:ext cx="0" cy="58598"/>
          </a:xfrm>
          <a:prstGeom prst="straightConnector1">
            <a:avLst/>
          </a:prstGeom>
          <a:ln w="254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箭头连接符 38">
            <a:extLst>
              <a:ext uri="{FF2B5EF4-FFF2-40B4-BE49-F238E27FC236}">
                <a16:creationId xmlns:a16="http://schemas.microsoft.com/office/drawing/2014/main" id="{6FC4DAE8-D349-F582-41DA-08036BADDAC1}"/>
              </a:ext>
            </a:extLst>
          </p:cNvPr>
          <p:cNvCxnSpPr>
            <a:cxnSpLocks/>
            <a:stCxn id="11" idx="2"/>
            <a:endCxn id="12" idx="0"/>
          </p:cNvCxnSpPr>
          <p:nvPr/>
        </p:nvCxnSpPr>
        <p:spPr>
          <a:xfrm>
            <a:off x="2567434" y="2968794"/>
            <a:ext cx="0" cy="119161"/>
          </a:xfrm>
          <a:prstGeom prst="straightConnector1">
            <a:avLst/>
          </a:prstGeom>
          <a:ln w="254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箭头连接符 39">
            <a:extLst>
              <a:ext uri="{FF2B5EF4-FFF2-40B4-BE49-F238E27FC236}">
                <a16:creationId xmlns:a16="http://schemas.microsoft.com/office/drawing/2014/main" id="{A3BEE3E5-20F1-59E7-8027-686B23E70956}"/>
              </a:ext>
            </a:extLst>
          </p:cNvPr>
          <p:cNvCxnSpPr>
            <a:cxnSpLocks/>
            <a:stCxn id="12" idx="2"/>
            <a:endCxn id="13" idx="0"/>
          </p:cNvCxnSpPr>
          <p:nvPr/>
        </p:nvCxnSpPr>
        <p:spPr>
          <a:xfrm>
            <a:off x="2567434" y="3519955"/>
            <a:ext cx="0" cy="40570"/>
          </a:xfrm>
          <a:prstGeom prst="straightConnector1">
            <a:avLst/>
          </a:prstGeom>
          <a:ln w="254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箭头连接符 40">
            <a:extLst>
              <a:ext uri="{FF2B5EF4-FFF2-40B4-BE49-F238E27FC236}">
                <a16:creationId xmlns:a16="http://schemas.microsoft.com/office/drawing/2014/main" id="{34F1B49A-4913-9312-EA1E-CE6F7C631073}"/>
              </a:ext>
            </a:extLst>
          </p:cNvPr>
          <p:cNvCxnSpPr>
            <a:cxnSpLocks/>
            <a:stCxn id="13" idx="2"/>
            <a:endCxn id="14" idx="0"/>
          </p:cNvCxnSpPr>
          <p:nvPr/>
        </p:nvCxnSpPr>
        <p:spPr>
          <a:xfrm>
            <a:off x="2567434" y="3776525"/>
            <a:ext cx="0" cy="121168"/>
          </a:xfrm>
          <a:prstGeom prst="straightConnector1">
            <a:avLst/>
          </a:prstGeom>
          <a:ln w="254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箭头连接符 56">
            <a:extLst>
              <a:ext uri="{FF2B5EF4-FFF2-40B4-BE49-F238E27FC236}">
                <a16:creationId xmlns:a16="http://schemas.microsoft.com/office/drawing/2014/main" id="{B0BCBEE5-AAB6-1072-3E70-5F83B149F60D}"/>
              </a:ext>
            </a:extLst>
          </p:cNvPr>
          <p:cNvCxnSpPr>
            <a:cxnSpLocks/>
            <a:stCxn id="4" idx="3"/>
            <a:endCxn id="66" idx="1"/>
          </p:cNvCxnSpPr>
          <p:nvPr/>
        </p:nvCxnSpPr>
        <p:spPr>
          <a:xfrm>
            <a:off x="3467434" y="1286892"/>
            <a:ext cx="1920472" cy="0"/>
          </a:xfrm>
          <a:prstGeom prst="straightConnector1">
            <a:avLst/>
          </a:prstGeom>
          <a:ln w="25400">
            <a:solidFill>
              <a:schemeClr val="accent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菱形 65">
            <a:extLst>
              <a:ext uri="{FF2B5EF4-FFF2-40B4-BE49-F238E27FC236}">
                <a16:creationId xmlns:a16="http://schemas.microsoft.com/office/drawing/2014/main" id="{F47C2551-740E-3ACD-31DF-EA3882F622C9}"/>
              </a:ext>
            </a:extLst>
          </p:cNvPr>
          <p:cNvSpPr/>
          <p:nvPr/>
        </p:nvSpPr>
        <p:spPr>
          <a:xfrm>
            <a:off x="5387906" y="1160892"/>
            <a:ext cx="1800000" cy="252000"/>
          </a:xfrm>
          <a:prstGeom prst="diamond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67" name="文本框 66">
            <a:extLst>
              <a:ext uri="{FF2B5EF4-FFF2-40B4-BE49-F238E27FC236}">
                <a16:creationId xmlns:a16="http://schemas.microsoft.com/office/drawing/2014/main" id="{D4AACCFE-E9D6-A2FC-E252-1D547EDEE2CF}"/>
              </a:ext>
            </a:extLst>
          </p:cNvPr>
          <p:cNvSpPr txBox="1"/>
          <p:nvPr/>
        </p:nvSpPr>
        <p:spPr>
          <a:xfrm>
            <a:off x="5911078" y="1171476"/>
            <a:ext cx="805029" cy="215444"/>
          </a:xfrm>
          <a:prstGeom prst="rect">
            <a:avLst/>
          </a:prstGeom>
          <a:noFill/>
          <a:ln w="12700"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是否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WXZB&gt;0</a:t>
            </a:r>
            <a:endParaRPr lang="zh-CN" altLang="en-US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72" name="矩形 71">
            <a:extLst>
              <a:ext uri="{FF2B5EF4-FFF2-40B4-BE49-F238E27FC236}">
                <a16:creationId xmlns:a16="http://schemas.microsoft.com/office/drawing/2014/main" id="{F621AB16-2D36-E0FD-D28F-088D51F0E1C4}"/>
              </a:ext>
            </a:extLst>
          </p:cNvPr>
          <p:cNvSpPr/>
          <p:nvPr/>
        </p:nvSpPr>
        <p:spPr>
          <a:xfrm>
            <a:off x="8209973" y="1433577"/>
            <a:ext cx="1980000" cy="324000"/>
          </a:xfrm>
          <a:prstGeom prst="rect">
            <a:avLst/>
          </a:prstGeom>
          <a:solidFill>
            <a:srgbClr val="595959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85" name="文本框 84">
            <a:extLst>
              <a:ext uri="{FF2B5EF4-FFF2-40B4-BE49-F238E27FC236}">
                <a16:creationId xmlns:a16="http://schemas.microsoft.com/office/drawing/2014/main" id="{ACB574A5-D54D-CE55-003E-5BE21CC62D4A}"/>
              </a:ext>
            </a:extLst>
          </p:cNvPr>
          <p:cNvSpPr txBox="1"/>
          <p:nvPr/>
        </p:nvSpPr>
        <p:spPr>
          <a:xfrm>
            <a:off x="8393823" y="1430763"/>
            <a:ext cx="1800000" cy="33855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algn="r"/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禁仓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纳入观察备选</a:t>
            </a:r>
            <a:endParaRPr lang="en-US" altLang="zh-CN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操作范围为：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WXZC&gt;0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或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WXZB&gt;0</a:t>
            </a:r>
            <a:endParaRPr lang="zh-CN" altLang="en-US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86" name="矩形 85">
            <a:extLst>
              <a:ext uri="{FF2B5EF4-FFF2-40B4-BE49-F238E27FC236}">
                <a16:creationId xmlns:a16="http://schemas.microsoft.com/office/drawing/2014/main" id="{3180F0BB-DCB8-DAE6-3979-B875619E7792}"/>
              </a:ext>
            </a:extLst>
          </p:cNvPr>
          <p:cNvSpPr/>
          <p:nvPr/>
        </p:nvSpPr>
        <p:spPr>
          <a:xfrm>
            <a:off x="8209973" y="1177188"/>
            <a:ext cx="1980000" cy="216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87" name="直接箭头连接符 86">
            <a:extLst>
              <a:ext uri="{FF2B5EF4-FFF2-40B4-BE49-F238E27FC236}">
                <a16:creationId xmlns:a16="http://schemas.microsoft.com/office/drawing/2014/main" id="{B9BFBD02-BD64-5BDA-347E-38F835ED9F23}"/>
              </a:ext>
            </a:extLst>
          </p:cNvPr>
          <p:cNvCxnSpPr>
            <a:cxnSpLocks/>
            <a:stCxn id="66" idx="3"/>
            <a:endCxn id="86" idx="1"/>
          </p:cNvCxnSpPr>
          <p:nvPr/>
        </p:nvCxnSpPr>
        <p:spPr>
          <a:xfrm flipV="1">
            <a:off x="7187906" y="1285188"/>
            <a:ext cx="1022067" cy="1704"/>
          </a:xfrm>
          <a:prstGeom prst="straightConnector1">
            <a:avLst/>
          </a:prstGeom>
          <a:ln w="25400">
            <a:solidFill>
              <a:schemeClr val="accent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文本框 73">
            <a:extLst>
              <a:ext uri="{FF2B5EF4-FFF2-40B4-BE49-F238E27FC236}">
                <a16:creationId xmlns:a16="http://schemas.microsoft.com/office/drawing/2014/main" id="{AF1624E5-C878-BAC9-1977-18267CCBDEBA}"/>
              </a:ext>
            </a:extLst>
          </p:cNvPr>
          <p:cNvSpPr txBox="1"/>
          <p:nvPr/>
        </p:nvSpPr>
        <p:spPr>
          <a:xfrm>
            <a:off x="1765727" y="1520731"/>
            <a:ext cx="1800000" cy="369332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zh-CN" sz="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底仓算法</a:t>
            </a:r>
            <a:r>
              <a:rPr lang="en-US" altLang="zh-CN" sz="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algn="ctr"/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精确按照丘</a:t>
            </a:r>
            <a:r>
              <a:rPr lang="en-US" altLang="zh-CN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</a:t>
            </a:r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必赢策略</a:t>
            </a:r>
            <a:endParaRPr lang="zh-CN" altLang="en-US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96" name="文本框 95">
            <a:extLst>
              <a:ext uri="{FF2B5EF4-FFF2-40B4-BE49-F238E27FC236}">
                <a16:creationId xmlns:a16="http://schemas.microsoft.com/office/drawing/2014/main" id="{A8ADEF8A-7715-57D4-3DF0-F3E9940E91F0}"/>
              </a:ext>
            </a:extLst>
          </p:cNvPr>
          <p:cNvSpPr txBox="1"/>
          <p:nvPr/>
        </p:nvSpPr>
        <p:spPr>
          <a:xfrm>
            <a:off x="2234735" y="2194766"/>
            <a:ext cx="761747" cy="369332"/>
          </a:xfrm>
          <a:prstGeom prst="rect">
            <a:avLst/>
          </a:prstGeom>
          <a:noFill/>
          <a:ln w="12700"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判定花模型</a:t>
            </a:r>
            <a:endParaRPr lang="en-US" altLang="zh-CN" sz="9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algn="ctr"/>
            <a:r>
              <a:rPr lang="en-US" altLang="zh-CN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WXZB&gt;0</a:t>
            </a:r>
            <a:endParaRPr lang="zh-CN" altLang="en-US" sz="9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18" name="文本框 117">
            <a:extLst>
              <a:ext uri="{FF2B5EF4-FFF2-40B4-BE49-F238E27FC236}">
                <a16:creationId xmlns:a16="http://schemas.microsoft.com/office/drawing/2014/main" id="{D17DFE5A-5151-9A5F-2355-F9E4AA1BB9C0}"/>
              </a:ext>
            </a:extLst>
          </p:cNvPr>
          <p:cNvSpPr txBox="1"/>
          <p:nvPr/>
        </p:nvSpPr>
        <p:spPr>
          <a:xfrm>
            <a:off x="1765727" y="2644794"/>
            <a:ext cx="1800000" cy="353943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满足长期策略</a:t>
            </a:r>
            <a:endParaRPr lang="en-US" altLang="zh-CN" sz="9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algn="ctr"/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持有标准为：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WXZC&gt;0</a:t>
            </a:r>
            <a:r>
              <a:rPr lang="zh-CN" altLang="en-US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且</a:t>
            </a:r>
            <a:r>
              <a:rPr lang="en-US" altLang="zh-CN" sz="8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WXZB&gt;</a:t>
            </a:r>
            <a:r>
              <a:rPr lang="en-US" altLang="zh-CN" sz="7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0</a:t>
            </a:r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131" name="直接箭头连接符 130">
            <a:extLst>
              <a:ext uri="{FF2B5EF4-FFF2-40B4-BE49-F238E27FC236}">
                <a16:creationId xmlns:a16="http://schemas.microsoft.com/office/drawing/2014/main" id="{0A9B6D0A-F5B6-7DB2-FFE9-81C0B71FB343}"/>
              </a:ext>
            </a:extLst>
          </p:cNvPr>
          <p:cNvCxnSpPr>
            <a:cxnSpLocks/>
            <a:stCxn id="10" idx="3"/>
            <a:endCxn id="162" idx="1"/>
          </p:cNvCxnSpPr>
          <p:nvPr/>
        </p:nvCxnSpPr>
        <p:spPr>
          <a:xfrm flipV="1">
            <a:off x="3467434" y="2368991"/>
            <a:ext cx="673307" cy="1205"/>
          </a:xfrm>
          <a:prstGeom prst="straightConnector1">
            <a:avLst/>
          </a:prstGeom>
          <a:ln w="25400">
            <a:solidFill>
              <a:schemeClr val="accent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菱形 131">
            <a:extLst>
              <a:ext uri="{FF2B5EF4-FFF2-40B4-BE49-F238E27FC236}">
                <a16:creationId xmlns:a16="http://schemas.microsoft.com/office/drawing/2014/main" id="{B977F0D8-4C9D-C671-EA7C-56EDD879B6CB}"/>
              </a:ext>
            </a:extLst>
          </p:cNvPr>
          <p:cNvSpPr/>
          <p:nvPr/>
        </p:nvSpPr>
        <p:spPr>
          <a:xfrm>
            <a:off x="5387906" y="2154196"/>
            <a:ext cx="1800000" cy="432000"/>
          </a:xfrm>
          <a:prstGeom prst="diamond">
            <a:avLst/>
          </a:prstGeom>
          <a:solidFill>
            <a:schemeClr val="accent2">
              <a:lumMod val="60000"/>
              <a:lumOff val="40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35" name="矩形 134">
            <a:extLst>
              <a:ext uri="{FF2B5EF4-FFF2-40B4-BE49-F238E27FC236}">
                <a16:creationId xmlns:a16="http://schemas.microsoft.com/office/drawing/2014/main" id="{225CCF49-0EE1-5CC1-7A07-FC43F4C27B74}"/>
              </a:ext>
            </a:extLst>
          </p:cNvPr>
          <p:cNvSpPr/>
          <p:nvPr/>
        </p:nvSpPr>
        <p:spPr>
          <a:xfrm>
            <a:off x="8209973" y="2509722"/>
            <a:ext cx="1980000" cy="324000"/>
          </a:xfrm>
          <a:prstGeom prst="rect">
            <a:avLst/>
          </a:prstGeom>
          <a:solidFill>
            <a:srgbClr val="5B9BD5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36" name="文本框 135">
            <a:extLst>
              <a:ext uri="{FF2B5EF4-FFF2-40B4-BE49-F238E27FC236}">
                <a16:creationId xmlns:a16="http://schemas.microsoft.com/office/drawing/2014/main" id="{DE7A5C31-8673-700A-160F-631B4F930209}"/>
              </a:ext>
            </a:extLst>
          </p:cNvPr>
          <p:cNvSpPr txBox="1"/>
          <p:nvPr/>
        </p:nvSpPr>
        <p:spPr>
          <a:xfrm>
            <a:off x="8393823" y="2501188"/>
            <a:ext cx="1800000" cy="33855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警仓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可被动持仓</a:t>
            </a:r>
            <a:endParaRPr lang="en-US" altLang="zh-CN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              勿主动入仓</a:t>
            </a:r>
            <a:endParaRPr lang="zh-CN" altLang="en-US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37" name="矩形 136">
            <a:extLst>
              <a:ext uri="{FF2B5EF4-FFF2-40B4-BE49-F238E27FC236}">
                <a16:creationId xmlns:a16="http://schemas.microsoft.com/office/drawing/2014/main" id="{566F7788-E298-CAAA-2AED-DE6CF7C58333}"/>
              </a:ext>
            </a:extLst>
          </p:cNvPr>
          <p:cNvSpPr/>
          <p:nvPr/>
        </p:nvSpPr>
        <p:spPr>
          <a:xfrm>
            <a:off x="8209973" y="2259356"/>
            <a:ext cx="1980000" cy="216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138" name="直接箭头连接符 137">
            <a:extLst>
              <a:ext uri="{FF2B5EF4-FFF2-40B4-BE49-F238E27FC236}">
                <a16:creationId xmlns:a16="http://schemas.microsoft.com/office/drawing/2014/main" id="{50CEFEE2-C06D-599A-74C0-3971505E06DF}"/>
              </a:ext>
            </a:extLst>
          </p:cNvPr>
          <p:cNvCxnSpPr>
            <a:cxnSpLocks/>
            <a:stCxn id="132" idx="3"/>
            <a:endCxn id="137" idx="1"/>
          </p:cNvCxnSpPr>
          <p:nvPr/>
        </p:nvCxnSpPr>
        <p:spPr>
          <a:xfrm flipV="1">
            <a:off x="7187906" y="2367356"/>
            <a:ext cx="1022067" cy="2840"/>
          </a:xfrm>
          <a:prstGeom prst="straightConnector1">
            <a:avLst/>
          </a:prstGeom>
          <a:ln w="25400">
            <a:solidFill>
              <a:schemeClr val="accent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文本框 139">
            <a:extLst>
              <a:ext uri="{FF2B5EF4-FFF2-40B4-BE49-F238E27FC236}">
                <a16:creationId xmlns:a16="http://schemas.microsoft.com/office/drawing/2014/main" id="{98B067C8-994F-1999-018A-ADFCD5BE5A8D}"/>
              </a:ext>
            </a:extLst>
          </p:cNvPr>
          <p:cNvSpPr txBox="1"/>
          <p:nvPr/>
        </p:nvSpPr>
        <p:spPr>
          <a:xfrm>
            <a:off x="8393823" y="2261453"/>
            <a:ext cx="180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algn="r"/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禁仓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提前止损清仓</a:t>
            </a:r>
          </a:p>
        </p:txBody>
      </p:sp>
      <p:sp>
        <p:nvSpPr>
          <p:cNvPr id="141" name="文本框 140">
            <a:extLst>
              <a:ext uri="{FF2B5EF4-FFF2-40B4-BE49-F238E27FC236}">
                <a16:creationId xmlns:a16="http://schemas.microsoft.com/office/drawing/2014/main" id="{1D48DF18-5C32-E273-074A-49F044EFA178}"/>
              </a:ext>
            </a:extLst>
          </p:cNvPr>
          <p:cNvSpPr txBox="1"/>
          <p:nvPr/>
        </p:nvSpPr>
        <p:spPr>
          <a:xfrm>
            <a:off x="3515492" y="2158927"/>
            <a:ext cx="707814" cy="3971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WXZB&lt;0</a:t>
            </a:r>
          </a:p>
          <a:p>
            <a:pPr algn="ctr">
              <a:lnSpc>
                <a:spcPct val="150000"/>
              </a:lnSpc>
            </a:pP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花模型失败</a:t>
            </a:r>
          </a:p>
        </p:txBody>
      </p:sp>
      <p:cxnSp>
        <p:nvCxnSpPr>
          <p:cNvPr id="145" name="连接符: 肘形 144">
            <a:extLst>
              <a:ext uri="{FF2B5EF4-FFF2-40B4-BE49-F238E27FC236}">
                <a16:creationId xmlns:a16="http://schemas.microsoft.com/office/drawing/2014/main" id="{AB8D8806-62B5-3DA9-DB9E-4F6F381C3CCC}"/>
              </a:ext>
            </a:extLst>
          </p:cNvPr>
          <p:cNvCxnSpPr>
            <a:cxnSpLocks/>
            <a:stCxn id="135" idx="3"/>
            <a:endCxn id="526" idx="2"/>
          </p:cNvCxnSpPr>
          <p:nvPr/>
        </p:nvCxnSpPr>
        <p:spPr>
          <a:xfrm>
            <a:off x="10189973" y="2671722"/>
            <a:ext cx="1014474" cy="3536032"/>
          </a:xfrm>
          <a:prstGeom prst="bentConnector3">
            <a:avLst>
              <a:gd name="adj1" fmla="val 50000"/>
            </a:avLst>
          </a:prstGeom>
          <a:ln w="25400">
            <a:solidFill>
              <a:srgbClr val="5B9BD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文本框 156">
            <a:extLst>
              <a:ext uri="{FF2B5EF4-FFF2-40B4-BE49-F238E27FC236}">
                <a16:creationId xmlns:a16="http://schemas.microsoft.com/office/drawing/2014/main" id="{BC0886DC-FE31-C2CE-C1E5-73832D4F1717}"/>
              </a:ext>
            </a:extLst>
          </p:cNvPr>
          <p:cNvSpPr txBox="1"/>
          <p:nvPr/>
        </p:nvSpPr>
        <p:spPr>
          <a:xfrm>
            <a:off x="2230913" y="3128525"/>
            <a:ext cx="761747" cy="369332"/>
          </a:xfrm>
          <a:prstGeom prst="rect">
            <a:avLst/>
          </a:prstGeom>
          <a:noFill/>
          <a:ln w="12700"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判定缠模型</a:t>
            </a:r>
            <a:endParaRPr lang="en-US" altLang="zh-CN" sz="9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algn="ctr"/>
            <a:r>
              <a:rPr lang="en-US" altLang="zh-CN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WXZA&gt;0</a:t>
            </a:r>
            <a:endParaRPr lang="zh-CN" altLang="en-US" sz="9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58" name="文本框 157">
            <a:extLst>
              <a:ext uri="{FF2B5EF4-FFF2-40B4-BE49-F238E27FC236}">
                <a16:creationId xmlns:a16="http://schemas.microsoft.com/office/drawing/2014/main" id="{9186AA96-4F83-F8BA-EE77-83685597813F}"/>
              </a:ext>
            </a:extLst>
          </p:cNvPr>
          <p:cNvSpPr txBox="1"/>
          <p:nvPr/>
        </p:nvSpPr>
        <p:spPr>
          <a:xfrm>
            <a:off x="3399634" y="1078617"/>
            <a:ext cx="783246" cy="3971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WXZC&lt;0</a:t>
            </a:r>
          </a:p>
          <a:p>
            <a:pPr algn="ctr">
              <a:lnSpc>
                <a:spcPct val="150000"/>
              </a:lnSpc>
            </a:pP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丘模型失败</a:t>
            </a:r>
          </a:p>
        </p:txBody>
      </p:sp>
      <p:sp>
        <p:nvSpPr>
          <p:cNvPr id="159" name="文本框 158">
            <a:extLst>
              <a:ext uri="{FF2B5EF4-FFF2-40B4-BE49-F238E27FC236}">
                <a16:creationId xmlns:a16="http://schemas.microsoft.com/office/drawing/2014/main" id="{EC44CAFA-0B19-ADDD-B777-0C510F3B12A3}"/>
              </a:ext>
            </a:extLst>
          </p:cNvPr>
          <p:cNvSpPr txBox="1"/>
          <p:nvPr/>
        </p:nvSpPr>
        <p:spPr>
          <a:xfrm>
            <a:off x="7328891" y="1103408"/>
            <a:ext cx="844994" cy="2355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禁</a:t>
            </a: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】WXZB&lt;0</a:t>
            </a:r>
          </a:p>
        </p:txBody>
      </p:sp>
      <p:sp>
        <p:nvSpPr>
          <p:cNvPr id="162" name="矩形 161">
            <a:extLst>
              <a:ext uri="{FF2B5EF4-FFF2-40B4-BE49-F238E27FC236}">
                <a16:creationId xmlns:a16="http://schemas.microsoft.com/office/drawing/2014/main" id="{9B5169FF-1609-7B52-121B-8CC8536E9C73}"/>
              </a:ext>
            </a:extLst>
          </p:cNvPr>
          <p:cNvSpPr/>
          <p:nvPr/>
        </p:nvSpPr>
        <p:spPr>
          <a:xfrm>
            <a:off x="4140741" y="2206991"/>
            <a:ext cx="1080000" cy="324000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63" name="文本框 162">
            <a:extLst>
              <a:ext uri="{FF2B5EF4-FFF2-40B4-BE49-F238E27FC236}">
                <a16:creationId xmlns:a16="http://schemas.microsoft.com/office/drawing/2014/main" id="{A43ACFE5-160A-0C2D-30A3-504EC05E4F80}"/>
              </a:ext>
            </a:extLst>
          </p:cNvPr>
          <p:cNvSpPr txBox="1"/>
          <p:nvPr/>
        </p:nvSpPr>
        <p:spPr>
          <a:xfrm>
            <a:off x="4140740" y="2196048"/>
            <a:ext cx="1080000" cy="324000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破</a:t>
            </a:r>
            <a:endParaRPr lang="en-US" altLang="zh-CN" sz="9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algn="ctr"/>
            <a:r>
              <a:rPr lang="en-US" altLang="zh-CN" sz="7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/W3v/W3w/W3h/W3u</a:t>
            </a:r>
            <a:endParaRPr lang="zh-CN" altLang="en-US" sz="7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169" name="直接箭头连接符 168">
            <a:extLst>
              <a:ext uri="{FF2B5EF4-FFF2-40B4-BE49-F238E27FC236}">
                <a16:creationId xmlns:a16="http://schemas.microsoft.com/office/drawing/2014/main" id="{8166EFCB-FAA6-7848-97B3-BF9F89B33454}"/>
              </a:ext>
            </a:extLst>
          </p:cNvPr>
          <p:cNvCxnSpPr>
            <a:cxnSpLocks/>
            <a:stCxn id="162" idx="3"/>
            <a:endCxn id="132" idx="1"/>
          </p:cNvCxnSpPr>
          <p:nvPr/>
        </p:nvCxnSpPr>
        <p:spPr>
          <a:xfrm>
            <a:off x="5220741" y="2368991"/>
            <a:ext cx="167165" cy="1205"/>
          </a:xfrm>
          <a:prstGeom prst="straightConnector1">
            <a:avLst/>
          </a:prstGeom>
          <a:ln w="25400">
            <a:solidFill>
              <a:schemeClr val="accent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直接箭头连接符 176">
            <a:extLst>
              <a:ext uri="{FF2B5EF4-FFF2-40B4-BE49-F238E27FC236}">
                <a16:creationId xmlns:a16="http://schemas.microsoft.com/office/drawing/2014/main" id="{41BCA25B-ED51-3A97-7548-BF1861BDC81C}"/>
              </a:ext>
            </a:extLst>
          </p:cNvPr>
          <p:cNvCxnSpPr>
            <a:cxnSpLocks/>
            <a:stCxn id="12" idx="3"/>
            <a:endCxn id="188" idx="1"/>
          </p:cNvCxnSpPr>
          <p:nvPr/>
        </p:nvCxnSpPr>
        <p:spPr>
          <a:xfrm flipV="1">
            <a:off x="3467434" y="3296207"/>
            <a:ext cx="673307" cy="7748"/>
          </a:xfrm>
          <a:prstGeom prst="straightConnector1">
            <a:avLst/>
          </a:prstGeom>
          <a:ln w="25400">
            <a:solidFill>
              <a:schemeClr val="accent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8" name="菱形 177">
            <a:extLst>
              <a:ext uri="{FF2B5EF4-FFF2-40B4-BE49-F238E27FC236}">
                <a16:creationId xmlns:a16="http://schemas.microsoft.com/office/drawing/2014/main" id="{01B90DDD-8F90-DFF3-368B-D3C9BB1B3FF3}"/>
              </a:ext>
            </a:extLst>
          </p:cNvPr>
          <p:cNvSpPr/>
          <p:nvPr/>
        </p:nvSpPr>
        <p:spPr>
          <a:xfrm>
            <a:off x="5387906" y="3081412"/>
            <a:ext cx="1800000" cy="432000"/>
          </a:xfrm>
          <a:prstGeom prst="diamond">
            <a:avLst/>
          </a:prstGeom>
          <a:solidFill>
            <a:schemeClr val="accent2">
              <a:lumMod val="60000"/>
              <a:lumOff val="40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79" name="文本框 178">
            <a:extLst>
              <a:ext uri="{FF2B5EF4-FFF2-40B4-BE49-F238E27FC236}">
                <a16:creationId xmlns:a16="http://schemas.microsoft.com/office/drawing/2014/main" id="{AA8783D3-9FD0-E85C-B79D-36F1B02972AE}"/>
              </a:ext>
            </a:extLst>
          </p:cNvPr>
          <p:cNvSpPr txBox="1"/>
          <p:nvPr/>
        </p:nvSpPr>
        <p:spPr>
          <a:xfrm>
            <a:off x="5728080" y="3151147"/>
            <a:ext cx="1107996" cy="338554"/>
          </a:xfrm>
          <a:prstGeom prst="rect">
            <a:avLst/>
          </a:prstGeom>
          <a:noFill/>
          <a:ln w="12700"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禁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判定已冲高？</a:t>
            </a:r>
            <a:endParaRPr lang="en-US" altLang="zh-CN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algn="ctr"/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丘≥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30</a:t>
            </a:r>
            <a:endParaRPr lang="zh-CN" altLang="en-US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81" name="矩形 180">
            <a:extLst>
              <a:ext uri="{FF2B5EF4-FFF2-40B4-BE49-F238E27FC236}">
                <a16:creationId xmlns:a16="http://schemas.microsoft.com/office/drawing/2014/main" id="{F4E05D3D-47E3-3A98-255C-9A0071D868C2}"/>
              </a:ext>
            </a:extLst>
          </p:cNvPr>
          <p:cNvSpPr/>
          <p:nvPr/>
        </p:nvSpPr>
        <p:spPr>
          <a:xfrm>
            <a:off x="8209973" y="3441926"/>
            <a:ext cx="1980000" cy="324000"/>
          </a:xfrm>
          <a:prstGeom prst="rect">
            <a:avLst/>
          </a:prstGeom>
          <a:solidFill>
            <a:schemeClr val="accent5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82" name="文本框 181">
            <a:extLst>
              <a:ext uri="{FF2B5EF4-FFF2-40B4-BE49-F238E27FC236}">
                <a16:creationId xmlns:a16="http://schemas.microsoft.com/office/drawing/2014/main" id="{BC7F5D77-29EC-ACEA-13EC-8A4639109B50}"/>
              </a:ext>
            </a:extLst>
          </p:cNvPr>
          <p:cNvSpPr txBox="1"/>
          <p:nvPr/>
        </p:nvSpPr>
        <p:spPr>
          <a:xfrm>
            <a:off x="8393823" y="3431807"/>
            <a:ext cx="1800000" cy="33855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常仓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可按长期策略被动持仓</a:t>
            </a:r>
            <a:endParaRPr lang="en-US" altLang="zh-CN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   等待反弹退出或下降趋势明确</a:t>
            </a:r>
            <a:endParaRPr lang="zh-CN" altLang="en-US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83" name="矩形 182">
            <a:extLst>
              <a:ext uri="{FF2B5EF4-FFF2-40B4-BE49-F238E27FC236}">
                <a16:creationId xmlns:a16="http://schemas.microsoft.com/office/drawing/2014/main" id="{CABABC62-EB1D-66A3-C68A-6684EDBB98DE}"/>
              </a:ext>
            </a:extLst>
          </p:cNvPr>
          <p:cNvSpPr/>
          <p:nvPr/>
        </p:nvSpPr>
        <p:spPr>
          <a:xfrm>
            <a:off x="8209973" y="3186572"/>
            <a:ext cx="1980000" cy="216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184" name="直接箭头连接符 183">
            <a:extLst>
              <a:ext uri="{FF2B5EF4-FFF2-40B4-BE49-F238E27FC236}">
                <a16:creationId xmlns:a16="http://schemas.microsoft.com/office/drawing/2014/main" id="{303F2F18-C393-7072-B767-6225048C647C}"/>
              </a:ext>
            </a:extLst>
          </p:cNvPr>
          <p:cNvCxnSpPr>
            <a:cxnSpLocks/>
            <a:stCxn id="178" idx="3"/>
            <a:endCxn id="183" idx="1"/>
          </p:cNvCxnSpPr>
          <p:nvPr/>
        </p:nvCxnSpPr>
        <p:spPr>
          <a:xfrm flipV="1">
            <a:off x="7187906" y="3294572"/>
            <a:ext cx="1022067" cy="2840"/>
          </a:xfrm>
          <a:prstGeom prst="straightConnector1">
            <a:avLst/>
          </a:prstGeom>
          <a:ln w="25400">
            <a:solidFill>
              <a:schemeClr val="accent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文本框 184">
            <a:extLst>
              <a:ext uri="{FF2B5EF4-FFF2-40B4-BE49-F238E27FC236}">
                <a16:creationId xmlns:a16="http://schemas.microsoft.com/office/drawing/2014/main" id="{F57AF0EE-0F83-4661-3EE9-B7D1D7A2635F}"/>
              </a:ext>
            </a:extLst>
          </p:cNvPr>
          <p:cNvSpPr txBox="1"/>
          <p:nvPr/>
        </p:nvSpPr>
        <p:spPr>
          <a:xfrm>
            <a:off x="7328891" y="3136594"/>
            <a:ext cx="72000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禁</a:t>
            </a: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已冲高</a:t>
            </a:r>
          </a:p>
        </p:txBody>
      </p:sp>
      <p:sp>
        <p:nvSpPr>
          <p:cNvPr id="186" name="文本框 185">
            <a:extLst>
              <a:ext uri="{FF2B5EF4-FFF2-40B4-BE49-F238E27FC236}">
                <a16:creationId xmlns:a16="http://schemas.microsoft.com/office/drawing/2014/main" id="{6F92FBBC-554F-2E13-BDCB-99769AC52A3E}"/>
              </a:ext>
            </a:extLst>
          </p:cNvPr>
          <p:cNvSpPr txBox="1"/>
          <p:nvPr/>
        </p:nvSpPr>
        <p:spPr>
          <a:xfrm>
            <a:off x="8393823" y="3185028"/>
            <a:ext cx="180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algn="r"/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禁仓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提前止盈清仓</a:t>
            </a:r>
          </a:p>
        </p:txBody>
      </p:sp>
      <p:sp>
        <p:nvSpPr>
          <p:cNvPr id="187" name="文本框 186">
            <a:extLst>
              <a:ext uri="{FF2B5EF4-FFF2-40B4-BE49-F238E27FC236}">
                <a16:creationId xmlns:a16="http://schemas.microsoft.com/office/drawing/2014/main" id="{29330A98-9CBA-B523-5AAD-0F634036A2D7}"/>
              </a:ext>
            </a:extLst>
          </p:cNvPr>
          <p:cNvSpPr txBox="1"/>
          <p:nvPr/>
        </p:nvSpPr>
        <p:spPr>
          <a:xfrm>
            <a:off x="3522210" y="3094078"/>
            <a:ext cx="695711" cy="3971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WXZA&lt;0</a:t>
            </a:r>
          </a:p>
          <a:p>
            <a:pPr algn="ctr">
              <a:lnSpc>
                <a:spcPct val="150000"/>
              </a:lnSpc>
            </a:pP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缠模型失败</a:t>
            </a:r>
          </a:p>
        </p:txBody>
      </p:sp>
      <p:sp>
        <p:nvSpPr>
          <p:cNvPr id="188" name="矩形 187">
            <a:extLst>
              <a:ext uri="{FF2B5EF4-FFF2-40B4-BE49-F238E27FC236}">
                <a16:creationId xmlns:a16="http://schemas.microsoft.com/office/drawing/2014/main" id="{F5D1E4CA-5225-2642-F23B-25F8B027A419}"/>
              </a:ext>
            </a:extLst>
          </p:cNvPr>
          <p:cNvSpPr/>
          <p:nvPr/>
        </p:nvSpPr>
        <p:spPr>
          <a:xfrm>
            <a:off x="4140741" y="3134207"/>
            <a:ext cx="1080000" cy="324000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89" name="文本框 188">
            <a:extLst>
              <a:ext uri="{FF2B5EF4-FFF2-40B4-BE49-F238E27FC236}">
                <a16:creationId xmlns:a16="http://schemas.microsoft.com/office/drawing/2014/main" id="{968B9591-C4C6-0D5A-DF1E-875A6C7F38E7}"/>
              </a:ext>
            </a:extLst>
          </p:cNvPr>
          <p:cNvSpPr txBox="1"/>
          <p:nvPr/>
        </p:nvSpPr>
        <p:spPr>
          <a:xfrm>
            <a:off x="4148453" y="3117769"/>
            <a:ext cx="1080000" cy="324000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缠中</a:t>
            </a:r>
            <a:endParaRPr lang="en-US" altLang="zh-CN" sz="9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algn="ctr"/>
            <a:r>
              <a:rPr lang="en-US" altLang="zh-CN" sz="7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/W2e</a:t>
            </a:r>
            <a:endParaRPr lang="zh-CN" altLang="en-US" sz="7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190" name="直接箭头连接符 189">
            <a:extLst>
              <a:ext uri="{FF2B5EF4-FFF2-40B4-BE49-F238E27FC236}">
                <a16:creationId xmlns:a16="http://schemas.microsoft.com/office/drawing/2014/main" id="{A3AF7D58-774E-92CB-8AA5-150D34B0CCAE}"/>
              </a:ext>
            </a:extLst>
          </p:cNvPr>
          <p:cNvCxnSpPr>
            <a:cxnSpLocks/>
            <a:stCxn id="188" idx="3"/>
            <a:endCxn id="178" idx="1"/>
          </p:cNvCxnSpPr>
          <p:nvPr/>
        </p:nvCxnSpPr>
        <p:spPr>
          <a:xfrm>
            <a:off x="5220741" y="3296207"/>
            <a:ext cx="167165" cy="1205"/>
          </a:xfrm>
          <a:prstGeom prst="straightConnector1">
            <a:avLst/>
          </a:prstGeom>
          <a:ln w="25400">
            <a:solidFill>
              <a:schemeClr val="accent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连接符: 肘形 191">
            <a:extLst>
              <a:ext uri="{FF2B5EF4-FFF2-40B4-BE49-F238E27FC236}">
                <a16:creationId xmlns:a16="http://schemas.microsoft.com/office/drawing/2014/main" id="{7FD38066-A417-C57D-262C-DBB5B4BED420}"/>
              </a:ext>
            </a:extLst>
          </p:cNvPr>
          <p:cNvCxnSpPr>
            <a:cxnSpLocks/>
            <a:stCxn id="181" idx="3"/>
            <a:endCxn id="526" idx="2"/>
          </p:cNvCxnSpPr>
          <p:nvPr/>
        </p:nvCxnSpPr>
        <p:spPr>
          <a:xfrm>
            <a:off x="10189973" y="3603926"/>
            <a:ext cx="1014474" cy="2603828"/>
          </a:xfrm>
          <a:prstGeom prst="bentConnector3">
            <a:avLst>
              <a:gd name="adj1" fmla="val 50000"/>
            </a:avLst>
          </a:prstGeom>
          <a:ln w="25400">
            <a:solidFill>
              <a:srgbClr val="5B9BD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9" name="文本框 198">
            <a:extLst>
              <a:ext uri="{FF2B5EF4-FFF2-40B4-BE49-F238E27FC236}">
                <a16:creationId xmlns:a16="http://schemas.microsoft.com/office/drawing/2014/main" id="{2833370B-F6D6-877C-71C4-FB47FFFA30D8}"/>
              </a:ext>
            </a:extLst>
          </p:cNvPr>
          <p:cNvSpPr txBox="1"/>
          <p:nvPr/>
        </p:nvSpPr>
        <p:spPr>
          <a:xfrm>
            <a:off x="2180087" y="3954091"/>
            <a:ext cx="877163" cy="369332"/>
          </a:xfrm>
          <a:prstGeom prst="rect">
            <a:avLst/>
          </a:prstGeom>
          <a:noFill/>
          <a:ln w="12700"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判定小管类型</a:t>
            </a:r>
            <a:endParaRPr lang="en-US" altLang="zh-CN" sz="9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algn="ctr"/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触管或柱管</a:t>
            </a:r>
          </a:p>
        </p:txBody>
      </p:sp>
      <p:sp>
        <p:nvSpPr>
          <p:cNvPr id="200" name="文本框 199">
            <a:extLst>
              <a:ext uri="{FF2B5EF4-FFF2-40B4-BE49-F238E27FC236}">
                <a16:creationId xmlns:a16="http://schemas.microsoft.com/office/drawing/2014/main" id="{A70DD637-57D8-2E08-B3F5-C872CC442D4F}"/>
              </a:ext>
            </a:extLst>
          </p:cNvPr>
          <p:cNvSpPr txBox="1"/>
          <p:nvPr/>
        </p:nvSpPr>
        <p:spPr>
          <a:xfrm>
            <a:off x="1765727" y="3560525"/>
            <a:ext cx="1800000" cy="216000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处于小管</a:t>
            </a:r>
            <a:r>
              <a:rPr lang="en-US" altLang="zh-CN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[</a:t>
            </a:r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顶</a:t>
            </a:r>
            <a:r>
              <a:rPr lang="en-US" altLang="zh-CN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,WJA]</a:t>
            </a:r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之中</a:t>
            </a:r>
            <a:endParaRPr lang="zh-CN" altLang="en-US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05" name="文本框 204">
            <a:extLst>
              <a:ext uri="{FF2B5EF4-FFF2-40B4-BE49-F238E27FC236}">
                <a16:creationId xmlns:a16="http://schemas.microsoft.com/office/drawing/2014/main" id="{AE16E4D3-E52C-89DB-FD58-B160568AFDCE}"/>
              </a:ext>
            </a:extLst>
          </p:cNvPr>
          <p:cNvSpPr txBox="1"/>
          <p:nvPr/>
        </p:nvSpPr>
        <p:spPr>
          <a:xfrm>
            <a:off x="4140741" y="3999387"/>
            <a:ext cx="1080000" cy="230832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触</a:t>
            </a:r>
            <a:r>
              <a:rPr lang="en-US" altLang="zh-CN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a</a:t>
            </a:r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：哼管</a:t>
            </a:r>
            <a:r>
              <a:rPr lang="en-US" altLang="zh-CN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顶管</a:t>
            </a:r>
            <a:endParaRPr lang="en-US" altLang="zh-CN" sz="9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221" name="直接箭头连接符 220">
            <a:extLst>
              <a:ext uri="{FF2B5EF4-FFF2-40B4-BE49-F238E27FC236}">
                <a16:creationId xmlns:a16="http://schemas.microsoft.com/office/drawing/2014/main" id="{57BAF72C-BBBC-6D6B-497A-37AC24246061}"/>
              </a:ext>
            </a:extLst>
          </p:cNvPr>
          <p:cNvCxnSpPr>
            <a:cxnSpLocks/>
            <a:stCxn id="14" idx="3"/>
            <a:endCxn id="205" idx="1"/>
          </p:cNvCxnSpPr>
          <p:nvPr/>
        </p:nvCxnSpPr>
        <p:spPr>
          <a:xfrm>
            <a:off x="3467434" y="4113693"/>
            <a:ext cx="673307" cy="1110"/>
          </a:xfrm>
          <a:prstGeom prst="straightConnector1">
            <a:avLst/>
          </a:prstGeom>
          <a:ln w="254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2" name="菱形 221">
            <a:extLst>
              <a:ext uri="{FF2B5EF4-FFF2-40B4-BE49-F238E27FC236}">
                <a16:creationId xmlns:a16="http://schemas.microsoft.com/office/drawing/2014/main" id="{30587D2F-5335-BED5-6328-2DBE2A7EDB52}"/>
              </a:ext>
            </a:extLst>
          </p:cNvPr>
          <p:cNvSpPr/>
          <p:nvPr/>
        </p:nvSpPr>
        <p:spPr>
          <a:xfrm>
            <a:off x="5387906" y="6086449"/>
            <a:ext cx="1800000" cy="252000"/>
          </a:xfrm>
          <a:prstGeom prst="diamond">
            <a:avLst/>
          </a:prstGeom>
          <a:solidFill>
            <a:srgbClr val="008080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25" name="矩形 224">
            <a:extLst>
              <a:ext uri="{FF2B5EF4-FFF2-40B4-BE49-F238E27FC236}">
                <a16:creationId xmlns:a16="http://schemas.microsoft.com/office/drawing/2014/main" id="{3EBE6FB7-B730-D248-3461-272260A9CCBC}"/>
              </a:ext>
            </a:extLst>
          </p:cNvPr>
          <p:cNvSpPr/>
          <p:nvPr/>
        </p:nvSpPr>
        <p:spPr>
          <a:xfrm>
            <a:off x="8209973" y="6103834"/>
            <a:ext cx="1980000" cy="216000"/>
          </a:xfrm>
          <a:prstGeom prst="rect">
            <a:avLst/>
          </a:prstGeom>
          <a:solidFill>
            <a:srgbClr val="5B9BD5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26" name="文本框 225">
            <a:extLst>
              <a:ext uri="{FF2B5EF4-FFF2-40B4-BE49-F238E27FC236}">
                <a16:creationId xmlns:a16="http://schemas.microsoft.com/office/drawing/2014/main" id="{5663182B-096B-7B5D-E605-85AA1F50AB90}"/>
              </a:ext>
            </a:extLst>
          </p:cNvPr>
          <p:cNvSpPr txBox="1"/>
          <p:nvPr/>
        </p:nvSpPr>
        <p:spPr>
          <a:xfrm>
            <a:off x="8393823" y="6095172"/>
            <a:ext cx="180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试仓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根据特殊形态，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e.g.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回踩</a:t>
            </a:r>
          </a:p>
        </p:txBody>
      </p:sp>
      <p:sp>
        <p:nvSpPr>
          <p:cNvPr id="227" name="矩形 226">
            <a:extLst>
              <a:ext uri="{FF2B5EF4-FFF2-40B4-BE49-F238E27FC236}">
                <a16:creationId xmlns:a16="http://schemas.microsoft.com/office/drawing/2014/main" id="{93671EA1-3683-775B-0DF9-69B91EB9D69C}"/>
              </a:ext>
            </a:extLst>
          </p:cNvPr>
          <p:cNvSpPr/>
          <p:nvPr/>
        </p:nvSpPr>
        <p:spPr>
          <a:xfrm>
            <a:off x="8209973" y="6362107"/>
            <a:ext cx="1980000" cy="216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228" name="直接箭头连接符 227">
            <a:extLst>
              <a:ext uri="{FF2B5EF4-FFF2-40B4-BE49-F238E27FC236}">
                <a16:creationId xmlns:a16="http://schemas.microsoft.com/office/drawing/2014/main" id="{2DECFF8B-1787-3817-CE45-E33271D695A9}"/>
              </a:ext>
            </a:extLst>
          </p:cNvPr>
          <p:cNvCxnSpPr>
            <a:cxnSpLocks/>
            <a:stCxn id="222" idx="3"/>
            <a:endCxn id="225" idx="1"/>
          </p:cNvCxnSpPr>
          <p:nvPr/>
        </p:nvCxnSpPr>
        <p:spPr>
          <a:xfrm flipV="1">
            <a:off x="7187906" y="6211834"/>
            <a:ext cx="1022067" cy="615"/>
          </a:xfrm>
          <a:prstGeom prst="straightConnector1">
            <a:avLst/>
          </a:prstGeom>
          <a:ln w="25400">
            <a:solidFill>
              <a:srgbClr val="54823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文本框 228">
            <a:extLst>
              <a:ext uri="{FF2B5EF4-FFF2-40B4-BE49-F238E27FC236}">
                <a16:creationId xmlns:a16="http://schemas.microsoft.com/office/drawing/2014/main" id="{05389BBB-7BA6-0967-5FF1-44F85CB55E73}"/>
              </a:ext>
            </a:extLst>
          </p:cNvPr>
          <p:cNvSpPr txBox="1"/>
          <p:nvPr/>
        </p:nvSpPr>
        <p:spPr>
          <a:xfrm>
            <a:off x="7328891" y="6317105"/>
            <a:ext cx="72000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弃</a:t>
            </a:r>
            <a:r>
              <a:rPr lang="en-US" altLang="zh-CN" sz="70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70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非升排</a:t>
            </a:r>
            <a:endParaRPr lang="zh-CN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30" name="文本框 229">
            <a:extLst>
              <a:ext uri="{FF2B5EF4-FFF2-40B4-BE49-F238E27FC236}">
                <a16:creationId xmlns:a16="http://schemas.microsoft.com/office/drawing/2014/main" id="{0298C18E-F258-FE51-1FD4-84DBEB487D05}"/>
              </a:ext>
            </a:extLst>
          </p:cNvPr>
          <p:cNvSpPr txBox="1"/>
          <p:nvPr/>
        </p:nvSpPr>
        <p:spPr>
          <a:xfrm>
            <a:off x="8393823" y="6361552"/>
            <a:ext cx="180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algn="r"/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禁仓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不要进行试仓</a:t>
            </a:r>
          </a:p>
        </p:txBody>
      </p:sp>
      <p:cxnSp>
        <p:nvCxnSpPr>
          <p:cNvPr id="237" name="连接符: 肘形 236">
            <a:extLst>
              <a:ext uri="{FF2B5EF4-FFF2-40B4-BE49-F238E27FC236}">
                <a16:creationId xmlns:a16="http://schemas.microsoft.com/office/drawing/2014/main" id="{5B7FEE7E-F412-F301-C477-897E633CBA7A}"/>
              </a:ext>
            </a:extLst>
          </p:cNvPr>
          <p:cNvCxnSpPr>
            <a:cxnSpLocks/>
            <a:stCxn id="225" idx="3"/>
            <a:endCxn id="526" idx="2"/>
          </p:cNvCxnSpPr>
          <p:nvPr/>
        </p:nvCxnSpPr>
        <p:spPr>
          <a:xfrm flipV="1">
            <a:off x="10189973" y="6207754"/>
            <a:ext cx="1014474" cy="4080"/>
          </a:xfrm>
          <a:prstGeom prst="bentConnector3">
            <a:avLst>
              <a:gd name="adj1" fmla="val 50000"/>
            </a:avLst>
          </a:prstGeom>
          <a:ln w="25400">
            <a:solidFill>
              <a:srgbClr val="5B9BD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2" name="直接箭头连接符 251">
            <a:extLst>
              <a:ext uri="{FF2B5EF4-FFF2-40B4-BE49-F238E27FC236}">
                <a16:creationId xmlns:a16="http://schemas.microsoft.com/office/drawing/2014/main" id="{8F84AAF1-FEA4-4881-6057-D7CCE0430678}"/>
              </a:ext>
            </a:extLst>
          </p:cNvPr>
          <p:cNvCxnSpPr>
            <a:cxnSpLocks/>
            <a:stCxn id="16" idx="3"/>
            <a:endCxn id="407" idx="1"/>
          </p:cNvCxnSpPr>
          <p:nvPr/>
        </p:nvCxnSpPr>
        <p:spPr>
          <a:xfrm flipV="1">
            <a:off x="7187906" y="5162813"/>
            <a:ext cx="1022067" cy="2480"/>
          </a:xfrm>
          <a:prstGeom prst="straightConnector1">
            <a:avLst/>
          </a:prstGeom>
          <a:ln w="254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菱形 252">
            <a:extLst>
              <a:ext uri="{FF2B5EF4-FFF2-40B4-BE49-F238E27FC236}">
                <a16:creationId xmlns:a16="http://schemas.microsoft.com/office/drawing/2014/main" id="{30B98E4E-0E37-A420-7C4E-3D595BE54639}"/>
              </a:ext>
            </a:extLst>
          </p:cNvPr>
          <p:cNvSpPr/>
          <p:nvPr/>
        </p:nvSpPr>
        <p:spPr>
          <a:xfrm>
            <a:off x="5387906" y="5834100"/>
            <a:ext cx="1800000" cy="252000"/>
          </a:xfrm>
          <a:prstGeom prst="diamond">
            <a:avLst/>
          </a:prstGeom>
          <a:solidFill>
            <a:srgbClr val="008080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58" name="矩形 257">
            <a:extLst>
              <a:ext uri="{FF2B5EF4-FFF2-40B4-BE49-F238E27FC236}">
                <a16:creationId xmlns:a16="http://schemas.microsoft.com/office/drawing/2014/main" id="{99002F47-A7CB-C5B1-84F5-27A3171555A8}"/>
              </a:ext>
            </a:extLst>
          </p:cNvPr>
          <p:cNvSpPr/>
          <p:nvPr/>
        </p:nvSpPr>
        <p:spPr>
          <a:xfrm>
            <a:off x="8209973" y="5850881"/>
            <a:ext cx="1980000" cy="216000"/>
          </a:xfrm>
          <a:prstGeom prst="rect">
            <a:avLst/>
          </a:prstGeom>
          <a:solidFill>
            <a:srgbClr val="5B9BD5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259" name="直接箭头连接符 258">
            <a:extLst>
              <a:ext uri="{FF2B5EF4-FFF2-40B4-BE49-F238E27FC236}">
                <a16:creationId xmlns:a16="http://schemas.microsoft.com/office/drawing/2014/main" id="{F59532A8-FBB1-9658-4842-99F845383AC4}"/>
              </a:ext>
            </a:extLst>
          </p:cNvPr>
          <p:cNvCxnSpPr>
            <a:cxnSpLocks/>
            <a:stCxn id="253" idx="3"/>
            <a:endCxn id="258" idx="1"/>
          </p:cNvCxnSpPr>
          <p:nvPr/>
        </p:nvCxnSpPr>
        <p:spPr>
          <a:xfrm flipV="1">
            <a:off x="7187906" y="5958881"/>
            <a:ext cx="1022067" cy="1219"/>
          </a:xfrm>
          <a:prstGeom prst="straightConnector1">
            <a:avLst/>
          </a:prstGeom>
          <a:ln w="25400">
            <a:solidFill>
              <a:schemeClr val="accent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文本框 259">
            <a:extLst>
              <a:ext uri="{FF2B5EF4-FFF2-40B4-BE49-F238E27FC236}">
                <a16:creationId xmlns:a16="http://schemas.microsoft.com/office/drawing/2014/main" id="{95A48E50-27C1-B96A-2819-2D050B78E562}"/>
              </a:ext>
            </a:extLst>
          </p:cNvPr>
          <p:cNvSpPr txBox="1"/>
          <p:nvPr/>
        </p:nvSpPr>
        <p:spPr>
          <a:xfrm>
            <a:off x="7328891" y="5794432"/>
            <a:ext cx="72000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警</a:t>
            </a: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已冲高</a:t>
            </a:r>
          </a:p>
        </p:txBody>
      </p:sp>
      <p:sp>
        <p:nvSpPr>
          <p:cNvPr id="261" name="文本框 260">
            <a:extLst>
              <a:ext uri="{FF2B5EF4-FFF2-40B4-BE49-F238E27FC236}">
                <a16:creationId xmlns:a16="http://schemas.microsoft.com/office/drawing/2014/main" id="{4897F947-66E3-1461-9C1D-74672636AFCE}"/>
              </a:ext>
            </a:extLst>
          </p:cNvPr>
          <p:cNvSpPr txBox="1"/>
          <p:nvPr/>
        </p:nvSpPr>
        <p:spPr>
          <a:xfrm>
            <a:off x="8393823" y="5846682"/>
            <a:ext cx="180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警仓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或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禁仓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endParaRPr lang="zh-CN" altLang="en-US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62" name="文本框 261">
            <a:extLst>
              <a:ext uri="{FF2B5EF4-FFF2-40B4-BE49-F238E27FC236}">
                <a16:creationId xmlns:a16="http://schemas.microsoft.com/office/drawing/2014/main" id="{680BD1B3-C65D-DADB-2054-0D435F4DFB2D}"/>
              </a:ext>
            </a:extLst>
          </p:cNvPr>
          <p:cNvSpPr txBox="1"/>
          <p:nvPr/>
        </p:nvSpPr>
        <p:spPr>
          <a:xfrm>
            <a:off x="7328891" y="4971032"/>
            <a:ext cx="720000" cy="2355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冲</a:t>
            </a:r>
            <a:r>
              <a:rPr lang="en-US" altLang="zh-CN" sz="70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70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是升排</a:t>
            </a:r>
            <a:endParaRPr lang="en-US" altLang="zh-CN" sz="700" dirty="0">
              <a:solidFill>
                <a:schemeClr val="tx1">
                  <a:lumMod val="50000"/>
                  <a:lumOff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265" name="直接箭头连接符 264">
            <a:extLst>
              <a:ext uri="{FF2B5EF4-FFF2-40B4-BE49-F238E27FC236}">
                <a16:creationId xmlns:a16="http://schemas.microsoft.com/office/drawing/2014/main" id="{F3A15B1A-EDF2-09B2-5F9A-9BDF65916909}"/>
              </a:ext>
            </a:extLst>
          </p:cNvPr>
          <p:cNvCxnSpPr>
            <a:cxnSpLocks/>
            <a:stCxn id="34" idx="3"/>
            <a:endCxn id="253" idx="1"/>
          </p:cNvCxnSpPr>
          <p:nvPr/>
        </p:nvCxnSpPr>
        <p:spPr>
          <a:xfrm>
            <a:off x="5220741" y="5955635"/>
            <a:ext cx="167165" cy="4465"/>
          </a:xfrm>
          <a:prstGeom prst="straightConnector1">
            <a:avLst/>
          </a:prstGeom>
          <a:ln w="254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8" name="菱形 277">
            <a:extLst>
              <a:ext uri="{FF2B5EF4-FFF2-40B4-BE49-F238E27FC236}">
                <a16:creationId xmlns:a16="http://schemas.microsoft.com/office/drawing/2014/main" id="{B396BBD2-9769-630B-2025-C59C6BA3080F}"/>
              </a:ext>
            </a:extLst>
          </p:cNvPr>
          <p:cNvSpPr/>
          <p:nvPr/>
        </p:nvSpPr>
        <p:spPr>
          <a:xfrm>
            <a:off x="5387906" y="3987924"/>
            <a:ext cx="1800000" cy="252000"/>
          </a:xfrm>
          <a:prstGeom prst="diamond">
            <a:avLst/>
          </a:prstGeom>
          <a:solidFill>
            <a:srgbClr val="00B050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86" name="文本框 285">
            <a:extLst>
              <a:ext uri="{FF2B5EF4-FFF2-40B4-BE49-F238E27FC236}">
                <a16:creationId xmlns:a16="http://schemas.microsoft.com/office/drawing/2014/main" id="{481507F1-F6DE-8D13-D1C5-2B2280E9B1DE}"/>
              </a:ext>
            </a:extLst>
          </p:cNvPr>
          <p:cNvSpPr txBox="1"/>
          <p:nvPr/>
        </p:nvSpPr>
        <p:spPr>
          <a:xfrm>
            <a:off x="5585072" y="4009486"/>
            <a:ext cx="144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警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是否止盈？宽偏连</a:t>
            </a:r>
            <a:endParaRPr lang="en-US" altLang="zh-CN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287" name="直接箭头连接符 286">
            <a:extLst>
              <a:ext uri="{FF2B5EF4-FFF2-40B4-BE49-F238E27FC236}">
                <a16:creationId xmlns:a16="http://schemas.microsoft.com/office/drawing/2014/main" id="{D8730EFB-7D13-AB6E-9EC8-95F872F9A03D}"/>
              </a:ext>
            </a:extLst>
          </p:cNvPr>
          <p:cNvCxnSpPr>
            <a:cxnSpLocks/>
            <a:stCxn id="15" idx="3"/>
            <a:endCxn id="278" idx="1"/>
          </p:cNvCxnSpPr>
          <p:nvPr/>
        </p:nvCxnSpPr>
        <p:spPr>
          <a:xfrm flipV="1">
            <a:off x="5220741" y="4113924"/>
            <a:ext cx="167165" cy="2150"/>
          </a:xfrm>
          <a:prstGeom prst="straightConnector1">
            <a:avLst/>
          </a:prstGeom>
          <a:ln w="254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7" name="矩形 296">
            <a:extLst>
              <a:ext uri="{FF2B5EF4-FFF2-40B4-BE49-F238E27FC236}">
                <a16:creationId xmlns:a16="http://schemas.microsoft.com/office/drawing/2014/main" id="{B967BC1A-C1EC-E4C6-7D4B-1B68D00E4100}"/>
              </a:ext>
            </a:extLst>
          </p:cNvPr>
          <p:cNvSpPr/>
          <p:nvPr/>
        </p:nvSpPr>
        <p:spPr>
          <a:xfrm>
            <a:off x="8209973" y="4004387"/>
            <a:ext cx="1980000" cy="216000"/>
          </a:xfrm>
          <a:prstGeom prst="rect">
            <a:avLst/>
          </a:prstGeom>
          <a:solidFill>
            <a:srgbClr val="5B9BD5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298" name="直接箭头连接符 297">
            <a:extLst>
              <a:ext uri="{FF2B5EF4-FFF2-40B4-BE49-F238E27FC236}">
                <a16:creationId xmlns:a16="http://schemas.microsoft.com/office/drawing/2014/main" id="{46D451FD-B9AF-4E28-A721-CEAB65D658A0}"/>
              </a:ext>
            </a:extLst>
          </p:cNvPr>
          <p:cNvCxnSpPr>
            <a:cxnSpLocks/>
            <a:stCxn id="278" idx="3"/>
            <a:endCxn id="297" idx="1"/>
          </p:cNvCxnSpPr>
          <p:nvPr/>
        </p:nvCxnSpPr>
        <p:spPr>
          <a:xfrm flipV="1">
            <a:off x="7187906" y="4112387"/>
            <a:ext cx="1022067" cy="1537"/>
          </a:xfrm>
          <a:prstGeom prst="straightConnector1">
            <a:avLst/>
          </a:prstGeom>
          <a:ln w="25400">
            <a:solidFill>
              <a:schemeClr val="accent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0" name="文本框 299">
            <a:extLst>
              <a:ext uri="{FF2B5EF4-FFF2-40B4-BE49-F238E27FC236}">
                <a16:creationId xmlns:a16="http://schemas.microsoft.com/office/drawing/2014/main" id="{BCF5BB31-569F-942A-6DE8-9A159B0371E6}"/>
              </a:ext>
            </a:extLst>
          </p:cNvPr>
          <p:cNvSpPr txBox="1"/>
          <p:nvPr/>
        </p:nvSpPr>
        <p:spPr>
          <a:xfrm>
            <a:off x="8393823" y="4008125"/>
            <a:ext cx="180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警仓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endParaRPr lang="zh-CN" altLang="en-US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316" name="连接符: 肘形 315">
            <a:extLst>
              <a:ext uri="{FF2B5EF4-FFF2-40B4-BE49-F238E27FC236}">
                <a16:creationId xmlns:a16="http://schemas.microsoft.com/office/drawing/2014/main" id="{81AAE7EB-1125-0EF1-6D3D-980C1CCDD79B}"/>
              </a:ext>
            </a:extLst>
          </p:cNvPr>
          <p:cNvCxnSpPr>
            <a:cxnSpLocks/>
            <a:stCxn id="407" idx="3"/>
            <a:endCxn id="526" idx="2"/>
          </p:cNvCxnSpPr>
          <p:nvPr/>
        </p:nvCxnSpPr>
        <p:spPr>
          <a:xfrm>
            <a:off x="10189973" y="5162813"/>
            <a:ext cx="1014474" cy="1044941"/>
          </a:xfrm>
          <a:prstGeom prst="bentConnector3">
            <a:avLst>
              <a:gd name="adj1" fmla="val 50000"/>
            </a:avLst>
          </a:prstGeom>
          <a:ln w="25400">
            <a:solidFill>
              <a:srgbClr val="5B9BD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9" name="左大括号 328">
            <a:extLst>
              <a:ext uri="{FF2B5EF4-FFF2-40B4-BE49-F238E27FC236}">
                <a16:creationId xmlns:a16="http://schemas.microsoft.com/office/drawing/2014/main" id="{30BA5012-6833-A879-4F37-814DDD277081}"/>
              </a:ext>
            </a:extLst>
          </p:cNvPr>
          <p:cNvSpPr/>
          <p:nvPr/>
        </p:nvSpPr>
        <p:spPr>
          <a:xfrm>
            <a:off x="956490" y="727461"/>
            <a:ext cx="576000" cy="2271275"/>
          </a:xfrm>
          <a:prstGeom prst="leftBrace">
            <a:avLst>
              <a:gd name="adj1" fmla="val 61018"/>
              <a:gd name="adj2" fmla="val 50000"/>
            </a:avLst>
          </a:prstGeom>
          <a:ln w="38100">
            <a:solidFill>
              <a:schemeClr val="accent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1" name="文本框 330">
            <a:extLst>
              <a:ext uri="{FF2B5EF4-FFF2-40B4-BE49-F238E27FC236}">
                <a16:creationId xmlns:a16="http://schemas.microsoft.com/office/drawing/2014/main" id="{01EF20AE-02FA-D252-6756-C1FC2A915D0C}"/>
              </a:ext>
            </a:extLst>
          </p:cNvPr>
          <p:cNvSpPr txBox="1"/>
          <p:nvPr/>
        </p:nvSpPr>
        <p:spPr>
          <a:xfrm>
            <a:off x="0" y="1431669"/>
            <a:ext cx="1666342" cy="86177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长期策略</a:t>
            </a:r>
            <a:endParaRPr lang="en-US" altLang="zh-CN" sz="14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周层界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周层势</a:t>
            </a:r>
          </a:p>
          <a:p>
            <a:endParaRPr lang="zh-CN" altLang="en-US" sz="12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354" name="左大括号 353">
            <a:extLst>
              <a:ext uri="{FF2B5EF4-FFF2-40B4-BE49-F238E27FC236}">
                <a16:creationId xmlns:a16="http://schemas.microsoft.com/office/drawing/2014/main" id="{B2F5FE8A-5C0A-1CDC-27DC-9872F33B26D0}"/>
              </a:ext>
            </a:extLst>
          </p:cNvPr>
          <p:cNvSpPr/>
          <p:nvPr/>
        </p:nvSpPr>
        <p:spPr>
          <a:xfrm>
            <a:off x="956490" y="3035812"/>
            <a:ext cx="576000" cy="3822188"/>
          </a:xfrm>
          <a:prstGeom prst="leftBrace">
            <a:avLst>
              <a:gd name="adj1" fmla="val 61018"/>
              <a:gd name="adj2" fmla="val 50000"/>
            </a:avLst>
          </a:prstGeom>
          <a:ln w="38100">
            <a:solidFill>
              <a:schemeClr val="accent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5" name="文本框 354">
            <a:extLst>
              <a:ext uri="{FF2B5EF4-FFF2-40B4-BE49-F238E27FC236}">
                <a16:creationId xmlns:a16="http://schemas.microsoft.com/office/drawing/2014/main" id="{6329F196-28D2-38E6-6544-C97EA97DE3DC}"/>
              </a:ext>
            </a:extLst>
          </p:cNvPr>
          <p:cNvSpPr txBox="1"/>
          <p:nvPr/>
        </p:nvSpPr>
        <p:spPr>
          <a:xfrm>
            <a:off x="2302" y="4580564"/>
            <a:ext cx="1666342" cy="492443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短期策略</a:t>
            </a:r>
            <a:endParaRPr lang="en-US" altLang="zh-CN" sz="14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周层段芽</a:t>
            </a:r>
            <a:endParaRPr lang="en-US" altLang="zh-CN" sz="12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361" name="文本框 360">
            <a:extLst>
              <a:ext uri="{FF2B5EF4-FFF2-40B4-BE49-F238E27FC236}">
                <a16:creationId xmlns:a16="http://schemas.microsoft.com/office/drawing/2014/main" id="{62C642FD-4DFD-F6A0-51BE-E3880A854372}"/>
              </a:ext>
            </a:extLst>
          </p:cNvPr>
          <p:cNvSpPr txBox="1"/>
          <p:nvPr/>
        </p:nvSpPr>
        <p:spPr>
          <a:xfrm>
            <a:off x="7328891" y="6056023"/>
            <a:ext cx="72000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试</a:t>
            </a:r>
            <a:r>
              <a:rPr lang="en-US" altLang="zh-CN" sz="70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70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是升排</a:t>
            </a:r>
            <a:endParaRPr lang="zh-CN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376" name="左大括号 375">
            <a:extLst>
              <a:ext uri="{FF2B5EF4-FFF2-40B4-BE49-F238E27FC236}">
                <a16:creationId xmlns:a16="http://schemas.microsoft.com/office/drawing/2014/main" id="{EAFCA7BA-E7AF-BE27-78CB-43C0810531C3}"/>
              </a:ext>
            </a:extLst>
          </p:cNvPr>
          <p:cNvSpPr/>
          <p:nvPr/>
        </p:nvSpPr>
        <p:spPr>
          <a:xfrm rot="10800000">
            <a:off x="10708583" y="2162673"/>
            <a:ext cx="607997" cy="1692000"/>
          </a:xfrm>
          <a:prstGeom prst="leftBrace">
            <a:avLst>
              <a:gd name="adj1" fmla="val 61018"/>
              <a:gd name="adj2" fmla="val 50000"/>
            </a:avLst>
          </a:prstGeom>
          <a:ln w="38100">
            <a:solidFill>
              <a:schemeClr val="accent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7" name="文本框 376">
            <a:extLst>
              <a:ext uri="{FF2B5EF4-FFF2-40B4-BE49-F238E27FC236}">
                <a16:creationId xmlns:a16="http://schemas.microsoft.com/office/drawing/2014/main" id="{1C2E2798-8E2D-D846-10D6-60F97A853453}"/>
              </a:ext>
            </a:extLst>
          </p:cNvPr>
          <p:cNvSpPr txBox="1"/>
          <p:nvPr/>
        </p:nvSpPr>
        <p:spPr>
          <a:xfrm>
            <a:off x="10914619" y="2769922"/>
            <a:ext cx="1340136" cy="492443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algn="r"/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短期策略</a:t>
            </a:r>
            <a:endParaRPr lang="en-US" altLang="zh-CN" sz="14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 algn="r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周层段根</a:t>
            </a:r>
            <a:endParaRPr lang="en-US" altLang="zh-CN" sz="12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395" name="连接符: 肘形 394">
            <a:extLst>
              <a:ext uri="{FF2B5EF4-FFF2-40B4-BE49-F238E27FC236}">
                <a16:creationId xmlns:a16="http://schemas.microsoft.com/office/drawing/2014/main" id="{C78B32B5-0892-F4C6-C447-50BC5F92A053}"/>
              </a:ext>
            </a:extLst>
          </p:cNvPr>
          <p:cNvCxnSpPr>
            <a:cxnSpLocks/>
            <a:stCxn id="258" idx="3"/>
            <a:endCxn id="526" idx="2"/>
          </p:cNvCxnSpPr>
          <p:nvPr/>
        </p:nvCxnSpPr>
        <p:spPr>
          <a:xfrm>
            <a:off x="10189973" y="5958881"/>
            <a:ext cx="1014474" cy="248873"/>
          </a:xfrm>
          <a:prstGeom prst="bentConnector3">
            <a:avLst>
              <a:gd name="adj1" fmla="val 50000"/>
            </a:avLst>
          </a:prstGeom>
          <a:ln w="25400">
            <a:solidFill>
              <a:srgbClr val="5B9BD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0" name="连接符: 肘形 399">
            <a:extLst>
              <a:ext uri="{FF2B5EF4-FFF2-40B4-BE49-F238E27FC236}">
                <a16:creationId xmlns:a16="http://schemas.microsoft.com/office/drawing/2014/main" id="{BCD55F72-966F-2CE6-72FB-DE11168AB069}"/>
              </a:ext>
            </a:extLst>
          </p:cNvPr>
          <p:cNvCxnSpPr>
            <a:cxnSpLocks/>
            <a:stCxn id="297" idx="3"/>
            <a:endCxn id="526" idx="2"/>
          </p:cNvCxnSpPr>
          <p:nvPr/>
        </p:nvCxnSpPr>
        <p:spPr>
          <a:xfrm>
            <a:off x="10189973" y="4112387"/>
            <a:ext cx="1014474" cy="2095367"/>
          </a:xfrm>
          <a:prstGeom prst="bentConnector3">
            <a:avLst>
              <a:gd name="adj1" fmla="val 50000"/>
            </a:avLst>
          </a:prstGeom>
          <a:ln w="25400">
            <a:solidFill>
              <a:srgbClr val="5B9BD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7" name="矩形 406">
            <a:extLst>
              <a:ext uri="{FF2B5EF4-FFF2-40B4-BE49-F238E27FC236}">
                <a16:creationId xmlns:a16="http://schemas.microsoft.com/office/drawing/2014/main" id="{90E3818F-F477-489B-B8B5-67DAAAD29F44}"/>
              </a:ext>
            </a:extLst>
          </p:cNvPr>
          <p:cNvSpPr/>
          <p:nvPr/>
        </p:nvSpPr>
        <p:spPr>
          <a:xfrm>
            <a:off x="8209973" y="5054813"/>
            <a:ext cx="1980000" cy="216000"/>
          </a:xfrm>
          <a:prstGeom prst="rect">
            <a:avLst/>
          </a:prstGeom>
          <a:solidFill>
            <a:schemeClr val="accent5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408" name="文本框 407">
            <a:extLst>
              <a:ext uri="{FF2B5EF4-FFF2-40B4-BE49-F238E27FC236}">
                <a16:creationId xmlns:a16="http://schemas.microsoft.com/office/drawing/2014/main" id="{6F937F08-5ECF-6AC9-1DB5-1104C7E4BF61}"/>
              </a:ext>
            </a:extLst>
          </p:cNvPr>
          <p:cNvSpPr txBox="1"/>
          <p:nvPr/>
        </p:nvSpPr>
        <p:spPr>
          <a:xfrm>
            <a:off x="8393823" y="5055416"/>
            <a:ext cx="180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冲仓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下周冲高止盈</a:t>
            </a:r>
            <a:endParaRPr lang="en-US" altLang="zh-CN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526" name="椭圆 525">
            <a:extLst>
              <a:ext uri="{FF2B5EF4-FFF2-40B4-BE49-F238E27FC236}">
                <a16:creationId xmlns:a16="http://schemas.microsoft.com/office/drawing/2014/main" id="{47F43AE5-7FCF-1D3D-54C7-2EE056101E92}"/>
              </a:ext>
            </a:extLst>
          </p:cNvPr>
          <p:cNvSpPr>
            <a:spLocks noChangeAspect="1"/>
          </p:cNvSpPr>
          <p:nvPr/>
        </p:nvSpPr>
        <p:spPr>
          <a:xfrm>
            <a:off x="11204447" y="5883754"/>
            <a:ext cx="648000" cy="648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000" b="1" dirty="0"/>
          </a:p>
        </p:txBody>
      </p:sp>
      <p:sp>
        <p:nvSpPr>
          <p:cNvPr id="528" name="文本框 527">
            <a:extLst>
              <a:ext uri="{FF2B5EF4-FFF2-40B4-BE49-F238E27FC236}">
                <a16:creationId xmlns:a16="http://schemas.microsoft.com/office/drawing/2014/main" id="{572C039E-7653-65FC-0758-93428B415795}"/>
              </a:ext>
            </a:extLst>
          </p:cNvPr>
          <p:cNvSpPr txBox="1"/>
          <p:nvPr/>
        </p:nvSpPr>
        <p:spPr>
          <a:xfrm>
            <a:off x="11200597" y="5986999"/>
            <a:ext cx="697627" cy="400110"/>
          </a:xfrm>
          <a:prstGeom prst="rect">
            <a:avLst/>
          </a:prstGeom>
          <a:noFill/>
          <a:ln w="12700"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zh-CN" altLang="en-US" sz="1000" b="1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是仓</a:t>
            </a:r>
            <a:endParaRPr lang="en-US" altLang="zh-CN" sz="1000" b="1" dirty="0">
              <a:solidFill>
                <a:schemeClr val="bg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algn="ctr"/>
            <a:r>
              <a:rPr lang="zh-CN" altLang="en-US" sz="1000" b="1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虚拟仓位</a:t>
            </a:r>
          </a:p>
        </p:txBody>
      </p:sp>
      <p:cxnSp>
        <p:nvCxnSpPr>
          <p:cNvPr id="625" name="连接符: 肘形 624">
            <a:extLst>
              <a:ext uri="{FF2B5EF4-FFF2-40B4-BE49-F238E27FC236}">
                <a16:creationId xmlns:a16="http://schemas.microsoft.com/office/drawing/2014/main" id="{C5FE45CD-9272-8521-1E46-154928D8D177}"/>
              </a:ext>
            </a:extLst>
          </p:cNvPr>
          <p:cNvCxnSpPr>
            <a:cxnSpLocks/>
            <a:stCxn id="222" idx="2"/>
            <a:endCxn id="227" idx="1"/>
          </p:cNvCxnSpPr>
          <p:nvPr/>
        </p:nvCxnSpPr>
        <p:spPr>
          <a:xfrm rot="16200000" flipH="1">
            <a:off x="7183110" y="5443244"/>
            <a:ext cx="131658" cy="1922067"/>
          </a:xfrm>
          <a:prstGeom prst="bentConnector2">
            <a:avLst/>
          </a:prstGeom>
          <a:ln w="25400">
            <a:solidFill>
              <a:srgbClr val="843C0C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9" name="连接符: 肘形 628">
            <a:extLst>
              <a:ext uri="{FF2B5EF4-FFF2-40B4-BE49-F238E27FC236}">
                <a16:creationId xmlns:a16="http://schemas.microsoft.com/office/drawing/2014/main" id="{97804F21-0AD7-F68C-081B-0038D952AE09}"/>
              </a:ext>
            </a:extLst>
          </p:cNvPr>
          <p:cNvCxnSpPr>
            <a:cxnSpLocks/>
            <a:stCxn id="178" idx="2"/>
            <a:endCxn id="181" idx="1"/>
          </p:cNvCxnSpPr>
          <p:nvPr/>
        </p:nvCxnSpPr>
        <p:spPr>
          <a:xfrm rot="16200000" flipH="1">
            <a:off x="7203682" y="2597635"/>
            <a:ext cx="90514" cy="1922067"/>
          </a:xfrm>
          <a:prstGeom prst="bentConnector2">
            <a:avLst/>
          </a:prstGeom>
          <a:ln w="25400">
            <a:solidFill>
              <a:schemeClr val="accent6">
                <a:lumMod val="75000"/>
              </a:schemeClr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2" name="连接符: 肘形 631">
            <a:extLst>
              <a:ext uri="{FF2B5EF4-FFF2-40B4-BE49-F238E27FC236}">
                <a16:creationId xmlns:a16="http://schemas.microsoft.com/office/drawing/2014/main" id="{E22BB219-3356-F0E6-CF6D-4A2BAD7E1D5F}"/>
              </a:ext>
            </a:extLst>
          </p:cNvPr>
          <p:cNvCxnSpPr>
            <a:cxnSpLocks/>
            <a:stCxn id="132" idx="2"/>
            <a:endCxn id="135" idx="1"/>
          </p:cNvCxnSpPr>
          <p:nvPr/>
        </p:nvCxnSpPr>
        <p:spPr>
          <a:xfrm rot="16200000" flipH="1">
            <a:off x="7206176" y="1667925"/>
            <a:ext cx="85526" cy="1922067"/>
          </a:xfrm>
          <a:prstGeom prst="bentConnector2">
            <a:avLst/>
          </a:prstGeom>
          <a:ln w="25400">
            <a:solidFill>
              <a:schemeClr val="accent6">
                <a:lumMod val="75000"/>
              </a:schemeClr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0" name="文本框 639">
            <a:extLst>
              <a:ext uri="{FF2B5EF4-FFF2-40B4-BE49-F238E27FC236}">
                <a16:creationId xmlns:a16="http://schemas.microsoft.com/office/drawing/2014/main" id="{E37D43BE-751E-7D77-18F4-0EA2240033B7}"/>
              </a:ext>
            </a:extLst>
          </p:cNvPr>
          <p:cNvSpPr txBox="1"/>
          <p:nvPr/>
        </p:nvSpPr>
        <p:spPr>
          <a:xfrm>
            <a:off x="7328891" y="3442327"/>
            <a:ext cx="72000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常</a:t>
            </a: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未冲高</a:t>
            </a:r>
          </a:p>
        </p:txBody>
      </p:sp>
      <p:cxnSp>
        <p:nvCxnSpPr>
          <p:cNvPr id="645" name="连接符: 肘形 644">
            <a:extLst>
              <a:ext uri="{FF2B5EF4-FFF2-40B4-BE49-F238E27FC236}">
                <a16:creationId xmlns:a16="http://schemas.microsoft.com/office/drawing/2014/main" id="{E0FAF88C-CA83-70DA-1F3A-E18B2A5589A8}"/>
              </a:ext>
            </a:extLst>
          </p:cNvPr>
          <p:cNvCxnSpPr>
            <a:cxnSpLocks/>
            <a:stCxn id="66" idx="2"/>
            <a:endCxn id="320" idx="1"/>
          </p:cNvCxnSpPr>
          <p:nvPr/>
        </p:nvCxnSpPr>
        <p:spPr>
          <a:xfrm rot="16200000" flipH="1">
            <a:off x="7989005" y="-288208"/>
            <a:ext cx="501069" cy="3903267"/>
          </a:xfrm>
          <a:prstGeom prst="bentConnector2">
            <a:avLst/>
          </a:prstGeom>
          <a:ln w="25400">
            <a:solidFill>
              <a:schemeClr val="accent6">
                <a:lumMod val="75000"/>
              </a:schemeClr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8" name="文本框 647">
            <a:extLst>
              <a:ext uri="{FF2B5EF4-FFF2-40B4-BE49-F238E27FC236}">
                <a16:creationId xmlns:a16="http://schemas.microsoft.com/office/drawing/2014/main" id="{5BF56358-9460-5F7A-0238-7F5A80EBADCC}"/>
              </a:ext>
            </a:extLst>
          </p:cNvPr>
          <p:cNvSpPr txBox="1"/>
          <p:nvPr/>
        </p:nvSpPr>
        <p:spPr>
          <a:xfrm>
            <a:off x="7328891" y="1405620"/>
            <a:ext cx="797766" cy="2355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禁</a:t>
            </a: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】P&lt;WJC</a:t>
            </a:r>
          </a:p>
        </p:txBody>
      </p:sp>
      <p:sp>
        <p:nvSpPr>
          <p:cNvPr id="673" name="文本框 672">
            <a:extLst>
              <a:ext uri="{FF2B5EF4-FFF2-40B4-BE49-F238E27FC236}">
                <a16:creationId xmlns:a16="http://schemas.microsoft.com/office/drawing/2014/main" id="{95A6EBA3-7809-04A7-7FA2-844BCD50F3FB}"/>
              </a:ext>
            </a:extLst>
          </p:cNvPr>
          <p:cNvSpPr txBox="1"/>
          <p:nvPr/>
        </p:nvSpPr>
        <p:spPr>
          <a:xfrm>
            <a:off x="7328891" y="3957232"/>
            <a:ext cx="72000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警</a:t>
            </a: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应止盈</a:t>
            </a:r>
          </a:p>
        </p:txBody>
      </p:sp>
      <p:sp>
        <p:nvSpPr>
          <p:cNvPr id="34" name="矩形 33">
            <a:extLst>
              <a:ext uri="{FF2B5EF4-FFF2-40B4-BE49-F238E27FC236}">
                <a16:creationId xmlns:a16="http://schemas.microsoft.com/office/drawing/2014/main" id="{227804CF-602B-1C54-A807-48E69612F43A}"/>
              </a:ext>
            </a:extLst>
          </p:cNvPr>
          <p:cNvSpPr/>
          <p:nvPr/>
        </p:nvSpPr>
        <p:spPr>
          <a:xfrm>
            <a:off x="4140741" y="5838635"/>
            <a:ext cx="1080000" cy="234000"/>
          </a:xfrm>
          <a:prstGeom prst="rect">
            <a:avLst/>
          </a:prstGeom>
          <a:solidFill>
            <a:srgbClr val="C5E0B4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35" name="文本框 34">
            <a:extLst>
              <a:ext uri="{FF2B5EF4-FFF2-40B4-BE49-F238E27FC236}">
                <a16:creationId xmlns:a16="http://schemas.microsoft.com/office/drawing/2014/main" id="{C2BB6B7A-E14A-E4BD-9E76-9729718A7A31}"/>
              </a:ext>
            </a:extLst>
          </p:cNvPr>
          <p:cNvSpPr txBox="1"/>
          <p:nvPr/>
        </p:nvSpPr>
        <p:spPr>
          <a:xfrm>
            <a:off x="4140833" y="5839940"/>
            <a:ext cx="1080000" cy="234000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柱管：〇管</a:t>
            </a:r>
            <a:r>
              <a:rPr lang="en-US" altLang="zh-CN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芽管</a:t>
            </a:r>
            <a:endParaRPr lang="en-US" altLang="zh-CN" sz="9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37" name="连接符: 肘形 36">
            <a:extLst>
              <a:ext uri="{FF2B5EF4-FFF2-40B4-BE49-F238E27FC236}">
                <a16:creationId xmlns:a16="http://schemas.microsoft.com/office/drawing/2014/main" id="{BB19C02E-AEBF-E627-25F6-5FD7F0EA7DF7}"/>
              </a:ext>
            </a:extLst>
          </p:cNvPr>
          <p:cNvCxnSpPr>
            <a:cxnSpLocks/>
            <a:stCxn id="14" idx="2"/>
            <a:endCxn id="34" idx="1"/>
          </p:cNvCxnSpPr>
          <p:nvPr/>
        </p:nvCxnSpPr>
        <p:spPr>
          <a:xfrm rot="16200000" flipH="1">
            <a:off x="2541116" y="4356010"/>
            <a:ext cx="1625942" cy="1573307"/>
          </a:xfrm>
          <a:prstGeom prst="bentConnector2">
            <a:avLst/>
          </a:prstGeom>
          <a:ln w="25400">
            <a:solidFill>
              <a:schemeClr val="accent6">
                <a:lumMod val="75000"/>
              </a:schemeClr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菱形 77">
            <a:extLst>
              <a:ext uri="{FF2B5EF4-FFF2-40B4-BE49-F238E27FC236}">
                <a16:creationId xmlns:a16="http://schemas.microsoft.com/office/drawing/2014/main" id="{68A0AFE7-2112-6D01-6EBD-541FB6A02E07}"/>
              </a:ext>
            </a:extLst>
          </p:cNvPr>
          <p:cNvSpPr/>
          <p:nvPr/>
        </p:nvSpPr>
        <p:spPr>
          <a:xfrm>
            <a:off x="5387906" y="4782332"/>
            <a:ext cx="1800000" cy="252000"/>
          </a:xfrm>
          <a:prstGeom prst="diamond">
            <a:avLst/>
          </a:prstGeom>
          <a:solidFill>
            <a:schemeClr val="accent6">
              <a:lumMod val="75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79" name="文本框 78">
            <a:extLst>
              <a:ext uri="{FF2B5EF4-FFF2-40B4-BE49-F238E27FC236}">
                <a16:creationId xmlns:a16="http://schemas.microsoft.com/office/drawing/2014/main" id="{BC18F63A-E609-BD95-7C04-BCEACE2ED210}"/>
              </a:ext>
            </a:extLst>
          </p:cNvPr>
          <p:cNvSpPr txBox="1"/>
          <p:nvPr/>
        </p:nvSpPr>
        <p:spPr>
          <a:xfrm>
            <a:off x="5648481" y="4799857"/>
            <a:ext cx="1313181" cy="215444"/>
          </a:xfrm>
          <a:prstGeom prst="rect">
            <a:avLst/>
          </a:prstGeom>
          <a:noFill/>
          <a:ln w="12700"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警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判定已冲高？管宽</a:t>
            </a:r>
            <a:endParaRPr lang="en-US" altLang="zh-CN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80" name="矩形 79">
            <a:extLst>
              <a:ext uri="{FF2B5EF4-FFF2-40B4-BE49-F238E27FC236}">
                <a16:creationId xmlns:a16="http://schemas.microsoft.com/office/drawing/2014/main" id="{075CAEFC-DE8C-D9F2-EE23-5CAE45B348FD}"/>
              </a:ext>
            </a:extLst>
          </p:cNvPr>
          <p:cNvSpPr/>
          <p:nvPr/>
        </p:nvSpPr>
        <p:spPr>
          <a:xfrm>
            <a:off x="8209973" y="5562234"/>
            <a:ext cx="1980000" cy="216000"/>
          </a:xfrm>
          <a:prstGeom prst="rect">
            <a:avLst/>
          </a:prstGeom>
          <a:solidFill>
            <a:schemeClr val="accent5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81" name="文本框 80">
            <a:extLst>
              <a:ext uri="{FF2B5EF4-FFF2-40B4-BE49-F238E27FC236}">
                <a16:creationId xmlns:a16="http://schemas.microsoft.com/office/drawing/2014/main" id="{7F3A930B-AAF9-0BA5-5CBC-A7A0AC907C02}"/>
              </a:ext>
            </a:extLst>
          </p:cNvPr>
          <p:cNvSpPr txBox="1"/>
          <p:nvPr/>
        </p:nvSpPr>
        <p:spPr>
          <a:xfrm>
            <a:off x="8393823" y="5561283"/>
            <a:ext cx="180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常仓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可按长期策略被动持仓</a:t>
            </a:r>
            <a:endParaRPr lang="en-US" altLang="zh-CN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82" name="矩形 81">
            <a:extLst>
              <a:ext uri="{FF2B5EF4-FFF2-40B4-BE49-F238E27FC236}">
                <a16:creationId xmlns:a16="http://schemas.microsoft.com/office/drawing/2014/main" id="{CC93464B-87CA-BC80-240B-D476FA2F95F2}"/>
              </a:ext>
            </a:extLst>
          </p:cNvPr>
          <p:cNvSpPr/>
          <p:nvPr/>
        </p:nvSpPr>
        <p:spPr>
          <a:xfrm>
            <a:off x="8209973" y="4798927"/>
            <a:ext cx="1980000" cy="216000"/>
          </a:xfrm>
          <a:prstGeom prst="rect">
            <a:avLst/>
          </a:prstGeom>
          <a:solidFill>
            <a:srgbClr val="5B9BD5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84" name="直接箭头连接符 83">
            <a:extLst>
              <a:ext uri="{FF2B5EF4-FFF2-40B4-BE49-F238E27FC236}">
                <a16:creationId xmlns:a16="http://schemas.microsoft.com/office/drawing/2014/main" id="{BC240DBE-6C6C-DA26-E983-F757DCB421E5}"/>
              </a:ext>
            </a:extLst>
          </p:cNvPr>
          <p:cNvCxnSpPr>
            <a:cxnSpLocks/>
            <a:stCxn id="78" idx="3"/>
            <a:endCxn id="82" idx="1"/>
          </p:cNvCxnSpPr>
          <p:nvPr/>
        </p:nvCxnSpPr>
        <p:spPr>
          <a:xfrm flipV="1">
            <a:off x="7187906" y="4906927"/>
            <a:ext cx="1022067" cy="1405"/>
          </a:xfrm>
          <a:prstGeom prst="straightConnector1">
            <a:avLst/>
          </a:prstGeom>
          <a:ln w="25400">
            <a:solidFill>
              <a:schemeClr val="accent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文本框 87">
            <a:extLst>
              <a:ext uri="{FF2B5EF4-FFF2-40B4-BE49-F238E27FC236}">
                <a16:creationId xmlns:a16="http://schemas.microsoft.com/office/drawing/2014/main" id="{95771E3B-CA61-4872-7CEE-DD589C7D2EE9}"/>
              </a:ext>
            </a:extLst>
          </p:cNvPr>
          <p:cNvSpPr txBox="1"/>
          <p:nvPr/>
        </p:nvSpPr>
        <p:spPr>
          <a:xfrm>
            <a:off x="7328891" y="4733347"/>
            <a:ext cx="72000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警</a:t>
            </a: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已冲高</a:t>
            </a:r>
          </a:p>
        </p:txBody>
      </p:sp>
      <p:sp>
        <p:nvSpPr>
          <p:cNvPr id="89" name="文本框 88">
            <a:extLst>
              <a:ext uri="{FF2B5EF4-FFF2-40B4-BE49-F238E27FC236}">
                <a16:creationId xmlns:a16="http://schemas.microsoft.com/office/drawing/2014/main" id="{E08B6A0D-3797-1657-4887-604EFFAD3F31}"/>
              </a:ext>
            </a:extLst>
          </p:cNvPr>
          <p:cNvSpPr txBox="1"/>
          <p:nvPr/>
        </p:nvSpPr>
        <p:spPr>
          <a:xfrm>
            <a:off x="8393823" y="4806988"/>
            <a:ext cx="180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警仓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或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禁仓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endParaRPr lang="zh-CN" altLang="en-US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04" name="菱形 103">
            <a:extLst>
              <a:ext uri="{FF2B5EF4-FFF2-40B4-BE49-F238E27FC236}">
                <a16:creationId xmlns:a16="http://schemas.microsoft.com/office/drawing/2014/main" id="{1A23ABB9-9146-40E2-3280-760F1187779B}"/>
              </a:ext>
            </a:extLst>
          </p:cNvPr>
          <p:cNvSpPr/>
          <p:nvPr/>
        </p:nvSpPr>
        <p:spPr>
          <a:xfrm>
            <a:off x="5387906" y="5297367"/>
            <a:ext cx="1800000" cy="252000"/>
          </a:xfrm>
          <a:prstGeom prst="diamond">
            <a:avLst/>
          </a:prstGeom>
          <a:solidFill>
            <a:schemeClr val="accent6">
              <a:lumMod val="75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5" name="文本框 104">
            <a:extLst>
              <a:ext uri="{FF2B5EF4-FFF2-40B4-BE49-F238E27FC236}">
                <a16:creationId xmlns:a16="http://schemas.microsoft.com/office/drawing/2014/main" id="{DB233B04-9926-3A47-60DF-B4E949D0E332}"/>
              </a:ext>
            </a:extLst>
          </p:cNvPr>
          <p:cNvSpPr txBox="1"/>
          <p:nvPr/>
        </p:nvSpPr>
        <p:spPr>
          <a:xfrm>
            <a:off x="5699780" y="5325062"/>
            <a:ext cx="1210588" cy="215444"/>
          </a:xfrm>
          <a:prstGeom prst="rect">
            <a:avLst/>
          </a:prstGeom>
          <a:noFill/>
          <a:ln w="12700"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试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能否捡漏？阴柱</a:t>
            </a:r>
            <a:endParaRPr lang="en-US" altLang="zh-CN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106" name="直接箭头连接符 105">
            <a:extLst>
              <a:ext uri="{FF2B5EF4-FFF2-40B4-BE49-F238E27FC236}">
                <a16:creationId xmlns:a16="http://schemas.microsoft.com/office/drawing/2014/main" id="{D09D9097-AB85-B3AD-17A2-263731AEC3B6}"/>
              </a:ext>
            </a:extLst>
          </p:cNvPr>
          <p:cNvCxnSpPr>
            <a:cxnSpLocks/>
            <a:stCxn id="104" idx="3"/>
            <a:endCxn id="109" idx="1"/>
          </p:cNvCxnSpPr>
          <p:nvPr/>
        </p:nvCxnSpPr>
        <p:spPr>
          <a:xfrm flipV="1">
            <a:off x="7187906" y="5416124"/>
            <a:ext cx="1022067" cy="7243"/>
          </a:xfrm>
          <a:prstGeom prst="straightConnector1">
            <a:avLst/>
          </a:prstGeom>
          <a:ln w="254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文本框 106">
            <a:extLst>
              <a:ext uri="{FF2B5EF4-FFF2-40B4-BE49-F238E27FC236}">
                <a16:creationId xmlns:a16="http://schemas.microsoft.com/office/drawing/2014/main" id="{1CCC08CF-BE28-2DBD-3E6F-7936E310C4D4}"/>
              </a:ext>
            </a:extLst>
          </p:cNvPr>
          <p:cNvSpPr txBox="1"/>
          <p:nvPr/>
        </p:nvSpPr>
        <p:spPr>
          <a:xfrm>
            <a:off x="7328891" y="5206076"/>
            <a:ext cx="844994" cy="2355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试</a:t>
            </a: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阴柱捡漏</a:t>
            </a:r>
            <a:endParaRPr lang="en-US" altLang="zh-CN" sz="700" dirty="0">
              <a:solidFill>
                <a:schemeClr val="tx1">
                  <a:lumMod val="50000"/>
                  <a:lumOff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09" name="矩形 108">
            <a:extLst>
              <a:ext uri="{FF2B5EF4-FFF2-40B4-BE49-F238E27FC236}">
                <a16:creationId xmlns:a16="http://schemas.microsoft.com/office/drawing/2014/main" id="{EE06BED8-5D4D-8AC0-3A01-883E6F243F1F}"/>
              </a:ext>
            </a:extLst>
          </p:cNvPr>
          <p:cNvSpPr/>
          <p:nvPr/>
        </p:nvSpPr>
        <p:spPr>
          <a:xfrm>
            <a:off x="8209973" y="5308124"/>
            <a:ext cx="1980000" cy="216000"/>
          </a:xfrm>
          <a:prstGeom prst="rect">
            <a:avLst/>
          </a:prstGeom>
          <a:solidFill>
            <a:srgbClr val="5B9BD5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10" name="文本框 109">
            <a:extLst>
              <a:ext uri="{FF2B5EF4-FFF2-40B4-BE49-F238E27FC236}">
                <a16:creationId xmlns:a16="http://schemas.microsoft.com/office/drawing/2014/main" id="{139ED757-E359-4BFA-E6B6-4FA99568DA4F}"/>
              </a:ext>
            </a:extLst>
          </p:cNvPr>
          <p:cNvSpPr txBox="1"/>
          <p:nvPr/>
        </p:nvSpPr>
        <p:spPr>
          <a:xfrm>
            <a:off x="8393823" y="5308124"/>
            <a:ext cx="180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试仓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捡漏下周冲高</a:t>
            </a:r>
            <a:endParaRPr lang="en-US" altLang="zh-CN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126" name="连接符: 肘形 125">
            <a:extLst>
              <a:ext uri="{FF2B5EF4-FFF2-40B4-BE49-F238E27FC236}">
                <a16:creationId xmlns:a16="http://schemas.microsoft.com/office/drawing/2014/main" id="{968CBCC7-31ED-8C41-5B2B-76CCF820A9AD}"/>
              </a:ext>
            </a:extLst>
          </p:cNvPr>
          <p:cNvCxnSpPr>
            <a:cxnSpLocks/>
            <a:stCxn id="104" idx="2"/>
            <a:endCxn id="80" idx="1"/>
          </p:cNvCxnSpPr>
          <p:nvPr/>
        </p:nvCxnSpPr>
        <p:spPr>
          <a:xfrm rot="16200000" flipH="1">
            <a:off x="7188506" y="4648766"/>
            <a:ext cx="120867" cy="1922067"/>
          </a:xfrm>
          <a:prstGeom prst="bentConnector2">
            <a:avLst/>
          </a:prstGeom>
          <a:ln w="25400">
            <a:solidFill>
              <a:schemeClr val="accent6">
                <a:lumMod val="75000"/>
              </a:schemeClr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" name="连接符: 肘形 552">
            <a:extLst>
              <a:ext uri="{FF2B5EF4-FFF2-40B4-BE49-F238E27FC236}">
                <a16:creationId xmlns:a16="http://schemas.microsoft.com/office/drawing/2014/main" id="{7ADC418D-EC6F-5873-103A-B70782BDF1C5}"/>
              </a:ext>
            </a:extLst>
          </p:cNvPr>
          <p:cNvCxnSpPr>
            <a:cxnSpLocks/>
            <a:stCxn id="109" idx="3"/>
            <a:endCxn id="526" idx="2"/>
          </p:cNvCxnSpPr>
          <p:nvPr/>
        </p:nvCxnSpPr>
        <p:spPr>
          <a:xfrm>
            <a:off x="10189973" y="5416124"/>
            <a:ext cx="1014474" cy="791630"/>
          </a:xfrm>
          <a:prstGeom prst="bentConnector3">
            <a:avLst>
              <a:gd name="adj1" fmla="val 50000"/>
            </a:avLst>
          </a:prstGeom>
          <a:ln w="25400">
            <a:solidFill>
              <a:srgbClr val="5B9BD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6" name="连接符: 肘形 555">
            <a:extLst>
              <a:ext uri="{FF2B5EF4-FFF2-40B4-BE49-F238E27FC236}">
                <a16:creationId xmlns:a16="http://schemas.microsoft.com/office/drawing/2014/main" id="{C0E05A8B-AA34-8187-1628-CDDD4484153F}"/>
              </a:ext>
            </a:extLst>
          </p:cNvPr>
          <p:cNvCxnSpPr>
            <a:cxnSpLocks/>
            <a:stCxn id="80" idx="3"/>
            <a:endCxn id="526" idx="2"/>
          </p:cNvCxnSpPr>
          <p:nvPr/>
        </p:nvCxnSpPr>
        <p:spPr>
          <a:xfrm>
            <a:off x="10189973" y="5670234"/>
            <a:ext cx="1014474" cy="537520"/>
          </a:xfrm>
          <a:prstGeom prst="bentConnector3">
            <a:avLst>
              <a:gd name="adj1" fmla="val 50000"/>
            </a:avLst>
          </a:prstGeom>
          <a:ln w="25400">
            <a:solidFill>
              <a:srgbClr val="5B9BD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6" name="菱形 565">
            <a:extLst>
              <a:ext uri="{FF2B5EF4-FFF2-40B4-BE49-F238E27FC236}">
                <a16:creationId xmlns:a16="http://schemas.microsoft.com/office/drawing/2014/main" id="{192C6811-C63C-838D-C71E-10BC0D767837}"/>
              </a:ext>
            </a:extLst>
          </p:cNvPr>
          <p:cNvSpPr/>
          <p:nvPr/>
        </p:nvSpPr>
        <p:spPr>
          <a:xfrm>
            <a:off x="5387906" y="4238462"/>
            <a:ext cx="1800000" cy="252000"/>
          </a:xfrm>
          <a:prstGeom prst="diamond">
            <a:avLst/>
          </a:prstGeom>
          <a:solidFill>
            <a:srgbClr val="00B050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67" name="文本框 566">
            <a:extLst>
              <a:ext uri="{FF2B5EF4-FFF2-40B4-BE49-F238E27FC236}">
                <a16:creationId xmlns:a16="http://schemas.microsoft.com/office/drawing/2014/main" id="{B9C2DF6D-D1FA-4C01-0ACC-27C77A2DF3B8}"/>
              </a:ext>
            </a:extLst>
          </p:cNvPr>
          <p:cNvSpPr txBox="1"/>
          <p:nvPr/>
        </p:nvSpPr>
        <p:spPr>
          <a:xfrm>
            <a:off x="5585072" y="4269136"/>
            <a:ext cx="144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冲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是否柱</a:t>
            </a:r>
            <a:r>
              <a:rPr lang="zh-CN" altLang="en-US" sz="800" b="1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排为升排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？</a:t>
            </a:r>
            <a:endParaRPr lang="en-US" altLang="zh-CN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568" name="矩形 567">
            <a:extLst>
              <a:ext uri="{FF2B5EF4-FFF2-40B4-BE49-F238E27FC236}">
                <a16:creationId xmlns:a16="http://schemas.microsoft.com/office/drawing/2014/main" id="{D9122F1C-8F1E-BF17-1405-2D5353B92D24}"/>
              </a:ext>
            </a:extLst>
          </p:cNvPr>
          <p:cNvSpPr/>
          <p:nvPr/>
        </p:nvSpPr>
        <p:spPr>
          <a:xfrm>
            <a:off x="8209973" y="4257223"/>
            <a:ext cx="1980000" cy="216000"/>
          </a:xfrm>
          <a:prstGeom prst="rect">
            <a:avLst/>
          </a:prstGeom>
          <a:solidFill>
            <a:srgbClr val="5B9BD5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569" name="直接箭头连接符 568">
            <a:extLst>
              <a:ext uri="{FF2B5EF4-FFF2-40B4-BE49-F238E27FC236}">
                <a16:creationId xmlns:a16="http://schemas.microsoft.com/office/drawing/2014/main" id="{E251247B-8D4C-BB02-149B-0EFAC4EFAA2B}"/>
              </a:ext>
            </a:extLst>
          </p:cNvPr>
          <p:cNvCxnSpPr>
            <a:cxnSpLocks/>
            <a:stCxn id="566" idx="3"/>
            <a:endCxn id="568" idx="1"/>
          </p:cNvCxnSpPr>
          <p:nvPr/>
        </p:nvCxnSpPr>
        <p:spPr>
          <a:xfrm>
            <a:off x="7187906" y="4364462"/>
            <a:ext cx="1022067" cy="761"/>
          </a:xfrm>
          <a:prstGeom prst="straightConnector1">
            <a:avLst/>
          </a:prstGeom>
          <a:ln w="254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0" name="文本框 569">
            <a:extLst>
              <a:ext uri="{FF2B5EF4-FFF2-40B4-BE49-F238E27FC236}">
                <a16:creationId xmlns:a16="http://schemas.microsoft.com/office/drawing/2014/main" id="{DAEEC984-4986-F591-F627-8169BB00CF71}"/>
              </a:ext>
            </a:extLst>
          </p:cNvPr>
          <p:cNvSpPr txBox="1"/>
          <p:nvPr/>
        </p:nvSpPr>
        <p:spPr>
          <a:xfrm>
            <a:off x="8393823" y="4257223"/>
            <a:ext cx="180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冲仓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下周冲高止盈</a:t>
            </a:r>
          </a:p>
        </p:txBody>
      </p:sp>
      <p:sp>
        <p:nvSpPr>
          <p:cNvPr id="571" name="文本框 570">
            <a:extLst>
              <a:ext uri="{FF2B5EF4-FFF2-40B4-BE49-F238E27FC236}">
                <a16:creationId xmlns:a16="http://schemas.microsoft.com/office/drawing/2014/main" id="{9A7608FF-224C-EE98-22AC-1828C853991D}"/>
              </a:ext>
            </a:extLst>
          </p:cNvPr>
          <p:cNvSpPr txBox="1"/>
          <p:nvPr/>
        </p:nvSpPr>
        <p:spPr>
          <a:xfrm>
            <a:off x="7328891" y="4217537"/>
            <a:ext cx="72000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冲</a:t>
            </a:r>
            <a:r>
              <a:rPr lang="en-US" altLang="zh-CN" sz="70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70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是升排</a:t>
            </a:r>
            <a:endParaRPr lang="zh-CN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574" name="矩形 573">
            <a:extLst>
              <a:ext uri="{FF2B5EF4-FFF2-40B4-BE49-F238E27FC236}">
                <a16:creationId xmlns:a16="http://schemas.microsoft.com/office/drawing/2014/main" id="{64FA3A4E-2E47-E35D-9951-3F6F985D46D7}"/>
              </a:ext>
            </a:extLst>
          </p:cNvPr>
          <p:cNvSpPr/>
          <p:nvPr/>
        </p:nvSpPr>
        <p:spPr>
          <a:xfrm>
            <a:off x="8209973" y="4509282"/>
            <a:ext cx="1980000" cy="216000"/>
          </a:xfrm>
          <a:prstGeom prst="rect">
            <a:avLst/>
          </a:prstGeom>
          <a:solidFill>
            <a:schemeClr val="accent5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575" name="文本框 574">
            <a:extLst>
              <a:ext uri="{FF2B5EF4-FFF2-40B4-BE49-F238E27FC236}">
                <a16:creationId xmlns:a16="http://schemas.microsoft.com/office/drawing/2014/main" id="{7870DE07-9103-266E-D073-3F2C6815636D}"/>
              </a:ext>
            </a:extLst>
          </p:cNvPr>
          <p:cNvSpPr txBox="1"/>
          <p:nvPr/>
        </p:nvSpPr>
        <p:spPr>
          <a:xfrm>
            <a:off x="8393823" y="4509946"/>
            <a:ext cx="180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常仓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endParaRPr lang="zh-CN" altLang="en-US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128" name="连接符: 肘形 127">
            <a:extLst>
              <a:ext uri="{FF2B5EF4-FFF2-40B4-BE49-F238E27FC236}">
                <a16:creationId xmlns:a16="http://schemas.microsoft.com/office/drawing/2014/main" id="{42736970-B6E8-90F1-548D-8386BD2D5C84}"/>
              </a:ext>
            </a:extLst>
          </p:cNvPr>
          <p:cNvCxnSpPr>
            <a:cxnSpLocks/>
            <a:stCxn id="566" idx="2"/>
            <a:endCxn id="574" idx="1"/>
          </p:cNvCxnSpPr>
          <p:nvPr/>
        </p:nvCxnSpPr>
        <p:spPr>
          <a:xfrm rot="16200000" flipH="1">
            <a:off x="7185529" y="3592838"/>
            <a:ext cx="126820" cy="1922067"/>
          </a:xfrm>
          <a:prstGeom prst="bentConnector2">
            <a:avLst/>
          </a:prstGeom>
          <a:ln w="25400">
            <a:solidFill>
              <a:schemeClr val="accent6">
                <a:lumMod val="75000"/>
              </a:schemeClr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文本框 146">
            <a:extLst>
              <a:ext uri="{FF2B5EF4-FFF2-40B4-BE49-F238E27FC236}">
                <a16:creationId xmlns:a16="http://schemas.microsoft.com/office/drawing/2014/main" id="{5E1B3F3B-9E21-551F-DD2D-1DE7783488E6}"/>
              </a:ext>
            </a:extLst>
          </p:cNvPr>
          <p:cNvSpPr txBox="1"/>
          <p:nvPr/>
        </p:nvSpPr>
        <p:spPr>
          <a:xfrm>
            <a:off x="7328891" y="4466597"/>
            <a:ext cx="72000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常</a:t>
            </a:r>
            <a:r>
              <a:rPr lang="en-US" altLang="zh-CN" sz="70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70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非升排</a:t>
            </a:r>
            <a:endParaRPr lang="zh-CN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148" name="连接符: 肘形 147">
            <a:extLst>
              <a:ext uri="{FF2B5EF4-FFF2-40B4-BE49-F238E27FC236}">
                <a16:creationId xmlns:a16="http://schemas.microsoft.com/office/drawing/2014/main" id="{101A9D31-2D8C-21FD-21F1-036CF3097D8E}"/>
              </a:ext>
            </a:extLst>
          </p:cNvPr>
          <p:cNvCxnSpPr>
            <a:cxnSpLocks/>
            <a:stCxn id="568" idx="3"/>
            <a:endCxn id="526" idx="2"/>
          </p:cNvCxnSpPr>
          <p:nvPr/>
        </p:nvCxnSpPr>
        <p:spPr>
          <a:xfrm>
            <a:off x="10189973" y="4365223"/>
            <a:ext cx="1014474" cy="1842531"/>
          </a:xfrm>
          <a:prstGeom prst="bentConnector3">
            <a:avLst>
              <a:gd name="adj1" fmla="val 50000"/>
            </a:avLst>
          </a:prstGeom>
          <a:ln w="25400">
            <a:solidFill>
              <a:srgbClr val="5B9BD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连接符: 肘形 148">
            <a:extLst>
              <a:ext uri="{FF2B5EF4-FFF2-40B4-BE49-F238E27FC236}">
                <a16:creationId xmlns:a16="http://schemas.microsoft.com/office/drawing/2014/main" id="{1C243325-EFA0-4494-8779-AFD1701F50C9}"/>
              </a:ext>
            </a:extLst>
          </p:cNvPr>
          <p:cNvCxnSpPr>
            <a:cxnSpLocks/>
            <a:stCxn id="574" idx="3"/>
            <a:endCxn id="526" idx="2"/>
          </p:cNvCxnSpPr>
          <p:nvPr/>
        </p:nvCxnSpPr>
        <p:spPr>
          <a:xfrm>
            <a:off x="10189973" y="4617282"/>
            <a:ext cx="1014474" cy="1590472"/>
          </a:xfrm>
          <a:prstGeom prst="bentConnector3">
            <a:avLst>
              <a:gd name="adj1" fmla="val 50000"/>
            </a:avLst>
          </a:prstGeom>
          <a:ln w="25400">
            <a:solidFill>
              <a:srgbClr val="5B9BD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连接符: 肘形 153">
            <a:extLst>
              <a:ext uri="{FF2B5EF4-FFF2-40B4-BE49-F238E27FC236}">
                <a16:creationId xmlns:a16="http://schemas.microsoft.com/office/drawing/2014/main" id="{4400446F-0B2D-498B-3989-AAED06B735F0}"/>
              </a:ext>
            </a:extLst>
          </p:cNvPr>
          <p:cNvCxnSpPr>
            <a:cxnSpLocks/>
            <a:stCxn id="14" idx="3"/>
            <a:endCxn id="397" idx="1"/>
          </p:cNvCxnSpPr>
          <p:nvPr/>
        </p:nvCxnSpPr>
        <p:spPr>
          <a:xfrm>
            <a:off x="3467434" y="4113693"/>
            <a:ext cx="673307" cy="793823"/>
          </a:xfrm>
          <a:prstGeom prst="bentConnector3">
            <a:avLst>
              <a:gd name="adj1" fmla="val 487"/>
            </a:avLst>
          </a:prstGeom>
          <a:ln w="25400">
            <a:solidFill>
              <a:schemeClr val="accent6">
                <a:lumMod val="75000"/>
              </a:schemeClr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文本框 172">
            <a:extLst>
              <a:ext uri="{FF2B5EF4-FFF2-40B4-BE49-F238E27FC236}">
                <a16:creationId xmlns:a16="http://schemas.microsoft.com/office/drawing/2014/main" id="{59D6D51E-8F05-5C2E-3DCE-600F6482CC86}"/>
              </a:ext>
            </a:extLst>
          </p:cNvPr>
          <p:cNvSpPr txBox="1"/>
          <p:nvPr/>
        </p:nvSpPr>
        <p:spPr>
          <a:xfrm>
            <a:off x="5585072" y="6100500"/>
            <a:ext cx="144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试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是否柱</a:t>
            </a:r>
            <a:r>
              <a:rPr lang="zh-CN" altLang="en-US" sz="800" b="1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排为升排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？</a:t>
            </a:r>
            <a:endParaRPr lang="en-US" altLang="zh-CN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74" name="文本框 173">
            <a:extLst>
              <a:ext uri="{FF2B5EF4-FFF2-40B4-BE49-F238E27FC236}">
                <a16:creationId xmlns:a16="http://schemas.microsoft.com/office/drawing/2014/main" id="{F8BEAFBC-B578-1558-B955-5E169F4BE739}"/>
              </a:ext>
            </a:extLst>
          </p:cNvPr>
          <p:cNvSpPr txBox="1"/>
          <p:nvPr/>
        </p:nvSpPr>
        <p:spPr>
          <a:xfrm>
            <a:off x="5606002" y="5852788"/>
            <a:ext cx="1398140" cy="215444"/>
          </a:xfrm>
          <a:prstGeom prst="rect">
            <a:avLst/>
          </a:prstGeom>
          <a:noFill/>
          <a:ln w="12700"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警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判定已冲高？丘≥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30</a:t>
            </a:r>
          </a:p>
        </p:txBody>
      </p:sp>
      <p:cxnSp>
        <p:nvCxnSpPr>
          <p:cNvPr id="586" name="连接符: 肘形 585">
            <a:extLst>
              <a:ext uri="{FF2B5EF4-FFF2-40B4-BE49-F238E27FC236}">
                <a16:creationId xmlns:a16="http://schemas.microsoft.com/office/drawing/2014/main" id="{B6ACF172-5463-5EE6-4438-C2EF08C47A8B}"/>
              </a:ext>
            </a:extLst>
          </p:cNvPr>
          <p:cNvCxnSpPr>
            <a:cxnSpLocks/>
            <a:stCxn id="82" idx="3"/>
            <a:endCxn id="526" idx="2"/>
          </p:cNvCxnSpPr>
          <p:nvPr/>
        </p:nvCxnSpPr>
        <p:spPr>
          <a:xfrm>
            <a:off x="10189973" y="4906927"/>
            <a:ext cx="1014474" cy="1300827"/>
          </a:xfrm>
          <a:prstGeom prst="bentConnector3">
            <a:avLst>
              <a:gd name="adj1" fmla="val 50000"/>
            </a:avLst>
          </a:prstGeom>
          <a:ln w="25400">
            <a:solidFill>
              <a:srgbClr val="5B9BD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1" name="文本框 590">
            <a:extLst>
              <a:ext uri="{FF2B5EF4-FFF2-40B4-BE49-F238E27FC236}">
                <a16:creationId xmlns:a16="http://schemas.microsoft.com/office/drawing/2014/main" id="{CFAC5266-150E-417C-E1D0-E2764A20DA23}"/>
              </a:ext>
            </a:extLst>
          </p:cNvPr>
          <p:cNvSpPr txBox="1"/>
          <p:nvPr/>
        </p:nvSpPr>
        <p:spPr>
          <a:xfrm>
            <a:off x="5585072" y="5054228"/>
            <a:ext cx="144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冲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是否柱</a:t>
            </a:r>
            <a:r>
              <a:rPr lang="zh-CN" altLang="en-US" sz="800" b="1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排为升排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？</a:t>
            </a:r>
            <a:endParaRPr lang="en-US" altLang="zh-CN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93" name="文本框 92">
            <a:extLst>
              <a:ext uri="{FF2B5EF4-FFF2-40B4-BE49-F238E27FC236}">
                <a16:creationId xmlns:a16="http://schemas.microsoft.com/office/drawing/2014/main" id="{6716587D-B8D6-739B-1F5D-DD0B16EF2469}"/>
              </a:ext>
            </a:extLst>
          </p:cNvPr>
          <p:cNvSpPr txBox="1"/>
          <p:nvPr/>
        </p:nvSpPr>
        <p:spPr>
          <a:xfrm>
            <a:off x="8393823" y="1180441"/>
            <a:ext cx="180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algn="r"/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禁仓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有仓清仓，无仓勿入</a:t>
            </a:r>
            <a:endParaRPr lang="zh-CN" altLang="en-US" sz="8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680" name="菱形 679">
            <a:extLst>
              <a:ext uri="{FF2B5EF4-FFF2-40B4-BE49-F238E27FC236}">
                <a16:creationId xmlns:a16="http://schemas.microsoft.com/office/drawing/2014/main" id="{CCE3E548-699E-A60B-4B77-AEE09F6F7269}"/>
              </a:ext>
            </a:extLst>
          </p:cNvPr>
          <p:cNvSpPr/>
          <p:nvPr/>
        </p:nvSpPr>
        <p:spPr>
          <a:xfrm>
            <a:off x="5387906" y="1470039"/>
            <a:ext cx="1800000" cy="252000"/>
          </a:xfrm>
          <a:prstGeom prst="diamond">
            <a:avLst/>
          </a:prstGeom>
          <a:solidFill>
            <a:schemeClr val="accent4">
              <a:lumMod val="50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681" name="文本框 680">
            <a:extLst>
              <a:ext uri="{FF2B5EF4-FFF2-40B4-BE49-F238E27FC236}">
                <a16:creationId xmlns:a16="http://schemas.microsoft.com/office/drawing/2014/main" id="{DBA268DD-2BEA-B15D-9D28-C4DE7BF7FEFA}"/>
              </a:ext>
            </a:extLst>
          </p:cNvPr>
          <p:cNvSpPr txBox="1"/>
          <p:nvPr/>
        </p:nvSpPr>
        <p:spPr>
          <a:xfrm>
            <a:off x="5811693" y="1496404"/>
            <a:ext cx="1003800" cy="215444"/>
          </a:xfrm>
          <a:prstGeom prst="rect">
            <a:avLst/>
          </a:prstGeom>
          <a:noFill/>
          <a:ln w="12700"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是否即将突破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</a:t>
            </a:r>
            <a:endParaRPr lang="zh-CN" altLang="en-US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685" name="矩形 684">
            <a:extLst>
              <a:ext uri="{FF2B5EF4-FFF2-40B4-BE49-F238E27FC236}">
                <a16:creationId xmlns:a16="http://schemas.microsoft.com/office/drawing/2014/main" id="{5DF6EA5C-668C-1762-C545-5D005944ACE4}"/>
              </a:ext>
            </a:extLst>
          </p:cNvPr>
          <p:cNvSpPr/>
          <p:nvPr/>
        </p:nvSpPr>
        <p:spPr>
          <a:xfrm>
            <a:off x="8209973" y="1806892"/>
            <a:ext cx="1980000" cy="216000"/>
          </a:xfrm>
          <a:prstGeom prst="rect">
            <a:avLst/>
          </a:prstGeom>
          <a:solidFill>
            <a:srgbClr val="5B9BD5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686" name="文本框 685">
            <a:extLst>
              <a:ext uri="{FF2B5EF4-FFF2-40B4-BE49-F238E27FC236}">
                <a16:creationId xmlns:a16="http://schemas.microsoft.com/office/drawing/2014/main" id="{733662AA-9DF6-10F5-A7AF-DFC5D9E08619}"/>
              </a:ext>
            </a:extLst>
          </p:cNvPr>
          <p:cNvSpPr txBox="1"/>
          <p:nvPr/>
        </p:nvSpPr>
        <p:spPr>
          <a:xfrm>
            <a:off x="8409789" y="1802450"/>
            <a:ext cx="1800000" cy="215444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试仓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endParaRPr lang="zh-CN" altLang="en-US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688" name="直接箭头连接符 687">
            <a:extLst>
              <a:ext uri="{FF2B5EF4-FFF2-40B4-BE49-F238E27FC236}">
                <a16:creationId xmlns:a16="http://schemas.microsoft.com/office/drawing/2014/main" id="{C64449CE-3E3F-1976-BC92-CE46A64DF468}"/>
              </a:ext>
            </a:extLst>
          </p:cNvPr>
          <p:cNvCxnSpPr>
            <a:cxnSpLocks/>
            <a:stCxn id="680" idx="3"/>
            <a:endCxn id="72" idx="1"/>
          </p:cNvCxnSpPr>
          <p:nvPr/>
        </p:nvCxnSpPr>
        <p:spPr>
          <a:xfrm flipV="1">
            <a:off x="7187906" y="1595577"/>
            <a:ext cx="1022067" cy="462"/>
          </a:xfrm>
          <a:prstGeom prst="straightConnector1">
            <a:avLst/>
          </a:prstGeom>
          <a:ln w="25400">
            <a:solidFill>
              <a:schemeClr val="accent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8" name="文本框 697">
            <a:extLst>
              <a:ext uri="{FF2B5EF4-FFF2-40B4-BE49-F238E27FC236}">
                <a16:creationId xmlns:a16="http://schemas.microsoft.com/office/drawing/2014/main" id="{DBE16CC2-0F6E-968D-5815-85BCB6767436}"/>
              </a:ext>
            </a:extLst>
          </p:cNvPr>
          <p:cNvSpPr txBox="1"/>
          <p:nvPr/>
        </p:nvSpPr>
        <p:spPr>
          <a:xfrm>
            <a:off x="7328890" y="1716702"/>
            <a:ext cx="797767" cy="2355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试</a:t>
            </a: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】P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≥</a:t>
            </a: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</a:t>
            </a:r>
          </a:p>
        </p:txBody>
      </p:sp>
      <p:cxnSp>
        <p:nvCxnSpPr>
          <p:cNvPr id="282" name="连接符: 肘形 281">
            <a:extLst>
              <a:ext uri="{FF2B5EF4-FFF2-40B4-BE49-F238E27FC236}">
                <a16:creationId xmlns:a16="http://schemas.microsoft.com/office/drawing/2014/main" id="{444A95D0-18BE-1A7D-2B5F-DCBD43D3367B}"/>
              </a:ext>
            </a:extLst>
          </p:cNvPr>
          <p:cNvCxnSpPr>
            <a:cxnSpLocks/>
            <a:stCxn id="685" idx="3"/>
            <a:endCxn id="526" idx="2"/>
          </p:cNvCxnSpPr>
          <p:nvPr/>
        </p:nvCxnSpPr>
        <p:spPr>
          <a:xfrm>
            <a:off x="10189973" y="1914892"/>
            <a:ext cx="1014474" cy="4292862"/>
          </a:xfrm>
          <a:prstGeom prst="bentConnector3">
            <a:avLst>
              <a:gd name="adj1" fmla="val 50000"/>
            </a:avLst>
          </a:prstGeom>
          <a:ln w="25400">
            <a:solidFill>
              <a:srgbClr val="5B9BD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7" name="文本框 306">
            <a:extLst>
              <a:ext uri="{FF2B5EF4-FFF2-40B4-BE49-F238E27FC236}">
                <a16:creationId xmlns:a16="http://schemas.microsoft.com/office/drawing/2014/main" id="{88CB3E27-263B-3C44-32ED-465FE72467D4}"/>
              </a:ext>
            </a:extLst>
          </p:cNvPr>
          <p:cNvSpPr txBox="1"/>
          <p:nvPr/>
        </p:nvSpPr>
        <p:spPr>
          <a:xfrm>
            <a:off x="5746931" y="2194766"/>
            <a:ext cx="1107996" cy="338554"/>
          </a:xfrm>
          <a:prstGeom prst="rect">
            <a:avLst/>
          </a:prstGeom>
          <a:noFill/>
          <a:ln w="12700"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禁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判定已冲高？</a:t>
            </a:r>
            <a:endParaRPr lang="en-US" altLang="zh-CN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algn="ctr"/>
            <a:r>
              <a:rPr lang="zh-CN" altLang="en-US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丘≥</a:t>
            </a:r>
            <a:r>
              <a:rPr lang="en-US" altLang="zh-CN" sz="8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30</a:t>
            </a:r>
            <a:endParaRPr lang="zh-CN" altLang="en-US" sz="8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308" name="文本框 307">
            <a:extLst>
              <a:ext uri="{FF2B5EF4-FFF2-40B4-BE49-F238E27FC236}">
                <a16:creationId xmlns:a16="http://schemas.microsoft.com/office/drawing/2014/main" id="{EBACC06E-99BD-9621-0F0D-391D888014B3}"/>
              </a:ext>
            </a:extLst>
          </p:cNvPr>
          <p:cNvSpPr txBox="1"/>
          <p:nvPr/>
        </p:nvSpPr>
        <p:spPr>
          <a:xfrm>
            <a:off x="7328891" y="2203520"/>
            <a:ext cx="72000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禁</a:t>
            </a: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已冲高</a:t>
            </a:r>
          </a:p>
        </p:txBody>
      </p:sp>
      <p:sp>
        <p:nvSpPr>
          <p:cNvPr id="309" name="文本框 308">
            <a:extLst>
              <a:ext uri="{FF2B5EF4-FFF2-40B4-BE49-F238E27FC236}">
                <a16:creationId xmlns:a16="http://schemas.microsoft.com/office/drawing/2014/main" id="{48A8636D-BD46-6751-2D56-6F7FFBF72BAC}"/>
              </a:ext>
            </a:extLst>
          </p:cNvPr>
          <p:cNvSpPr txBox="1"/>
          <p:nvPr/>
        </p:nvSpPr>
        <p:spPr>
          <a:xfrm>
            <a:off x="7328891" y="2511714"/>
            <a:ext cx="72000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警</a:t>
            </a: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未冲高</a:t>
            </a:r>
          </a:p>
        </p:txBody>
      </p:sp>
      <p:sp>
        <p:nvSpPr>
          <p:cNvPr id="310" name="矩形 309">
            <a:extLst>
              <a:ext uri="{FF2B5EF4-FFF2-40B4-BE49-F238E27FC236}">
                <a16:creationId xmlns:a16="http://schemas.microsoft.com/office/drawing/2014/main" id="{9A67C202-1EBF-A377-936D-A7749333C617}"/>
              </a:ext>
            </a:extLst>
          </p:cNvPr>
          <p:cNvSpPr/>
          <p:nvPr/>
        </p:nvSpPr>
        <p:spPr>
          <a:xfrm>
            <a:off x="10191173" y="4003741"/>
            <a:ext cx="216000" cy="2160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312" name="矩形 311">
            <a:extLst>
              <a:ext uri="{FF2B5EF4-FFF2-40B4-BE49-F238E27FC236}">
                <a16:creationId xmlns:a16="http://schemas.microsoft.com/office/drawing/2014/main" id="{C934514A-20C2-5DD7-BAFE-16B866D9E3EB}"/>
              </a:ext>
            </a:extLst>
          </p:cNvPr>
          <p:cNvSpPr/>
          <p:nvPr/>
        </p:nvSpPr>
        <p:spPr>
          <a:xfrm>
            <a:off x="10191173" y="4257223"/>
            <a:ext cx="216000" cy="216000"/>
          </a:xfrm>
          <a:prstGeom prst="rect">
            <a:avLst/>
          </a:prstGeom>
          <a:solidFill>
            <a:schemeClr val="accent2">
              <a:lumMod val="75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315" name="矩形 314">
            <a:extLst>
              <a:ext uri="{FF2B5EF4-FFF2-40B4-BE49-F238E27FC236}">
                <a16:creationId xmlns:a16="http://schemas.microsoft.com/office/drawing/2014/main" id="{3A339C73-94F3-7C25-8812-EDD23A8FD373}"/>
              </a:ext>
            </a:extLst>
          </p:cNvPr>
          <p:cNvSpPr/>
          <p:nvPr/>
        </p:nvSpPr>
        <p:spPr>
          <a:xfrm>
            <a:off x="10191173" y="4800752"/>
            <a:ext cx="216000" cy="2160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317" name="矩形 316">
            <a:extLst>
              <a:ext uri="{FF2B5EF4-FFF2-40B4-BE49-F238E27FC236}">
                <a16:creationId xmlns:a16="http://schemas.microsoft.com/office/drawing/2014/main" id="{53F00970-C66E-41C2-5335-0B261045153A}"/>
              </a:ext>
            </a:extLst>
          </p:cNvPr>
          <p:cNvSpPr/>
          <p:nvPr/>
        </p:nvSpPr>
        <p:spPr>
          <a:xfrm>
            <a:off x="10191173" y="5308347"/>
            <a:ext cx="216000" cy="216000"/>
          </a:xfrm>
          <a:prstGeom prst="rect">
            <a:avLst/>
          </a:prstGeom>
          <a:solidFill>
            <a:srgbClr val="00B050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318" name="矩形 317">
            <a:extLst>
              <a:ext uri="{FF2B5EF4-FFF2-40B4-BE49-F238E27FC236}">
                <a16:creationId xmlns:a16="http://schemas.microsoft.com/office/drawing/2014/main" id="{77F45E44-74B3-715C-0084-529404EED1D8}"/>
              </a:ext>
            </a:extLst>
          </p:cNvPr>
          <p:cNvSpPr/>
          <p:nvPr/>
        </p:nvSpPr>
        <p:spPr>
          <a:xfrm>
            <a:off x="10191173" y="5850475"/>
            <a:ext cx="216000" cy="2160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319" name="矩形 318">
            <a:extLst>
              <a:ext uri="{FF2B5EF4-FFF2-40B4-BE49-F238E27FC236}">
                <a16:creationId xmlns:a16="http://schemas.microsoft.com/office/drawing/2014/main" id="{2E95E539-C5EA-781B-F130-27969DC16550}"/>
              </a:ext>
            </a:extLst>
          </p:cNvPr>
          <p:cNvSpPr/>
          <p:nvPr/>
        </p:nvSpPr>
        <p:spPr>
          <a:xfrm>
            <a:off x="10191173" y="6102979"/>
            <a:ext cx="216000" cy="216000"/>
          </a:xfrm>
          <a:prstGeom prst="rect">
            <a:avLst/>
          </a:prstGeom>
          <a:solidFill>
            <a:srgbClr val="00B050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320" name="矩形 319">
            <a:extLst>
              <a:ext uri="{FF2B5EF4-FFF2-40B4-BE49-F238E27FC236}">
                <a16:creationId xmlns:a16="http://schemas.microsoft.com/office/drawing/2014/main" id="{AA8AA46C-EA84-D045-AAE7-58C2708CE618}"/>
              </a:ext>
            </a:extLst>
          </p:cNvPr>
          <p:cNvSpPr/>
          <p:nvPr/>
        </p:nvSpPr>
        <p:spPr>
          <a:xfrm>
            <a:off x="10191173" y="1805961"/>
            <a:ext cx="216000" cy="216000"/>
          </a:xfrm>
          <a:prstGeom prst="rect">
            <a:avLst/>
          </a:prstGeom>
          <a:solidFill>
            <a:srgbClr val="00B050"/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321" name="矩形 320">
            <a:extLst>
              <a:ext uri="{FF2B5EF4-FFF2-40B4-BE49-F238E27FC236}">
                <a16:creationId xmlns:a16="http://schemas.microsoft.com/office/drawing/2014/main" id="{78A678A5-7733-766B-A199-9C25551C77B1}"/>
              </a:ext>
            </a:extLst>
          </p:cNvPr>
          <p:cNvSpPr/>
          <p:nvPr/>
        </p:nvSpPr>
        <p:spPr>
          <a:xfrm>
            <a:off x="10191173" y="2510086"/>
            <a:ext cx="216000" cy="323636"/>
          </a:xfrm>
          <a:prstGeom prst="rect">
            <a:avLst/>
          </a:prstGeom>
          <a:solidFill>
            <a:schemeClr val="accent1">
              <a:lumMod val="50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338" name="文本框 337">
            <a:extLst>
              <a:ext uri="{FF2B5EF4-FFF2-40B4-BE49-F238E27FC236}">
                <a16:creationId xmlns:a16="http://schemas.microsoft.com/office/drawing/2014/main" id="{181D689F-5108-D6E7-EC35-F646C61E0745}"/>
              </a:ext>
            </a:extLst>
          </p:cNvPr>
          <p:cNvSpPr txBox="1"/>
          <p:nvPr/>
        </p:nvSpPr>
        <p:spPr>
          <a:xfrm>
            <a:off x="12451900" y="2956828"/>
            <a:ext cx="3384812" cy="830997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6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总体策略已经验证：</a:t>
            </a:r>
            <a:endParaRPr lang="en-US" altLang="zh-CN" sz="16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6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后续可能需要修改某些条件，从而应对极端情况</a:t>
            </a:r>
            <a:endParaRPr lang="en-US" altLang="zh-CN" sz="16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339" name="矩形 338">
            <a:extLst>
              <a:ext uri="{FF2B5EF4-FFF2-40B4-BE49-F238E27FC236}">
                <a16:creationId xmlns:a16="http://schemas.microsoft.com/office/drawing/2014/main" id="{C1A9BD15-85E7-40F2-11DC-A5F37BEE3604}"/>
              </a:ext>
            </a:extLst>
          </p:cNvPr>
          <p:cNvSpPr/>
          <p:nvPr/>
        </p:nvSpPr>
        <p:spPr>
          <a:xfrm>
            <a:off x="10191173" y="5053909"/>
            <a:ext cx="216000" cy="216000"/>
          </a:xfrm>
          <a:prstGeom prst="rect">
            <a:avLst/>
          </a:prstGeom>
          <a:solidFill>
            <a:schemeClr val="accent2">
              <a:lumMod val="75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90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353" name="文本框 352">
            <a:extLst>
              <a:ext uri="{FF2B5EF4-FFF2-40B4-BE49-F238E27FC236}">
                <a16:creationId xmlns:a16="http://schemas.microsoft.com/office/drawing/2014/main" id="{A732FBE5-4200-38B9-3B25-0ABF4F446DA5}"/>
              </a:ext>
            </a:extLst>
          </p:cNvPr>
          <p:cNvSpPr txBox="1"/>
          <p:nvPr/>
        </p:nvSpPr>
        <p:spPr>
          <a:xfrm>
            <a:off x="7328891" y="5466894"/>
            <a:ext cx="844994" cy="2355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常</a:t>
            </a:r>
            <a:r>
              <a:rPr lang="en-US" altLang="zh-CN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】</a:t>
            </a:r>
          </a:p>
        </p:txBody>
      </p:sp>
      <p:sp>
        <p:nvSpPr>
          <p:cNvPr id="397" name="矩形 396">
            <a:extLst>
              <a:ext uri="{FF2B5EF4-FFF2-40B4-BE49-F238E27FC236}">
                <a16:creationId xmlns:a16="http://schemas.microsoft.com/office/drawing/2014/main" id="{354C02F2-E07F-6B44-97C4-8E7294E0F32A}"/>
              </a:ext>
            </a:extLst>
          </p:cNvPr>
          <p:cNvSpPr/>
          <p:nvPr/>
        </p:nvSpPr>
        <p:spPr>
          <a:xfrm>
            <a:off x="4140741" y="4781516"/>
            <a:ext cx="1080000" cy="252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>
            <a:solidFill>
              <a:schemeClr val="accent1">
                <a:shade val="1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8" name="文本框 397">
            <a:extLst>
              <a:ext uri="{FF2B5EF4-FFF2-40B4-BE49-F238E27FC236}">
                <a16:creationId xmlns:a16="http://schemas.microsoft.com/office/drawing/2014/main" id="{52FA3185-A340-FC36-9677-87D20CA74B45}"/>
              </a:ext>
            </a:extLst>
          </p:cNvPr>
          <p:cNvSpPr txBox="1"/>
          <p:nvPr/>
        </p:nvSpPr>
        <p:spPr>
          <a:xfrm>
            <a:off x="4140045" y="4800598"/>
            <a:ext cx="1080000" cy="230832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触</a:t>
            </a:r>
            <a:r>
              <a:rPr lang="en-US" altLang="zh-CN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b</a:t>
            </a:r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：哼管</a:t>
            </a:r>
            <a:r>
              <a:rPr lang="en-US" altLang="zh-CN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9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顶管</a:t>
            </a:r>
            <a:endParaRPr lang="en-US" altLang="zh-CN" sz="9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403" name="直接箭头连接符 402">
            <a:extLst>
              <a:ext uri="{FF2B5EF4-FFF2-40B4-BE49-F238E27FC236}">
                <a16:creationId xmlns:a16="http://schemas.microsoft.com/office/drawing/2014/main" id="{CECB68F3-58D4-D16F-4663-15F990AEBA20}"/>
              </a:ext>
            </a:extLst>
          </p:cNvPr>
          <p:cNvCxnSpPr>
            <a:cxnSpLocks/>
            <a:stCxn id="397" idx="3"/>
            <a:endCxn id="78" idx="1"/>
          </p:cNvCxnSpPr>
          <p:nvPr/>
        </p:nvCxnSpPr>
        <p:spPr>
          <a:xfrm>
            <a:off x="5220741" y="4907516"/>
            <a:ext cx="167165" cy="816"/>
          </a:xfrm>
          <a:prstGeom prst="straightConnector1">
            <a:avLst/>
          </a:prstGeom>
          <a:ln w="254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2" name="文本框 411">
            <a:extLst>
              <a:ext uri="{FF2B5EF4-FFF2-40B4-BE49-F238E27FC236}">
                <a16:creationId xmlns:a16="http://schemas.microsoft.com/office/drawing/2014/main" id="{2C202929-81FA-4191-8582-B3A30193E1C6}"/>
              </a:ext>
            </a:extLst>
          </p:cNvPr>
          <p:cNvSpPr txBox="1"/>
          <p:nvPr/>
        </p:nvSpPr>
        <p:spPr>
          <a:xfrm>
            <a:off x="3845777" y="727598"/>
            <a:ext cx="7536776" cy="276999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2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长期仓位策略：</a:t>
            </a:r>
            <a:r>
              <a:rPr lang="en-US" altLang="zh-CN" sz="12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WXBC</a:t>
            </a:r>
            <a:r>
              <a:rPr lang="zh-CN" altLang="en-US" sz="12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之上常仓，遇偏大止盈；破</a:t>
            </a:r>
            <a:r>
              <a:rPr lang="en-US" altLang="zh-CN" sz="12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sz="12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减半；破</a:t>
            </a:r>
            <a:r>
              <a:rPr lang="en-US" altLang="zh-CN" sz="12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</a:t>
            </a:r>
            <a:r>
              <a:rPr lang="zh-CN" altLang="en-US" sz="12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止损。</a:t>
            </a:r>
            <a:endParaRPr lang="en-US" altLang="zh-CN" sz="12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172320594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B3B3F8-A8B9-8722-E980-306F01001A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矩形 136">
            <a:extLst>
              <a:ext uri="{FF2B5EF4-FFF2-40B4-BE49-F238E27FC236}">
                <a16:creationId xmlns:a16="http://schemas.microsoft.com/office/drawing/2014/main" id="{C9CFAEB4-876F-6508-DFC6-5247EFA79A85}"/>
              </a:ext>
            </a:extLst>
          </p:cNvPr>
          <p:cNvSpPr/>
          <p:nvPr/>
        </p:nvSpPr>
        <p:spPr>
          <a:xfrm>
            <a:off x="1507268" y="6051898"/>
            <a:ext cx="3263891" cy="806102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9" name="矩形 138">
            <a:extLst>
              <a:ext uri="{FF2B5EF4-FFF2-40B4-BE49-F238E27FC236}">
                <a16:creationId xmlns:a16="http://schemas.microsoft.com/office/drawing/2014/main" id="{AAF1442C-8632-9F64-8F63-23C786D9EAD2}"/>
              </a:ext>
            </a:extLst>
          </p:cNvPr>
          <p:cNvSpPr/>
          <p:nvPr/>
        </p:nvSpPr>
        <p:spPr>
          <a:xfrm>
            <a:off x="864377" y="6056866"/>
            <a:ext cx="631956" cy="80610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8" name="矩形 137">
            <a:extLst>
              <a:ext uri="{FF2B5EF4-FFF2-40B4-BE49-F238E27FC236}">
                <a16:creationId xmlns:a16="http://schemas.microsoft.com/office/drawing/2014/main" id="{88891DD5-0065-0CF7-89DC-9741AE423212}"/>
              </a:ext>
            </a:extLst>
          </p:cNvPr>
          <p:cNvSpPr/>
          <p:nvPr/>
        </p:nvSpPr>
        <p:spPr>
          <a:xfrm>
            <a:off x="4761344" y="6051898"/>
            <a:ext cx="2190237" cy="806102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8" name="直接连接符 97">
            <a:extLst>
              <a:ext uri="{FF2B5EF4-FFF2-40B4-BE49-F238E27FC236}">
                <a16:creationId xmlns:a16="http://schemas.microsoft.com/office/drawing/2014/main" id="{AD4C7439-2874-B041-4D51-BFA14BB48B74}"/>
              </a:ext>
            </a:extLst>
          </p:cNvPr>
          <p:cNvCxnSpPr>
            <a:cxnSpLocks/>
          </p:cNvCxnSpPr>
          <p:nvPr/>
        </p:nvCxnSpPr>
        <p:spPr>
          <a:xfrm flipH="1">
            <a:off x="857486" y="6043190"/>
            <a:ext cx="6761" cy="839700"/>
          </a:xfrm>
          <a:prstGeom prst="line">
            <a:avLst/>
          </a:prstGeom>
          <a:ln w="25400">
            <a:solidFill>
              <a:schemeClr val="bg1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直接连接符 99">
            <a:extLst>
              <a:ext uri="{FF2B5EF4-FFF2-40B4-BE49-F238E27FC236}">
                <a16:creationId xmlns:a16="http://schemas.microsoft.com/office/drawing/2014/main" id="{AF782308-72AB-18DD-F489-0A19842B482D}"/>
              </a:ext>
            </a:extLst>
          </p:cNvPr>
          <p:cNvCxnSpPr>
            <a:cxnSpLocks/>
          </p:cNvCxnSpPr>
          <p:nvPr/>
        </p:nvCxnSpPr>
        <p:spPr>
          <a:xfrm>
            <a:off x="1500723" y="5132973"/>
            <a:ext cx="0" cy="1834755"/>
          </a:xfrm>
          <a:prstGeom prst="line">
            <a:avLst/>
          </a:prstGeom>
          <a:ln w="25400">
            <a:solidFill>
              <a:schemeClr val="bg1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直接连接符 115">
            <a:extLst>
              <a:ext uri="{FF2B5EF4-FFF2-40B4-BE49-F238E27FC236}">
                <a16:creationId xmlns:a16="http://schemas.microsoft.com/office/drawing/2014/main" id="{9DE8BD1C-A833-38EC-EC51-CBC83842C4F5}"/>
              </a:ext>
            </a:extLst>
          </p:cNvPr>
          <p:cNvCxnSpPr>
            <a:cxnSpLocks/>
          </p:cNvCxnSpPr>
          <p:nvPr/>
        </p:nvCxnSpPr>
        <p:spPr>
          <a:xfrm>
            <a:off x="3007303" y="4347493"/>
            <a:ext cx="0" cy="2620235"/>
          </a:xfrm>
          <a:prstGeom prst="line">
            <a:avLst/>
          </a:prstGeom>
          <a:ln w="25400">
            <a:solidFill>
              <a:schemeClr val="bg1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直接连接符 117">
            <a:extLst>
              <a:ext uri="{FF2B5EF4-FFF2-40B4-BE49-F238E27FC236}">
                <a16:creationId xmlns:a16="http://schemas.microsoft.com/office/drawing/2014/main" id="{9271A04B-10D1-23D4-D8D6-D64A6C051492}"/>
              </a:ext>
            </a:extLst>
          </p:cNvPr>
          <p:cNvCxnSpPr>
            <a:cxnSpLocks/>
          </p:cNvCxnSpPr>
          <p:nvPr/>
        </p:nvCxnSpPr>
        <p:spPr>
          <a:xfrm>
            <a:off x="4746813" y="3540221"/>
            <a:ext cx="22125" cy="3427507"/>
          </a:xfrm>
          <a:prstGeom prst="line">
            <a:avLst/>
          </a:prstGeom>
          <a:ln w="25400">
            <a:solidFill>
              <a:schemeClr val="bg1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直接连接符 120">
            <a:extLst>
              <a:ext uri="{FF2B5EF4-FFF2-40B4-BE49-F238E27FC236}">
                <a16:creationId xmlns:a16="http://schemas.microsoft.com/office/drawing/2014/main" id="{C5DBF108-DB71-701B-BA67-AFB13721C28D}"/>
              </a:ext>
            </a:extLst>
          </p:cNvPr>
          <p:cNvCxnSpPr>
            <a:cxnSpLocks/>
          </p:cNvCxnSpPr>
          <p:nvPr/>
        </p:nvCxnSpPr>
        <p:spPr>
          <a:xfrm>
            <a:off x="5878321" y="3496177"/>
            <a:ext cx="22409" cy="3471551"/>
          </a:xfrm>
          <a:prstGeom prst="line">
            <a:avLst/>
          </a:prstGeom>
          <a:ln w="25400">
            <a:solidFill>
              <a:schemeClr val="bg1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直接连接符 123">
            <a:extLst>
              <a:ext uri="{FF2B5EF4-FFF2-40B4-BE49-F238E27FC236}">
                <a16:creationId xmlns:a16="http://schemas.microsoft.com/office/drawing/2014/main" id="{FED3EE96-25B5-1176-FC84-052683D0A362}"/>
              </a:ext>
            </a:extLst>
          </p:cNvPr>
          <p:cNvCxnSpPr>
            <a:cxnSpLocks/>
          </p:cNvCxnSpPr>
          <p:nvPr/>
        </p:nvCxnSpPr>
        <p:spPr>
          <a:xfrm>
            <a:off x="6951584" y="5132973"/>
            <a:ext cx="0" cy="1834755"/>
          </a:xfrm>
          <a:prstGeom prst="line">
            <a:avLst/>
          </a:prstGeom>
          <a:ln w="25400">
            <a:solidFill>
              <a:schemeClr val="bg1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D07B92B1-A98B-B28E-C77A-5AAD17E44207}"/>
              </a:ext>
            </a:extLst>
          </p:cNvPr>
          <p:cNvSpPr/>
          <p:nvPr/>
        </p:nvSpPr>
        <p:spPr>
          <a:xfrm>
            <a:off x="505097" y="3446677"/>
            <a:ext cx="6531429" cy="1341139"/>
          </a:xfrm>
          <a:custGeom>
            <a:avLst/>
            <a:gdLst>
              <a:gd name="connsiteX0" fmla="*/ 0 w 6531429"/>
              <a:gd name="connsiteY0" fmla="*/ 1341139 h 1341139"/>
              <a:gd name="connsiteX1" fmla="*/ 1219200 w 6531429"/>
              <a:gd name="connsiteY1" fmla="*/ 992796 h 1341139"/>
              <a:gd name="connsiteX2" fmla="*/ 2490652 w 6531429"/>
              <a:gd name="connsiteY2" fmla="*/ 888293 h 1341139"/>
              <a:gd name="connsiteX3" fmla="*/ 3300549 w 6531429"/>
              <a:gd name="connsiteY3" fmla="*/ 627036 h 1341139"/>
              <a:gd name="connsiteX4" fmla="*/ 3744686 w 6531429"/>
              <a:gd name="connsiteY4" fmla="*/ 357070 h 1341139"/>
              <a:gd name="connsiteX5" fmla="*/ 4249783 w 6531429"/>
              <a:gd name="connsiteY5" fmla="*/ 78396 h 1341139"/>
              <a:gd name="connsiteX6" fmla="*/ 4972594 w 6531429"/>
              <a:gd name="connsiteY6" fmla="*/ 43562 h 1341139"/>
              <a:gd name="connsiteX7" fmla="*/ 6113417 w 6531429"/>
              <a:gd name="connsiteY7" fmla="*/ 34853 h 1341139"/>
              <a:gd name="connsiteX8" fmla="*/ 6531429 w 6531429"/>
              <a:gd name="connsiteY8" fmla="*/ 522533 h 1341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531429" h="1341139">
                <a:moveTo>
                  <a:pt x="0" y="1341139"/>
                </a:moveTo>
                <a:cubicBezTo>
                  <a:pt x="402045" y="1204704"/>
                  <a:pt x="804091" y="1068270"/>
                  <a:pt x="1219200" y="992796"/>
                </a:cubicBezTo>
                <a:cubicBezTo>
                  <a:pt x="1634309" y="917322"/>
                  <a:pt x="2143761" y="949253"/>
                  <a:pt x="2490652" y="888293"/>
                </a:cubicBezTo>
                <a:cubicBezTo>
                  <a:pt x="2837544" y="827333"/>
                  <a:pt x="3091543" y="715573"/>
                  <a:pt x="3300549" y="627036"/>
                </a:cubicBezTo>
                <a:cubicBezTo>
                  <a:pt x="3509555" y="538499"/>
                  <a:pt x="3586480" y="448510"/>
                  <a:pt x="3744686" y="357070"/>
                </a:cubicBezTo>
                <a:cubicBezTo>
                  <a:pt x="3902892" y="265630"/>
                  <a:pt x="4045132" y="130647"/>
                  <a:pt x="4249783" y="78396"/>
                </a:cubicBezTo>
                <a:cubicBezTo>
                  <a:pt x="4454434" y="26145"/>
                  <a:pt x="4661988" y="50819"/>
                  <a:pt x="4972594" y="43562"/>
                </a:cubicBezTo>
                <a:cubicBezTo>
                  <a:pt x="5283200" y="36305"/>
                  <a:pt x="5853611" y="-44976"/>
                  <a:pt x="6113417" y="34853"/>
                </a:cubicBezTo>
                <a:cubicBezTo>
                  <a:pt x="6373223" y="114682"/>
                  <a:pt x="6452326" y="318607"/>
                  <a:pt x="6531429" y="522533"/>
                </a:cubicBezTo>
              </a:path>
            </a:pathLst>
          </a:custGeom>
          <a:noFill/>
          <a:ln w="63500">
            <a:solidFill>
              <a:srgbClr val="00808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DDEAC037-A977-6605-09B2-1AF4664112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阶段划分与盈利模式</a:t>
            </a:r>
            <a:b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操盘方法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：要解决层段各情况的盈利来源与注意要点。周线级别区分得势与失势；其中得势在日线级别再区分攻势与防势。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535F898F-2366-4309-452D-BA1DA09FCD9E}"/>
              </a:ext>
            </a:extLst>
          </p:cNvPr>
          <p:cNvSpPr txBox="1"/>
          <p:nvPr/>
        </p:nvSpPr>
        <p:spPr>
          <a:xfrm>
            <a:off x="7280157" y="2732681"/>
            <a:ext cx="4911843" cy="76944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针对触顶的特殊情况：</a:t>
            </a:r>
            <a:endParaRPr lang="en-US" altLang="zh-CN" sz="11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首触顶：可能后续连续触顶，如已冲高需防止诱多。</a:t>
            </a:r>
            <a:endParaRPr lang="en-US" altLang="zh-CN" sz="11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连续吸附于顶：连阳脱离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，且一直贴附于顶创新高。</a:t>
            </a:r>
            <a:endParaRPr lang="en-US" altLang="zh-CN" sz="11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升连要区分：柱叠垒向上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柱并排平移。后续可能变为阴阳交错。</a:t>
            </a:r>
            <a:endParaRPr lang="en-US" altLang="zh-CN" sz="11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任意多边形: 形状 2">
            <a:extLst>
              <a:ext uri="{FF2B5EF4-FFF2-40B4-BE49-F238E27FC236}">
                <a16:creationId xmlns:a16="http://schemas.microsoft.com/office/drawing/2014/main" id="{77D46399-9D82-DCB9-2233-82E25C2507BD}"/>
              </a:ext>
            </a:extLst>
          </p:cNvPr>
          <p:cNvSpPr/>
          <p:nvPr/>
        </p:nvSpPr>
        <p:spPr>
          <a:xfrm>
            <a:off x="496388" y="4383507"/>
            <a:ext cx="6566263" cy="937018"/>
          </a:xfrm>
          <a:custGeom>
            <a:avLst/>
            <a:gdLst>
              <a:gd name="connsiteX0" fmla="*/ 0 w 5068389"/>
              <a:gd name="connsiteY0" fmla="*/ 937018 h 937018"/>
              <a:gd name="connsiteX1" fmla="*/ 2882537 w 5068389"/>
              <a:gd name="connsiteY1" fmla="*/ 118412 h 937018"/>
              <a:gd name="connsiteX2" fmla="*/ 5068389 w 5068389"/>
              <a:gd name="connsiteY2" fmla="*/ 5201 h 937018"/>
              <a:gd name="connsiteX3" fmla="*/ 5068389 w 5068389"/>
              <a:gd name="connsiteY3" fmla="*/ 5201 h 937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8389" h="937018">
                <a:moveTo>
                  <a:pt x="0" y="937018"/>
                </a:moveTo>
                <a:cubicBezTo>
                  <a:pt x="1018903" y="605366"/>
                  <a:pt x="2037806" y="273715"/>
                  <a:pt x="2882537" y="118412"/>
                </a:cubicBezTo>
                <a:cubicBezTo>
                  <a:pt x="3727268" y="-36891"/>
                  <a:pt x="5068389" y="5201"/>
                  <a:pt x="5068389" y="5201"/>
                </a:cubicBezTo>
                <a:lnTo>
                  <a:pt x="5068389" y="5201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FA8F4EAB-CDDB-2AB3-3819-75BECBD8663E}"/>
              </a:ext>
            </a:extLst>
          </p:cNvPr>
          <p:cNvSpPr/>
          <p:nvPr/>
        </p:nvSpPr>
        <p:spPr>
          <a:xfrm>
            <a:off x="496388" y="4709235"/>
            <a:ext cx="6566263" cy="937018"/>
          </a:xfrm>
          <a:custGeom>
            <a:avLst/>
            <a:gdLst>
              <a:gd name="connsiteX0" fmla="*/ 0 w 5068389"/>
              <a:gd name="connsiteY0" fmla="*/ 937018 h 937018"/>
              <a:gd name="connsiteX1" fmla="*/ 2882537 w 5068389"/>
              <a:gd name="connsiteY1" fmla="*/ 118412 h 937018"/>
              <a:gd name="connsiteX2" fmla="*/ 5068389 w 5068389"/>
              <a:gd name="connsiteY2" fmla="*/ 5201 h 937018"/>
              <a:gd name="connsiteX3" fmla="*/ 5068389 w 5068389"/>
              <a:gd name="connsiteY3" fmla="*/ 5201 h 937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8389" h="937018">
                <a:moveTo>
                  <a:pt x="0" y="937018"/>
                </a:moveTo>
                <a:cubicBezTo>
                  <a:pt x="1018903" y="605366"/>
                  <a:pt x="2037806" y="273715"/>
                  <a:pt x="2882537" y="118412"/>
                </a:cubicBezTo>
                <a:cubicBezTo>
                  <a:pt x="3727268" y="-36891"/>
                  <a:pt x="5068389" y="5201"/>
                  <a:pt x="5068389" y="5201"/>
                </a:cubicBezTo>
                <a:lnTo>
                  <a:pt x="5068389" y="5201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0706429-B634-F9B6-E0FA-26CC3D67CF2C}"/>
              </a:ext>
            </a:extLst>
          </p:cNvPr>
          <p:cNvSpPr/>
          <p:nvPr/>
        </p:nvSpPr>
        <p:spPr>
          <a:xfrm>
            <a:off x="496388" y="5132973"/>
            <a:ext cx="6566263" cy="937018"/>
          </a:xfrm>
          <a:custGeom>
            <a:avLst/>
            <a:gdLst>
              <a:gd name="connsiteX0" fmla="*/ 0 w 5068389"/>
              <a:gd name="connsiteY0" fmla="*/ 937018 h 937018"/>
              <a:gd name="connsiteX1" fmla="*/ 2882537 w 5068389"/>
              <a:gd name="connsiteY1" fmla="*/ 118412 h 937018"/>
              <a:gd name="connsiteX2" fmla="*/ 5068389 w 5068389"/>
              <a:gd name="connsiteY2" fmla="*/ 5201 h 937018"/>
              <a:gd name="connsiteX3" fmla="*/ 5068389 w 5068389"/>
              <a:gd name="connsiteY3" fmla="*/ 5201 h 937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8389" h="937018">
                <a:moveTo>
                  <a:pt x="0" y="937018"/>
                </a:moveTo>
                <a:cubicBezTo>
                  <a:pt x="1018903" y="605366"/>
                  <a:pt x="2037806" y="273715"/>
                  <a:pt x="2882537" y="118412"/>
                </a:cubicBezTo>
                <a:cubicBezTo>
                  <a:pt x="3727268" y="-36891"/>
                  <a:pt x="5068389" y="5201"/>
                  <a:pt x="5068389" y="5201"/>
                </a:cubicBezTo>
                <a:lnTo>
                  <a:pt x="5068389" y="5201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1134269-79CD-4C51-D3F7-906933618476}"/>
              </a:ext>
            </a:extLst>
          </p:cNvPr>
          <p:cNvSpPr txBox="1"/>
          <p:nvPr/>
        </p:nvSpPr>
        <p:spPr>
          <a:xfrm>
            <a:off x="0" y="5132973"/>
            <a:ext cx="53694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endParaRPr lang="zh-CN" altLang="en-US" sz="14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3828566F-53C3-D4AF-1BB3-6C0E2EA5A94D}"/>
              </a:ext>
            </a:extLst>
          </p:cNvPr>
          <p:cNvSpPr txBox="1"/>
          <p:nvPr/>
        </p:nvSpPr>
        <p:spPr>
          <a:xfrm>
            <a:off x="0" y="5514977"/>
            <a:ext cx="52610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endParaRPr lang="zh-CN" altLang="en-US" sz="14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C064C393-AFEA-FB0E-80AF-CD643D63FB6F}"/>
              </a:ext>
            </a:extLst>
          </p:cNvPr>
          <p:cNvSpPr txBox="1"/>
          <p:nvPr/>
        </p:nvSpPr>
        <p:spPr>
          <a:xfrm>
            <a:off x="0" y="5951055"/>
            <a:ext cx="54053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WJC</a:t>
            </a:r>
            <a:endParaRPr lang="zh-CN" altLang="en-US" sz="14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CEDB0E6A-4010-9CC7-A413-8F54C8FD0F15}"/>
              </a:ext>
            </a:extLst>
          </p:cNvPr>
          <p:cNvSpPr txBox="1"/>
          <p:nvPr/>
        </p:nvSpPr>
        <p:spPr>
          <a:xfrm>
            <a:off x="0" y="4706417"/>
            <a:ext cx="36420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顶</a:t>
            </a:r>
          </a:p>
        </p:txBody>
      </p:sp>
      <p:cxnSp>
        <p:nvCxnSpPr>
          <p:cNvPr id="23" name="直接连接符 22">
            <a:extLst>
              <a:ext uri="{FF2B5EF4-FFF2-40B4-BE49-F238E27FC236}">
                <a16:creationId xmlns:a16="http://schemas.microsoft.com/office/drawing/2014/main" id="{AF0E1273-A03D-C5E9-A121-B1C0E14CAA0C}"/>
              </a:ext>
            </a:extLst>
          </p:cNvPr>
          <p:cNvCxnSpPr>
            <a:cxnSpLocks/>
          </p:cNvCxnSpPr>
          <p:nvPr/>
        </p:nvCxnSpPr>
        <p:spPr>
          <a:xfrm>
            <a:off x="3803450" y="4074460"/>
            <a:ext cx="949236" cy="240"/>
          </a:xfrm>
          <a:prstGeom prst="line">
            <a:avLst/>
          </a:prstGeom>
          <a:ln w="25400">
            <a:solidFill>
              <a:schemeClr val="bg1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右大括号 27">
            <a:extLst>
              <a:ext uri="{FF2B5EF4-FFF2-40B4-BE49-F238E27FC236}">
                <a16:creationId xmlns:a16="http://schemas.microsoft.com/office/drawing/2014/main" id="{32EB7280-F09F-E449-09FB-02878F25B0A9}"/>
              </a:ext>
            </a:extLst>
          </p:cNvPr>
          <p:cNvSpPr/>
          <p:nvPr/>
        </p:nvSpPr>
        <p:spPr>
          <a:xfrm>
            <a:off x="4746813" y="3548930"/>
            <a:ext cx="217714" cy="525529"/>
          </a:xfrm>
          <a:prstGeom prst="rightBrace">
            <a:avLst>
              <a:gd name="adj1" fmla="val 44333"/>
              <a:gd name="adj2" fmla="val 50000"/>
            </a:avLst>
          </a:prstGeom>
          <a:ln w="2540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右大括号 29">
            <a:extLst>
              <a:ext uri="{FF2B5EF4-FFF2-40B4-BE49-F238E27FC236}">
                <a16:creationId xmlns:a16="http://schemas.microsoft.com/office/drawing/2014/main" id="{D15640DB-C088-CB8E-EB62-25F2B695E67D}"/>
              </a:ext>
            </a:extLst>
          </p:cNvPr>
          <p:cNvSpPr/>
          <p:nvPr/>
        </p:nvSpPr>
        <p:spPr>
          <a:xfrm>
            <a:off x="3803450" y="4091263"/>
            <a:ext cx="157533" cy="477625"/>
          </a:xfrm>
          <a:prstGeom prst="rightBrace">
            <a:avLst>
              <a:gd name="adj1" fmla="val 44333"/>
              <a:gd name="adj2" fmla="val 50000"/>
            </a:avLst>
          </a:prstGeom>
          <a:ln w="2540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2" name="直接箭头连接符 31">
            <a:extLst>
              <a:ext uri="{FF2B5EF4-FFF2-40B4-BE49-F238E27FC236}">
                <a16:creationId xmlns:a16="http://schemas.microsoft.com/office/drawing/2014/main" id="{A8F86102-C502-6CC8-323A-AA265E7ED349}"/>
              </a:ext>
            </a:extLst>
          </p:cNvPr>
          <p:cNvCxnSpPr>
            <a:cxnSpLocks/>
          </p:cNvCxnSpPr>
          <p:nvPr/>
        </p:nvCxnSpPr>
        <p:spPr>
          <a:xfrm flipV="1">
            <a:off x="860590" y="5097307"/>
            <a:ext cx="576325" cy="879713"/>
          </a:xfrm>
          <a:prstGeom prst="straightConnector1">
            <a:avLst/>
          </a:prstGeom>
          <a:ln w="50800">
            <a:solidFill>
              <a:srgbClr val="FF000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右大括号 34">
            <a:extLst>
              <a:ext uri="{FF2B5EF4-FFF2-40B4-BE49-F238E27FC236}">
                <a16:creationId xmlns:a16="http://schemas.microsoft.com/office/drawing/2014/main" id="{D2EC1CFE-FFD1-7769-50C2-DC7DE06D8ED8}"/>
              </a:ext>
            </a:extLst>
          </p:cNvPr>
          <p:cNvSpPr/>
          <p:nvPr/>
        </p:nvSpPr>
        <p:spPr>
          <a:xfrm rot="5400000">
            <a:off x="1082337" y="5842518"/>
            <a:ext cx="217714" cy="619058"/>
          </a:xfrm>
          <a:prstGeom prst="rightBrace">
            <a:avLst>
              <a:gd name="adj1" fmla="val 44333"/>
              <a:gd name="adj2" fmla="val 50000"/>
            </a:avLst>
          </a:prstGeom>
          <a:solidFill>
            <a:srgbClr val="DEEBF7"/>
          </a:solidFill>
          <a:ln w="2540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文本框 35">
            <a:extLst>
              <a:ext uri="{FF2B5EF4-FFF2-40B4-BE49-F238E27FC236}">
                <a16:creationId xmlns:a16="http://schemas.microsoft.com/office/drawing/2014/main" id="{7FA813EB-4FD7-54D3-0C28-57ADD41C015B}"/>
              </a:ext>
            </a:extLst>
          </p:cNvPr>
          <p:cNvSpPr txBox="1"/>
          <p:nvPr/>
        </p:nvSpPr>
        <p:spPr>
          <a:xfrm>
            <a:off x="887155" y="6298115"/>
            <a:ext cx="69762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收益来源：</a:t>
            </a:r>
            <a:endParaRPr lang="en-US" altLang="zh-CN" sz="800" b="1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∆捡漏</a:t>
            </a:r>
            <a:endParaRPr lang="en-US" altLang="zh-CN" sz="800" b="1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可吃可弃</a:t>
            </a:r>
          </a:p>
        </p:txBody>
      </p:sp>
      <p:sp>
        <p:nvSpPr>
          <p:cNvPr id="37" name="右大括号 36">
            <a:extLst>
              <a:ext uri="{FF2B5EF4-FFF2-40B4-BE49-F238E27FC236}">
                <a16:creationId xmlns:a16="http://schemas.microsoft.com/office/drawing/2014/main" id="{F76E170A-38AB-313B-1216-09529C36DEAA}"/>
              </a:ext>
            </a:extLst>
          </p:cNvPr>
          <p:cNvSpPr/>
          <p:nvPr/>
        </p:nvSpPr>
        <p:spPr>
          <a:xfrm>
            <a:off x="5412058" y="3513595"/>
            <a:ext cx="217714" cy="867901"/>
          </a:xfrm>
          <a:prstGeom prst="rightBrace">
            <a:avLst>
              <a:gd name="adj1" fmla="val 44333"/>
              <a:gd name="adj2" fmla="val 50000"/>
            </a:avLst>
          </a:prstGeom>
          <a:ln w="2540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文本框 37">
            <a:extLst>
              <a:ext uri="{FF2B5EF4-FFF2-40B4-BE49-F238E27FC236}">
                <a16:creationId xmlns:a16="http://schemas.microsoft.com/office/drawing/2014/main" id="{5D5067AF-18CA-A3B2-4553-B2F2704A379B}"/>
              </a:ext>
            </a:extLst>
          </p:cNvPr>
          <p:cNvSpPr txBox="1"/>
          <p:nvPr/>
        </p:nvSpPr>
        <p:spPr>
          <a:xfrm>
            <a:off x="4844089" y="3642417"/>
            <a:ext cx="79060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收益</a:t>
            </a:r>
            <a:r>
              <a:rPr lang="en-US" altLang="zh-CN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of</a:t>
            </a:r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管宽：</a:t>
            </a:r>
            <a:endParaRPr lang="en-US" altLang="zh-CN" sz="800" b="1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∆顶增</a:t>
            </a:r>
          </a:p>
        </p:txBody>
      </p:sp>
      <p:sp>
        <p:nvSpPr>
          <p:cNvPr id="39" name="文本框 38">
            <a:extLst>
              <a:ext uri="{FF2B5EF4-FFF2-40B4-BE49-F238E27FC236}">
                <a16:creationId xmlns:a16="http://schemas.microsoft.com/office/drawing/2014/main" id="{FCB3AED4-F663-807B-0D62-4F6025B6F9F2}"/>
              </a:ext>
            </a:extLst>
          </p:cNvPr>
          <p:cNvSpPr txBox="1"/>
          <p:nvPr/>
        </p:nvSpPr>
        <p:spPr>
          <a:xfrm>
            <a:off x="3906425" y="4143021"/>
            <a:ext cx="79060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收益</a:t>
            </a:r>
            <a:r>
              <a:rPr lang="en-US" altLang="zh-CN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of</a:t>
            </a:r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管宽：</a:t>
            </a:r>
            <a:endParaRPr lang="en-US" altLang="zh-CN" sz="800" b="1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∆管震</a:t>
            </a:r>
          </a:p>
        </p:txBody>
      </p:sp>
      <p:sp>
        <p:nvSpPr>
          <p:cNvPr id="40" name="文本框 39">
            <a:extLst>
              <a:ext uri="{FF2B5EF4-FFF2-40B4-BE49-F238E27FC236}">
                <a16:creationId xmlns:a16="http://schemas.microsoft.com/office/drawing/2014/main" id="{FA2B030B-D051-B25F-B90C-AB64D7676AAC}"/>
              </a:ext>
            </a:extLst>
          </p:cNvPr>
          <p:cNvSpPr txBox="1"/>
          <p:nvPr/>
        </p:nvSpPr>
        <p:spPr>
          <a:xfrm>
            <a:off x="5559608" y="3697753"/>
            <a:ext cx="307777" cy="589264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收益</a:t>
            </a:r>
            <a:r>
              <a:rPr lang="en-US" altLang="zh-CN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of</a:t>
            </a:r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管宽</a:t>
            </a:r>
          </a:p>
        </p:txBody>
      </p:sp>
      <p:cxnSp>
        <p:nvCxnSpPr>
          <p:cNvPr id="41" name="直接箭头连接符 40">
            <a:extLst>
              <a:ext uri="{FF2B5EF4-FFF2-40B4-BE49-F238E27FC236}">
                <a16:creationId xmlns:a16="http://schemas.microsoft.com/office/drawing/2014/main" id="{165EBC9E-D9A5-03A7-A6A4-4F46D0440AE4}"/>
              </a:ext>
            </a:extLst>
          </p:cNvPr>
          <p:cNvCxnSpPr>
            <a:cxnSpLocks/>
          </p:cNvCxnSpPr>
          <p:nvPr/>
        </p:nvCxnSpPr>
        <p:spPr>
          <a:xfrm flipV="1">
            <a:off x="3418445" y="4066519"/>
            <a:ext cx="386893" cy="451803"/>
          </a:xfrm>
          <a:prstGeom prst="straightConnector1">
            <a:avLst/>
          </a:prstGeom>
          <a:ln w="50800"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箭头连接符 42">
            <a:extLst>
              <a:ext uri="{FF2B5EF4-FFF2-40B4-BE49-F238E27FC236}">
                <a16:creationId xmlns:a16="http://schemas.microsoft.com/office/drawing/2014/main" id="{72C2D22F-FABD-C0DB-A194-A064B3B9E6A1}"/>
              </a:ext>
            </a:extLst>
          </p:cNvPr>
          <p:cNvCxnSpPr>
            <a:cxnSpLocks/>
            <a:stCxn id="108" idx="1"/>
          </p:cNvCxnSpPr>
          <p:nvPr/>
        </p:nvCxnSpPr>
        <p:spPr>
          <a:xfrm>
            <a:off x="1724297" y="4439473"/>
            <a:ext cx="492068" cy="451430"/>
          </a:xfrm>
          <a:prstGeom prst="straightConnector1">
            <a:avLst/>
          </a:prstGeom>
          <a:ln w="50800"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箭头连接符 50">
            <a:extLst>
              <a:ext uri="{FF2B5EF4-FFF2-40B4-BE49-F238E27FC236}">
                <a16:creationId xmlns:a16="http://schemas.microsoft.com/office/drawing/2014/main" id="{14E5E0B3-E4AE-0287-BAC6-AA75874D36AC}"/>
              </a:ext>
            </a:extLst>
          </p:cNvPr>
          <p:cNvCxnSpPr>
            <a:cxnSpLocks/>
          </p:cNvCxnSpPr>
          <p:nvPr/>
        </p:nvCxnSpPr>
        <p:spPr>
          <a:xfrm flipV="1">
            <a:off x="4406230" y="3523535"/>
            <a:ext cx="357359" cy="413282"/>
          </a:xfrm>
          <a:prstGeom prst="straightConnector1">
            <a:avLst/>
          </a:prstGeom>
          <a:ln w="50800"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接箭头连接符 53">
            <a:extLst>
              <a:ext uri="{FF2B5EF4-FFF2-40B4-BE49-F238E27FC236}">
                <a16:creationId xmlns:a16="http://schemas.microsoft.com/office/drawing/2014/main" id="{DFD3324C-11B7-75F8-303F-3128F55648AE}"/>
              </a:ext>
            </a:extLst>
          </p:cNvPr>
          <p:cNvCxnSpPr>
            <a:cxnSpLocks/>
          </p:cNvCxnSpPr>
          <p:nvPr/>
        </p:nvCxnSpPr>
        <p:spPr>
          <a:xfrm>
            <a:off x="5905474" y="3485087"/>
            <a:ext cx="617002" cy="904783"/>
          </a:xfrm>
          <a:prstGeom prst="straightConnector1">
            <a:avLst/>
          </a:prstGeom>
          <a:ln w="50800">
            <a:solidFill>
              <a:srgbClr val="FF000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箭头连接符 56">
            <a:extLst>
              <a:ext uri="{FF2B5EF4-FFF2-40B4-BE49-F238E27FC236}">
                <a16:creationId xmlns:a16="http://schemas.microsoft.com/office/drawing/2014/main" id="{36CBF31E-EBAF-4316-1526-32D4608F4218}"/>
              </a:ext>
            </a:extLst>
          </p:cNvPr>
          <p:cNvCxnSpPr>
            <a:cxnSpLocks/>
          </p:cNvCxnSpPr>
          <p:nvPr/>
        </p:nvCxnSpPr>
        <p:spPr>
          <a:xfrm>
            <a:off x="6522476" y="4425536"/>
            <a:ext cx="429108" cy="726506"/>
          </a:xfrm>
          <a:prstGeom prst="straightConnector1">
            <a:avLst/>
          </a:prstGeom>
          <a:ln w="50800">
            <a:solidFill>
              <a:srgbClr val="FF000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箭头连接符 59">
            <a:extLst>
              <a:ext uri="{FF2B5EF4-FFF2-40B4-BE49-F238E27FC236}">
                <a16:creationId xmlns:a16="http://schemas.microsoft.com/office/drawing/2014/main" id="{75CDA3C0-AE2D-AAC7-2680-92CB624D9CC7}"/>
              </a:ext>
            </a:extLst>
          </p:cNvPr>
          <p:cNvCxnSpPr>
            <a:cxnSpLocks/>
            <a:endCxn id="108" idx="1"/>
          </p:cNvCxnSpPr>
          <p:nvPr/>
        </p:nvCxnSpPr>
        <p:spPr>
          <a:xfrm flipV="1">
            <a:off x="1496334" y="4439473"/>
            <a:ext cx="227963" cy="618351"/>
          </a:xfrm>
          <a:prstGeom prst="straightConnector1">
            <a:avLst/>
          </a:prstGeom>
          <a:ln w="50800">
            <a:solidFill>
              <a:srgbClr val="FF000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直接箭头连接符 62">
            <a:extLst>
              <a:ext uri="{FF2B5EF4-FFF2-40B4-BE49-F238E27FC236}">
                <a16:creationId xmlns:a16="http://schemas.microsoft.com/office/drawing/2014/main" id="{D5CF18D0-9870-11ED-2325-4120D7F95933}"/>
              </a:ext>
            </a:extLst>
          </p:cNvPr>
          <p:cNvCxnSpPr>
            <a:cxnSpLocks/>
          </p:cNvCxnSpPr>
          <p:nvPr/>
        </p:nvCxnSpPr>
        <p:spPr>
          <a:xfrm flipV="1">
            <a:off x="2201435" y="4583020"/>
            <a:ext cx="207105" cy="301602"/>
          </a:xfrm>
          <a:prstGeom prst="straightConnector1">
            <a:avLst/>
          </a:prstGeom>
          <a:ln w="50800"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接箭头连接符 63">
            <a:extLst>
              <a:ext uri="{FF2B5EF4-FFF2-40B4-BE49-F238E27FC236}">
                <a16:creationId xmlns:a16="http://schemas.microsoft.com/office/drawing/2014/main" id="{F14B6C7B-7501-6AF0-DBB6-9323322496BC}"/>
              </a:ext>
            </a:extLst>
          </p:cNvPr>
          <p:cNvCxnSpPr>
            <a:cxnSpLocks/>
          </p:cNvCxnSpPr>
          <p:nvPr/>
        </p:nvCxnSpPr>
        <p:spPr>
          <a:xfrm>
            <a:off x="2408540" y="4568889"/>
            <a:ext cx="353786" cy="199335"/>
          </a:xfrm>
          <a:prstGeom prst="straightConnector1">
            <a:avLst/>
          </a:prstGeom>
          <a:ln w="50800"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接箭头连接符 67">
            <a:extLst>
              <a:ext uri="{FF2B5EF4-FFF2-40B4-BE49-F238E27FC236}">
                <a16:creationId xmlns:a16="http://schemas.microsoft.com/office/drawing/2014/main" id="{D58A20C9-9DA8-D810-785C-D175D79B02D8}"/>
              </a:ext>
            </a:extLst>
          </p:cNvPr>
          <p:cNvCxnSpPr>
            <a:cxnSpLocks/>
          </p:cNvCxnSpPr>
          <p:nvPr/>
        </p:nvCxnSpPr>
        <p:spPr>
          <a:xfrm flipV="1">
            <a:off x="3787920" y="3822456"/>
            <a:ext cx="471350" cy="273069"/>
          </a:xfrm>
          <a:prstGeom prst="straightConnector1">
            <a:avLst/>
          </a:prstGeom>
          <a:ln w="50800"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接箭头连接符 70">
            <a:extLst>
              <a:ext uri="{FF2B5EF4-FFF2-40B4-BE49-F238E27FC236}">
                <a16:creationId xmlns:a16="http://schemas.microsoft.com/office/drawing/2014/main" id="{B9091228-E2F2-C3DB-DDAD-EBE95C51EA0C}"/>
              </a:ext>
            </a:extLst>
          </p:cNvPr>
          <p:cNvCxnSpPr>
            <a:cxnSpLocks/>
            <a:endCxn id="108" idx="2"/>
          </p:cNvCxnSpPr>
          <p:nvPr/>
        </p:nvCxnSpPr>
        <p:spPr>
          <a:xfrm flipV="1">
            <a:off x="2770851" y="4334970"/>
            <a:ext cx="224898" cy="451687"/>
          </a:xfrm>
          <a:prstGeom prst="straightConnector1">
            <a:avLst/>
          </a:prstGeom>
          <a:ln w="50800"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接箭头连接符 73">
            <a:extLst>
              <a:ext uri="{FF2B5EF4-FFF2-40B4-BE49-F238E27FC236}">
                <a16:creationId xmlns:a16="http://schemas.microsoft.com/office/drawing/2014/main" id="{0BE627FB-FD5C-6384-8405-FFDDB17D9B05}"/>
              </a:ext>
            </a:extLst>
          </p:cNvPr>
          <p:cNvCxnSpPr>
            <a:cxnSpLocks/>
            <a:stCxn id="108" idx="2"/>
          </p:cNvCxnSpPr>
          <p:nvPr/>
        </p:nvCxnSpPr>
        <p:spPr>
          <a:xfrm>
            <a:off x="2995749" y="4334970"/>
            <a:ext cx="447531" cy="194094"/>
          </a:xfrm>
          <a:prstGeom prst="straightConnector1">
            <a:avLst/>
          </a:prstGeom>
          <a:ln w="50800"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接箭头连接符 91">
            <a:extLst>
              <a:ext uri="{FF2B5EF4-FFF2-40B4-BE49-F238E27FC236}">
                <a16:creationId xmlns:a16="http://schemas.microsoft.com/office/drawing/2014/main" id="{4FF664AA-A667-C827-BCE4-CF0FAF2277CB}"/>
              </a:ext>
            </a:extLst>
          </p:cNvPr>
          <p:cNvCxnSpPr>
            <a:cxnSpLocks/>
          </p:cNvCxnSpPr>
          <p:nvPr/>
        </p:nvCxnSpPr>
        <p:spPr>
          <a:xfrm>
            <a:off x="4231258" y="3832770"/>
            <a:ext cx="209808" cy="116850"/>
          </a:xfrm>
          <a:prstGeom prst="straightConnector1">
            <a:avLst/>
          </a:prstGeom>
          <a:ln w="50800"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" name="右大括号 124">
            <a:extLst>
              <a:ext uri="{FF2B5EF4-FFF2-40B4-BE49-F238E27FC236}">
                <a16:creationId xmlns:a16="http://schemas.microsoft.com/office/drawing/2014/main" id="{04758E42-B327-C4DC-580C-45315A1736CD}"/>
              </a:ext>
            </a:extLst>
          </p:cNvPr>
          <p:cNvSpPr/>
          <p:nvPr/>
        </p:nvSpPr>
        <p:spPr>
          <a:xfrm rot="5400000">
            <a:off x="2139378" y="5404535"/>
            <a:ext cx="217714" cy="1495024"/>
          </a:xfrm>
          <a:prstGeom prst="rightBrace">
            <a:avLst>
              <a:gd name="adj1" fmla="val 44333"/>
              <a:gd name="adj2" fmla="val 50000"/>
            </a:avLst>
          </a:prstGeom>
          <a:solidFill>
            <a:srgbClr val="DEEBF7"/>
          </a:solidFill>
          <a:ln w="2540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右大括号 125">
            <a:extLst>
              <a:ext uri="{FF2B5EF4-FFF2-40B4-BE49-F238E27FC236}">
                <a16:creationId xmlns:a16="http://schemas.microsoft.com/office/drawing/2014/main" id="{3A533E3C-3CA1-A510-6048-0397B8311EA5}"/>
              </a:ext>
            </a:extLst>
          </p:cNvPr>
          <p:cNvSpPr/>
          <p:nvPr/>
        </p:nvSpPr>
        <p:spPr>
          <a:xfrm rot="5400000">
            <a:off x="3776589" y="5273904"/>
            <a:ext cx="217714" cy="1756286"/>
          </a:xfrm>
          <a:prstGeom prst="rightBrace">
            <a:avLst>
              <a:gd name="adj1" fmla="val 44333"/>
              <a:gd name="adj2" fmla="val 50000"/>
            </a:avLst>
          </a:prstGeom>
          <a:solidFill>
            <a:srgbClr val="DEEBF7"/>
          </a:solidFill>
          <a:ln w="2540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7" name="右大括号 126">
            <a:extLst>
              <a:ext uri="{FF2B5EF4-FFF2-40B4-BE49-F238E27FC236}">
                <a16:creationId xmlns:a16="http://schemas.microsoft.com/office/drawing/2014/main" id="{BD8AB587-DEC7-809D-4831-99F2B055058A}"/>
              </a:ext>
            </a:extLst>
          </p:cNvPr>
          <p:cNvSpPr/>
          <p:nvPr/>
        </p:nvSpPr>
        <p:spPr>
          <a:xfrm rot="5400000">
            <a:off x="5229979" y="5586151"/>
            <a:ext cx="217714" cy="1131791"/>
          </a:xfrm>
          <a:prstGeom prst="rightBrace">
            <a:avLst>
              <a:gd name="adj1" fmla="val 44333"/>
              <a:gd name="adj2" fmla="val 50000"/>
            </a:avLst>
          </a:prstGeom>
          <a:solidFill>
            <a:srgbClr val="DEEBF7"/>
          </a:solidFill>
          <a:ln w="2540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右大括号 127">
            <a:extLst>
              <a:ext uri="{FF2B5EF4-FFF2-40B4-BE49-F238E27FC236}">
                <a16:creationId xmlns:a16="http://schemas.microsoft.com/office/drawing/2014/main" id="{6AFF2584-0AF6-E877-6B40-CC33703933A6}"/>
              </a:ext>
            </a:extLst>
          </p:cNvPr>
          <p:cNvSpPr/>
          <p:nvPr/>
        </p:nvSpPr>
        <p:spPr>
          <a:xfrm rot="5400000">
            <a:off x="6319301" y="5628621"/>
            <a:ext cx="217714" cy="1046851"/>
          </a:xfrm>
          <a:prstGeom prst="rightBrace">
            <a:avLst>
              <a:gd name="adj1" fmla="val 44333"/>
              <a:gd name="adj2" fmla="val 50000"/>
            </a:avLst>
          </a:prstGeom>
          <a:solidFill>
            <a:srgbClr val="DEEBF7"/>
          </a:solidFill>
          <a:ln w="2540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文本框 129">
            <a:extLst>
              <a:ext uri="{FF2B5EF4-FFF2-40B4-BE49-F238E27FC236}">
                <a16:creationId xmlns:a16="http://schemas.microsoft.com/office/drawing/2014/main" id="{8284942F-1D4E-665E-6F55-BD3001CCB12B}"/>
              </a:ext>
            </a:extLst>
          </p:cNvPr>
          <p:cNvSpPr txBox="1"/>
          <p:nvPr/>
        </p:nvSpPr>
        <p:spPr>
          <a:xfrm>
            <a:off x="1951326" y="6298115"/>
            <a:ext cx="79060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收益来源：</a:t>
            </a:r>
            <a:endParaRPr lang="en-US" altLang="zh-CN" sz="800" b="1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主要是∆管震</a:t>
            </a:r>
          </a:p>
        </p:txBody>
      </p:sp>
      <p:sp>
        <p:nvSpPr>
          <p:cNvPr id="132" name="文本框 131">
            <a:extLst>
              <a:ext uri="{FF2B5EF4-FFF2-40B4-BE49-F238E27FC236}">
                <a16:creationId xmlns:a16="http://schemas.microsoft.com/office/drawing/2014/main" id="{84B002D5-116D-C392-96CE-A9E3D7B1BEA1}"/>
              </a:ext>
            </a:extLst>
          </p:cNvPr>
          <p:cNvSpPr txBox="1"/>
          <p:nvPr/>
        </p:nvSpPr>
        <p:spPr>
          <a:xfrm>
            <a:off x="3221619" y="6298115"/>
            <a:ext cx="14221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收益来源：</a:t>
            </a:r>
            <a:endParaRPr lang="en-US" altLang="zh-CN" sz="800" b="1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主要是∆顶增</a:t>
            </a:r>
            <a:r>
              <a:rPr lang="en-US" altLang="zh-CN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 次要是∆管震</a:t>
            </a:r>
          </a:p>
        </p:txBody>
      </p:sp>
      <p:graphicFrame>
        <p:nvGraphicFramePr>
          <p:cNvPr id="133" name="表格 132">
            <a:extLst>
              <a:ext uri="{FF2B5EF4-FFF2-40B4-BE49-F238E27FC236}">
                <a16:creationId xmlns:a16="http://schemas.microsoft.com/office/drawing/2014/main" id="{CE4437AA-0F9B-E8C6-2479-08ED6491DC3A}"/>
              </a:ext>
            </a:extLst>
          </p:cNvPr>
          <p:cNvGraphicFramePr>
            <a:graphicFrameLocks noGrp="1"/>
          </p:cNvGraphicFramePr>
          <p:nvPr/>
        </p:nvGraphicFramePr>
        <p:xfrm>
          <a:off x="-1" y="720612"/>
          <a:ext cx="12192000" cy="18658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2716">
                  <a:extLst>
                    <a:ext uri="{9D8B030D-6E8A-4147-A177-3AD203B41FA5}">
                      <a16:colId xmlns:a16="http://schemas.microsoft.com/office/drawing/2014/main" val="1897416052"/>
                    </a:ext>
                  </a:extLst>
                </a:gridCol>
                <a:gridCol w="2428827">
                  <a:extLst>
                    <a:ext uri="{9D8B030D-6E8A-4147-A177-3AD203B41FA5}">
                      <a16:colId xmlns:a16="http://schemas.microsoft.com/office/drawing/2014/main" val="2894169788"/>
                    </a:ext>
                  </a:extLst>
                </a:gridCol>
                <a:gridCol w="3646384">
                  <a:extLst>
                    <a:ext uri="{9D8B030D-6E8A-4147-A177-3AD203B41FA5}">
                      <a16:colId xmlns:a16="http://schemas.microsoft.com/office/drawing/2014/main" val="3809019781"/>
                    </a:ext>
                  </a:extLst>
                </a:gridCol>
                <a:gridCol w="5454073">
                  <a:extLst>
                    <a:ext uri="{9D8B030D-6E8A-4147-A177-3AD203B41FA5}">
                      <a16:colId xmlns:a16="http://schemas.microsoft.com/office/drawing/2014/main" val="3572616081"/>
                    </a:ext>
                  </a:extLst>
                </a:gridCol>
              </a:tblGrid>
              <a:tr h="233226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bg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周柱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bg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下柱目标收益来源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bg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是否得势（保留创新高的能力）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solidFill>
                            <a:schemeClr val="bg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是否失势（失去创新高的能力）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0596460"/>
                  </a:ext>
                </a:extLst>
              </a:tr>
              <a:tr h="233226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触</a:t>
                      </a:r>
                      <a:r>
                        <a:rPr lang="en-US" altLang="zh-CN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a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主要吃∆顶增，次要吃∆管震。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可能以连阳方式连续触顶。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连阳后可能立刻大跌。每柱触顶可先止盈获取必赢收益，等周末再买入等待下柱冲高，循环往复。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1740134"/>
                  </a:ext>
                </a:extLst>
              </a:tr>
              <a:tr h="233226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触</a:t>
                      </a:r>
                      <a:r>
                        <a:rPr lang="en-US" altLang="zh-CN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b</a:t>
                      </a:r>
                      <a:endParaRPr lang="zh-CN" altLang="en-US" sz="9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主要吃∆管震，触后可吃∆顶增。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需要选择方向，下落或再次触顶</a:t>
                      </a:r>
                      <a:r>
                        <a:rPr lang="zh-CN" altLang="en-US" sz="90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。上升短暂</a:t>
                      </a:r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停顿后可能再次触顶。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冲高后要及时止盈或减仓。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7930610"/>
                  </a:ext>
                </a:extLst>
              </a:tr>
              <a:tr h="233226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〇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主要吃∆管震，触后可吃∆顶增。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区分</a:t>
                      </a:r>
                      <a:r>
                        <a:rPr lang="en-US" altLang="zh-CN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合顶</a:t>
                      </a:r>
                      <a:r>
                        <a:rPr lang="en-US" altLang="zh-CN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离顶。</a:t>
                      </a:r>
                      <a:r>
                        <a:rPr lang="zh-CN" altLang="en-US" sz="90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如为升排</a:t>
                      </a:r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很可能再次触顶。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多数情况是出货，切记防止</a:t>
                      </a:r>
                      <a:r>
                        <a:rPr lang="en-US" altLang="zh-CN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M</a:t>
                      </a:r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顶。要特别注意形态，反</a:t>
                      </a:r>
                      <a:r>
                        <a:rPr lang="zh-CN" altLang="en-US" sz="90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鼎，升孕</a:t>
                      </a:r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正鼎。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2710410"/>
                  </a:ext>
                </a:extLst>
              </a:tr>
              <a:tr h="233226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芽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主要吃∆管震，触后可吃∆顶增。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创新高可能性小。主要参考</a:t>
                      </a:r>
                      <a:r>
                        <a:rPr lang="en-US" altLang="zh-CN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</a:t>
                      </a:r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柱排</a:t>
                      </a:r>
                      <a:r>
                        <a:rPr lang="en-US" altLang="zh-CN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与</a:t>
                      </a:r>
                      <a:r>
                        <a:rPr lang="en-US" altLang="zh-CN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</a:t>
                      </a:r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触哼</a:t>
                      </a:r>
                      <a:r>
                        <a:rPr lang="en-US" altLang="zh-CN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，判断是否下柱触顶。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多数情况是震荡，切记不要重仓，可等触顶再做判断。注意回踩是否能够站稳。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4713309"/>
                  </a:ext>
                </a:extLst>
              </a:tr>
              <a:tr h="233226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破</a:t>
                      </a:r>
                      <a:r>
                        <a:rPr lang="en-US" altLang="zh-CN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WJA</a:t>
                      </a:r>
                      <a:endParaRPr lang="zh-CN" altLang="en-US" sz="9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吃∆捡漏。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创新高可能性小。需要选择方向，继续下落或站上</a:t>
                      </a:r>
                      <a:r>
                        <a:rPr lang="en-US" altLang="zh-CN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WJA</a:t>
                      </a:r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暴升退</a:t>
                      </a:r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。目标收益有限，可等待站上</a:t>
                      </a:r>
                      <a:r>
                        <a:rPr lang="en-US" altLang="zh-CN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WJA</a:t>
                      </a:r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再入。终极问题是如何处理管内震荡与触顶。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5498978"/>
                  </a:ext>
                </a:extLst>
              </a:tr>
              <a:tr h="233226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破</a:t>
                      </a:r>
                      <a:r>
                        <a:rPr lang="en-US" altLang="zh-CN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WJB</a:t>
                      </a:r>
                      <a:endParaRPr lang="zh-CN" altLang="en-US" sz="9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吃∆捡漏。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9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缓升退</a:t>
                      </a:r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。不可重仓，只可被动持仓，不可主动入仓。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6160582"/>
                  </a:ext>
                </a:extLst>
              </a:tr>
              <a:tr h="233226"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破</a:t>
                      </a:r>
                      <a:r>
                        <a:rPr lang="en-US" altLang="zh-CN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WJC</a:t>
                      </a:r>
                      <a:endParaRPr lang="zh-CN" altLang="en-US" sz="9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b="1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强制止损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9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强制退。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0894287"/>
                  </a:ext>
                </a:extLst>
              </a:tr>
            </a:tbl>
          </a:graphicData>
        </a:graphic>
      </p:graphicFrame>
      <p:sp>
        <p:nvSpPr>
          <p:cNvPr id="134" name="文本框 133">
            <a:extLst>
              <a:ext uri="{FF2B5EF4-FFF2-40B4-BE49-F238E27FC236}">
                <a16:creationId xmlns:a16="http://schemas.microsoft.com/office/drawing/2014/main" id="{4982B8ED-55AA-DF17-4C79-66A73C2B4449}"/>
              </a:ext>
            </a:extLst>
          </p:cNvPr>
          <p:cNvSpPr txBox="1"/>
          <p:nvPr/>
        </p:nvSpPr>
        <p:spPr>
          <a:xfrm>
            <a:off x="5973185" y="6298115"/>
            <a:ext cx="90281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没跌之前是风险</a:t>
            </a:r>
            <a:endParaRPr lang="en-US" altLang="zh-CN" sz="800" b="1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跌了之后是机会</a:t>
            </a:r>
            <a:endParaRPr lang="en-US" altLang="zh-CN" sz="800" b="1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应止盈于顶</a:t>
            </a:r>
            <a:endParaRPr lang="en-US" altLang="zh-CN" sz="800" b="1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风险大于收益</a:t>
            </a:r>
            <a:endParaRPr lang="en-US" altLang="zh-CN" sz="800" b="1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35" name="文本框 134">
            <a:extLst>
              <a:ext uri="{FF2B5EF4-FFF2-40B4-BE49-F238E27FC236}">
                <a16:creationId xmlns:a16="http://schemas.microsoft.com/office/drawing/2014/main" id="{0DD5C6A0-DB8A-4B19-AEAE-5F3CFA03164E}"/>
              </a:ext>
            </a:extLst>
          </p:cNvPr>
          <p:cNvSpPr txBox="1"/>
          <p:nvPr/>
        </p:nvSpPr>
        <p:spPr>
          <a:xfrm>
            <a:off x="4780514" y="6298115"/>
            <a:ext cx="104547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收益来源：</a:t>
            </a:r>
            <a:endParaRPr lang="en-US" altLang="zh-CN" sz="800" b="1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主要是∆管震</a:t>
            </a:r>
            <a:endParaRPr lang="en-US" altLang="zh-CN" sz="800" b="1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风险较大</a:t>
            </a:r>
            <a:r>
              <a:rPr lang="en-US" altLang="zh-CN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/</a:t>
            </a:r>
            <a:r>
              <a:rPr lang="zh-CN" altLang="en-US" sz="800" b="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易被诱多</a:t>
            </a:r>
          </a:p>
        </p:txBody>
      </p:sp>
      <p:sp>
        <p:nvSpPr>
          <p:cNvPr id="136" name="文本框 135">
            <a:extLst>
              <a:ext uri="{FF2B5EF4-FFF2-40B4-BE49-F238E27FC236}">
                <a16:creationId xmlns:a16="http://schemas.microsoft.com/office/drawing/2014/main" id="{FFE82231-1227-5A08-F12B-69FAF0E4CCFE}"/>
              </a:ext>
            </a:extLst>
          </p:cNvPr>
          <p:cNvSpPr txBox="1"/>
          <p:nvPr/>
        </p:nvSpPr>
        <p:spPr>
          <a:xfrm>
            <a:off x="75760" y="2839997"/>
            <a:ext cx="156966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收益来源分析</a:t>
            </a:r>
          </a:p>
        </p:txBody>
      </p:sp>
      <p:sp>
        <p:nvSpPr>
          <p:cNvPr id="140" name="文本框 139">
            <a:extLst>
              <a:ext uri="{FF2B5EF4-FFF2-40B4-BE49-F238E27FC236}">
                <a16:creationId xmlns:a16="http://schemas.microsoft.com/office/drawing/2014/main" id="{AD7D162B-0139-2787-F1E8-407D18479295}"/>
              </a:ext>
            </a:extLst>
          </p:cNvPr>
          <p:cNvSpPr txBox="1"/>
          <p:nvPr/>
        </p:nvSpPr>
        <p:spPr>
          <a:xfrm>
            <a:off x="7280157" y="3637081"/>
            <a:ext cx="4911843" cy="60016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之上就有机会，如果触顶就进入快车道。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之上只考虑做多，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会立刻</a:t>
            </a:r>
            <a:r>
              <a:rPr lang="zh-CN" altLang="en-US" sz="1100" b="1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恢复上升；</a:t>
            </a:r>
            <a:r>
              <a:rPr lang="en-US" altLang="zh-CN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之下会有神秘力量</a:t>
            </a:r>
            <a:r>
              <a:rPr lang="zh-CN" altLang="en-US" sz="1100" b="1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恢复上升，</a:t>
            </a:r>
            <a:r>
              <a:rPr lang="zh-CN" altLang="en-US" sz="11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但时点不确定。</a:t>
            </a:r>
          </a:p>
        </p:txBody>
      </p:sp>
    </p:spTree>
    <p:extLst>
      <p:ext uri="{BB962C8B-B14F-4D97-AF65-F5344CB8AC3E}">
        <p14:creationId xmlns:p14="http://schemas.microsoft.com/office/powerpoint/2010/main" val="113424093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>
            <a:extLst>
              <a:ext uri="{FF2B5EF4-FFF2-40B4-BE49-F238E27FC236}">
                <a16:creationId xmlns:a16="http://schemas.microsoft.com/office/drawing/2014/main" id="{72935CFF-E30A-9802-C470-AE136A51AF8B}"/>
              </a:ext>
            </a:extLst>
          </p:cNvPr>
          <p:cNvSpPr/>
          <p:nvPr/>
        </p:nvSpPr>
        <p:spPr>
          <a:xfrm>
            <a:off x="7055616" y="720000"/>
            <a:ext cx="5133732" cy="6138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原算法存档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202410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周类策略概览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b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 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丘为根本，分析亏损来源与应对策略的得失。在真正操盘过程中，开始不知丘大小，只能摸着石头过河。要按照持有标准进行判定，被动演化为大丘或止损退出。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0" y="720000"/>
            <a:ext cx="7048870" cy="3170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①圈定操作区域：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WXZC&gt;0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是必要条件：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根据周图全览，所有大涨都在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 ⇒ 以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为丘必赢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趋势开启：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WXAC &gt;0 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（长期趋势，可止盈）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趋势打破：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看是否形成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柱排列（仍属周范围，不应主动进入）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破格情况（谨慎）：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柱上穿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WXZB&gt;0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上多柱排列。</a:t>
            </a:r>
          </a:p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②限制操作区域：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聚焦易大升区域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避免诱多区域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防底尾：底部区域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/M5e/M6v/M1v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，匆重仓，即使上破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也是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空头排列⇒慎重对待漫长空转多过程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防顶尾：不进入阶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大丘，要正分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之上多丘节奏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指标：丘时长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丘幅度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严格禁止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本应只做空。因周线反应迟顿，可适当放宽范围，但日线一定要在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只进入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WXZB&gt;0(/w6w/w6v)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，且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柱排列小碎步 ⇒ 如下破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则止损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反复震荡突破：上破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前可能有多波围绕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震荡，应限制柱已上穿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或即将突破。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③止盈警报：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高：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DBSHA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宽：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WBS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JA~DBS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JC 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。宽≥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属于冲顶区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连：周连阳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日连阳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④止损警报：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" name="表格 8">
                <a:extLst>
                  <a:ext uri="{FF2B5EF4-FFF2-40B4-BE49-F238E27FC236}">
                    <a16:creationId xmlns:a16="http://schemas.microsoft.com/office/drawing/2014/main" id="{76BF3005-88E9-A809-9948-A79AB101484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18596" y="3908836"/>
              <a:ext cx="6960934" cy="1396302"/>
            </p:xfrm>
            <a:graphic>
              <a:graphicData uri="http://schemas.openxmlformats.org/drawingml/2006/table">
                <a:tbl>
                  <a:tblPr firstRow="1" bandRow="1">
                    <a:tableStyleId>{F5AB1C69-6EDB-4FF4-983F-18BD219EF322}</a:tableStyleId>
                  </a:tblPr>
                  <a:tblGrid>
                    <a:gridCol w="1271067">
                      <a:extLst>
                        <a:ext uri="{9D8B030D-6E8A-4147-A177-3AD203B41FA5}">
                          <a16:colId xmlns:a16="http://schemas.microsoft.com/office/drawing/2014/main" val="3800463472"/>
                        </a:ext>
                      </a:extLst>
                    </a:gridCol>
                    <a:gridCol w="1887676">
                      <a:extLst>
                        <a:ext uri="{9D8B030D-6E8A-4147-A177-3AD203B41FA5}">
                          <a16:colId xmlns:a16="http://schemas.microsoft.com/office/drawing/2014/main" val="3792397874"/>
                        </a:ext>
                      </a:extLst>
                    </a:gridCol>
                    <a:gridCol w="3802191">
                      <a:extLst>
                        <a:ext uri="{9D8B030D-6E8A-4147-A177-3AD203B41FA5}">
                          <a16:colId xmlns:a16="http://schemas.microsoft.com/office/drawing/2014/main" val="2326705745"/>
                        </a:ext>
                      </a:extLst>
                    </a:gridCol>
                  </a:tblGrid>
                  <a:tr h="0">
                    <a:tc>
                      <a:txBody>
                        <a:bodyPr/>
                        <a:lstStyle/>
                        <a:p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警报级别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5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en-US" altLang="zh-CN" sz="800">
                              <a:solidFill>
                                <a:schemeClr val="tx1"/>
                              </a:solidFill>
                            </a:rPr>
                            <a:t>S1</a:t>
                          </a:r>
                          <a:r>
                            <a:rPr lang="zh-CN" altLang="en-US" sz="800">
                              <a:solidFill>
                                <a:schemeClr val="tx1"/>
                              </a:solidFill>
                            </a:rPr>
                            <a:t>：已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大涨（应已止盈）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5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</a:rPr>
                            <a:t>S2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：未大涨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5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15646827"/>
                      </a:ext>
                    </a:extLst>
                  </a:tr>
                  <a:tr h="0">
                    <a:tc>
                      <a:txBody>
                        <a:bodyPr/>
                        <a:lstStyle/>
                        <a:p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</a:rPr>
                            <a:t>0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级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</a:rPr>
                            <a:t>:WJA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之上异形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顶部出现⇒应已止盈至底仓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底部出现⇒守仓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599084285"/>
                      </a:ext>
                    </a:extLst>
                  </a:tr>
                  <a:tr h="289464">
                    <a:tc>
                      <a:txBody>
                        <a:bodyPr/>
                        <a:lstStyle/>
                        <a:p>
                          <a:r>
                            <a:rPr lang="en-US" altLang="zh-CN" sz="800">
                              <a:solidFill>
                                <a:schemeClr val="tx1"/>
                              </a:solidFill>
                            </a:rPr>
                            <a:t>1</a:t>
                          </a:r>
                          <a:r>
                            <a:rPr lang="zh-CN" altLang="en-US" sz="800">
                              <a:solidFill>
                                <a:schemeClr val="tx1"/>
                              </a:solidFill>
                            </a:rPr>
                            <a:t>级</a:t>
                          </a:r>
                          <a:r>
                            <a:rPr lang="en-US" altLang="zh-CN" sz="800">
                              <a:solidFill>
                                <a:schemeClr val="tx1"/>
                              </a:solidFill>
                            </a:rPr>
                            <a:t>:WJA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之下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可清仓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首下破守仓</a:t>
                          </a:r>
                          <a14:m>
                            <m:oMath xmlns:m="http://schemas.openxmlformats.org/officeDocument/2006/math">
                              <m:d>
                                <m:dPr>
                                  <m:begChr m:val="{"/>
                                  <m:endChr m:val=""/>
                                  <m:ctrlPr>
                                    <a:rPr lang="en-US" altLang="zh-CN" sz="80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2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altLang="zh-CN" sz="80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r>
                                          <a:rPr lang="zh-CN" altLang="en-US" sz="800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第二柱站上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US" altLang="zh-CN" sz="800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JA</m:t>
                                        </m:r>
                                        <m:r>
                                          <a:rPr lang="zh-CN" altLang="en-US" sz="800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：</m:t>
                                        </m:r>
                                      </m:e>
                                      <m:e>
                                        <m:r>
                                          <a:rPr lang="zh-CN" altLang="en-US" sz="800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可守仓</m:t>
                                        </m:r>
                                      </m:e>
                                    </m:mr>
                                    <m:mr>
                                      <m:e>
                                        <m:r>
                                          <a:rPr lang="zh-CN" altLang="en-US" sz="800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第二柱为升孕：</m:t>
                                        </m:r>
                                      </m:e>
                                      <m:e>
                                        <m:r>
                                          <a:rPr lang="zh-CN" altLang="en-US" sz="800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可清仓</m:t>
                                        </m:r>
                                        <m:r>
                                          <a:rPr lang="en-US" altLang="zh-CN" sz="800" b="0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/</m:t>
                                        </m:r>
                                        <m:r>
                                          <a:rPr lang="zh-CN" altLang="en-US" sz="800" b="0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看第三柱是否站上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US" altLang="zh-CN" sz="800" b="0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JA</m:t>
                                        </m:r>
                                      </m:e>
                                    </m:mr>
                                    <m:mr>
                                      <m:e>
                                        <m:r>
                                          <a:rPr lang="zh-CN" altLang="en-US" sz="800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第二柱为跌连：</m:t>
                                        </m:r>
                                      </m:e>
                                      <m:e>
                                        <m:r>
                                          <a:rPr lang="zh-CN" altLang="en-US" sz="800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可减仓</m:t>
                                        </m:r>
                                        <m:r>
                                          <a:rPr lang="en-US" altLang="zh-CN" sz="800" b="0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/</m:t>
                                        </m:r>
                                        <m:r>
                                          <a:rPr lang="zh-CN" altLang="en-US" sz="800" b="0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可清仓</m:t>
                                        </m:r>
                                      </m:e>
                                    </m:mr>
                                  </m:m>
                                </m:e>
                              </m:d>
                            </m:oMath>
                          </a14:m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61380474"/>
                      </a:ext>
                    </a:extLst>
                  </a:tr>
                  <a:tr h="0">
                    <a:tc>
                      <a:txBody>
                        <a:bodyPr/>
                        <a:lstStyle/>
                        <a:p>
                          <a:r>
                            <a:rPr lang="en-US" altLang="zh-CN" sz="800">
                              <a:solidFill>
                                <a:schemeClr val="tx1"/>
                              </a:solidFill>
                            </a:rPr>
                            <a:t>2</a:t>
                          </a:r>
                          <a:r>
                            <a:rPr lang="zh-CN" altLang="en-US" sz="800">
                              <a:solidFill>
                                <a:schemeClr val="tx1"/>
                              </a:solidFill>
                            </a:rPr>
                            <a:t>级</a:t>
                          </a:r>
                          <a:r>
                            <a:rPr lang="en-US" altLang="zh-CN" sz="800">
                              <a:solidFill>
                                <a:schemeClr val="tx1"/>
                              </a:solidFill>
                            </a:rPr>
                            <a:t>:WJB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之下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应清仓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减至底仓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876290555"/>
                      </a:ext>
                    </a:extLst>
                  </a:tr>
                  <a:tr h="0">
                    <a:tc>
                      <a:txBody>
                        <a:bodyPr/>
                        <a:lstStyle/>
                        <a:p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</a:rPr>
                            <a:t>3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级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</a:rPr>
                            <a:t>:WJC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之下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应清仓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应清仓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76883786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" name="表格 8">
                <a:extLst>
                  <a:ext uri="{FF2B5EF4-FFF2-40B4-BE49-F238E27FC236}">
                    <a16:creationId xmlns:a16="http://schemas.microsoft.com/office/drawing/2014/main" id="{76BF3005-88E9-A809-9948-A79AB101484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18596" y="3908836"/>
              <a:ext cx="6960934" cy="1396302"/>
            </p:xfrm>
            <a:graphic>
              <a:graphicData uri="http://schemas.openxmlformats.org/drawingml/2006/table">
                <a:tbl>
                  <a:tblPr firstRow="1" bandRow="1">
                    <a:tableStyleId>{F5AB1C69-6EDB-4FF4-983F-18BD219EF322}</a:tableStyleId>
                  </a:tblPr>
                  <a:tblGrid>
                    <a:gridCol w="1271067">
                      <a:extLst>
                        <a:ext uri="{9D8B030D-6E8A-4147-A177-3AD203B41FA5}">
                          <a16:colId xmlns:a16="http://schemas.microsoft.com/office/drawing/2014/main" val="3800463472"/>
                        </a:ext>
                      </a:extLst>
                    </a:gridCol>
                    <a:gridCol w="1887676">
                      <a:extLst>
                        <a:ext uri="{9D8B030D-6E8A-4147-A177-3AD203B41FA5}">
                          <a16:colId xmlns:a16="http://schemas.microsoft.com/office/drawing/2014/main" val="3792397874"/>
                        </a:ext>
                      </a:extLst>
                    </a:gridCol>
                    <a:gridCol w="3802191">
                      <a:extLst>
                        <a:ext uri="{9D8B030D-6E8A-4147-A177-3AD203B41FA5}">
                          <a16:colId xmlns:a16="http://schemas.microsoft.com/office/drawing/2014/main" val="2326705745"/>
                        </a:ext>
                      </a:extLst>
                    </a:gridCol>
                  </a:tblGrid>
                  <a:tr h="213360">
                    <a:tc>
                      <a:txBody>
                        <a:bodyPr/>
                        <a:lstStyle/>
                        <a:p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警报级别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5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en-US" altLang="zh-CN" sz="800">
                              <a:solidFill>
                                <a:schemeClr val="tx1"/>
                              </a:solidFill>
                            </a:rPr>
                            <a:t>S1</a:t>
                          </a:r>
                          <a:r>
                            <a:rPr lang="zh-CN" altLang="en-US" sz="800">
                              <a:solidFill>
                                <a:schemeClr val="tx1"/>
                              </a:solidFill>
                            </a:rPr>
                            <a:t>：已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大涨（应已止盈）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5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</a:rPr>
                            <a:t>S2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：未大涨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5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15646827"/>
                      </a:ext>
                    </a:extLst>
                  </a:tr>
                  <a:tr h="213360">
                    <a:tc>
                      <a:txBody>
                        <a:bodyPr/>
                        <a:lstStyle/>
                        <a:p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</a:rPr>
                            <a:t>0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级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</a:rPr>
                            <a:t>:WJA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之上异形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顶部出现⇒应已止盈至底仓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底部出现⇒守仓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599084285"/>
                      </a:ext>
                    </a:extLst>
                  </a:tr>
                  <a:tr h="542862">
                    <a:tc>
                      <a:txBody>
                        <a:bodyPr/>
                        <a:lstStyle/>
                        <a:p>
                          <a:r>
                            <a:rPr lang="en-US" altLang="zh-CN" sz="800">
                              <a:solidFill>
                                <a:schemeClr val="tx1"/>
                              </a:solidFill>
                            </a:rPr>
                            <a:t>1</a:t>
                          </a:r>
                          <a:r>
                            <a:rPr lang="zh-CN" altLang="en-US" sz="800">
                              <a:solidFill>
                                <a:schemeClr val="tx1"/>
                              </a:solidFill>
                            </a:rPr>
                            <a:t>级</a:t>
                          </a:r>
                          <a:r>
                            <a:rPr lang="en-US" altLang="zh-CN" sz="800">
                              <a:solidFill>
                                <a:schemeClr val="tx1"/>
                              </a:solidFill>
                            </a:rPr>
                            <a:t>:WJA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之下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可清仓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zh-CN"/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3173" t="-192222" r="-160" b="-23777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61380474"/>
                      </a:ext>
                    </a:extLst>
                  </a:tr>
                  <a:tr h="213360">
                    <a:tc>
                      <a:txBody>
                        <a:bodyPr/>
                        <a:lstStyle/>
                        <a:p>
                          <a:r>
                            <a:rPr lang="en-US" altLang="zh-CN" sz="800">
                              <a:solidFill>
                                <a:schemeClr val="tx1"/>
                              </a:solidFill>
                            </a:rPr>
                            <a:t>2</a:t>
                          </a:r>
                          <a:r>
                            <a:rPr lang="zh-CN" altLang="en-US" sz="800">
                              <a:solidFill>
                                <a:schemeClr val="tx1"/>
                              </a:solidFill>
                            </a:rPr>
                            <a:t>级</a:t>
                          </a:r>
                          <a:r>
                            <a:rPr lang="en-US" altLang="zh-CN" sz="800">
                              <a:solidFill>
                                <a:schemeClr val="tx1"/>
                              </a:solidFill>
                            </a:rPr>
                            <a:t>:WJB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之下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应清仓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减至底仓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876290555"/>
                      </a:ext>
                    </a:extLst>
                  </a:tr>
                  <a:tr h="213360">
                    <a:tc>
                      <a:txBody>
                        <a:bodyPr/>
                        <a:lstStyle/>
                        <a:p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</a:rPr>
                            <a:t>3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级</a:t>
                          </a:r>
                          <a:r>
                            <a:rPr lang="en-US" altLang="zh-CN" sz="800" dirty="0">
                              <a:solidFill>
                                <a:schemeClr val="tx1"/>
                              </a:solidFill>
                            </a:rPr>
                            <a:t>:WJC</a:t>
                          </a:r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之下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应清仓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zh-CN" altLang="en-US" sz="800" dirty="0">
                              <a:solidFill>
                                <a:schemeClr val="tx1"/>
                              </a:solidFill>
                            </a:rPr>
                            <a:t>应清仓</a:t>
                          </a:r>
                          <a:endParaRPr lang="zh-CN" altLang="en-US" sz="800" dirty="0">
                            <a:solidFill>
                              <a:schemeClr val="tx1"/>
                            </a:solidFill>
                            <a:latin typeface="Microsoft YaHei Light" panose="020B0502040204020203" pitchFamily="34" charset="-122"/>
                            <a:ea typeface="Microsoft YaHei Light" panose="020B0502040204020203" pitchFamily="34" charset="-122"/>
                          </a:endParaRPr>
                        </a:p>
                      </a:txBody>
                      <a:tcPr>
                        <a:lnL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6350" cap="flat" cmpd="sng" algn="ctr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1">
                            <a:lumMod val="6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76883786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5" name="文本框 4">
            <a:extLst>
              <a:ext uri="{FF2B5EF4-FFF2-40B4-BE49-F238E27FC236}">
                <a16:creationId xmlns:a16="http://schemas.microsoft.com/office/drawing/2014/main" id="{83EEEE16-F672-2F00-5184-B3E3E82DBDE2}"/>
              </a:ext>
            </a:extLst>
          </p:cNvPr>
          <p:cNvSpPr txBox="1"/>
          <p:nvPr/>
        </p:nvSpPr>
        <p:spPr>
          <a:xfrm>
            <a:off x="8794" y="5392916"/>
            <a:ext cx="704887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应对当前亏损操盘方法的改进措施：</a:t>
            </a:r>
          </a:p>
          <a:p>
            <a:pPr lvl="1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①找对的区域 </a:t>
            </a:r>
          </a:p>
          <a:p>
            <a:pPr lvl="1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②仍按原方法进入，但只要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之下未沿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柱排列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，当破线时不要清仓，直到再次冲高。</a:t>
            </a:r>
          </a:p>
          <a:p>
            <a:pPr lvl="1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③在阴柱或非多头处进入，等待冲高止盈。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实施难点：</a:t>
            </a:r>
          </a:p>
          <a:p>
            <a:pPr lvl="1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①中间波动不清仓：确认</a:t>
            </a:r>
            <a:r>
              <a: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rPr>
              <a:t>保证上升趋势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的大均线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(WJC)</a:t>
            </a:r>
          </a:p>
          <a:p>
            <a:pPr lvl="1"/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②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持有过程不被其他机会诱惑⇒不满仓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不要看到它</a:t>
            </a:r>
            <a:r>
              <a: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rPr>
              <a:t>股上升就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调仓</a:t>
            </a:r>
          </a:p>
          <a:p>
            <a:pPr lvl="1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③触顶要止盈</a:t>
            </a:r>
          </a:p>
          <a:p>
            <a:pPr lvl="1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④要勇敢捡漏：周线对但日线为阴线或破线已止跌</a:t>
            </a:r>
            <a:endParaRPr lang="zh-CN" altLang="en-US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159A63D5-A4CB-2962-3458-0D6F7CD7282C}"/>
              </a:ext>
            </a:extLst>
          </p:cNvPr>
          <p:cNvSpPr txBox="1"/>
          <p:nvPr/>
        </p:nvSpPr>
        <p:spPr>
          <a:xfrm>
            <a:off x="7088931" y="720000"/>
            <a:ext cx="5094276" cy="56938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周类操盘工具箱：核心是寻找</a:t>
            </a:r>
            <a:r>
              <a:rPr lang="en-US" altLang="zh-CN" sz="14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4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最大偏离位置</a:t>
            </a:r>
            <a:endParaRPr lang="en-US" altLang="zh-CN" sz="1400" b="1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①下柱冲高：</a:t>
            </a:r>
            <a:endParaRPr lang="en-US" altLang="zh-CN" sz="1000" b="1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自然冲动，用于中途介入，阴进阳出最佳。</a:t>
            </a:r>
          </a:p>
          <a:p>
            <a:r>
              <a:rPr lang="zh-CN" altLang="en-US" sz="10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② </a:t>
            </a:r>
            <a:r>
              <a:rPr lang="en-US" altLang="zh-CN" sz="10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是运行中枢</a:t>
            </a:r>
            <a:endParaRPr lang="en-US" altLang="zh-CN" sz="1000" b="1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丘作为操盘依据：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单侧第二柱是确定依据。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WTZA≥2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：持有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可止盈；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WTZA=1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：在顶部防止诱多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在初始突破进入或等待回踩站稳；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WTZA=-1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：已冲高后回落应退出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未冲高是反弹机会（站回继续持有，未站回退出）；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WTZA≤-2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：已下破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应退出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未下破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可退出。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关注止盈指标：</a:t>
            </a:r>
            <a:endParaRPr lang="en-US" altLang="zh-CN" sz="1000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空间：偏离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过大，管宽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最大必定是丘宽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最大。</a:t>
            </a:r>
            <a:endParaRPr lang="en-US" altLang="zh-CN" sz="1000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时间：在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上运行过久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(WTZA)/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连阳过久。</a:t>
            </a:r>
            <a:endParaRPr lang="en-US" altLang="zh-CN" sz="1000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利用并符在均线不符合情况辅助判断。</a:t>
            </a:r>
            <a:endParaRPr lang="en-US" altLang="zh-CN" sz="1000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柱排列破坏趋势：反向破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 (w3v/w3w/w6v/w6w)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，看是否形成沿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三柱跌连排列。</a:t>
            </a:r>
            <a:endParaRPr lang="en-US" altLang="zh-CN" sz="1000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柱排列持仓：特别是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WZAC&gt;0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突破且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WXAC&lt;0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时。</a:t>
            </a:r>
            <a:endParaRPr lang="en-US" altLang="zh-CN" sz="1000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③花模型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阶段性趋势都以冲高偏离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结束。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花开≡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WXAC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正交，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WXAC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</a:t>
            </a:r>
            <a:r>
              <a:rPr lang="zh-CN" altLang="en-US" sz="100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是主升浪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开启。阶段性冲高必定形成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多头排列⇒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WXAC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正交是必要条件。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操盘过程：追求偏离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最大。在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之上，在层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入，冲高止盈，破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止盈，破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止损。</a:t>
            </a:r>
            <a:endParaRPr lang="en-US" altLang="zh-CN" sz="1000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不能提前预判丘的冲高幅度，只能选取可能产生大丘的位置，并按照规则一路跟随。</a:t>
            </a:r>
          </a:p>
          <a:p>
            <a:r>
              <a:rPr lang="zh-CN" altLang="en-US" sz="10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④顶型合顶：</a:t>
            </a:r>
            <a:endParaRPr lang="en-US" altLang="zh-CN" sz="1000" b="1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根据顶型</a:t>
            </a:r>
            <a:r>
              <a:rPr lang="zh-CN" altLang="en-US" sz="100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辅助主升浪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识别。</a:t>
            </a:r>
          </a:p>
          <a:p>
            <a:r>
              <a:rPr lang="zh-CN" altLang="en-US" sz="10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⑤周日结合：</a:t>
            </a:r>
            <a:endParaRPr lang="en-US" altLang="zh-CN" sz="1000" b="1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日要服从周：用周进行入仓与止损；用日止盈。</a:t>
            </a:r>
            <a:endParaRPr lang="en-US" altLang="zh-CN" sz="1000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处理日触顶与周触顶的优先级：日线只用于触顶止盈，其余均以周类作为判定依据。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找出周线上可能</a:t>
            </a:r>
            <a:r>
              <a:rPr lang="zh-CN" altLang="en-US" sz="100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出现大升地方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，在这些地方用日线配合。不要直接根据日线操作。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要尽量避免日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层介入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无趋势机会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：只可能是 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w5e(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未上破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WB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不应介入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w2e(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多柱下破</a:t>
            </a:r>
            <a:r>
              <a:rPr lang="en-US" altLang="zh-CN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WJA)</a:t>
            </a:r>
            <a:r>
              <a:rPr lang="zh-CN" altLang="en-US" sz="10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8E8C7133-B6A5-86D4-A94D-CA56A9ECCCE1}"/>
              </a:ext>
            </a:extLst>
          </p:cNvPr>
          <p:cNvGrpSpPr/>
          <p:nvPr/>
        </p:nvGrpSpPr>
        <p:grpSpPr>
          <a:xfrm>
            <a:off x="12326416" y="3536155"/>
            <a:ext cx="2183760" cy="658440"/>
            <a:chOff x="7916571" y="3476766"/>
            <a:chExt cx="2183760" cy="65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墨迹 5">
                  <a:extLst>
                    <a:ext uri="{FF2B5EF4-FFF2-40B4-BE49-F238E27FC236}">
                      <a16:creationId xmlns:a16="http://schemas.microsoft.com/office/drawing/2014/main" id="{B9DF8BA3-FDC1-3834-40D2-1B2C15D0A6B3}"/>
                    </a:ext>
                  </a:extLst>
                </p14:cNvPr>
                <p14:cNvContentPartPr/>
                <p14:nvPr/>
              </p14:nvContentPartPr>
              <p14:xfrm>
                <a:off x="7916571" y="3861246"/>
                <a:ext cx="2140920" cy="25200"/>
              </p14:xfrm>
            </p:contentPart>
          </mc:Choice>
          <mc:Fallback xmlns="">
            <p:pic>
              <p:nvPicPr>
                <p:cNvPr id="5" name="墨迹 4">
                  <a:extLst>
                    <a:ext uri="{FF2B5EF4-FFF2-40B4-BE49-F238E27FC236}">
                      <a16:creationId xmlns:a16="http://schemas.microsoft.com/office/drawing/2014/main" id="{B9DF8BA3-FDC1-3834-40D2-1B2C15D0A6B3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7910451" y="3855126"/>
                  <a:ext cx="21531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7" name="墨迹 6">
                  <a:extLst>
                    <a:ext uri="{FF2B5EF4-FFF2-40B4-BE49-F238E27FC236}">
                      <a16:creationId xmlns:a16="http://schemas.microsoft.com/office/drawing/2014/main" id="{D83C7D36-8AAF-B06A-9AA3-F924B2950C76}"/>
                    </a:ext>
                  </a:extLst>
                </p14:cNvPr>
                <p14:cNvContentPartPr/>
                <p14:nvPr/>
              </p14:nvContentPartPr>
              <p14:xfrm>
                <a:off x="7988931" y="3482526"/>
                <a:ext cx="760320" cy="561240"/>
              </p14:xfrm>
            </p:contentPart>
          </mc:Choice>
          <mc:Fallback xmlns="">
            <p:pic>
              <p:nvPicPr>
                <p:cNvPr id="6" name="墨迹 5">
                  <a:extLst>
                    <a:ext uri="{FF2B5EF4-FFF2-40B4-BE49-F238E27FC236}">
                      <a16:creationId xmlns:a16="http://schemas.microsoft.com/office/drawing/2014/main" id="{D83C7D36-8AAF-B06A-9AA3-F924B2950C7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7982811" y="3476406"/>
                  <a:ext cx="772560" cy="57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8" name="墨迹 7">
                  <a:extLst>
                    <a:ext uri="{FF2B5EF4-FFF2-40B4-BE49-F238E27FC236}">
                      <a16:creationId xmlns:a16="http://schemas.microsoft.com/office/drawing/2014/main" id="{688938BD-171A-3A5F-98A0-45496C2FCD2D}"/>
                    </a:ext>
                  </a:extLst>
                </p14:cNvPr>
                <p14:cNvContentPartPr/>
                <p14:nvPr/>
              </p14:nvContentPartPr>
              <p14:xfrm>
                <a:off x="8734491" y="3476766"/>
                <a:ext cx="1365840" cy="658440"/>
              </p14:xfrm>
            </p:contentPart>
          </mc:Choice>
          <mc:Fallback xmlns="">
            <p:pic>
              <p:nvPicPr>
                <p:cNvPr id="9" name="墨迹 8">
                  <a:extLst>
                    <a:ext uri="{FF2B5EF4-FFF2-40B4-BE49-F238E27FC236}">
                      <a16:creationId xmlns:a16="http://schemas.microsoft.com/office/drawing/2014/main" id="{688938BD-171A-3A5F-98A0-45496C2FCD2D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728371" y="3470646"/>
                  <a:ext cx="1378080" cy="6706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920228599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 fontScale="90000"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周类策略进化路线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202512</a:t>
            </a:r>
            <a:b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核心是寻找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最大偏离位置原旨教义：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WTZC&gt;0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是大涨必要条件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通过观察全局周线图得出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b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优化本质：低阶均线是否能够决定高阶均线仓位的存在 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抓上升段，避下跌段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</p:txBody>
      </p:sp>
      <p:sp>
        <p:nvSpPr>
          <p:cNvPr id="3" name="文本框 2"/>
          <p:cNvSpPr txBox="1"/>
          <p:nvPr/>
        </p:nvSpPr>
        <p:spPr>
          <a:xfrm>
            <a:off x="1308100" y="723193"/>
            <a:ext cx="4625975" cy="224676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①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丘精确策略：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丘必赢⇒从头至尾按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精确持有</a:t>
            </a:r>
          </a:p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②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丘强化策略： 修改入口与出口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入口三位置：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:/w1w/w6w/w1v/w6v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上穿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后回踩：选阴柱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劫后从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再出发：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/WXAB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/WXAC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出口：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止盈：偏宽叠久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止损：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后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三柱排列</a:t>
            </a:r>
          </a:p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③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同侧兼略：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划分节奏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忽略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线结构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节奏正确也有可能回归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，应对策略是：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等待回归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WC/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短线介入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中途阴入阳出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下周冲高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明确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不是阈线，而是作为辅助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丘过滤尾部。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有效节奏包括：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介于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间；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介于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WJE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间。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B94E77EF-9806-8608-A18D-5FF967F9B4F7}"/>
              </a:ext>
            </a:extLst>
          </p:cNvPr>
          <p:cNvSpPr txBox="1"/>
          <p:nvPr/>
        </p:nvSpPr>
        <p:spPr>
          <a:xfrm>
            <a:off x="0" y="4605337"/>
            <a:ext cx="6096000" cy="22467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区域规避：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衡量空间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WS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：单边趋势形成绝对偏离后转向回归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丘宽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⇒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最根本可行操盘法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退一步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)WSHA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：冲高止盈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管宽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衡量时间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WTZC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退一步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)WTZA(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长久在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)T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连阳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连阳要止盈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衡量排列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是否连阳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是否阴阳相间</a:t>
            </a:r>
            <a:endParaRPr lang="zh-CN" altLang="en-US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剔震荡：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芽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根，只是短线策略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剔尾部：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不能在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之下进入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后很可能是尾部</a:t>
            </a:r>
          </a:p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操盘方法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核心思路：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圈定范围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之上，尽量选阴柱入，冲高即按日止盈，按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止损。</a:t>
            </a: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BC9AEBEF-3101-BB24-B921-8A8A0A8BF2AD}"/>
              </a:ext>
            </a:extLst>
          </p:cNvPr>
          <p:cNvSpPr txBox="1"/>
          <p:nvPr/>
        </p:nvSpPr>
        <p:spPr>
          <a:xfrm>
            <a:off x="-128338" y="1589912"/>
            <a:ext cx="979238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长线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策略</a:t>
            </a:r>
          </a:p>
        </p:txBody>
      </p:sp>
      <p:sp>
        <p:nvSpPr>
          <p:cNvPr id="9" name="左大括号 8">
            <a:extLst>
              <a:ext uri="{FF2B5EF4-FFF2-40B4-BE49-F238E27FC236}">
                <a16:creationId xmlns:a16="http://schemas.microsoft.com/office/drawing/2014/main" id="{6D2D115B-1925-759A-C5E3-37E81C7CF198}"/>
              </a:ext>
            </a:extLst>
          </p:cNvPr>
          <p:cNvSpPr/>
          <p:nvPr/>
        </p:nvSpPr>
        <p:spPr>
          <a:xfrm>
            <a:off x="768100" y="748472"/>
            <a:ext cx="540000" cy="2221490"/>
          </a:xfrm>
          <a:prstGeom prst="leftBrace">
            <a:avLst>
              <a:gd name="adj1" fmla="val 9819"/>
              <a:gd name="adj2" fmla="val 48257"/>
            </a:avLst>
          </a:prstGeom>
          <a:solidFill>
            <a:schemeClr val="accent5">
              <a:lumMod val="40000"/>
              <a:lumOff val="60000"/>
            </a:schemeClr>
          </a:solidFill>
          <a:ln w="508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EC444844-F10A-8AC3-61A5-4AE022A53815}"/>
              </a:ext>
            </a:extLst>
          </p:cNvPr>
          <p:cNvSpPr txBox="1"/>
          <p:nvPr/>
        </p:nvSpPr>
        <p:spPr>
          <a:xfrm>
            <a:off x="1308100" y="3207031"/>
            <a:ext cx="4625975" cy="86177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①阶段持仓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中途进中途出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：主要利用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排列</a:t>
            </a:r>
          </a:p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②单柱持仓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下周冲高出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：主要利用</a:t>
            </a: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排列与下周冲高，最好阴入阳出。</a:t>
            </a:r>
          </a:p>
          <a:p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周机包括：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周首鼎 ：周为上影，对应日线以跌孕结束本周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之上连阴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23994F94-2674-DD93-9567-6662B14B8780}"/>
              </a:ext>
            </a:extLst>
          </p:cNvPr>
          <p:cNvSpPr txBox="1"/>
          <p:nvPr/>
        </p:nvSpPr>
        <p:spPr>
          <a:xfrm>
            <a:off x="-105569" y="3254966"/>
            <a:ext cx="979238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短线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策略</a:t>
            </a:r>
          </a:p>
        </p:txBody>
      </p:sp>
      <p:sp>
        <p:nvSpPr>
          <p:cNvPr id="16" name="左大括号 15">
            <a:extLst>
              <a:ext uri="{FF2B5EF4-FFF2-40B4-BE49-F238E27FC236}">
                <a16:creationId xmlns:a16="http://schemas.microsoft.com/office/drawing/2014/main" id="{C352C5F8-70ED-F4F4-9797-0BC7F84455A1}"/>
              </a:ext>
            </a:extLst>
          </p:cNvPr>
          <p:cNvSpPr/>
          <p:nvPr/>
        </p:nvSpPr>
        <p:spPr>
          <a:xfrm>
            <a:off x="768100" y="3205528"/>
            <a:ext cx="540000" cy="861775"/>
          </a:xfrm>
          <a:prstGeom prst="leftBrace">
            <a:avLst>
              <a:gd name="adj1" fmla="val 9819"/>
              <a:gd name="adj2" fmla="val 48257"/>
            </a:avLst>
          </a:prstGeom>
          <a:solidFill>
            <a:schemeClr val="accent5">
              <a:lumMod val="40000"/>
              <a:lumOff val="60000"/>
            </a:schemeClr>
          </a:solidFill>
          <a:ln w="508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8DAB5897-D2FC-530C-A115-BBD70AFDA8DA}"/>
              </a:ext>
            </a:extLst>
          </p:cNvPr>
          <p:cNvGraphicFramePr>
            <a:graphicFrameLocks noGrp="1"/>
          </p:cNvGraphicFramePr>
          <p:nvPr/>
        </p:nvGraphicFramePr>
        <p:xfrm>
          <a:off x="6096000" y="720000"/>
          <a:ext cx="6096000" cy="6138000"/>
        </p:xfrm>
        <a:graphic>
          <a:graphicData uri="http://schemas.openxmlformats.org/drawingml/2006/table">
            <a:tbl>
              <a:tblPr firstRow="1" bandRow="1">
                <a:tableStyleId>{72833802-FEF1-4C79-8D5D-14CF1EAF98D9}</a:tableStyleId>
              </a:tblPr>
              <a:tblGrid>
                <a:gridCol w="6096000">
                  <a:extLst>
                    <a:ext uri="{9D8B030D-6E8A-4147-A177-3AD203B41FA5}">
                      <a16:colId xmlns:a16="http://schemas.microsoft.com/office/drawing/2014/main" val="1012344286"/>
                    </a:ext>
                  </a:extLst>
                </a:gridCol>
              </a:tblGrid>
              <a:tr h="239766">
                <a:tc>
                  <a:txBody>
                    <a:bodyPr/>
                    <a:lstStyle/>
                    <a:p>
                      <a:r>
                        <a:rPr lang="zh-CN" altLang="en-US" sz="900" dirty="0"/>
                        <a:t>原有策略汇总：可与现有策略比较后进行精简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9007456"/>
                  </a:ext>
                </a:extLst>
              </a:tr>
              <a:tr h="1678359">
                <a:tc>
                  <a:txBody>
                    <a:bodyPr/>
                    <a:lstStyle/>
                    <a:p>
                      <a:r>
                        <a:rPr lang="zh-CN" altLang="en-US" sz="900" b="1" dirty="0"/>
                        <a:t>必胜策略是</a:t>
                      </a:r>
                      <a:r>
                        <a:rPr lang="en-US" altLang="zh-CN" sz="900" b="1" dirty="0"/>
                        <a:t>WJC</a:t>
                      </a:r>
                      <a:r>
                        <a:rPr lang="zh-CN" altLang="en-US" sz="900" b="1" dirty="0"/>
                        <a:t>丘</a:t>
                      </a:r>
                    </a:p>
                    <a:p>
                      <a:r>
                        <a:rPr lang="zh-CN" altLang="en-US" sz="900" b="1" dirty="0"/>
                        <a:t>必胜策略①</a:t>
                      </a:r>
                      <a:r>
                        <a:rPr lang="en-US" altLang="zh-CN" sz="900" b="1" dirty="0"/>
                        <a:t>WXCD&gt;0</a:t>
                      </a:r>
                      <a:r>
                        <a:rPr lang="zh-CN" altLang="en-US" sz="900" b="1" dirty="0"/>
                        <a:t>且</a:t>
                      </a:r>
                      <a:r>
                        <a:rPr lang="en-US" altLang="zh-CN" sz="900" b="1" dirty="0"/>
                        <a:t>WXZD&gt;0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其他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周层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周横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周顶都只是提高效率，不要舍本逐末。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添加其它均线要追求多头排列扩展：</a:t>
                      </a:r>
                      <a:r>
                        <a:rPr lang="en-US" altLang="zh-CN" sz="900" dirty="0"/>
                        <a:t>WXCD&gt;0⇒WJBCD</a:t>
                      </a:r>
                      <a:r>
                        <a:rPr lang="zh-CN" altLang="en-US" sz="900" dirty="0"/>
                        <a:t>多头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不作</a:t>
                      </a:r>
                      <a:r>
                        <a:rPr lang="en-US" altLang="zh-CN" sz="900" dirty="0"/>
                        <a:t>WXCD</a:t>
                      </a:r>
                      <a:r>
                        <a:rPr lang="zh-CN" altLang="en-US" sz="900" dirty="0"/>
                        <a:t>劫，对所有劫</a:t>
                      </a:r>
                      <a:r>
                        <a:rPr lang="en-US" altLang="zh-CN" sz="900" dirty="0"/>
                        <a:t>(WXBC/WXCA/WXBA)</a:t>
                      </a:r>
                      <a:r>
                        <a:rPr lang="zh-CN" altLang="en-US" sz="900" dirty="0"/>
                        <a:t>都要谨慎，防止诱多。</a:t>
                      </a:r>
                    </a:p>
                    <a:p>
                      <a:r>
                        <a:rPr lang="zh-CN" altLang="en-US" sz="900" b="1" dirty="0"/>
                        <a:t>必胜策略②将</a:t>
                      </a:r>
                      <a:r>
                        <a:rPr lang="en-US" altLang="zh-CN" sz="900" b="1" dirty="0"/>
                        <a:t>WJC</a:t>
                      </a:r>
                      <a:r>
                        <a:rPr lang="zh-CN" altLang="en-US" sz="900" b="1" dirty="0"/>
                        <a:t>之上的下周冲高卖出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正做：找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升连</a:t>
                      </a:r>
                      <a:r>
                        <a:rPr lang="en-US" altLang="zh-CN" sz="900" dirty="0"/>
                        <a:t>(W</a:t>
                      </a:r>
                      <a:r>
                        <a:rPr lang="zh-CN" altLang="en-US" sz="900" dirty="0"/>
                        <a:t>哼</a:t>
                      </a:r>
                      <a:r>
                        <a:rPr lang="en-US" altLang="zh-CN" sz="900" dirty="0"/>
                        <a:t>JA</a:t>
                      </a:r>
                      <a:r>
                        <a:rPr lang="zh-CN" altLang="en-US" sz="900" dirty="0"/>
                        <a:t>管</a:t>
                      </a:r>
                      <a:r>
                        <a:rPr lang="en-US" altLang="zh-CN" sz="900" dirty="0"/>
                        <a:t>)/w2d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反做：找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跌连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跌吞</a:t>
                      </a:r>
                    </a:p>
                    <a:p>
                      <a:r>
                        <a:rPr lang="zh-CN" altLang="en-US" sz="900" b="1" dirty="0"/>
                        <a:t>必胜策略③将总高幅按顶拆分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寻找：可连续触顶推高顶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寻找：现在未触顶但有可能触顶（</a:t>
                      </a:r>
                      <a:r>
                        <a:rPr lang="en-US" altLang="zh-CN" sz="900" dirty="0"/>
                        <a:t>b</a:t>
                      </a:r>
                      <a:r>
                        <a:rPr lang="zh-CN" altLang="en-US" sz="900" dirty="0"/>
                        <a:t>龙或雀或虎）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64963376"/>
                  </a:ext>
                </a:extLst>
              </a:tr>
              <a:tr h="1678359">
                <a:tc>
                  <a:txBody>
                    <a:bodyPr/>
                    <a:lstStyle/>
                    <a:p>
                      <a:r>
                        <a:rPr lang="zh-CN" altLang="en-US" sz="900" b="1" dirty="0"/>
                        <a:t>必胜策略：  </a:t>
                      </a:r>
                      <a:r>
                        <a:rPr lang="en-US" altLang="zh-CN" sz="900" b="1" dirty="0"/>
                        <a:t>WXCD+WJC</a:t>
                      </a:r>
                      <a:r>
                        <a:rPr lang="zh-CN" altLang="en-US" sz="900" b="1" dirty="0"/>
                        <a:t>丘</a:t>
                      </a:r>
                      <a:r>
                        <a:rPr lang="en-US" altLang="zh-CN" sz="900" b="1" dirty="0"/>
                        <a:t>+</a:t>
                      </a:r>
                      <a:r>
                        <a:rPr lang="zh-CN" altLang="en-US" sz="900" b="1" dirty="0"/>
                        <a:t>舍顶</a:t>
                      </a:r>
                      <a:r>
                        <a:rPr lang="en-US" altLang="zh-CN" sz="900" b="1" dirty="0"/>
                        <a:t>+</a:t>
                      </a:r>
                      <a:r>
                        <a:rPr lang="zh-CN" altLang="en-US" sz="900" b="1" dirty="0"/>
                        <a:t>低吸高抛</a:t>
                      </a:r>
                    </a:p>
                    <a:p>
                      <a:pPr lvl="1"/>
                      <a:r>
                        <a:rPr lang="zh-CN" altLang="en-US" sz="900" dirty="0"/>
                        <a:t>①</a:t>
                      </a:r>
                      <a:r>
                        <a:rPr lang="en-US" altLang="zh-CN" sz="900" dirty="0"/>
                        <a:t>WXCD</a:t>
                      </a:r>
                      <a:r>
                        <a:rPr lang="zh-CN" altLang="en-US" sz="900" dirty="0"/>
                        <a:t>必胜</a:t>
                      </a:r>
                      <a:r>
                        <a:rPr lang="en-US" altLang="zh-CN" sz="900" dirty="0"/>
                        <a:t>+WJC</a:t>
                      </a:r>
                      <a:r>
                        <a:rPr lang="zh-CN" altLang="en-US" sz="900" dirty="0"/>
                        <a:t>丘精确进出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/>
                        <a:t>WJC</a:t>
                      </a:r>
                      <a:r>
                        <a:rPr lang="zh-CN" altLang="en-US" sz="900" dirty="0"/>
                        <a:t>丘优化： 触顶止盈</a:t>
                      </a:r>
                      <a:r>
                        <a:rPr lang="en-US" altLang="zh-CN" sz="900" dirty="0"/>
                        <a:t>+</a:t>
                      </a:r>
                      <a:r>
                        <a:rPr lang="zh-CN" altLang="en-US" sz="900" dirty="0"/>
                        <a:t>回落再入</a:t>
                      </a:r>
                    </a:p>
                    <a:p>
                      <a:pPr lvl="1"/>
                      <a:r>
                        <a:rPr lang="zh-CN" altLang="en-US" sz="900" dirty="0"/>
                        <a:t>②优化止损：</a:t>
                      </a:r>
                      <a:r>
                        <a:rPr lang="en-US" altLang="zh-CN" sz="900" dirty="0"/>
                        <a:t>WXZC&gt;0</a:t>
                      </a:r>
                      <a:r>
                        <a:rPr lang="zh-CN" altLang="en-US" sz="900" dirty="0"/>
                        <a:t>一般有</a:t>
                      </a:r>
                      <a:r>
                        <a:rPr lang="en-US" altLang="zh-CN" sz="900" dirty="0"/>
                        <a:t>WXBC&gt;0</a:t>
                      </a:r>
                      <a:r>
                        <a:rPr lang="zh-CN" altLang="en-US" sz="900" dirty="0"/>
                        <a:t>，破</a:t>
                      </a:r>
                      <a:r>
                        <a:rPr lang="en-US" altLang="zh-CN" sz="900" dirty="0"/>
                        <a:t>WJB</a:t>
                      </a:r>
                      <a:r>
                        <a:rPr lang="zh-CN" altLang="en-US" sz="900" dirty="0"/>
                        <a:t>退可避免</a:t>
                      </a:r>
                      <a:r>
                        <a:rPr lang="en-US" altLang="zh-CN" sz="900" dirty="0"/>
                        <a:t>(JB,JC)</a:t>
                      </a:r>
                      <a:r>
                        <a:rPr lang="zh-CN" altLang="en-US" sz="900" dirty="0"/>
                        <a:t>区间跌幅 ⇒ 因</a:t>
                      </a:r>
                      <a:r>
                        <a:rPr lang="en-US" altLang="zh-CN" sz="900" dirty="0"/>
                        <a:t>WXBC&gt;0</a:t>
                      </a:r>
                      <a:r>
                        <a:rPr lang="zh-CN" altLang="en-US" sz="900" dirty="0"/>
                        <a:t>优化了</a:t>
                      </a:r>
                      <a:r>
                        <a:rPr lang="en-US" altLang="zh-CN" sz="900" dirty="0"/>
                        <a:t>WJC</a:t>
                      </a:r>
                      <a:r>
                        <a:rPr lang="zh-CN" altLang="en-US" sz="900" dirty="0"/>
                        <a:t>丘，但再次站上</a:t>
                      </a:r>
                      <a:r>
                        <a:rPr lang="en-US" altLang="zh-CN" sz="900" dirty="0"/>
                        <a:t>WJB</a:t>
                      </a:r>
                      <a:r>
                        <a:rPr lang="zh-CN" altLang="en-US" sz="900" dirty="0"/>
                        <a:t>要再择机进入。下破</a:t>
                      </a:r>
                      <a:r>
                        <a:rPr lang="en-US" altLang="zh-CN" sz="900" dirty="0"/>
                        <a:t>WJB</a:t>
                      </a:r>
                      <a:r>
                        <a:rPr lang="zh-CN" altLang="en-US" sz="900" dirty="0"/>
                        <a:t>时可先退出，如有阳柱或站上</a:t>
                      </a:r>
                      <a:r>
                        <a:rPr lang="en-US" altLang="zh-CN" sz="900" dirty="0"/>
                        <a:t>WJB</a:t>
                      </a:r>
                      <a:r>
                        <a:rPr lang="zh-CN" altLang="en-US" sz="900" dirty="0"/>
                        <a:t>可再介入。</a:t>
                      </a:r>
                    </a:p>
                    <a:p>
                      <a:pPr lvl="1"/>
                      <a:r>
                        <a:rPr lang="zh-CN" altLang="en-US" sz="900" dirty="0"/>
                        <a:t>③优化粒：当</a:t>
                      </a:r>
                      <a:r>
                        <a:rPr lang="en-US" altLang="zh-CN" sz="900" dirty="0"/>
                        <a:t>WXCD&gt;0</a:t>
                      </a:r>
                      <a:r>
                        <a:rPr lang="zh-CN" altLang="en-US" sz="900" dirty="0"/>
                        <a:t>且 </a:t>
                      </a:r>
                      <a:r>
                        <a:rPr lang="en-US" altLang="zh-CN" sz="900" dirty="0"/>
                        <a:t>WXBC&gt;0</a:t>
                      </a:r>
                      <a:r>
                        <a:rPr lang="zh-CN" altLang="en-US" sz="900" dirty="0"/>
                        <a:t>且</a:t>
                      </a:r>
                      <a:r>
                        <a:rPr lang="en-US" altLang="zh-CN" sz="900" dirty="0"/>
                        <a:t>WJB</a:t>
                      </a:r>
                      <a:r>
                        <a:rPr lang="zh-CN" altLang="en-US" sz="900" dirty="0"/>
                        <a:t>之上， </a:t>
                      </a:r>
                      <a:r>
                        <a:rPr lang="en-US" altLang="zh-CN" sz="900" dirty="0"/>
                        <a:t>(</a:t>
                      </a:r>
                      <a:r>
                        <a:rPr lang="zh-CN" altLang="en-US" sz="900" dirty="0"/>
                        <a:t>针对粒</a:t>
                      </a:r>
                      <a:r>
                        <a:rPr lang="en-US" altLang="zh-CN" sz="900" dirty="0"/>
                        <a:t>)</a:t>
                      </a:r>
                      <a:r>
                        <a:rPr lang="zh-CN" altLang="en-US" sz="900" dirty="0"/>
                        <a:t>要有并符配合确认此机会（大阴柱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升吞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升连）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在</a:t>
                      </a:r>
                      <a:r>
                        <a:rPr lang="en-US" altLang="zh-CN" sz="900" dirty="0"/>
                        <a:t>WJA</a:t>
                      </a:r>
                      <a:r>
                        <a:rPr lang="zh-CN" altLang="en-US" sz="900" dirty="0"/>
                        <a:t>之下进入</a:t>
                      </a:r>
                      <a:r>
                        <a:rPr lang="en-US" altLang="zh-CN" sz="900" dirty="0"/>
                        <a:t>(</a:t>
                      </a:r>
                      <a:r>
                        <a:rPr lang="zh-CN" altLang="en-US" sz="900" dirty="0"/>
                        <a:t>利用哈</a:t>
                      </a:r>
                      <a:r>
                        <a:rPr lang="en-US" altLang="zh-CN" sz="900" dirty="0"/>
                        <a:t>WJA</a:t>
                      </a:r>
                      <a:r>
                        <a:rPr lang="zh-CN" altLang="en-US" sz="900" dirty="0"/>
                        <a:t>管</a:t>
                      </a:r>
                      <a:r>
                        <a:rPr lang="en-US" altLang="zh-CN" sz="900" dirty="0"/>
                        <a:t>)</a:t>
                      </a:r>
                      <a:r>
                        <a:rPr lang="zh-CN" altLang="en-US" sz="900" dirty="0"/>
                        <a:t>，等站</a:t>
                      </a:r>
                      <a:r>
                        <a:rPr lang="en-US" altLang="zh-CN" sz="900" dirty="0"/>
                        <a:t>JA</a:t>
                      </a:r>
                      <a:r>
                        <a:rPr lang="zh-CN" altLang="en-US" sz="900" dirty="0"/>
                        <a:t>触顶退出 ⇒低吸高抛法则</a:t>
                      </a:r>
                      <a:r>
                        <a:rPr lang="en-US" altLang="zh-CN" sz="900" dirty="0">
                          <a:solidFill>
                            <a:srgbClr val="C00000"/>
                          </a:solidFill>
                        </a:rPr>
                        <a:t>(</a:t>
                      </a:r>
                      <a:r>
                        <a:rPr lang="zh-CN" altLang="en-US" sz="900" dirty="0">
                          <a:solidFill>
                            <a:srgbClr val="C00000"/>
                          </a:solidFill>
                        </a:rPr>
                        <a:t>忽略了大势，弃此方法，要关注与</a:t>
                      </a:r>
                      <a:r>
                        <a:rPr lang="en-US" altLang="zh-CN" sz="900" dirty="0">
                          <a:solidFill>
                            <a:srgbClr val="C00000"/>
                          </a:solidFill>
                        </a:rPr>
                        <a:t>WJC</a:t>
                      </a:r>
                      <a:r>
                        <a:rPr lang="zh-CN" altLang="en-US" sz="900" dirty="0">
                          <a:solidFill>
                            <a:srgbClr val="C00000"/>
                          </a:solidFill>
                        </a:rPr>
                        <a:t>大波动</a:t>
                      </a:r>
                      <a:r>
                        <a:rPr lang="en-US" altLang="zh-CN" sz="900" dirty="0">
                          <a:solidFill>
                            <a:srgbClr val="C00000"/>
                          </a:solidFill>
                        </a:rPr>
                        <a:t>)</a:t>
                      </a:r>
                    </a:p>
                    <a:p>
                      <a:pPr lvl="1"/>
                      <a:r>
                        <a:rPr lang="en-US" altLang="zh-CN" sz="900" dirty="0"/>
                        <a:t>④</a:t>
                      </a:r>
                      <a:r>
                        <a:rPr lang="zh-CN" altLang="en-US" sz="900" dirty="0"/>
                        <a:t>优化管：正常持有进入管</a:t>
                      </a:r>
                      <a:r>
                        <a:rPr lang="en-US" altLang="zh-CN" sz="900" dirty="0"/>
                        <a:t>A5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向上出一半：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连阳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巨宽龙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管内交错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破</a:t>
                      </a:r>
                      <a:r>
                        <a:rPr lang="en-US" altLang="zh-CN" sz="900" dirty="0"/>
                        <a:t>WJA</a:t>
                      </a:r>
                      <a:r>
                        <a:rPr lang="zh-CN" altLang="en-US" sz="900" dirty="0"/>
                        <a:t>：出一半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90377042"/>
                  </a:ext>
                </a:extLst>
              </a:tr>
              <a:tr h="2541516">
                <a:tc>
                  <a:txBody>
                    <a:bodyPr/>
                    <a:lstStyle/>
                    <a:p>
                      <a:r>
                        <a:rPr lang="zh-CN" altLang="en-US" sz="900" b="1" dirty="0"/>
                        <a:t>操盘策略：应对陷阱</a:t>
                      </a:r>
                      <a:r>
                        <a:rPr lang="en-US" altLang="zh-CN" sz="900" b="1" dirty="0"/>
                        <a:t>A2</a:t>
                      </a:r>
                      <a:r>
                        <a:rPr lang="zh-CN" altLang="en-US" sz="900" b="1" dirty="0"/>
                        <a:t>粒</a:t>
                      </a:r>
                      <a:r>
                        <a:rPr lang="en-US" altLang="zh-CN" sz="900" b="1" dirty="0"/>
                        <a:t>(</a:t>
                      </a:r>
                      <a:r>
                        <a:rPr lang="zh-CN" altLang="en-US" sz="900" b="1" dirty="0"/>
                        <a:t>非</a:t>
                      </a:r>
                      <a:r>
                        <a:rPr lang="en-US" altLang="zh-CN" sz="900" b="1" dirty="0"/>
                        <a:t>A5</a:t>
                      </a:r>
                      <a:r>
                        <a:rPr lang="zh-CN" altLang="en-US" sz="900" b="1" dirty="0"/>
                        <a:t>管</a:t>
                      </a:r>
                      <a:r>
                        <a:rPr lang="en-US" altLang="zh-CN" sz="900" b="1" dirty="0"/>
                        <a:t>)</a:t>
                      </a:r>
                    </a:p>
                    <a:p>
                      <a:r>
                        <a:rPr lang="zh-CN" altLang="en-US" sz="900" b="1" dirty="0"/>
                        <a:t>核心要义</a:t>
                      </a:r>
                      <a:r>
                        <a:rPr lang="en-US" altLang="zh-CN" sz="900" b="1" dirty="0"/>
                        <a:t>:</a:t>
                      </a:r>
                      <a:endParaRPr lang="zh-CN" altLang="en-US" sz="900" b="1" dirty="0"/>
                    </a:p>
                    <a:p>
                      <a:pPr lvl="1"/>
                      <a:r>
                        <a:rPr lang="zh-CN" altLang="en-US" sz="900" dirty="0"/>
                        <a:t>①只以</a:t>
                      </a:r>
                      <a:r>
                        <a:rPr lang="en-US" altLang="zh-CN" sz="900" dirty="0"/>
                        <a:t>WJC</a:t>
                      </a:r>
                      <a:r>
                        <a:rPr lang="zh-CN" altLang="en-US" sz="900" dirty="0"/>
                        <a:t>为丘，千万不要把次级均线</a:t>
                      </a:r>
                      <a:r>
                        <a:rPr lang="en-US" altLang="zh-CN" sz="900" dirty="0"/>
                        <a:t>WJB/WJA</a:t>
                      </a:r>
                      <a:r>
                        <a:rPr lang="zh-CN" altLang="en-US" sz="900" dirty="0"/>
                        <a:t>当作权重线，不要以</a:t>
                      </a:r>
                      <a:r>
                        <a:rPr lang="en-US" altLang="zh-CN" sz="900" dirty="0"/>
                        <a:t>WJB/WJA</a:t>
                      </a:r>
                      <a:r>
                        <a:rPr lang="zh-CN" altLang="en-US" sz="900" dirty="0"/>
                        <a:t>进入或退出，而应根据均线下入上出。</a:t>
                      </a:r>
                    </a:p>
                    <a:p>
                      <a:pPr lvl="1"/>
                      <a:r>
                        <a:rPr lang="zh-CN" altLang="en-US" sz="900" dirty="0"/>
                        <a:t>②破</a:t>
                      </a:r>
                      <a:r>
                        <a:rPr lang="en-US" altLang="zh-CN" sz="900" dirty="0"/>
                        <a:t>WJA</a:t>
                      </a:r>
                      <a:r>
                        <a:rPr lang="zh-CN" altLang="en-US" sz="900" dirty="0"/>
                        <a:t>时，只要不是从冲高而来，就可以根据</a:t>
                      </a:r>
                      <a:r>
                        <a:rPr lang="en-US" altLang="zh-CN" sz="900" dirty="0"/>
                        <a:t>WXCD&gt;0</a:t>
                      </a:r>
                      <a:r>
                        <a:rPr lang="zh-CN" altLang="en-US" sz="900" dirty="0"/>
                        <a:t>进行持仓</a:t>
                      </a:r>
                      <a:r>
                        <a:rPr lang="en-US" altLang="zh-CN" sz="900" dirty="0"/>
                        <a:t>(</a:t>
                      </a:r>
                      <a:r>
                        <a:rPr lang="zh-CN" altLang="en-US" sz="900" dirty="0"/>
                        <a:t>但破</a:t>
                      </a:r>
                      <a:r>
                        <a:rPr lang="en-US" altLang="zh-CN" sz="900" dirty="0"/>
                        <a:t>WJD</a:t>
                      </a:r>
                      <a:r>
                        <a:rPr lang="zh-CN" altLang="en-US" sz="900" dirty="0"/>
                        <a:t>一定要清仓</a:t>
                      </a:r>
                      <a:r>
                        <a:rPr lang="en-US" altLang="zh-CN" sz="900" dirty="0"/>
                        <a:t>)</a:t>
                      </a:r>
                      <a:r>
                        <a:rPr lang="zh-CN" altLang="en-US" sz="900" dirty="0"/>
                        <a:t>。</a:t>
                      </a:r>
                    </a:p>
                    <a:p>
                      <a:pPr lvl="1"/>
                      <a:r>
                        <a:rPr lang="zh-CN" altLang="en-US" sz="900" dirty="0"/>
                        <a:t>③凡不是连阴整齐排列，而是阴阳交错，后续可能还有行情机会。</a:t>
                      </a:r>
                      <a:endParaRPr lang="zh-CN" altLang="en-US" sz="900" b="1" dirty="0"/>
                    </a:p>
                    <a:p>
                      <a:r>
                        <a:rPr lang="zh-CN" altLang="en-US" sz="900" b="1" dirty="0"/>
                        <a:t>操作转换：</a:t>
                      </a:r>
                      <a:endParaRPr lang="en-US" altLang="zh-CN" sz="900" b="1" dirty="0"/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/>
                        <a:t>原方法：</a:t>
                      </a:r>
                      <a:r>
                        <a:rPr lang="zh-CN" altLang="en-US" sz="900" dirty="0"/>
                        <a:t>以</a:t>
                      </a:r>
                      <a:r>
                        <a:rPr lang="en-US" altLang="zh-CN" sz="900" dirty="0"/>
                        <a:t>WJA</a:t>
                      </a:r>
                      <a:r>
                        <a:rPr lang="zh-CN" altLang="en-US" sz="900" dirty="0"/>
                        <a:t>为丘精确进出</a:t>
                      </a:r>
                      <a:r>
                        <a:rPr lang="en-US" altLang="zh-CN" sz="900" dirty="0"/>
                        <a:t>(</a:t>
                      </a:r>
                      <a:r>
                        <a:rPr lang="zh-CN" altLang="en-US" sz="900" dirty="0"/>
                        <a:t>根据</a:t>
                      </a:r>
                      <a:r>
                        <a:rPr lang="en-US" altLang="zh-CN" sz="900" dirty="0"/>
                        <a:t>WJA</a:t>
                      </a:r>
                      <a:r>
                        <a:rPr lang="zh-CN" altLang="en-US" sz="900" dirty="0"/>
                        <a:t>突入破出</a:t>
                      </a:r>
                      <a:r>
                        <a:rPr lang="en-US" altLang="zh-CN" sz="900" dirty="0"/>
                        <a:t>)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/>
                        <a:t>新方法：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/>
                        <a:t>已冲高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在触顶时退出高抛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在下破</a:t>
                      </a:r>
                      <a:r>
                        <a:rPr lang="en-US" altLang="zh-CN" sz="900" dirty="0"/>
                        <a:t>WJA</a:t>
                      </a:r>
                      <a:r>
                        <a:rPr lang="zh-CN" altLang="en-US" sz="900" dirty="0"/>
                        <a:t>进入</a:t>
                      </a:r>
                      <a:r>
                        <a:rPr lang="en-US" altLang="zh-CN" sz="900" dirty="0"/>
                        <a:t>(WJA</a:t>
                      </a:r>
                      <a:r>
                        <a:rPr lang="zh-CN" altLang="en-US" sz="900" dirty="0"/>
                        <a:t>之下阳柱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价上顶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止跌阴柱</a:t>
                      </a:r>
                      <a:r>
                        <a:rPr lang="en-US" altLang="zh-CN" sz="900" dirty="0"/>
                        <a:t>)</a:t>
                      </a:r>
                      <a:r>
                        <a:rPr lang="zh-CN" altLang="en-US" sz="900" dirty="0"/>
                        <a:t>或并符</a:t>
                      </a:r>
                      <a:r>
                        <a:rPr lang="en-US" altLang="zh-CN" sz="900" dirty="0"/>
                        <a:t>(</a:t>
                      </a:r>
                      <a:r>
                        <a:rPr lang="zh-CN" altLang="en-US" sz="900" dirty="0"/>
                        <a:t>升吞</a:t>
                      </a:r>
                      <a:r>
                        <a:rPr lang="en-US" altLang="zh-CN" sz="900" dirty="0"/>
                        <a:t>/</a:t>
                      </a:r>
                      <a:r>
                        <a:rPr lang="zh-CN" altLang="en-US" sz="900" dirty="0"/>
                        <a:t>升连</a:t>
                      </a:r>
                      <a:r>
                        <a:rPr lang="en-US" altLang="zh-CN" sz="900" dirty="0"/>
                        <a:t>)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低吸高抛是必胜法则 </a:t>
                      </a:r>
                      <a:r>
                        <a:rPr lang="en-US" altLang="zh-CN" sz="900" dirty="0"/>
                        <a:t>(</a:t>
                      </a:r>
                      <a:r>
                        <a:rPr lang="zh-CN" altLang="en-US" sz="900" dirty="0"/>
                        <a:t>根据均线</a:t>
                      </a:r>
                      <a:r>
                        <a:rPr lang="en-US" altLang="zh-CN" sz="900" dirty="0"/>
                        <a:t>WJA</a:t>
                      </a:r>
                      <a:r>
                        <a:rPr lang="zh-CN" altLang="en-US" sz="900" dirty="0"/>
                        <a:t>下买上卖</a:t>
                      </a:r>
                      <a:r>
                        <a:rPr lang="en-US" altLang="zh-CN" sz="900" dirty="0"/>
                        <a:t>)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/>
                        <a:t>未冲高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下破</a:t>
                      </a:r>
                      <a:r>
                        <a:rPr lang="en-US" altLang="zh-CN" sz="900" dirty="0"/>
                        <a:t>WJA</a:t>
                      </a:r>
                      <a:r>
                        <a:rPr lang="zh-CN" altLang="en-US" sz="900" dirty="0"/>
                        <a:t>前如未冲高，则可在下破</a:t>
                      </a:r>
                      <a:r>
                        <a:rPr lang="en-US" altLang="zh-CN" sz="900" dirty="0"/>
                        <a:t>WJA</a:t>
                      </a:r>
                      <a:r>
                        <a:rPr lang="zh-CN" altLang="en-US" sz="900" dirty="0"/>
                        <a:t>后不卖出，以</a:t>
                      </a:r>
                      <a:r>
                        <a:rPr lang="en-US" altLang="zh-CN" sz="900" dirty="0"/>
                        <a:t>WJC</a:t>
                      </a:r>
                      <a:r>
                        <a:rPr lang="zh-CN" altLang="en-US" sz="900" dirty="0"/>
                        <a:t>丘为准，等待反弹。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后续如站上</a:t>
                      </a:r>
                      <a:r>
                        <a:rPr lang="en-US" altLang="zh-CN" sz="900" dirty="0"/>
                        <a:t>WJA</a:t>
                      </a:r>
                      <a:r>
                        <a:rPr lang="zh-CN" altLang="en-US" sz="900" dirty="0"/>
                        <a:t>：可卖出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后续如下破</a:t>
                      </a:r>
                      <a:r>
                        <a:rPr lang="en-US" altLang="zh-CN" sz="900" dirty="0"/>
                        <a:t>WJC</a:t>
                      </a:r>
                      <a:r>
                        <a:rPr lang="zh-CN" altLang="en-US" sz="900" dirty="0"/>
                        <a:t>：可清仓，也可在</a:t>
                      </a:r>
                      <a:r>
                        <a:rPr lang="en-US" altLang="zh-CN" sz="900" dirty="0"/>
                        <a:t>WJB</a:t>
                      </a:r>
                      <a:r>
                        <a:rPr lang="zh-CN" altLang="en-US" sz="900" dirty="0"/>
                        <a:t>处先退出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1353123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33296463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5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7712344-C705-F5D9-C80C-F7855B886E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58A5A68-5D20-CCB1-9B4C-712BF0AADE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52999" y="365125"/>
            <a:ext cx="6910137" cy="1612762"/>
          </a:xfrm>
        </p:spPr>
        <p:txBody>
          <a:bodyPr>
            <a:normAutofit fontScale="90000"/>
          </a:bodyPr>
          <a:lstStyle/>
          <a:p>
            <a:r>
              <a:rPr lang="zh-CN" altLang="en-US" sz="4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日丘优化</a:t>
            </a:r>
            <a:br>
              <a:rPr lang="en-US" altLang="zh-CN" sz="4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本章主题：能否用日丘优化</a:t>
            </a:r>
            <a:r>
              <a:rPr lang="en-US" altLang="zh-CN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替代</a:t>
            </a:r>
            <a:r>
              <a:rPr lang="en-US" altLang="zh-CN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作为止损线？</a:t>
            </a:r>
            <a:b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1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结论是日丘优化仅限于理论推导，不具有实操性；日类只能用于确定介入点。</a:t>
            </a:r>
            <a:b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主要讨论以下问题：</a:t>
            </a:r>
            <a:br>
              <a:rPr lang="en-US" altLang="zh-CN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）替待的可行性：是否具有</a:t>
            </a:r>
            <a:r>
              <a:rPr lang="en-US" altLang="zh-CN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丘必赢的效果。</a:t>
            </a:r>
            <a:b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）替代的完整性：确保如何不踏空，从而吃到所有涨幅。</a:t>
            </a:r>
            <a:b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）替代的优越性：只有在周主升与日主升共振时，才可能参考</a:t>
            </a:r>
            <a:r>
              <a:rPr lang="en-US" altLang="zh-CN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止损。</a:t>
            </a:r>
            <a:b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）镜面对称原则：在下跌趋势中，不能依赖日级别均线判定转升。</a:t>
            </a:r>
            <a:b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endParaRPr lang="zh-CN" altLang="en-US" sz="11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C2B4D7B2-898D-E04F-455C-C8947BAB52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53000" y="2238103"/>
            <a:ext cx="6400800" cy="3938860"/>
          </a:xfrm>
        </p:spPr>
        <p:txBody>
          <a:bodyPr>
            <a:normAutofit/>
          </a:bodyPr>
          <a:lstStyle/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如何利用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可获利升势区域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设计算法优化路径？</a:t>
            </a: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算法优化路径与辅助工具</a:t>
            </a: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算法优化的替代完整性</a:t>
            </a: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导致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丘损失的操作是什么？</a:t>
            </a: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算法优化链条的注意事项</a:t>
            </a: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日类算法比较</a:t>
            </a: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日类操盘方法总页</a:t>
            </a: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日类稳升状态操作法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26EC88DD-7B62-6911-0E1C-1A624B59B8C3}"/>
              </a:ext>
            </a:extLst>
          </p:cNvPr>
          <p:cNvSpPr txBox="1"/>
          <p:nvPr/>
        </p:nvSpPr>
        <p:spPr>
          <a:xfrm>
            <a:off x="999122" y="1690688"/>
            <a:ext cx="2867025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0" dirty="0">
                <a:solidFill>
                  <a:schemeClr val="tx2">
                    <a:lumMod val="75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日</a:t>
            </a: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6CC018F1-EA5E-9F93-D89C-78418DBACC4D}"/>
              </a:ext>
            </a:extLst>
          </p:cNvPr>
          <p:cNvSpPr txBox="1"/>
          <p:nvPr/>
        </p:nvSpPr>
        <p:spPr>
          <a:xfrm>
            <a:off x="0" y="0"/>
            <a:ext cx="4036695" cy="1815882"/>
          </a:xfrm>
          <a:prstGeom prst="rect">
            <a:avLst/>
          </a:prstGeom>
          <a:solidFill>
            <a:srgbClr val="FF99CC"/>
          </a:solidFill>
        </p:spPr>
        <p:txBody>
          <a:bodyPr wrap="square">
            <a:spAutoFit/>
          </a:bodyPr>
          <a:lstStyle/>
          <a:p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废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】《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日丘优化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将所有“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必赢”“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DJE&amp;DJC&amp;DJB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必赢”，凡是主张按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以下低阶均线精确进出的日丘优化，归入此章。此类属于仅存在于理论推导，但实际操作过程中不但会造成交易摩擦损失，而且会错失“周主升”的歪门邪路。（注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20260220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，应废弃此类算法，无实际操作的可行性）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963D689A-6ACC-3F12-F3F0-3818016EBCCD}"/>
              </a:ext>
            </a:extLst>
          </p:cNvPr>
          <p:cNvSpPr txBox="1"/>
          <p:nvPr/>
        </p:nvSpPr>
        <p:spPr>
          <a:xfrm>
            <a:off x="2477193" y="5511338"/>
            <a:ext cx="849347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200" b="1" dirty="0">
                <a:solidFill>
                  <a:srgbClr val="FF0000"/>
                </a:solidFill>
              </a:rPr>
              <a:t>思考：应对</a:t>
            </a:r>
            <a:r>
              <a:rPr lang="en-US" altLang="zh-CN" sz="3200" b="1" dirty="0">
                <a:solidFill>
                  <a:srgbClr val="FF0000"/>
                </a:solidFill>
              </a:rPr>
              <a:t>WXAB</a:t>
            </a:r>
            <a:r>
              <a:rPr lang="zh-CN" altLang="en-US" sz="3200" b="1" dirty="0">
                <a:solidFill>
                  <a:srgbClr val="FF0000"/>
                </a:solidFill>
              </a:rPr>
              <a:t>与</a:t>
            </a:r>
            <a:r>
              <a:rPr lang="en-US" altLang="zh-CN" sz="3200" b="1" dirty="0">
                <a:solidFill>
                  <a:srgbClr val="FF0000"/>
                </a:solidFill>
              </a:rPr>
              <a:t>DXAB</a:t>
            </a:r>
            <a:r>
              <a:rPr lang="zh-CN" altLang="en-US" sz="3200" b="1" dirty="0">
                <a:solidFill>
                  <a:srgbClr val="FF0000"/>
                </a:solidFill>
              </a:rPr>
              <a:t>的共振：</a:t>
            </a:r>
            <a:r>
              <a:rPr lang="en-US" altLang="zh-CN" sz="3200" b="1" dirty="0">
                <a:solidFill>
                  <a:srgbClr val="FF0000"/>
                </a:solidFill>
              </a:rPr>
              <a:t>DXCD&amp;DXAB</a:t>
            </a:r>
            <a:endParaRPr lang="zh-CN" altLang="en-US" sz="32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6178325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E8EE41-6F5F-9E37-9D20-CF9C8DC4F6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2973325-68DD-B058-D801-EB7A475BB7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日丘优化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思路：如何利用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可获利升势区域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设计算法优化路径？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核心思想：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在原旨必赢算法基础上，逐渐优化算法，使得收益增加而非减少。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74B9D408-3BCD-5944-7648-51376A913CD4}"/>
              </a:ext>
            </a:extLst>
          </p:cNvPr>
          <p:cNvSpPr/>
          <p:nvPr/>
        </p:nvSpPr>
        <p:spPr>
          <a:xfrm>
            <a:off x="0" y="2082148"/>
            <a:ext cx="12192000" cy="756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必赢原旨算法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为丘。依据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数学特性，是必赢算法。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必赢周级优化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在原旨算法基础上，以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为丘。依据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数学特性，是必赢算法。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仓位控制要点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在存在诱多情况下减少底仓。包含：月级诱多（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DXCE&lt;0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）；周级诱多（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DXCD&lt;0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设置绝对止损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之下不保留任何仓位，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破了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就相当于破了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金身。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唯一例外，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时可以考虑在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/D6w/D6v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提前介入。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保持周线视角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一定要能够在日线图中看到周柱，要把当周五柱看做一个完整周柱。可能先升后降，也可能先降后升。以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为界，以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为托，以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为阴阳分界线。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0D5E365B-CA85-9420-B0A0-F09D5E1F8AD1}"/>
              </a:ext>
            </a:extLst>
          </p:cNvPr>
          <p:cNvSpPr/>
          <p:nvPr/>
        </p:nvSpPr>
        <p:spPr>
          <a:xfrm>
            <a:off x="0" y="2823412"/>
            <a:ext cx="12192000" cy="1548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日级优化的目标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此优化的核心思想是在以上必胜算法基础上，提高收益，而非降低收益。</a:t>
            </a:r>
          </a:p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日级优化策略：所依据的公理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在优化过程中可依赖以下已证明公理。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【EMA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数学特性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如按此公理，则要求按照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的次级均线（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DJB/DJA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）进行频繁操作，由于日级均线具有较大不确定性，此方法不适用。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可获利升势区域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绝大部分可获利升势都在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之上，从而限制只在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之上介入。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丘的不坏金身原则</a:t>
            </a:r>
            <a:r>
              <a:rPr lang="en-US" altLang="zh-CN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下破了低阶均线后不能再坚持（以高阶均线为丘），也就是破了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后不能仍然坚持按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丘或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丘操作，因为已经破了高阶丘的不坏金身。</a:t>
            </a:r>
            <a:endParaRPr lang="en-US" altLang="zh-CN" sz="8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）破了低阶丘，代表已经是回归丘，已经没有了支撑力，要等待再次上穿某条均线才能再次做丘；说明：破了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就意味着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丘破身，破了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就意味着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丘破身。</a:t>
            </a:r>
            <a:endParaRPr lang="en-US" altLang="zh-CN" sz="8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）刚被穿的均线才有力量，如果刚下破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，就要首要考虑向下的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丘。而且，刚被破的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比未破的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更具有力量。</a:t>
            </a:r>
            <a:endParaRPr lang="en-US" altLang="zh-CN" sz="8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的支撑作用。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会对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线产生反弹，但反弹多高并不确定，可以等待第二柱进行确认。</a:t>
            </a:r>
            <a:endParaRPr lang="en-US" altLang="zh-CN" sz="8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冲高止盈原则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之上有最多上升的概率，从而应允许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之上仓位的变化。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包括：（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）可止盈减仓；（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）除非极端巨阳，必须保留足够底仓。（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）回落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且劫恢复后可补齐仓位，但仅阴柱回落后不应加仓（因为属于劫，要等劫恢复后再操作）。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中途加仓陷阱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丘中途，依据形态加仓后走坏止损，是破坏必胜算法的主要原因。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对策是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：（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1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）不买阳柱；（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）分步减仓；（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）依赖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丘，借助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护型，在上穿处精确介入，而不在中途介入，即只做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丘，或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丘（下柱冲高就出，不长期持有）。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1DBE8A27-6B15-8783-8231-1D083E4BE921}"/>
              </a:ext>
            </a:extLst>
          </p:cNvPr>
          <p:cNvSpPr/>
          <p:nvPr/>
        </p:nvSpPr>
        <p:spPr>
          <a:xfrm>
            <a:off x="2849" y="4373758"/>
            <a:ext cx="12192000" cy="2484000"/>
          </a:xfrm>
          <a:prstGeom prst="rect">
            <a:avLst/>
          </a:prstGeom>
          <a:solidFill>
            <a:srgbClr val="A9D18E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日级优化的困扰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核心问题：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能否对（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恒仓策略）进行日级别优化，即增加收益？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核心结论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日类优化仅限于止盈而非止损。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日类须遵从周类操作要点：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与周类算法保持一致：破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退出（日类可优化为破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退出）。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正交；上破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双柱。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辅助护线的级别与作用：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）地位：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操作规则的核心龙骨。其他辅助护线只可增强信心，不可用作止损线。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DXBC/DXAB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护线作用：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坚决不能作为止损依据；满足（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DJD-DJC-DJB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）多头排列时增强信心；不满足多头排列时仅警示不止损，且仅按照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进行操作。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困扰：退出条件模糊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如果严格按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作为进出点，则在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之上可以安心持有。正因为加入日级优化条件企图增加收益，导致时刻需要考虑是否提前退出。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应对方法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Wingdings" panose="05000000000000000000" pitchFamily="2" charset="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1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）仅精确按照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作为进出点，相当于关注（顶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）管，对应于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上周柱排列。重点考察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[DS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JC]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不要太大。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）增加其他方法不要破坏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操作逻辑：如从上破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介入直至下破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退出，退出后不再介入（可提高收益但会踏空后续涨幅）。此模式相当于（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护型）。         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）现有（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DJE+DJC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丘）能否被（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阳柱卖）模式替代并优化？（阳柱卖）可能会踏空后续升势。</a:t>
            </a:r>
            <a:r>
              <a:rPr lang="en-US" altLang="zh-CN" sz="8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）现有（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DJE+DJC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丘）能否被（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护型）模式替代并优化？利用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放射状护型。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/DXBC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/DXAB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/DXAC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可以利用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护型应对。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/DXZB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/DXZA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也可以参考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护型，但要在确保站稳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后介入。避免进入围绕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震荡区域（后续专页展开），尽量不要在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丘中间介入，选择继鼎或上破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时介入。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如何判断超升：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可以将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DSHA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DSAB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比较，与判断冲高的标准（宽偏连）实际上是统一的。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如何判断护型失效：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合顶非升排（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跌排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跌吞）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离顶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阴柱下破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后升孕（包含鼎情况）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多柱下破）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围绕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如何处理下破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可以在下破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时先退出等站上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再择机进入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可等下破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两柱退出（此为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20250522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前指定的策略，但现有策略是按周类止损，对于仅下破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是被动持有不止损）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）根据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丘弧型分别设置提前退出规则。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针对不同弧型设置不同见顶标志：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详见专页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弧型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2"/>
            <a:endParaRPr lang="en-US" altLang="zh-CN" sz="800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8" name="组合 17">
            <a:extLst>
              <a:ext uri="{FF2B5EF4-FFF2-40B4-BE49-F238E27FC236}">
                <a16:creationId xmlns:a16="http://schemas.microsoft.com/office/drawing/2014/main" id="{2C523D34-2109-F57B-DC84-50291D54561E}"/>
              </a:ext>
            </a:extLst>
          </p:cNvPr>
          <p:cNvGrpSpPr/>
          <p:nvPr/>
        </p:nvGrpSpPr>
        <p:grpSpPr>
          <a:xfrm>
            <a:off x="10697114" y="3389972"/>
            <a:ext cx="1443760" cy="927766"/>
            <a:chOff x="11309684" y="4382171"/>
            <a:chExt cx="1443760" cy="927766"/>
          </a:xfrm>
        </p:grpSpPr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BF461232-6C36-B825-0B7E-CEB34A2A2A95}"/>
                </a:ext>
              </a:extLst>
            </p:cNvPr>
            <p:cNvSpPr/>
            <p:nvPr/>
          </p:nvSpPr>
          <p:spPr>
            <a:xfrm>
              <a:off x="11333747" y="4932947"/>
              <a:ext cx="1034716" cy="320842"/>
            </a:xfrm>
            <a:custGeom>
              <a:avLst/>
              <a:gdLst>
                <a:gd name="connsiteX0" fmla="*/ 0 w 1034716"/>
                <a:gd name="connsiteY0" fmla="*/ 320842 h 320842"/>
                <a:gd name="connsiteX1" fmla="*/ 1034716 w 1034716"/>
                <a:gd name="connsiteY1" fmla="*/ 0 h 320842"/>
                <a:gd name="connsiteX2" fmla="*/ 1034716 w 1034716"/>
                <a:gd name="connsiteY2" fmla="*/ 0 h 320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4716" h="320842">
                  <a:moveTo>
                    <a:pt x="0" y="320842"/>
                  </a:moveTo>
                  <a:lnTo>
                    <a:pt x="1034716" y="0"/>
                  </a:lnTo>
                  <a:lnTo>
                    <a:pt x="1034716" y="0"/>
                  </a:lnTo>
                </a:path>
              </a:pathLst>
            </a:custGeom>
            <a:noFill/>
            <a:ln w="317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任意多边形: 形状 13">
              <a:extLst>
                <a:ext uri="{FF2B5EF4-FFF2-40B4-BE49-F238E27FC236}">
                  <a16:creationId xmlns:a16="http://schemas.microsoft.com/office/drawing/2014/main" id="{58058B25-22BA-DF98-ED9C-B3BD074927C9}"/>
                </a:ext>
              </a:extLst>
            </p:cNvPr>
            <p:cNvSpPr/>
            <p:nvPr/>
          </p:nvSpPr>
          <p:spPr>
            <a:xfrm>
              <a:off x="11309684" y="4684295"/>
              <a:ext cx="1034716" cy="577516"/>
            </a:xfrm>
            <a:custGeom>
              <a:avLst/>
              <a:gdLst>
                <a:gd name="connsiteX0" fmla="*/ 0 w 1034716"/>
                <a:gd name="connsiteY0" fmla="*/ 577516 h 577516"/>
                <a:gd name="connsiteX1" fmla="*/ 673769 w 1034716"/>
                <a:gd name="connsiteY1" fmla="*/ 104273 h 577516"/>
                <a:gd name="connsiteX2" fmla="*/ 1034716 w 1034716"/>
                <a:gd name="connsiteY2" fmla="*/ 0 h 5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4716" h="577516">
                  <a:moveTo>
                    <a:pt x="0" y="577516"/>
                  </a:moveTo>
                  <a:cubicBezTo>
                    <a:pt x="250658" y="389021"/>
                    <a:pt x="501316" y="200526"/>
                    <a:pt x="673769" y="104273"/>
                  </a:cubicBezTo>
                  <a:cubicBezTo>
                    <a:pt x="846222" y="8020"/>
                    <a:pt x="940469" y="4010"/>
                    <a:pt x="1034716" y="0"/>
                  </a:cubicBezTo>
                </a:path>
              </a:pathLst>
            </a:custGeom>
            <a:noFill/>
            <a:ln w="317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任意多边形: 形状 15">
              <a:extLst>
                <a:ext uri="{FF2B5EF4-FFF2-40B4-BE49-F238E27FC236}">
                  <a16:creationId xmlns:a16="http://schemas.microsoft.com/office/drawing/2014/main" id="{B6AC17BD-E0EA-9C36-918B-1120B0BBD1FB}"/>
                </a:ext>
              </a:extLst>
            </p:cNvPr>
            <p:cNvSpPr/>
            <p:nvPr/>
          </p:nvSpPr>
          <p:spPr>
            <a:xfrm>
              <a:off x="11357811" y="4382171"/>
              <a:ext cx="906378" cy="927766"/>
            </a:xfrm>
            <a:custGeom>
              <a:avLst/>
              <a:gdLst>
                <a:gd name="connsiteX0" fmla="*/ 0 w 906378"/>
                <a:gd name="connsiteY0" fmla="*/ 927766 h 927766"/>
                <a:gd name="connsiteX1" fmla="*/ 457200 w 906378"/>
                <a:gd name="connsiteY1" fmla="*/ 21387 h 927766"/>
                <a:gd name="connsiteX2" fmla="*/ 906378 w 906378"/>
                <a:gd name="connsiteY2" fmla="*/ 374313 h 927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6378" h="927766">
                  <a:moveTo>
                    <a:pt x="0" y="927766"/>
                  </a:moveTo>
                  <a:cubicBezTo>
                    <a:pt x="153068" y="520697"/>
                    <a:pt x="306137" y="113629"/>
                    <a:pt x="457200" y="21387"/>
                  </a:cubicBezTo>
                  <a:cubicBezTo>
                    <a:pt x="608263" y="-70855"/>
                    <a:pt x="757320" y="151729"/>
                    <a:pt x="906378" y="374313"/>
                  </a:cubicBezTo>
                </a:path>
              </a:pathLst>
            </a:custGeom>
            <a:noFill/>
            <a:ln>
              <a:solidFill>
                <a:schemeClr val="accent1"/>
              </a:solidFill>
              <a:tailEnd type="arrow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文本框 16">
              <a:extLst>
                <a:ext uri="{FF2B5EF4-FFF2-40B4-BE49-F238E27FC236}">
                  <a16:creationId xmlns:a16="http://schemas.microsoft.com/office/drawing/2014/main" id="{B2872CB8-502B-F6B2-6750-3DE5BC79FFE8}"/>
                </a:ext>
              </a:extLst>
            </p:cNvPr>
            <p:cNvSpPr txBox="1"/>
            <p:nvPr/>
          </p:nvSpPr>
          <p:spPr>
            <a:xfrm>
              <a:off x="12288252" y="4581344"/>
              <a:ext cx="46519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DJB</a:t>
              </a:r>
            </a:p>
            <a:p>
              <a:r>
                <a:rPr lang="en-US" altLang="zh-CN" sz="12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DJC</a:t>
              </a:r>
              <a:endPara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" name="矩形 11">
            <a:extLst>
              <a:ext uri="{FF2B5EF4-FFF2-40B4-BE49-F238E27FC236}">
                <a16:creationId xmlns:a16="http://schemas.microsoft.com/office/drawing/2014/main" id="{55A6149A-8CCF-3379-94E8-BB07FD8B348F}"/>
              </a:ext>
            </a:extLst>
          </p:cNvPr>
          <p:cNvSpPr/>
          <p:nvPr/>
        </p:nvSpPr>
        <p:spPr>
          <a:xfrm>
            <a:off x="0" y="729127"/>
            <a:ext cx="12192000" cy="1332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  <a:ln w="381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0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结论</a:t>
            </a:r>
            <a:r>
              <a:rPr lang="en-US" altLang="zh-CN" sz="10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20250520</a:t>
            </a:r>
            <a:r>
              <a:rPr lang="zh-CN" altLang="en-US" sz="10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：日柱起涨点（前柱收盘位置）不都是在</a:t>
            </a:r>
            <a:r>
              <a:rPr lang="en-US" altLang="zh-CN" sz="10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之上，但操作策略是主动介入点，只在</a:t>
            </a:r>
            <a:r>
              <a:rPr lang="en-US" altLang="zh-CN" sz="10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之上，特别是</a:t>
            </a:r>
            <a:r>
              <a:rPr lang="en-US" altLang="zh-CN" sz="10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1000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过滤月级</a:t>
            </a:r>
            <a:r>
              <a:rPr lang="en-US" altLang="zh-CN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【DJE】</a:t>
            </a: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过滤下降大趋势。当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DXCE&lt;0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，谨防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主题：防止月级别诱多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000" dirty="0">
              <a:solidFill>
                <a:schemeClr val="accent4">
                  <a:lumMod val="20000"/>
                  <a:lumOff val="8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过滤日级</a:t>
            </a:r>
            <a:r>
              <a:rPr lang="en-US" altLang="zh-CN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【DJC】</a:t>
            </a: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过滤下降小趋势。当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DXAC&lt;0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，谨防日级别诱多。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过滤周级</a:t>
            </a:r>
            <a:r>
              <a:rPr lang="en-US" altLang="zh-CN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【DXCD】</a:t>
            </a: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为底，以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为托。当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DXCD&gt;0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，可参与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/D6w/D6v/D1w/D1v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；当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DXCD&lt;0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，谨防诱多。</a:t>
            </a:r>
            <a:endParaRPr lang="en-US" altLang="zh-CN" sz="1000" dirty="0">
              <a:solidFill>
                <a:schemeClr val="accent4">
                  <a:lumMod val="20000"/>
                  <a:lumOff val="8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Wingdings" panose="05000000000000000000" pitchFamily="2" charset="2"/>
              <a:buChar char="n"/>
            </a:pP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日级操作</a:t>
            </a:r>
            <a:r>
              <a:rPr lang="en-US" altLang="zh-CN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启动点</a:t>
            </a:r>
            <a:r>
              <a:rPr lang="en-US" altLang="zh-CN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可获利阳柱启动点在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之下非常少，即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能够圈住大部分上涨。 ⇒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介入时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必须在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 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 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只在可获利区域主动操作</a:t>
            </a:r>
          </a:p>
          <a:p>
            <a:pPr marL="285750" indent="-285750">
              <a:buFont typeface="Wingdings" panose="05000000000000000000" pitchFamily="2" charset="2"/>
              <a:buChar char="n"/>
            </a:pP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日级操作</a:t>
            </a:r>
            <a:r>
              <a:rPr lang="en-US" altLang="zh-CN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止盈操作</a:t>
            </a:r>
            <a:r>
              <a:rPr lang="en-US" altLang="zh-CN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上可止盈减仓，但要保持部分仓位。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之上任何走势都可能演变为上升，要（昨买今卖）。</a:t>
            </a:r>
          </a:p>
          <a:p>
            <a:pPr marL="285750" indent="-285750">
              <a:buFont typeface="Wingdings" panose="05000000000000000000" pitchFamily="2" charset="2"/>
              <a:buChar char="n"/>
            </a:pP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日级操作</a:t>
            </a:r>
            <a:r>
              <a:rPr lang="en-US" altLang="zh-CN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遇劫操作</a:t>
            </a:r>
            <a:r>
              <a:rPr lang="en-US" altLang="zh-CN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遇劫先退（下破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先逆踢；</a:t>
            </a:r>
            <a:r>
              <a:rPr lang="zh-CN" altLang="en-US" sz="10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不执行此条</a:t>
            </a:r>
            <a:r>
              <a:rPr lang="en-US" altLang="zh-CN" sz="10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20250808</a:t>
            </a:r>
            <a:r>
              <a:rPr lang="zh-CN" altLang="en-US" sz="10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，以</a:t>
            </a:r>
            <a:r>
              <a:rPr lang="en-US" altLang="zh-CN" sz="10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）；在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之上等劫恢复再介入（出现上破</a:t>
            </a:r>
            <a:r>
              <a:rPr lang="en-US" altLang="zh-CN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或继鼎介入）。</a:t>
            </a:r>
          </a:p>
          <a:p>
            <a:pPr marL="285750" indent="-285750">
              <a:buFont typeface="Wingdings" panose="05000000000000000000" pitchFamily="2" charset="2"/>
              <a:buChar char="n"/>
            </a:pP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日级操作</a:t>
            </a:r>
            <a:r>
              <a:rPr lang="en-US" altLang="zh-CN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抓下柱</a:t>
            </a:r>
            <a:r>
              <a:rPr lang="en-US" altLang="zh-CN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000" dirty="0">
                <a:solidFill>
                  <a:schemeClr val="accent4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一般仅判断下柱是否冲高，不要把持仓周期拉长，不要寄希望于长期持股。</a:t>
            </a:r>
          </a:p>
          <a:p>
            <a:endParaRPr lang="zh-CN" altLang="en-US" sz="1050" b="1" dirty="0">
              <a:solidFill>
                <a:schemeClr val="accent4">
                  <a:lumMod val="20000"/>
                  <a:lumOff val="8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171143559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123F9B-EEC1-7E45-D188-E219A6B239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39C500B3-57C7-2FE2-8811-994B03D09F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874295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 fontScale="90000"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日丘优化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算法优化路径与辅助工具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算法优化路径：</a:t>
            </a:r>
            <a:r>
              <a:rPr lang="en-US" altLang="zh-CN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丘⇒</a:t>
            </a:r>
            <a:r>
              <a:rPr lang="en-US" altLang="zh-CN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丘⇒</a:t>
            </a:r>
            <a:r>
              <a:rPr lang="en-US" altLang="zh-CN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DJE&amp;DJC&amp;DJB</a:t>
            </a:r>
            <a:r>
              <a: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丘⇒日柱优化</a:t>
            </a:r>
            <a:br>
              <a: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算法辅助工具：</a:t>
            </a:r>
            <a:r>
              <a:rPr lang="en-US" altLang="zh-CN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护型、</a:t>
            </a:r>
            <a:r>
              <a:rPr lang="en-US" altLang="zh-CN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</a:t>
            </a:r>
            <a:endParaRPr lang="en-US" altLang="zh-CN" sz="1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C56C5194-074C-EE3A-A1A0-41DD18087DF1}"/>
              </a:ext>
            </a:extLst>
          </p:cNvPr>
          <p:cNvSpPr/>
          <p:nvPr/>
        </p:nvSpPr>
        <p:spPr>
          <a:xfrm>
            <a:off x="7504981" y="872031"/>
            <a:ext cx="4690394" cy="348816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辅助工具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护型提高判断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丘的胜率。</a:t>
            </a:r>
            <a:endParaRPr lang="en-US" altLang="zh-CN" sz="10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辅助过程论证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）当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，可以提高上破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后走势延续的胜率。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，很可能是下降趋势的反弹。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当柱上破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时，如果不能满足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，至少应满足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）当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负交，不代表一定会下破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，而是这种状态只要不消失，就不是上升的正常状态，就没有必要再按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持仓，一定要等到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正交且站上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再补齐仓位。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	  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之上操作。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DXZD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。一般不持有，仅可在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/D6w/D6v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试仓。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	  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不可持有。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DXCD&lt;0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	  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可在上破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试仓。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DXCD&lt;0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DXZC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。不可持有。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DXCD&lt;0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	  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不可持有。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CFE0CE17-B44C-9612-91AA-5467FE2BED78}"/>
              </a:ext>
            </a:extLst>
          </p:cNvPr>
          <p:cNvSpPr/>
          <p:nvPr/>
        </p:nvSpPr>
        <p:spPr>
          <a:xfrm>
            <a:off x="399891" y="872031"/>
            <a:ext cx="7106400" cy="348816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基石原理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】EMA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数学性质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：价在均线之上均线值就会上升；价在均线之下均线值就会下降。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基石原理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】EMA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数学性质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：两条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均线要相交，价格必须反向突破慢速均线。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优化过程论证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丘收益必为正：由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数学性质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决定。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丘基础上增加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丘，证明总体收益＞原单独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丘的收益。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2.1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）当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，柱上破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后，未形成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正交，柱就下破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。符合单独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丘，可保证收益为正。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2.2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）当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，柱上破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后，已形成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正交，其间多次下破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但未下破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，最后下破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2.2.1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）考虑全部过程，从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DXCE&lt;0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，根据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数学性质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前最后一次下破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必高于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，从而由原（单独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丘收益），到（最后一次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DJE+DJC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丘收益），可以保证收益增加。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2.2.2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）针对过程中多次下破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但未下破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。剔除其间下破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形成的负收益，从而可以保证，（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丘收益之和）≥ （最后一次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DJE+DJC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丘收益）。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2.3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）当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，柱上破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后，再次上穿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，随后下破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。此时需要按照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丘进行操作，按照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数学特性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，可以保证收益为正。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替代的完整性问题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替代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，必须保证站上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就保持介入，否则无法保证收益的提升。见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替代原理专页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</a:p>
          <a:p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遗留问题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丘增收，仅当能够按照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丘精确进出时，若不能做到精确进出，则无法保证收益提升。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后续问题是能否利用其他手段提升（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丘收益）以及（提前判定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丘幅度的胜率）？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765446A0-5E22-DA68-070B-52DF3CBD9A52}"/>
              </a:ext>
            </a:extLst>
          </p:cNvPr>
          <p:cNvSpPr/>
          <p:nvPr/>
        </p:nvSpPr>
        <p:spPr>
          <a:xfrm>
            <a:off x="2847" y="872031"/>
            <a:ext cx="398205" cy="348816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t"/>
          <a:lstStyle/>
          <a:p>
            <a:pPr algn="ctr"/>
            <a:r>
              <a:rPr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丘⇒</a:t>
            </a:r>
            <a:r>
              <a:rPr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(DJE&amp;DJC)</a:t>
            </a:r>
            <a:r>
              <a:rPr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endParaRPr lang="en-US" altLang="zh-CN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矩形 27">
            <a:extLst>
              <a:ext uri="{FF2B5EF4-FFF2-40B4-BE49-F238E27FC236}">
                <a16:creationId xmlns:a16="http://schemas.microsoft.com/office/drawing/2014/main" id="{140740A8-42FB-2577-E4AF-1EF4445873E9}"/>
              </a:ext>
            </a:extLst>
          </p:cNvPr>
          <p:cNvSpPr/>
          <p:nvPr/>
        </p:nvSpPr>
        <p:spPr>
          <a:xfrm>
            <a:off x="7504981" y="4360192"/>
            <a:ext cx="4690394" cy="1624644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辅助工具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护型提高判断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丘的操作信心，但不作为止损。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坚决不能作为止损依据；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满足（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DJD-DJC-DJB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）多头排列时，利用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增强信心；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不是多头排列时，只按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操作，不参考其他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护线。</a:t>
            </a:r>
          </a:p>
          <a:p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辅助过程论证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）仿照利用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丘判定，照猫画虎，利用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丘判定。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勿进入围绕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震荡区域，不要在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丘中间介入，应在继鼎或上破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介入。</a:t>
            </a:r>
          </a:p>
          <a:p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）对于逆向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丘进行镜面参照。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护型规则进行镜面映射。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027029BF-AEF1-BF7E-4473-9303464413FC}"/>
              </a:ext>
            </a:extLst>
          </p:cNvPr>
          <p:cNvSpPr/>
          <p:nvPr/>
        </p:nvSpPr>
        <p:spPr>
          <a:xfrm>
            <a:off x="399891" y="4360192"/>
            <a:ext cx="7105014" cy="162464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9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（注</a:t>
            </a:r>
            <a:r>
              <a:rPr lang="en-US" altLang="zh-CN" sz="9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20260220</a:t>
            </a:r>
            <a:r>
              <a:rPr lang="zh-CN" altLang="en-US" sz="9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）关于</a:t>
            </a:r>
            <a:r>
              <a:rPr lang="en-US" altLang="zh-CN" sz="9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的推导尽在理论上可行，在现实操作中，存在交易摩擦，却忽视了“周主升”的限制区域。应舍弃。</a:t>
            </a:r>
            <a:endParaRPr lang="en-US" altLang="zh-CN" sz="900" b="1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基石原理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可获利升势区域：绝大部分可获利升势都在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之上，从而应可在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上操作，但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应仅作为临时替代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的退出依据。</a:t>
            </a:r>
          </a:p>
          <a:p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优化过程论证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此优化的适用情况。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丘优化仅适用于已呈放射状拉开距离的情况，其余情况仍要使用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上面由（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丘）到（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丘）收益增加的论证过程，可以平移到由（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丘）到（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DJE&amp;DJC&amp;DJB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丘）收益增加的论证过程。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优化过程的关键是为何在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级别停止均线级别的优化。因为：在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之上，柱的运行规律已经由，基于连续型的均线，转变为，基于离散型的柱。而且由于可获利升势区域集中于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之上，已无必要继续向低阶均线如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进行优化。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just"/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遗留问题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】DJE&amp;DJC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丘，按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增加收益，仅当能够按照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丘精确进出时。后续问题是能否利用其他手段提升（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丘收益）以及（提前判定下柱冲高的胜率）。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矩形 29">
            <a:extLst>
              <a:ext uri="{FF2B5EF4-FFF2-40B4-BE49-F238E27FC236}">
                <a16:creationId xmlns:a16="http://schemas.microsoft.com/office/drawing/2014/main" id="{DE452FC0-3D2C-1C4B-717D-96892D95BADB}"/>
              </a:ext>
            </a:extLst>
          </p:cNvPr>
          <p:cNvSpPr/>
          <p:nvPr/>
        </p:nvSpPr>
        <p:spPr>
          <a:xfrm>
            <a:off x="2848" y="4360192"/>
            <a:ext cx="398128" cy="1624644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t"/>
          <a:lstStyle/>
          <a:p>
            <a:pPr algn="ctr"/>
            <a:r>
              <a:rPr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(DJE&amp;DJC&amp;DJB)</a:t>
            </a:r>
            <a:r>
              <a:rPr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endParaRPr lang="en-US" altLang="zh-CN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矩形 31">
            <a:extLst>
              <a:ext uri="{FF2B5EF4-FFF2-40B4-BE49-F238E27FC236}">
                <a16:creationId xmlns:a16="http://schemas.microsoft.com/office/drawing/2014/main" id="{E7A9FA4C-09C6-808E-B48B-928B913D4F8C}"/>
              </a:ext>
            </a:extLst>
          </p:cNvPr>
          <p:cNvSpPr/>
          <p:nvPr/>
        </p:nvSpPr>
        <p:spPr>
          <a:xfrm>
            <a:off x="7504981" y="5984836"/>
            <a:ext cx="4690394" cy="8731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辅助工具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利用柱组形态提高判断下柱冲高的成功率。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主升启动标志：四柱栅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见顶标志：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矩形 32">
            <a:extLst>
              <a:ext uri="{FF2B5EF4-FFF2-40B4-BE49-F238E27FC236}">
                <a16:creationId xmlns:a16="http://schemas.microsoft.com/office/drawing/2014/main" id="{0A439C1C-007E-6BCF-1BA5-C9D5675BC08B}"/>
              </a:ext>
            </a:extLst>
          </p:cNvPr>
          <p:cNvSpPr/>
          <p:nvPr/>
        </p:nvSpPr>
        <p:spPr>
          <a:xfrm>
            <a:off x="399891" y="5984836"/>
            <a:ext cx="7105014" cy="87316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基石原理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冲高止盈原则：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之上有最多阳柱出现的概率，从而应允许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之上仓位的变化。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基石原理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中途加仓陷阱：在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丘中途，依据形态加仓后走坏止损，是破坏必胜算法的主要原因。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优化过程论证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丘幅度进行分类，分别制定按照柱排或均线在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之上提前退出的规则，从而提高收益。具体参见专页。</a:t>
            </a:r>
          </a:p>
          <a:p>
            <a:endParaRPr lang="zh-CN" altLang="en-US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矩形 33">
            <a:extLst>
              <a:ext uri="{FF2B5EF4-FFF2-40B4-BE49-F238E27FC236}">
                <a16:creationId xmlns:a16="http://schemas.microsoft.com/office/drawing/2014/main" id="{63B1707B-71A4-FA37-CA18-6B17210CB2EA}"/>
              </a:ext>
            </a:extLst>
          </p:cNvPr>
          <p:cNvSpPr/>
          <p:nvPr/>
        </p:nvSpPr>
        <p:spPr>
          <a:xfrm>
            <a:off x="2848" y="5984836"/>
            <a:ext cx="398128" cy="87316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t"/>
          <a:lstStyle/>
          <a:p>
            <a:pPr algn="ctr"/>
            <a:r>
              <a:rPr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日柱优化</a:t>
            </a:r>
            <a:endParaRPr lang="en-US" altLang="zh-CN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3B08AED8-F9C7-A1EB-82E0-4F65FF64745F}"/>
              </a:ext>
            </a:extLst>
          </p:cNvPr>
          <p:cNvGrpSpPr/>
          <p:nvPr/>
        </p:nvGrpSpPr>
        <p:grpSpPr>
          <a:xfrm>
            <a:off x="1438298" y="3154170"/>
            <a:ext cx="5554555" cy="1177463"/>
            <a:chOff x="621656" y="3176337"/>
            <a:chExt cx="5554555" cy="1177463"/>
          </a:xfrm>
        </p:grpSpPr>
        <p:sp>
          <p:nvSpPr>
            <p:cNvPr id="5" name="任意多边形: 形状 4">
              <a:extLst>
                <a:ext uri="{FF2B5EF4-FFF2-40B4-BE49-F238E27FC236}">
                  <a16:creationId xmlns:a16="http://schemas.microsoft.com/office/drawing/2014/main" id="{FEAA0B21-ECE9-F391-25E1-7FB1D1ADA7E4}"/>
                </a:ext>
              </a:extLst>
            </p:cNvPr>
            <p:cNvSpPr/>
            <p:nvPr/>
          </p:nvSpPr>
          <p:spPr>
            <a:xfrm>
              <a:off x="962526" y="3858079"/>
              <a:ext cx="5077327" cy="208595"/>
            </a:xfrm>
            <a:custGeom>
              <a:avLst/>
              <a:gdLst>
                <a:gd name="connsiteX0" fmla="*/ 0 w 5077327"/>
                <a:gd name="connsiteY0" fmla="*/ 208595 h 208595"/>
                <a:gd name="connsiteX1" fmla="*/ 2887579 w 5077327"/>
                <a:gd name="connsiteY1" fmla="*/ 32132 h 208595"/>
                <a:gd name="connsiteX2" fmla="*/ 5077327 w 5077327"/>
                <a:gd name="connsiteY2" fmla="*/ 47 h 208595"/>
                <a:gd name="connsiteX3" fmla="*/ 5077327 w 5077327"/>
                <a:gd name="connsiteY3" fmla="*/ 47 h 208595"/>
                <a:gd name="connsiteX4" fmla="*/ 5069306 w 5077327"/>
                <a:gd name="connsiteY4" fmla="*/ 47 h 20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7327" h="208595">
                  <a:moveTo>
                    <a:pt x="0" y="208595"/>
                  </a:moveTo>
                  <a:lnTo>
                    <a:pt x="2887579" y="32132"/>
                  </a:lnTo>
                  <a:cubicBezTo>
                    <a:pt x="3733800" y="-2626"/>
                    <a:pt x="5077327" y="47"/>
                    <a:pt x="5077327" y="47"/>
                  </a:cubicBezTo>
                  <a:lnTo>
                    <a:pt x="5077327" y="47"/>
                  </a:lnTo>
                  <a:lnTo>
                    <a:pt x="5069306" y="47"/>
                  </a:lnTo>
                </a:path>
              </a:pathLst>
            </a:custGeom>
            <a:noFill/>
            <a:ln w="571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任意多边形: 形状 6">
              <a:extLst>
                <a:ext uri="{FF2B5EF4-FFF2-40B4-BE49-F238E27FC236}">
                  <a16:creationId xmlns:a16="http://schemas.microsoft.com/office/drawing/2014/main" id="{5CD91805-C1F8-273F-DF24-05A1B57E737D}"/>
                </a:ext>
              </a:extLst>
            </p:cNvPr>
            <p:cNvSpPr/>
            <p:nvPr/>
          </p:nvSpPr>
          <p:spPr>
            <a:xfrm>
              <a:off x="946484" y="3309422"/>
              <a:ext cx="5085348" cy="893610"/>
            </a:xfrm>
            <a:custGeom>
              <a:avLst/>
              <a:gdLst>
                <a:gd name="connsiteX0" fmla="*/ 0 w 5085348"/>
                <a:gd name="connsiteY0" fmla="*/ 893610 h 893610"/>
                <a:gd name="connsiteX1" fmla="*/ 737937 w 5085348"/>
                <a:gd name="connsiteY1" fmla="*/ 797357 h 893610"/>
                <a:gd name="connsiteX2" fmla="*/ 1227221 w 5085348"/>
                <a:gd name="connsiteY2" fmla="*/ 468494 h 893610"/>
                <a:gd name="connsiteX3" fmla="*/ 2286000 w 5085348"/>
                <a:gd name="connsiteY3" fmla="*/ 131610 h 893610"/>
                <a:gd name="connsiteX4" fmla="*/ 3689684 w 5085348"/>
                <a:gd name="connsiteY4" fmla="*/ 3273 h 893610"/>
                <a:gd name="connsiteX5" fmla="*/ 5085348 w 5085348"/>
                <a:gd name="connsiteY5" fmla="*/ 35357 h 893610"/>
                <a:gd name="connsiteX6" fmla="*/ 5085348 w 5085348"/>
                <a:gd name="connsiteY6" fmla="*/ 35357 h 893610"/>
                <a:gd name="connsiteX7" fmla="*/ 5085348 w 5085348"/>
                <a:gd name="connsiteY7" fmla="*/ 35357 h 893610"/>
                <a:gd name="connsiteX8" fmla="*/ 5085348 w 5085348"/>
                <a:gd name="connsiteY8" fmla="*/ 35357 h 893610"/>
                <a:gd name="connsiteX9" fmla="*/ 5085348 w 5085348"/>
                <a:gd name="connsiteY9" fmla="*/ 35357 h 893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85348" h="893610">
                  <a:moveTo>
                    <a:pt x="0" y="893610"/>
                  </a:moveTo>
                  <a:cubicBezTo>
                    <a:pt x="266700" y="880910"/>
                    <a:pt x="533400" y="868210"/>
                    <a:pt x="737937" y="797357"/>
                  </a:cubicBezTo>
                  <a:cubicBezTo>
                    <a:pt x="942474" y="726504"/>
                    <a:pt x="969211" y="579452"/>
                    <a:pt x="1227221" y="468494"/>
                  </a:cubicBezTo>
                  <a:cubicBezTo>
                    <a:pt x="1485231" y="357536"/>
                    <a:pt x="1875590" y="209147"/>
                    <a:pt x="2286000" y="131610"/>
                  </a:cubicBezTo>
                  <a:cubicBezTo>
                    <a:pt x="2696410" y="54073"/>
                    <a:pt x="3223126" y="19315"/>
                    <a:pt x="3689684" y="3273"/>
                  </a:cubicBezTo>
                  <a:cubicBezTo>
                    <a:pt x="4156242" y="-12769"/>
                    <a:pt x="5085348" y="35357"/>
                    <a:pt x="5085348" y="35357"/>
                  </a:cubicBezTo>
                  <a:lnTo>
                    <a:pt x="5085348" y="35357"/>
                  </a:lnTo>
                  <a:lnTo>
                    <a:pt x="5085348" y="35357"/>
                  </a:lnTo>
                  <a:lnTo>
                    <a:pt x="5085348" y="35357"/>
                  </a:lnTo>
                  <a:lnTo>
                    <a:pt x="5085348" y="35357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任意多边形: 形状 7">
              <a:extLst>
                <a:ext uri="{FF2B5EF4-FFF2-40B4-BE49-F238E27FC236}">
                  <a16:creationId xmlns:a16="http://schemas.microsoft.com/office/drawing/2014/main" id="{10162C49-E63F-11E8-212E-DB91F248CED1}"/>
                </a:ext>
              </a:extLst>
            </p:cNvPr>
            <p:cNvSpPr/>
            <p:nvPr/>
          </p:nvSpPr>
          <p:spPr>
            <a:xfrm>
              <a:off x="994611" y="3176337"/>
              <a:ext cx="5181600" cy="1098884"/>
            </a:xfrm>
            <a:custGeom>
              <a:avLst/>
              <a:gdLst>
                <a:gd name="connsiteX0" fmla="*/ 0 w 5181600"/>
                <a:gd name="connsiteY0" fmla="*/ 1098884 h 1098884"/>
                <a:gd name="connsiteX1" fmla="*/ 240631 w 5181600"/>
                <a:gd name="connsiteY1" fmla="*/ 1034716 h 1098884"/>
                <a:gd name="connsiteX2" fmla="*/ 537410 w 5181600"/>
                <a:gd name="connsiteY2" fmla="*/ 729916 h 1098884"/>
                <a:gd name="connsiteX3" fmla="*/ 1179094 w 5181600"/>
                <a:gd name="connsiteY3" fmla="*/ 272716 h 1098884"/>
                <a:gd name="connsiteX4" fmla="*/ 1532021 w 5181600"/>
                <a:gd name="connsiteY4" fmla="*/ 569495 h 1098884"/>
                <a:gd name="connsiteX5" fmla="*/ 2109536 w 5181600"/>
                <a:gd name="connsiteY5" fmla="*/ 112295 h 1098884"/>
                <a:gd name="connsiteX6" fmla="*/ 2526631 w 5181600"/>
                <a:gd name="connsiteY6" fmla="*/ 344905 h 1098884"/>
                <a:gd name="connsiteX7" fmla="*/ 3112168 w 5181600"/>
                <a:gd name="connsiteY7" fmla="*/ 48126 h 1098884"/>
                <a:gd name="connsiteX8" fmla="*/ 3601452 w 5181600"/>
                <a:gd name="connsiteY8" fmla="*/ 336884 h 1098884"/>
                <a:gd name="connsiteX9" fmla="*/ 4058652 w 5181600"/>
                <a:gd name="connsiteY9" fmla="*/ 0 h 1098884"/>
                <a:gd name="connsiteX10" fmla="*/ 4403557 w 5181600"/>
                <a:gd name="connsiteY10" fmla="*/ 336884 h 1098884"/>
                <a:gd name="connsiteX11" fmla="*/ 4748463 w 5181600"/>
                <a:gd name="connsiteY11" fmla="*/ 192505 h 1098884"/>
                <a:gd name="connsiteX12" fmla="*/ 4957010 w 5181600"/>
                <a:gd name="connsiteY12" fmla="*/ 850231 h 1098884"/>
                <a:gd name="connsiteX13" fmla="*/ 5117431 w 5181600"/>
                <a:gd name="connsiteY13" fmla="*/ 673768 h 1098884"/>
                <a:gd name="connsiteX14" fmla="*/ 5181600 w 5181600"/>
                <a:gd name="connsiteY14" fmla="*/ 994610 h 109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181600" h="1098884">
                  <a:moveTo>
                    <a:pt x="0" y="1098884"/>
                  </a:moveTo>
                  <a:cubicBezTo>
                    <a:pt x="75531" y="1097547"/>
                    <a:pt x="151063" y="1096211"/>
                    <a:pt x="240631" y="1034716"/>
                  </a:cubicBezTo>
                  <a:cubicBezTo>
                    <a:pt x="330199" y="973221"/>
                    <a:pt x="381000" y="856916"/>
                    <a:pt x="537410" y="729916"/>
                  </a:cubicBezTo>
                  <a:cubicBezTo>
                    <a:pt x="693820" y="602916"/>
                    <a:pt x="1013326" y="299453"/>
                    <a:pt x="1179094" y="272716"/>
                  </a:cubicBezTo>
                  <a:cubicBezTo>
                    <a:pt x="1344862" y="245979"/>
                    <a:pt x="1376947" y="596232"/>
                    <a:pt x="1532021" y="569495"/>
                  </a:cubicBezTo>
                  <a:cubicBezTo>
                    <a:pt x="1687095" y="542758"/>
                    <a:pt x="1943768" y="149727"/>
                    <a:pt x="2109536" y="112295"/>
                  </a:cubicBezTo>
                  <a:cubicBezTo>
                    <a:pt x="2275304" y="74863"/>
                    <a:pt x="2359526" y="355600"/>
                    <a:pt x="2526631" y="344905"/>
                  </a:cubicBezTo>
                  <a:cubicBezTo>
                    <a:pt x="2693736" y="334210"/>
                    <a:pt x="2933031" y="49463"/>
                    <a:pt x="3112168" y="48126"/>
                  </a:cubicBezTo>
                  <a:cubicBezTo>
                    <a:pt x="3291305" y="46789"/>
                    <a:pt x="3443705" y="344905"/>
                    <a:pt x="3601452" y="336884"/>
                  </a:cubicBezTo>
                  <a:cubicBezTo>
                    <a:pt x="3759199" y="328863"/>
                    <a:pt x="3924968" y="0"/>
                    <a:pt x="4058652" y="0"/>
                  </a:cubicBezTo>
                  <a:cubicBezTo>
                    <a:pt x="4192336" y="0"/>
                    <a:pt x="4288589" y="304800"/>
                    <a:pt x="4403557" y="336884"/>
                  </a:cubicBezTo>
                  <a:cubicBezTo>
                    <a:pt x="4518525" y="368968"/>
                    <a:pt x="4656221" y="106947"/>
                    <a:pt x="4748463" y="192505"/>
                  </a:cubicBezTo>
                  <a:cubicBezTo>
                    <a:pt x="4840705" y="278063"/>
                    <a:pt x="4895515" y="770021"/>
                    <a:pt x="4957010" y="850231"/>
                  </a:cubicBezTo>
                  <a:cubicBezTo>
                    <a:pt x="5018505" y="930441"/>
                    <a:pt x="5079999" y="649705"/>
                    <a:pt x="5117431" y="673768"/>
                  </a:cubicBezTo>
                  <a:cubicBezTo>
                    <a:pt x="5154863" y="697831"/>
                    <a:pt x="5168231" y="846220"/>
                    <a:pt x="5181600" y="99461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文本框 9">
              <a:extLst>
                <a:ext uri="{FF2B5EF4-FFF2-40B4-BE49-F238E27FC236}">
                  <a16:creationId xmlns:a16="http://schemas.microsoft.com/office/drawing/2014/main" id="{030F3758-6AA2-274F-6856-F542B43E1E31}"/>
                </a:ext>
              </a:extLst>
            </p:cNvPr>
            <p:cNvSpPr txBox="1"/>
            <p:nvPr/>
          </p:nvSpPr>
          <p:spPr>
            <a:xfrm>
              <a:off x="621656" y="3892135"/>
              <a:ext cx="46519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DJE</a:t>
              </a:r>
            </a:p>
            <a:p>
              <a:r>
                <a:rPr lang="en-US" altLang="zh-CN" sz="12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DJC</a:t>
              </a:r>
              <a:endPara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53470113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1C1CED-4F4D-FB7D-0771-C7B85C63A6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411D8FE-561D-6FEF-0CFC-81178A2FF9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日丘优化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算法优化的替代完整性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核心思想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先利用周线判断出现大趋势，并筛选操作池，再利用日类替代进行精细化操作，确保替代完整性</a:t>
            </a:r>
            <a:r>
              <a: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（不要针对日类另起炉灶）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FD3277F6-42B9-CE0A-7DF2-AADB623BA563}"/>
              </a:ext>
            </a:extLst>
          </p:cNvPr>
          <p:cNvSpPr/>
          <p:nvPr/>
        </p:nvSpPr>
        <p:spPr>
          <a:xfrm>
            <a:off x="0" y="720000"/>
            <a:ext cx="12192000" cy="613800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替代的完整性问题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如果用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替代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再替代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000" b="1" dirty="0">
                <a:solidFill>
                  <a:schemeClr val="tx1"/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必须保证，每当站上</a:t>
            </a:r>
            <a:r>
              <a:rPr lang="en-US" altLang="zh-CN" sz="1000" b="1" dirty="0">
                <a:solidFill>
                  <a:schemeClr val="tx1"/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/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就保持介入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，无论何种情况，否则无法保证收益的提升。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存在以下问题：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问题一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如何保持替代完整性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：如果是在下破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时退出，可以等待再次站上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时介入。问题是如果在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之上退出，那么应在何处再次介入？简要答案，要在退出原因消失以后立刻介入。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如果是因为冲高，则应在回撤、止跌、劫恢复后介入，再介入点应在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之上。支类问题包括：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判定冲高准则是什么？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如果是因为升排消失，则应该在止跌、劫恢复、再次升排时介入。注意，除了升排，还可以接受四柱栅。支类问题包括：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调整结构的通用结构是什么？可以包含：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之上跌孕、 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之上跌吞、 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之上跌连、单柱下破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。但第四柱要站上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什么情况是出现该情况就不需要再介入？冲高情况。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如果是因为下破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，有可能认为会继续下跌下破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而提前退出，则应该在再次站上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、劫恢复、最好升排时介入。支类问题包括：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什么情况在下破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后不需要再介入？经历一个长时间完整弧后，防止诱多。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问题二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【DJB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的替代地位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：因为可在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之上提前退出，那么用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替代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也非完整替代。所以应明确只用（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丘）替代（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丘），其余包括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都作为提前退出条件，当退出条件消失则再次介入。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如果是因为下破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，则应该在再次站上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、劫恢复、最好升排时介入。支类问题包括：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什么情况在下破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后不需要考虑再介入？参考下面问题四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哪些情况不必介入？放弃替代完整性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（以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为趋势线）与（其他提前退出条件）的区别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仍然具有趋势性，可以忽略其上的柱级别波动，从而保证算法的冲高空间的延续。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算法的冲高空间的延续：周级别算法看似简单，就是只要在均线之上就保证持有，从而给与了冲高空间。不断缩短趋势性均线：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⇒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⇒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⇒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，仍然保证了冲高空间。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（其他提前退出条件）：多数为柱级别退出条件，非常具有不确定性，通常会设置止盈条件，损失了冲高空间。所以，不能简单地将（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替代）与（柱级别提前退出条件）混淆在一起。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不能用于防守，一个中阴柱就可能下破，但下破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负交都有可能快速恢复，所以单纯依赖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止损都没有可操作性。只能针对（已冲高情况）（已完整弧情况）的提前退出。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对具有趋势性的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，利用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DTZB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进行分类：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DTZB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DTZB=-1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，可以安心持有；当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DTZB=1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，必须谨慎介入，防止诱多；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DTZB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≤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-2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，可以退出。</a:t>
            </a:r>
            <a:endParaRPr lang="en-US" altLang="zh-CN" sz="9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替代链条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：无论是何种替代，持仓依据都是依赖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，通过替代链条逐层传递。基本的替代链条为：（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丘）替代（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丘）。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支类问题包括：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是否考虑（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丘）替代（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丘）？坚定以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为界，其余都是提前退出条件。一方面因为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较稳定，可以利用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护型辅助判断；另一方面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存在很多诱多情况。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问题三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提前退出条件的实质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：提前退出是，在满足替代的情况下，仍然存在很大的回撤空间，如果只依赖替代条件会放任回撤。所以，可以根据回撤空间对何时应用提前退出条件进行分类。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包括：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何时使用冲高作为提前退出条件？当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DS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时，回撤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10%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才会下破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，此时可使用冲高止盈。但为防止踏空，可以等待出现非升排再退出。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何时使用下破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作为提前退出条件？当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DSAC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时，回撤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10%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才会下破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，此时可以提前退出。如果再次站上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，则再次介入。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何时使用下破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作为提前退出条件？当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DSBC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较大时，则应该已在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之上提前退出；当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DSBC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较小时，则可以等待下破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或两柱下破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后退出。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当宽（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DS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）＜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时，属于空间较小，可以不考虑在当天阴柱时提前退出，只考虑在下破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时提前退出，并在阴柱时介入。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问题四</a:t>
            </a:r>
            <a:r>
              <a:rPr lang="en-US" altLang="zh-CN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哪些情况不必介入？放弃替代完整性</a:t>
            </a:r>
            <a:r>
              <a:rPr lang="en-US" altLang="zh-CN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：什么情况下，即使在（</a:t>
            </a:r>
            <a:r>
              <a:rPr lang="en-US" altLang="zh-CN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DJE&amp;DJC&amp;DJB</a:t>
            </a:r>
            <a:r>
              <a:rPr lang="zh-CN" altLang="en-US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之上），仍然不考虑再介入？</a:t>
            </a:r>
            <a:endParaRPr lang="en-US" altLang="zh-CN" sz="1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（已冲高）之后。当五日叠幅＞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30%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，出现回撤后。</a:t>
            </a:r>
            <a:endParaRPr lang="en-US" altLang="zh-CN" sz="9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（已整弧）之后。经过长时间光滑完整丘后，下破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或下破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后，不考虑再次介入。如果在周线图已下破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，则再次站上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必须千万小心。</a:t>
            </a:r>
            <a:endParaRPr lang="en-US" altLang="zh-CN" sz="9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大级别均线防诱多：当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时放弃周级别或减少仓位；当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DXCE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时放弃月级别或减少仓位。</a:t>
            </a:r>
            <a:endParaRPr lang="en-US" altLang="zh-CN" sz="9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问题五</a:t>
            </a:r>
            <a:r>
              <a:rPr lang="en-US" altLang="zh-CN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哪些情况必须介入？确保替代完整性</a:t>
            </a:r>
            <a:r>
              <a:rPr lang="en-US" altLang="zh-CN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：什么情况下，一定要确保替代完整性，即，在任何符合再次介入的条件满足时，一定再次介入？</a:t>
            </a:r>
            <a:endParaRPr lang="en-US" altLang="zh-CN" sz="1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利用大级别（周线或月线）判断可能产生大趋势拉升：</a:t>
            </a:r>
            <a:endParaRPr lang="en-US" altLang="zh-CN" sz="9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依赖周形态与柱组合：站上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所有均线，最好符合多头排列。</a:t>
            </a:r>
            <a:endParaRPr lang="en-US" altLang="zh-CN" sz="9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经过很长时间调整，且在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之下形成完整光滑弧后上破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拉升启动柱组：呈现升排或特殊形态（如四柱栅）。启动柱涨幅较大，或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拉开距离。</a:t>
            </a:r>
            <a:endParaRPr lang="en-US" altLang="zh-CN" sz="9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确保替代完整性介入点。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/D1v/D1w/D1b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/D2e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返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/D3h/D2I/D3u/D2i/D3v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价破顶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/D3w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价破顶</a:t>
            </a:r>
            <a:endParaRPr lang="en-US" altLang="zh-CN" sz="9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备选操作池：将符合存在大趋势拉升的股票，放入备选操作池。</a:t>
            </a:r>
            <a:endParaRPr lang="en-US" altLang="zh-CN" sz="9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问题六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根据回撤空间确定入点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：既然选择以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作为止损死扛线，那么可以按距离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的回撤空间，并结合形态确定入点。包括：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初始回撤：初始上破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会回撤，下破或接近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，可以在阴柱进入。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回撤至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DS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较小情况下，遇到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跌吞回撤至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附近，可以介入；或等待出现小阳柱或升排再进入。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突然三连跌下破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：回撤空间较小，已回撤幅度较大，可以试仓。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下机会：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/D3v/D3w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，阳柱价格上破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。回撤空间非常小，且具有向上动力。需要配合周级别柱排列，按照日周联动进行判断。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64700650-6043-DA6A-664F-4387D471DD86}"/>
              </a:ext>
            </a:extLst>
          </p:cNvPr>
          <p:cNvSpPr txBox="1"/>
          <p:nvPr/>
        </p:nvSpPr>
        <p:spPr>
          <a:xfrm>
            <a:off x="8155305" y="0"/>
            <a:ext cx="4036695" cy="954107"/>
          </a:xfrm>
          <a:prstGeom prst="rect">
            <a:avLst/>
          </a:prstGeom>
          <a:solidFill>
            <a:srgbClr val="FF99CC"/>
          </a:solidFill>
        </p:spPr>
        <p:txBody>
          <a:bodyPr wrap="square">
            <a:spAutoFit/>
          </a:bodyPr>
          <a:lstStyle/>
          <a:p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此类属于仅存在于理论推导，但实际操作过程中不但会造成交易摩擦损失，而且会错失“周主升”的歪门邪路。（注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20260220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，应废弃此类算法，无实际操作的可行性）</a:t>
            </a:r>
          </a:p>
        </p:txBody>
      </p:sp>
    </p:spTree>
    <p:extLst>
      <p:ext uri="{BB962C8B-B14F-4D97-AF65-F5344CB8AC3E}">
        <p14:creationId xmlns:p14="http://schemas.microsoft.com/office/powerpoint/2010/main" val="1668698240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C1559E-1A80-6AF6-D020-4795EC2CB2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>
            <a:extLst>
              <a:ext uri="{FF2B5EF4-FFF2-40B4-BE49-F238E27FC236}">
                <a16:creationId xmlns:a16="http://schemas.microsoft.com/office/drawing/2014/main" id="{6F7D75A5-0BBF-DA23-3166-A954B186D194}"/>
              </a:ext>
            </a:extLst>
          </p:cNvPr>
          <p:cNvSpPr/>
          <p:nvPr/>
        </p:nvSpPr>
        <p:spPr>
          <a:xfrm>
            <a:off x="1" y="724601"/>
            <a:ext cx="7551420" cy="3390199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【DJE&amp;DJC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丘必赢的关键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不要笼统认为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丘必赢，实际要满足一定的情况才能获得收益，否则只是不造成损失或不造成较大损失。关键因素包括：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要在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之上有拉升，从而远离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不适用情况：在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附近低位振荡，反复交叉。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最重要的是提前锁定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之上的上升弧：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要在幅度较小的（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DS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）中稳定波动，积蓄上升动能。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作用：一定要在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之上，站不上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是死路一条。拉升过程中，可以单柱下破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之上的单跌好于连跌。</a:t>
            </a:r>
            <a:endParaRPr lang="en-US" altLang="zh-CN" sz="8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典型柱排：可以接受升排，或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单柱下破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警惕四柱栅变体：要小心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之上跌连之后阳柱，不要误以为是四柱栅就一定会拉升，实际很可能是升势向跌势的转换。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不再介入情况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禁入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：要区分与正常扩大波幅，如已冲高，应考虑退出，且即使再次站上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也不介入或重仓介入。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禁入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已整弧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后考虑退出，且即使再次站上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也不介入或重仓介入。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慎入再局：对于日层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 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/DXZB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/DXAC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劫），由于已破坏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放射状，所以必须谨慎介入。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E8152A54-2A96-3C29-0E83-6065E91A7BB6}"/>
              </a:ext>
            </a:extLst>
          </p:cNvPr>
          <p:cNvSpPr/>
          <p:nvPr/>
        </p:nvSpPr>
        <p:spPr>
          <a:xfrm>
            <a:off x="1" y="4114800"/>
            <a:ext cx="7551420" cy="2746219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何种操作会破坏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丘策略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原有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丘策略是基于均线的（趋势为王策略），能够对此策略造成破坏的是，转为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以柱为决策依据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并做出错误决策。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不要轻信均线：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上升必然在均线之上（大概率在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之上，绝大多数在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之上）；但均线之上一定不全是阳柱。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时点选择：</a:t>
            </a:r>
            <a:r>
              <a:rPr lang="zh-CN" altLang="en-US" sz="8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不要在未进行拉升时寄希望；可以在已拉升后跑得快。</a:t>
            </a:r>
            <a:endParaRPr lang="en-US" altLang="zh-CN" sz="8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不要刻舟求剑：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在前柱加仓后并实际上升，不代表本柱依然会上升，要及时更新判断策略。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要遵守高抛低吸基本准则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损失的原因是，认为会升但实际跌，必然是在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丘的中途介入，然后下跌导致损失。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如果在阴柱买，是否会继续跌？要选择代表跌势终止的迹象：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大跌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跌后止跌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跌后出现小阳柱。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如果在阳柱卖，是否会继续升？要选择代表升势终止的迹象：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大升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升后止升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升后出现小阴柱。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损害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丘策略的具体操作：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2"/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3BC7362E-5F0D-DBA7-4943-5AAC9E6F0E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2696912"/>
              </p:ext>
            </p:extLst>
          </p:nvPr>
        </p:nvGraphicFramePr>
        <p:xfrm>
          <a:off x="350521" y="5234033"/>
          <a:ext cx="7114222" cy="1493520"/>
        </p:xfrm>
        <a:graphic>
          <a:graphicData uri="http://schemas.openxmlformats.org/drawingml/2006/table">
            <a:tbl>
              <a:tblPr firstRow="1" bandRow="1">
                <a:tableStyleId>{7E9639D4-E3E2-4D34-9284-5A2195B3D0D7}</a:tableStyleId>
              </a:tblPr>
              <a:tblGrid>
                <a:gridCol w="1043939">
                  <a:extLst>
                    <a:ext uri="{9D8B030D-6E8A-4147-A177-3AD203B41FA5}">
                      <a16:colId xmlns:a16="http://schemas.microsoft.com/office/drawing/2014/main" val="4288005218"/>
                    </a:ext>
                  </a:extLst>
                </a:gridCol>
                <a:gridCol w="1813063">
                  <a:extLst>
                    <a:ext uri="{9D8B030D-6E8A-4147-A177-3AD203B41FA5}">
                      <a16:colId xmlns:a16="http://schemas.microsoft.com/office/drawing/2014/main" val="2058777758"/>
                    </a:ext>
                  </a:extLst>
                </a:gridCol>
                <a:gridCol w="1635443">
                  <a:extLst>
                    <a:ext uri="{9D8B030D-6E8A-4147-A177-3AD203B41FA5}">
                      <a16:colId xmlns:a16="http://schemas.microsoft.com/office/drawing/2014/main" val="1392176"/>
                    </a:ext>
                  </a:extLst>
                </a:gridCol>
                <a:gridCol w="2621777">
                  <a:extLst>
                    <a:ext uri="{9D8B030D-6E8A-4147-A177-3AD203B41FA5}">
                      <a16:colId xmlns:a16="http://schemas.microsoft.com/office/drawing/2014/main" val="2212311415"/>
                    </a:ext>
                  </a:extLst>
                </a:gridCol>
              </a:tblGrid>
              <a:tr h="161131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损害</a:t>
                      </a:r>
                      <a:r>
                        <a:rPr lang="en-US" altLang="zh-CN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DJE&amp;DJC</a:t>
                      </a:r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丘策略的具体操作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可能损害收益的实际情况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造成损失的原因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改进策略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78190487"/>
                  </a:ext>
                </a:extLst>
              </a:tr>
              <a:tr h="161131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冲高时左侧止盈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退仓后继续升⇒踏空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原操作正确：例外情况不可预测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逐步减仓。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5865443"/>
                  </a:ext>
                </a:extLst>
              </a:tr>
              <a:tr h="161131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退仓</a:t>
                      </a: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退仓后继续升⇒踏空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原操作错误：违反高抛低吸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不是卖出条件，要依赖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4177401"/>
                  </a:ext>
                </a:extLst>
              </a:tr>
              <a:tr h="161131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退仓</a:t>
                      </a: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退仓后继续升⇒踏空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原操作正确：等站上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再入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是日级别退出条件，可转为，按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9864052"/>
                  </a:ext>
                </a:extLst>
              </a:tr>
              <a:tr h="161131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在四柱栅入仓</a:t>
                      </a: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入仓后下跌⇒判断错误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原操作错误：过分相信形态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特别排除四柱栅中属于见顶信号的情况，不要重仓。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5747762"/>
                  </a:ext>
                </a:extLst>
              </a:tr>
              <a:tr h="161131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在阳柱追高入仓</a:t>
                      </a: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入仓后下跌⇒判断错误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原操作错误：违反高抛低吸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高抛低吸，不买入或限制为底仓。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4120613"/>
                  </a:ext>
                </a:extLst>
              </a:tr>
              <a:tr h="161131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在阴柱入仓</a:t>
                      </a: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入仓后继续跌⇒判断错误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原操作正确：例外情况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不操作，以周柱为准，要依赖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8153711"/>
                  </a:ext>
                </a:extLst>
              </a:tr>
            </a:tbl>
          </a:graphicData>
        </a:graphic>
      </p:graphicFrame>
      <p:sp>
        <p:nvSpPr>
          <p:cNvPr id="9" name="标题 1">
            <a:extLst>
              <a:ext uri="{FF2B5EF4-FFF2-40B4-BE49-F238E27FC236}">
                <a16:creationId xmlns:a16="http://schemas.microsoft.com/office/drawing/2014/main" id="{1B8A69FE-E448-5EE7-6769-A74C05A95D59}"/>
              </a:ext>
            </a:extLst>
          </p:cNvPr>
          <p:cNvSpPr txBox="1">
            <a:spLocks/>
          </p:cNvSpPr>
          <p:nvPr/>
        </p:nvSpPr>
        <p:spPr>
          <a:xfrm>
            <a:off x="0" y="4601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日丘优化 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损失分析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导致日丘优化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&lt;DJE&amp;DJC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损失的操作是什么？</a:t>
            </a:r>
            <a:b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分析问题：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丘必赢，重点是根据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EMA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按均线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上入下出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，保持替代的完整性。但在实际操作中，到底是什么操作导致亏损？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FD73E3BB-1A3F-94FC-D799-8131DEC16DE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9805" y="1037273"/>
            <a:ext cx="6020075" cy="1697586"/>
          </a:xfrm>
          <a:prstGeom prst="rect">
            <a:avLst/>
          </a:prstGeom>
        </p:spPr>
      </p:pic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786A4CDA-CCD9-F0B4-1193-A9683FFB97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9623050"/>
              </p:ext>
            </p:extLst>
          </p:nvPr>
        </p:nvGraphicFramePr>
        <p:xfrm>
          <a:off x="7551420" y="716981"/>
          <a:ext cx="4640579" cy="1783080"/>
        </p:xfrm>
        <a:graphic>
          <a:graphicData uri="http://schemas.openxmlformats.org/drawingml/2006/table">
            <a:tbl>
              <a:tblPr firstRow="1" bandRow="1">
                <a:tableStyleId>{9DCAF9ED-07DC-4A11-8D7F-57B35C25682E}</a:tableStyleId>
              </a:tblPr>
              <a:tblGrid>
                <a:gridCol w="4640579">
                  <a:extLst>
                    <a:ext uri="{9D8B030D-6E8A-4147-A177-3AD203B41FA5}">
                      <a16:colId xmlns:a16="http://schemas.microsoft.com/office/drawing/2014/main" val="1718182125"/>
                    </a:ext>
                  </a:extLst>
                </a:gridCol>
              </a:tblGrid>
              <a:tr h="200581">
                <a:tc>
                  <a:txBody>
                    <a:bodyPr/>
                    <a:lstStyle/>
                    <a:p>
                      <a:r>
                        <a:rPr lang="zh-CN" altLang="en-US" sz="900" dirty="0"/>
                        <a:t>若片面遵从</a:t>
                      </a:r>
                      <a:r>
                        <a:rPr lang="en-US" altLang="zh-CN" sz="900" dirty="0"/>
                        <a:t>DJE&amp;DJC</a:t>
                      </a:r>
                      <a:r>
                        <a:rPr lang="zh-CN" altLang="en-US" sz="900" dirty="0"/>
                        <a:t>日丘优化算法，将会导致错失“周主升”，以及严重的交易摩擦损失。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10761764"/>
                  </a:ext>
                </a:extLst>
              </a:tr>
              <a:tr h="729829">
                <a:tc>
                  <a:txBody>
                    <a:bodyPr/>
                    <a:lstStyle/>
                    <a:p>
                      <a:r>
                        <a:rPr lang="zh-CN" altLang="en-US" sz="900" b="1" dirty="0"/>
                        <a:t>按日丘优化，当下破</a:t>
                      </a:r>
                      <a:r>
                        <a:rPr lang="en-US" altLang="zh-CN" sz="900" b="1" dirty="0"/>
                        <a:t>DJC</a:t>
                      </a:r>
                      <a:r>
                        <a:rPr lang="zh-CN" altLang="en-US" sz="900" b="1" dirty="0"/>
                        <a:t>时应无脑卖出：</a:t>
                      </a:r>
                      <a:endParaRPr lang="en-US" altLang="zh-CN" sz="900" b="1" dirty="0"/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当由顶回落至</a:t>
                      </a:r>
                      <a:r>
                        <a:rPr lang="en-US" altLang="zh-CN" sz="900" dirty="0"/>
                        <a:t>DJC</a:t>
                      </a:r>
                      <a:r>
                        <a:rPr lang="zh-CN" altLang="en-US" sz="900" dirty="0"/>
                        <a:t>时，已经历较大回撤。对于冲高情况，无法留住盈利。</a:t>
                      </a:r>
                      <a:endParaRPr lang="en-US" altLang="zh-CN" sz="900" dirty="0"/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因距离</a:t>
                      </a:r>
                      <a:r>
                        <a:rPr lang="en-US" altLang="zh-CN" sz="900" dirty="0"/>
                        <a:t>DJC</a:t>
                      </a:r>
                      <a:r>
                        <a:rPr lang="zh-CN" altLang="en-US" sz="900" dirty="0"/>
                        <a:t>较近，可能时时刻刻都要担心会不会下破</a:t>
                      </a:r>
                      <a:r>
                        <a:rPr lang="en-US" altLang="zh-CN" sz="900" dirty="0"/>
                        <a:t>DJC</a:t>
                      </a:r>
                      <a:r>
                        <a:rPr lang="zh-CN" altLang="en-US" sz="900" dirty="0"/>
                        <a:t>。且在下破</a:t>
                      </a:r>
                      <a:r>
                        <a:rPr lang="en-US" altLang="zh-CN" sz="900" dirty="0"/>
                        <a:t>DJB</a:t>
                      </a:r>
                      <a:r>
                        <a:rPr lang="zh-CN" altLang="en-US" sz="900" dirty="0"/>
                        <a:t>时，会担心会不会继续下破</a:t>
                      </a:r>
                      <a:r>
                        <a:rPr lang="en-US" altLang="zh-CN" sz="900" dirty="0"/>
                        <a:t>DJC</a:t>
                      </a:r>
                      <a:r>
                        <a:rPr lang="zh-CN" altLang="en-US" sz="900" dirty="0"/>
                        <a:t>。</a:t>
                      </a:r>
                      <a:endParaRPr lang="en-US" altLang="zh-CN" sz="900" dirty="0"/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下破</a:t>
                      </a:r>
                      <a:r>
                        <a:rPr lang="en-US" altLang="zh-CN" sz="900" dirty="0"/>
                        <a:t>DJC</a:t>
                      </a:r>
                      <a:r>
                        <a:rPr lang="zh-CN" altLang="en-US" sz="900" dirty="0"/>
                        <a:t>后，可能仍处于“周主升”之中。</a:t>
                      </a:r>
                      <a:endParaRPr lang="en-US" altLang="zh-CN" sz="900" dirty="0"/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/>
                        <a:t>失去仓位。在周主升中，卖出后，由于资金被占用，但是即使再次站上</a:t>
                      </a:r>
                      <a:r>
                        <a:rPr lang="en-US" altLang="zh-CN" sz="900" dirty="0"/>
                        <a:t>DJC</a:t>
                      </a:r>
                      <a:r>
                        <a:rPr lang="zh-CN" altLang="en-US" sz="900" dirty="0"/>
                        <a:t>也会失去仓位。</a:t>
                      </a:r>
                      <a:endParaRPr lang="en-US" altLang="zh-CN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59983886"/>
                  </a:ext>
                </a:extLst>
              </a:tr>
              <a:tr h="34904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900" b="1" dirty="0"/>
                        <a:t>按日丘优化，当上破</a:t>
                      </a:r>
                      <a:r>
                        <a:rPr lang="en-US" altLang="zh-CN" sz="900" b="1" dirty="0"/>
                        <a:t>DJC</a:t>
                      </a:r>
                      <a:r>
                        <a:rPr lang="zh-CN" altLang="en-US" sz="900" b="1" dirty="0"/>
                        <a:t>时应无脑买出：</a:t>
                      </a:r>
                      <a:endParaRPr lang="en-US" altLang="zh-CN" sz="900" b="1" dirty="0"/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可能并未进入“周主升”。可能只是震荡或诱多。</a:t>
                      </a:r>
                      <a:endParaRPr lang="en-US" altLang="zh-CN" sz="900" dirty="0"/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/>
                        <a:t>可能属于主升中的较小的</a:t>
                      </a:r>
                      <a:r>
                        <a:rPr lang="en-US" altLang="zh-CN" sz="900" dirty="0"/>
                        <a:t>DJC</a:t>
                      </a:r>
                      <a:r>
                        <a:rPr lang="zh-CN" altLang="en-US" sz="900" dirty="0"/>
                        <a:t>丘。</a:t>
                      </a:r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199955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81131961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183358-1080-1DA7-1BA0-2EF7017B78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3F7E57A3-7BB7-5321-910D-B0E44CB6DD2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日丘优化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算法优化链条的注意事项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@20250915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梳理新的交易规则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20250815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。等待成熟后与原交易规则合并。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C8FD2D93-75D2-B962-7BB4-D755E734673E}"/>
              </a:ext>
            </a:extLst>
          </p:cNvPr>
          <p:cNvSpPr/>
          <p:nvPr/>
        </p:nvSpPr>
        <p:spPr>
          <a:xfrm>
            <a:off x="683581" y="874445"/>
            <a:ext cx="1997475" cy="13822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altLang="zh-CN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WJB</a:t>
            </a:r>
            <a:r>
              <a:rPr lang="zh-CN" altLang="en-US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丘必赢</a:t>
            </a:r>
            <a:endParaRPr lang="en-US" altLang="zh-CN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WJA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之上就有机会。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优选：叠垒式连升。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慎选：阴阳相间平移。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E69535E5-A57D-3E99-0661-D74D29E6066A}"/>
              </a:ext>
            </a:extLst>
          </p:cNvPr>
          <p:cNvSpPr/>
          <p:nvPr/>
        </p:nvSpPr>
        <p:spPr>
          <a:xfrm>
            <a:off x="3224342" y="874445"/>
            <a:ext cx="1997475" cy="1382293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altLang="zh-CN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DJE&amp;DJC</a:t>
            </a:r>
            <a:r>
              <a:rPr lang="zh-CN" altLang="en-US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丘必赢</a:t>
            </a:r>
            <a:endParaRPr lang="en-US" altLang="zh-CN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绝不持有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以下仓位。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大盘指数跌破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，整体仓位减至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¼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不要预测后续涨跌，只须依赖持仓规则。</a:t>
            </a: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3B5EB6D6-22A0-47CA-D75F-143374467CC9}"/>
              </a:ext>
            </a:extLst>
          </p:cNvPr>
          <p:cNvSpPr/>
          <p:nvPr/>
        </p:nvSpPr>
        <p:spPr>
          <a:xfrm>
            <a:off x="5765103" y="874445"/>
            <a:ext cx="2880000" cy="138229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altLang="zh-CN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DJE&amp;DJC</a:t>
            </a:r>
            <a:r>
              <a:rPr lang="zh-CN" altLang="en-US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 </a:t>
            </a:r>
            <a:r>
              <a:rPr lang="en-US" altLang="zh-CN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&amp; DJB</a:t>
            </a:r>
            <a:r>
              <a:rPr lang="zh-CN" altLang="en-US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</a:t>
            </a:r>
            <a:endParaRPr lang="en-US" altLang="zh-CN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借助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护型：下破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就退出。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前提是在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上会有大波动，如频繁贯穿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则失效。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要保证替代完整性：目的是保证经过高点！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丘符合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EMA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数学原则。下破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退出是防止下破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，再次站上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要保证介入。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不应怕高。较高时，收盘买下日卖。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不应怕低。在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附近止跌或出现阳柱时买。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日中操作：冲高应卖，分批卖，收盘要买回。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6E3F590F-19CF-4699-F79C-55D3D7982380}"/>
              </a:ext>
            </a:extLst>
          </p:cNvPr>
          <p:cNvSpPr/>
          <p:nvPr/>
        </p:nvSpPr>
        <p:spPr>
          <a:xfrm>
            <a:off x="9188389" y="874445"/>
            <a:ext cx="2880000" cy="1382293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日顶型</a:t>
            </a:r>
            <a:endParaRPr lang="en-US" altLang="zh-CN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保证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DJE&amp;DJC&amp;DJB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之上，借助日顶型在以下情况必持有：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合顶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由合顶变为离顶：过程中不破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</a:p>
          <a:p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坚定持有信心：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DJEC&amp;DJB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上必持有：不需要理由，即使没有日顶型的支持条件。</a:t>
            </a:r>
            <a:endParaRPr lang="en-US" altLang="zh-CN" sz="8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区分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丘上的小丘类型，未冲高前应持有</a:t>
            </a:r>
            <a:r>
              <a:rPr lang="en-US" altLang="zh-CN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以上小丘。</a:t>
            </a:r>
          </a:p>
        </p:txBody>
      </p:sp>
      <p:sp>
        <p:nvSpPr>
          <p:cNvPr id="23" name="箭头: V 形 22">
            <a:extLst>
              <a:ext uri="{FF2B5EF4-FFF2-40B4-BE49-F238E27FC236}">
                <a16:creationId xmlns:a16="http://schemas.microsoft.com/office/drawing/2014/main" id="{C0A5C09A-8903-7C34-AD8F-C9DAD097D4E1}"/>
              </a:ext>
            </a:extLst>
          </p:cNvPr>
          <p:cNvSpPr/>
          <p:nvPr/>
        </p:nvSpPr>
        <p:spPr>
          <a:xfrm>
            <a:off x="2765394" y="1309452"/>
            <a:ext cx="374609" cy="550416"/>
          </a:xfrm>
          <a:prstGeom prst="chevron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4" name="箭头: V 形 23">
            <a:extLst>
              <a:ext uri="{FF2B5EF4-FFF2-40B4-BE49-F238E27FC236}">
                <a16:creationId xmlns:a16="http://schemas.microsoft.com/office/drawing/2014/main" id="{BAA0FE21-44DD-BACE-7419-0D3882C94318}"/>
              </a:ext>
            </a:extLst>
          </p:cNvPr>
          <p:cNvSpPr/>
          <p:nvPr/>
        </p:nvSpPr>
        <p:spPr>
          <a:xfrm>
            <a:off x="5306155" y="1309452"/>
            <a:ext cx="374609" cy="550416"/>
          </a:xfrm>
          <a:prstGeom prst="chevron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5" name="箭头: V 形 24">
            <a:extLst>
              <a:ext uri="{FF2B5EF4-FFF2-40B4-BE49-F238E27FC236}">
                <a16:creationId xmlns:a16="http://schemas.microsoft.com/office/drawing/2014/main" id="{520495BD-C3B6-FF8E-D849-4E592BD692D5}"/>
              </a:ext>
            </a:extLst>
          </p:cNvPr>
          <p:cNvSpPr/>
          <p:nvPr/>
        </p:nvSpPr>
        <p:spPr>
          <a:xfrm>
            <a:off x="8729441" y="1309452"/>
            <a:ext cx="374609" cy="550416"/>
          </a:xfrm>
          <a:prstGeom prst="chevron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8" name="文本框 27">
            <a:extLst>
              <a:ext uri="{FF2B5EF4-FFF2-40B4-BE49-F238E27FC236}">
                <a16:creationId xmlns:a16="http://schemas.microsoft.com/office/drawing/2014/main" id="{FA875CC7-C3A2-F0A9-1B4B-223A76C0EF83}"/>
              </a:ext>
            </a:extLst>
          </p:cNvPr>
          <p:cNvSpPr txBox="1"/>
          <p:nvPr/>
        </p:nvSpPr>
        <p:spPr>
          <a:xfrm>
            <a:off x="0" y="779411"/>
            <a:ext cx="739066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算法优化链条注意事项</a:t>
            </a:r>
            <a:endParaRPr lang="zh-CN" altLang="en-US" dirty="0"/>
          </a:p>
        </p:txBody>
      </p:sp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7C071753-73AD-526F-D33A-E79EC7EB2450}"/>
              </a:ext>
            </a:extLst>
          </p:cNvPr>
          <p:cNvGraphicFramePr>
            <a:graphicFrameLocks noGrp="1"/>
          </p:cNvGraphicFramePr>
          <p:nvPr/>
        </p:nvGraphicFramePr>
        <p:xfrm>
          <a:off x="1" y="2871286"/>
          <a:ext cx="6096000" cy="3986714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634991">
                  <a:extLst>
                    <a:ext uri="{9D8B030D-6E8A-4147-A177-3AD203B41FA5}">
                      <a16:colId xmlns:a16="http://schemas.microsoft.com/office/drawing/2014/main" val="3107626273"/>
                    </a:ext>
                  </a:extLst>
                </a:gridCol>
                <a:gridCol w="5461009">
                  <a:extLst>
                    <a:ext uri="{9D8B030D-6E8A-4147-A177-3AD203B41FA5}">
                      <a16:colId xmlns:a16="http://schemas.microsoft.com/office/drawing/2014/main" val="1993487706"/>
                    </a:ext>
                  </a:extLst>
                </a:gridCol>
              </a:tblGrid>
              <a:tr h="639330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核心思想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原旨教义是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DJE&amp;DJC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之上必持。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要抓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丘而非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丘（因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丘太难抓），要明确以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作为止损线；用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作为必持线（其上可减不可清），从而保证在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之上用底仓经过最高点。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要寻找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之上的上冲机会：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之上是阳柱最集中区域，目标是搜索并利用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之上所有阳柱碎片。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确保经过最高点：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之上升势的内在根源是，阳柱出现的概率高。所以要依赖均线，而非预测下柱。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4954334"/>
                  </a:ext>
                </a:extLst>
              </a:tr>
              <a:tr h="1459340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买点汇总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具体买点分类：对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正交且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之上，可在任意位置介入。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应介入情况：要寻找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之上的确定性子集，将（顶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,WJA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）在日类维度展开，找出柱排向上的子集与扭转点。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之上触顶：要寻找连续触顶情况。</a:t>
                      </a:r>
                      <a:endParaRPr lang="en-US" altLang="zh-CN" sz="800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之上阴柱：可为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跌连，最重要是未形成逆转向下。赌下柱冲高。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之上（刚上破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）：包含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首鼎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回踩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启动结构，重要是有由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向顶过渡的倾向。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离顶触哼：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最佳介入点是连续触哼第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柱。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也可参考多次触哼情况。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之下：主要用于捡漏，包括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DJA/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多柱已下破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并形成上升柱排。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之下：时点必须在周末，且依赖周柱排列。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要利用顶型筛选机会：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优选合顶情况；次选离顶连续触哼。关注（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哼</a:t>
                      </a:r>
                      <a:r>
                        <a:rPr lang="en-US" altLang="zh-CN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=2</a:t>
                      </a:r>
                      <a:r>
                        <a:rPr lang="zh-CN" altLang="en-US" sz="800" dirty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）连续触哼或触顶两次的时点。</a:t>
                      </a:r>
                      <a:endParaRPr lang="en-US" altLang="zh-CN" sz="800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不介入情况：要明确禁止介入情况，除此以外均可参与。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离顶且下破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。等待触哼第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柱是最佳介入时点。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再次站上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后，但未触哼时不介入。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2103896"/>
                  </a:ext>
                </a:extLst>
              </a:tr>
              <a:tr h="958995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卖点汇总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卖点分类：以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为止损线；用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要保证底仓经过最高点。</a:t>
                      </a:r>
                      <a:endParaRPr lang="en-US" altLang="zh-CN" sz="8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之上可减仓不可清仓：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应不减仓但实际可减至底仓，底仓等待下破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后才可清仓。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特例：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既然下破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才允许清仓，那么应寻找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之上必下跌情况，找出来并作为清仓的特例。</a:t>
                      </a:r>
                      <a:endParaRPr lang="en-US" altLang="zh-CN" sz="800" b="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：遇阳柱后可止盈至底仓（底仓用于押注</a:t>
                      </a:r>
                      <a:r>
                        <a:rPr lang="en-US" altLang="zh-CN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丘的后续涨幅）；</a:t>
                      </a: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b="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：仅针对已冲高情况，可清仓；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：允许卖底仓；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：必须清仓。（注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20260220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：是否按周级别</a:t>
                      </a:r>
                      <a:r>
                        <a:rPr lang="en-US" altLang="zh-CN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WJB</a:t>
                      </a:r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止损）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8463069"/>
                  </a:ext>
                </a:extLst>
              </a:tr>
              <a:tr h="833909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买后操作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遇阳柱：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单阳柱≥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2%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：可止盈至底仓。当日收盘符合要求可买回。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单阳柱＜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2%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：可止盈，可不变。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连阳：可止盈至底仓，可不变，可退出。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遇阴柱：未冲高情况在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之上不允许卖出；已冲高情况酌情。</a:t>
                      </a:r>
                      <a:endParaRPr lang="en-US" altLang="zh-CN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结合买点，择机介入。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0005151"/>
                  </a:ext>
                </a:extLst>
              </a:tr>
            </a:tbl>
          </a:graphicData>
        </a:graphic>
      </p:graphicFrame>
      <p:sp>
        <p:nvSpPr>
          <p:cNvPr id="3" name="文本框 2">
            <a:extLst>
              <a:ext uri="{FF2B5EF4-FFF2-40B4-BE49-F238E27FC236}">
                <a16:creationId xmlns:a16="http://schemas.microsoft.com/office/drawing/2014/main" id="{045C070A-CB9C-3BED-DC7F-0FF1B530E0BF}"/>
              </a:ext>
            </a:extLst>
          </p:cNvPr>
          <p:cNvSpPr txBox="1"/>
          <p:nvPr/>
        </p:nvSpPr>
        <p:spPr>
          <a:xfrm>
            <a:off x="0" y="2262040"/>
            <a:ext cx="8670963" cy="369332"/>
          </a:xfrm>
          <a:prstGeom prst="rect">
            <a:avLst/>
          </a:prstGeom>
          <a:solidFill>
            <a:srgbClr val="FF99CC"/>
          </a:solidFill>
        </p:spPr>
        <p:txBody>
          <a:bodyPr wrap="none" rtlCol="0">
            <a:spAutoFit/>
          </a:bodyPr>
          <a:lstStyle/>
          <a:p>
            <a:r>
              <a:rPr lang="zh-CN" altLang="en-US" dirty="0">
                <a:solidFill>
                  <a:srgbClr val="FF0000"/>
                </a:solidFill>
              </a:rPr>
              <a:t>注</a:t>
            </a:r>
            <a:r>
              <a:rPr lang="en-US" altLang="zh-CN" dirty="0">
                <a:solidFill>
                  <a:srgbClr val="FF0000"/>
                </a:solidFill>
              </a:rPr>
              <a:t>20260220</a:t>
            </a:r>
            <a:r>
              <a:rPr lang="zh-CN" altLang="en-US" dirty="0">
                <a:solidFill>
                  <a:srgbClr val="FF0000"/>
                </a:solidFill>
              </a:rPr>
              <a:t>：此优化链条的错误：应只针对“周主升管”，而不应片面依赖低阶均线。</a:t>
            </a: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4BD0D892-EA94-9EB8-F211-6364048FE887}"/>
              </a:ext>
            </a:extLst>
          </p:cNvPr>
          <p:cNvSpPr/>
          <p:nvPr/>
        </p:nvSpPr>
        <p:spPr>
          <a:xfrm>
            <a:off x="6812280" y="2844736"/>
            <a:ext cx="5379720" cy="4013264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（注</a:t>
            </a:r>
            <a:r>
              <a:rPr lang="en-US" altLang="zh-CN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20260220</a:t>
            </a:r>
            <a:r>
              <a:rPr lang="zh-CN" altLang="en-US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 </a:t>
            </a:r>
            <a:r>
              <a:rPr lang="en-US" altLang="zh-CN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 DJB</a:t>
            </a:r>
            <a:r>
              <a:rPr lang="zh-CN" altLang="en-US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丘属于过度优化，且已忽略了“周主升”应舍弃。只把</a:t>
            </a:r>
            <a:r>
              <a:rPr lang="en-US" altLang="zh-CN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用于确定龙战法介入点。）</a:t>
            </a:r>
          </a:p>
          <a:p>
            <a:endParaRPr lang="en-US" altLang="zh-CN" sz="800" b="1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丘必赢，将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丘拆分为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丘。需要面临以下抉择：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后避跌：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失败情况：下破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后立刻又站上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。（应再次介入，但需要承担买卖差价损失）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失败情况：价下破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。不能明确后续走势。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上破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后要介入：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要保证替代（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丘）的完整性。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提供专门指标进行提示：满足（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丘）且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则显示“应持有”。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每日筛选上破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情况：满足（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丘）且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≤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依据周级别以上走势选定备选池，在上破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后择机介入。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失败情况：上破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后立刻又下破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之上分区判断机会：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合顶且触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：最有可能，持续连升。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合顶且触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：有可能由连升转为阴阳相间；也有可能再次阳柱。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如为单柱调整或两柱调整，后续可能再次阳柱。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合顶且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：很有可能转为阴阳相间。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离顶且在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上：要判断是否已出现明确的顶部特征。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如果之前走势为（合顶且调整期未破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）可介入。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如之前已下破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，需要等待再次合顶后介入。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离顶且在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下：千万小心，之前如果已经历完整弧或已冲高，则有可能转跌。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之上可持有的走势：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走势种类：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垒升：柱与柱不重叠部分占比更大。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000250" lvl="4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基本要求是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，以连阳柱上破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不算叠垒。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平移上扬：以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十字星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小阳柱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小阴柱，以极小角度缓慢上升。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平移下落：以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十字星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小阳柱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小阴柱，以极小角度缓慢脱离顶向下。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阴阳相间：不要押注阳柱后会冲高。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走势衔接：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垒升，可转为：阴阳相间；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阴阳相间，可转为：破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，或叠垒。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201436810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43088A-A9AC-F7BF-F826-FE45962399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23148BB1-BCBE-95BC-5474-129019AEB1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837994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日丘优化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比较算法：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【DJE&amp;DJC】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【DJE&amp;DJC&amp;DJB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核心原则：优先关注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丘周期，谨慎对待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/DXZB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/DXAB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/DXAC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劫。</a:t>
            </a:r>
            <a:b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仓位原则：触顶代表应有恒仓，但不宜重仓。</a:t>
            </a:r>
            <a:endParaRPr lang="en-US" altLang="zh-CN" sz="1600" b="1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8F8EF480-50AB-31EA-E007-627AED1187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0221983"/>
              </p:ext>
            </p:extLst>
          </p:nvPr>
        </p:nvGraphicFramePr>
        <p:xfrm>
          <a:off x="1" y="837994"/>
          <a:ext cx="12192001" cy="602001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00818">
                  <a:extLst>
                    <a:ext uri="{9D8B030D-6E8A-4147-A177-3AD203B41FA5}">
                      <a16:colId xmlns:a16="http://schemas.microsoft.com/office/drawing/2014/main" val="3518135548"/>
                    </a:ext>
                  </a:extLst>
                </a:gridCol>
                <a:gridCol w="619832">
                  <a:extLst>
                    <a:ext uri="{9D8B030D-6E8A-4147-A177-3AD203B41FA5}">
                      <a16:colId xmlns:a16="http://schemas.microsoft.com/office/drawing/2014/main" val="3566282683"/>
                    </a:ext>
                  </a:extLst>
                </a:gridCol>
                <a:gridCol w="618248">
                  <a:extLst>
                    <a:ext uri="{9D8B030D-6E8A-4147-A177-3AD203B41FA5}">
                      <a16:colId xmlns:a16="http://schemas.microsoft.com/office/drawing/2014/main" val="1420988926"/>
                    </a:ext>
                  </a:extLst>
                </a:gridCol>
                <a:gridCol w="1686158">
                  <a:extLst>
                    <a:ext uri="{9D8B030D-6E8A-4147-A177-3AD203B41FA5}">
                      <a16:colId xmlns:a16="http://schemas.microsoft.com/office/drawing/2014/main" val="1071137347"/>
                    </a:ext>
                  </a:extLst>
                </a:gridCol>
                <a:gridCol w="2457679">
                  <a:extLst>
                    <a:ext uri="{9D8B030D-6E8A-4147-A177-3AD203B41FA5}">
                      <a16:colId xmlns:a16="http://schemas.microsoft.com/office/drawing/2014/main" val="3254083545"/>
                    </a:ext>
                  </a:extLst>
                </a:gridCol>
                <a:gridCol w="1711398">
                  <a:extLst>
                    <a:ext uri="{9D8B030D-6E8A-4147-A177-3AD203B41FA5}">
                      <a16:colId xmlns:a16="http://schemas.microsoft.com/office/drawing/2014/main" val="2973653643"/>
                    </a:ext>
                  </a:extLst>
                </a:gridCol>
                <a:gridCol w="1675092">
                  <a:extLst>
                    <a:ext uri="{9D8B030D-6E8A-4147-A177-3AD203B41FA5}">
                      <a16:colId xmlns:a16="http://schemas.microsoft.com/office/drawing/2014/main" val="327636756"/>
                    </a:ext>
                  </a:extLst>
                </a:gridCol>
                <a:gridCol w="1427054">
                  <a:extLst>
                    <a:ext uri="{9D8B030D-6E8A-4147-A177-3AD203B41FA5}">
                      <a16:colId xmlns:a16="http://schemas.microsoft.com/office/drawing/2014/main" val="3379415047"/>
                    </a:ext>
                  </a:extLst>
                </a:gridCol>
                <a:gridCol w="1395722">
                  <a:extLst>
                    <a:ext uri="{9D8B030D-6E8A-4147-A177-3AD203B41FA5}">
                      <a16:colId xmlns:a16="http://schemas.microsoft.com/office/drawing/2014/main" val="3520492820"/>
                    </a:ext>
                  </a:extLst>
                </a:gridCol>
              </a:tblGrid>
              <a:tr h="487594"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主区域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子区域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区域名称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区域特征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日类稳升趋势必维持状态：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ZE&gt;0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CD&gt;0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ZC&gt;0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AB&gt;0</a:t>
                      </a: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按是否破坏此状态时区分：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符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漏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否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第三优化：日柱优化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为操盘线；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根据日柱进行优化。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第二优化：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DJE&amp;DJC&amp;DJB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算法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为操盘线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注：日级只能止盈不能止损。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第一优化：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DJE&amp;DJC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算法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为操盘线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算法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为操盘线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4909164"/>
                  </a:ext>
                </a:extLst>
              </a:tr>
              <a:tr h="211291">
                <a:tc rowSpan="21"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DXCE&gt;0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rowSpan="18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DXCD&gt;0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冲劫</a:t>
                      </a:r>
                      <a:endParaRPr lang="en-US" altLang="zh-CN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之上冲高</a:t>
                      </a:r>
                      <a:endParaRPr lang="en-US" altLang="zh-CN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符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注意在阳柱退出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18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冲高止盈：巨连久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5699938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100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天劫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复：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之上天劫恢复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符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18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待优化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795770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之上天劫（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人排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跌排）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符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18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待优化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6801608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DXZA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复：下破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后阳柱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符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不可能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18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待优化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0173065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劫：下破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符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不可能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18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待优化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6551904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DXZB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endParaRPr lang="en-US" altLang="zh-CN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（慎）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复：下破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符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不可能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负交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18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同原旨算法（等待站上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DJA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7430505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劫：下破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DJB(D3v)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漏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下破二均。可能使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DXAB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负交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同原旨算法（破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DJB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可退出）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恒仓（破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DJC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退出）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恒仓（破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DJC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退出）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2647739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endParaRPr lang="en-US" altLang="zh-CN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（慎）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复：站上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DJB(D2I)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漏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上破二均。可能使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DXAB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正交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慎入：防诱多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1296049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复：站上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DJA(D3h)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漏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上破一均。未上破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DJB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慎入：等待站稳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勿入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6202716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DXAB&lt;0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DXZA&lt;0(D3w)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漏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】DXAB&lt;0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。仍有可能快速恢复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DXAB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正交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慎入：等待站稳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勿入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恒仓（破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DJC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退出）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4264267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DXAC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endParaRPr lang="en-US" altLang="zh-CN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（弃）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复：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DXAC&lt;0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漏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上破二均。可能使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DXAB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正交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勿入：防日诱多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3072850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复：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DXAC&lt;0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漏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上破一均。可能使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DXAB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正交</a:t>
                      </a:r>
                      <a:endParaRPr kumimoji="0" lang="en-US" altLang="zh-CN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勿入：防日诱多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勿入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1272733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DXAC&lt;0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否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下破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DJC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勿入：防日诱多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0971280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4"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DXBC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</a:t>
                      </a:r>
                      <a:endParaRPr lang="en-US" altLang="zh-CN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（慎）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9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复：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/D1b/D1w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9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符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18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待优化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515256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复：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/D1v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9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漏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上破二均。可能使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DXAB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正交。已符合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DXCD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18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待优化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5172786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复：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/6w/6v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9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漏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】DXAB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符合。等待上破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DJC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后符合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DXCD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退出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退出（当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DXCD&gt;0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可入）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退出（当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DXCD&gt;0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可入）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6349294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劫：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DXBC&lt;0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且在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DJC&amp;DJB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9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否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下破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DJC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退出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5904360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否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下破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DJC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。可能使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DXCD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负交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同原旨算法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4434336"/>
                  </a:ext>
                </a:extLst>
              </a:tr>
              <a:tr h="23072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DXCD&lt;0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警周诱多</a:t>
                      </a:r>
                      <a:endParaRPr lang="en-US" altLang="zh-CN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站上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DJD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漏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要求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AB&gt;0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。注意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DXCD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正交非常耗时。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同原旨算法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半仓（等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DXCD&gt;0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补齐恒仓）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半仓（等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DXCD&gt;0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补齐恒仓）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半仓（等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DXCD&gt;0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补齐恒仓）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191778"/>
                  </a:ext>
                </a:extLst>
              </a:tr>
              <a:tr h="230720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已站上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否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不上破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DJC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不可能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DXCD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正交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同原旨算法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半仓（等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DXCD&gt;0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补齐恒仓）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半仓（等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DXCD&gt;0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补齐恒仓）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半仓（等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DXCD&gt;0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补齐恒仓）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3552960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未站上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DJC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【</a:t>
                      </a: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否</a:t>
                      </a:r>
                      <a:r>
                        <a:rPr kumimoji="0" lang="en-US" altLang="zh-CN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】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同原旨算法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勿入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勿入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恒仓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5242744"/>
                  </a:ext>
                </a:extLst>
              </a:tr>
              <a:tr h="211291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</a:p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DXCE&lt;0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DXCD&gt;0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警月诱多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参考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DXZE&gt;0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DXCD&gt;0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分类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同原旨算法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半仓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半仓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半仓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496544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en-US" altLang="zh-CN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DXCD&lt;0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警月诱多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参考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DXZE&gt;0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DXCD&lt;0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分类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同原旨算法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半仓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半仓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半仓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0242565"/>
                  </a:ext>
                </a:extLst>
              </a:tr>
              <a:tr h="211291">
                <a:tc rowSpan="3"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</a:t>
                      </a: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  <a:endParaRPr lang="en-US" altLang="zh-CN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DXCE&gt;0</a:t>
                      </a:r>
                      <a:endParaRPr lang="zh-CN" altLang="en-US" sz="7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控制风险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不参与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同原旨算法</a:t>
                      </a:r>
                      <a:endParaRPr kumimoji="0" lang="zh-CN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勿入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勿入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勿入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2253784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DXCE&lt;0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警月诱多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突破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</a:t>
                      </a:r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后下破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不参与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同原旨算法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退出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94358"/>
                  </a:ext>
                </a:extLst>
              </a:tr>
              <a:tr h="211291"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CN" altLang="en-US" sz="80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800" b="1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始终未突破</a:t>
                      </a:r>
                      <a:r>
                        <a:rPr lang="en-US" altLang="zh-CN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DJE</a:t>
                      </a:r>
                      <a:endParaRPr lang="zh-CN" altLang="en-US" sz="7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不参与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CN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同原旨算法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勿入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勿入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勿入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88855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94622229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148EDF-50EE-E8B8-78DA-87F1AE62A5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>
            <a:extLst>
              <a:ext uri="{FF2B5EF4-FFF2-40B4-BE49-F238E27FC236}">
                <a16:creationId xmlns:a16="http://schemas.microsoft.com/office/drawing/2014/main" id="{D387FA92-8AC0-3F39-F6A6-D8ED284A7FE9}"/>
              </a:ext>
            </a:extLst>
          </p:cNvPr>
          <p:cNvSpPr/>
          <p:nvPr/>
        </p:nvSpPr>
        <p:spPr>
          <a:xfrm>
            <a:off x="0" y="3997404"/>
            <a:ext cx="12192000" cy="1431179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本级优化的局限性与阶段性结论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本级优化止步于（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DJE&amp;DJC&amp;DJB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本级优化主要参考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护型，不以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丘作为操作算法。可在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之下主动或被动介入。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出点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后续优化将根据丘弧的高度与角度分类，制定不同的退出标准。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强制退出。要利用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丘的收益，只将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作为最后防线，实际应已经提前退出。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时，先退出观察，等待劫恢复再介入。</a:t>
            </a: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频繁贯穿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提前退出。久升后以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中阴柱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后，升孕不站上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，可以提前退出。两柱下破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可提前退出。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日机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管中稳定：在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之上；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DTZA≤6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；窄管：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DS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管宽≤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；柱排非跌排。连阳≤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，最好为跌孕。</a:t>
            </a:r>
            <a:endParaRPr lang="zh-CN" altLang="en-US" sz="900" b="1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后续工作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本级优化止步于（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DJE&amp;DJC&amp;DJB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日柱优化：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后续优化包含（退点优化）如何将退出点由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提前、（入点优化）如何判定更有把握的丘、（中间优化）特殊形态。具体参考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日柱优化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章。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特殊战法：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下周冲高战法最靠谱，按周为周期进行操作，映射到日级进行细化。具体参考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下周冲高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章。</a:t>
            </a:r>
            <a:endParaRPr lang="en-US" altLang="zh-CN" sz="900" dirty="0">
              <a:solidFill>
                <a:srgbClr val="64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9DE86B6D-852D-D6D4-7BE7-7488575A8E7B}"/>
              </a:ext>
            </a:extLst>
          </p:cNvPr>
          <p:cNvSpPr/>
          <p:nvPr/>
        </p:nvSpPr>
        <p:spPr>
          <a:xfrm>
            <a:off x="457200" y="5788324"/>
            <a:ext cx="11734800" cy="1069675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如何在上升时保证持仓仓位：不要看形态或猜测涨幅。</a:t>
            </a:r>
            <a:endParaRPr lang="en-US" altLang="zh-CN" sz="900" dirty="0">
              <a:solidFill>
                <a:srgbClr val="64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持仓条件：在</a:t>
            </a:r>
            <a:r>
              <a:rPr lang="en-US" altLang="zh-CN" sz="900" b="1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900" b="1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之上，不与</a:t>
            </a:r>
            <a:r>
              <a:rPr lang="en-US" altLang="zh-CN" sz="900" b="1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交叉。</a:t>
            </a: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依赖趋势性均线，可以不关心其上的随机波动，从而可以只依赖均线操作（周级别依赖</a:t>
            </a:r>
            <a:r>
              <a:rPr lang="en-US" altLang="zh-CN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⇒日级别</a:t>
            </a:r>
            <a:r>
              <a:rPr lang="en-US" altLang="zh-CN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⇒日级别</a:t>
            </a:r>
            <a:r>
              <a:rPr lang="en-US" altLang="zh-CN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DJE&amp;DJC&amp;DJB</a:t>
            </a: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900" dirty="0">
              <a:solidFill>
                <a:srgbClr val="64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保持升排或四柱栅：</a:t>
            </a: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可以包含</a:t>
            </a:r>
            <a:r>
              <a:rPr lang="en-US" altLang="zh-CN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之上跌吞、</a:t>
            </a:r>
            <a:r>
              <a:rPr lang="en-US" altLang="zh-CN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之上跌连、单柱下破</a:t>
            </a:r>
            <a:r>
              <a:rPr lang="en-US" altLang="zh-CN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，第四柱要站上</a:t>
            </a:r>
            <a:r>
              <a:rPr lang="en-US" altLang="zh-CN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rgbClr val="64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如何寻找阳柱启动点：基本条件为</a:t>
            </a:r>
            <a:r>
              <a:rPr lang="en-US" altLang="zh-CN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之上，但注意</a:t>
            </a:r>
            <a:r>
              <a:rPr lang="en-US" altLang="zh-CN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之上也有很多阴柱（要在出现大阳柱后止盈退出）</a:t>
            </a:r>
            <a:endParaRPr lang="en-US" altLang="zh-CN" sz="900" dirty="0">
              <a:solidFill>
                <a:srgbClr val="64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寻找上升过程的调整结构后：连升后</a:t>
            </a:r>
            <a:r>
              <a:rPr lang="en-US" altLang="zh-CN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  <a:r>
              <a:rPr lang="en-US" altLang="zh-CN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十字星</a:t>
            </a:r>
            <a:r>
              <a:rPr lang="en-US" altLang="zh-CN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跌连。</a:t>
            </a:r>
            <a:endParaRPr lang="en-US" altLang="zh-CN" sz="900" dirty="0">
              <a:solidFill>
                <a:srgbClr val="64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思考方式</a:t>
            </a:r>
            <a:r>
              <a:rPr lang="en-US" altLang="zh-CN" sz="900" b="1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900" b="1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在阴柱买入的理由：在没出现本阴柱之前符合买入条件，出现本阴柱之后未达到清仓条件（仍在</a:t>
            </a:r>
            <a:r>
              <a:rPr lang="en-US" altLang="zh-CN" sz="900" b="1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之上），按照条件应继续持有。从而，在此阴柱买入，既符合持有条件，又比前柱的成本更低，这是阴柱买入的理由。</a:t>
            </a:r>
            <a:endParaRPr lang="en-US" altLang="zh-CN" sz="900" b="1" dirty="0">
              <a:solidFill>
                <a:srgbClr val="64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思考方式</a:t>
            </a:r>
            <a:r>
              <a:rPr lang="en-US" altLang="zh-CN" sz="900" b="1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900" b="1" dirty="0">
                <a:solidFill>
                  <a:srgbClr val="64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买入时的思考方式：不要依据本柱推测下柱是否为下跌，而应想象，如果下柱出现中阳柱，是否具有可行性？如，形态是否符合运行规律。</a:t>
            </a:r>
            <a:endParaRPr lang="en-US" altLang="zh-CN" sz="900" b="1" dirty="0">
              <a:solidFill>
                <a:srgbClr val="64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7C6DDBF0-32A7-8B08-B8C7-0CE9D0A81D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日丘优化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日类操盘方法总页</a:t>
            </a:r>
            <a:b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核心思想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先利用周线理清可操作范围与趋势阶段，再利用更精细的日类进行操作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（不要针对日类另起炉灶）。日类操盘方法要吸取游击战作战方法。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915A5ED5-C365-0AE2-BAA5-EF3E59EB7F7E}"/>
              </a:ext>
            </a:extLst>
          </p:cNvPr>
          <p:cNvSpPr txBox="1"/>
          <p:nvPr/>
        </p:nvSpPr>
        <p:spPr>
          <a:xfrm>
            <a:off x="0" y="704195"/>
            <a:ext cx="12192000" cy="3293209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28575">
            <a:solidFill>
              <a:schemeClr val="accent6">
                <a:lumMod val="50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日类操盘方法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】@20250522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：本级优化截止于（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DJE&amp;DJC&amp;DJB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操盘口令</a:t>
            </a:r>
            <a:r>
              <a:rPr lang="en-US" altLang="zh-CN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牢记收益：</a:t>
            </a:r>
            <a:r>
              <a:rPr lang="zh-CN" altLang="en-US" sz="9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底线收益是</a:t>
            </a:r>
            <a:r>
              <a:rPr lang="en-US" altLang="zh-CN" sz="9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丘，基本收益是</a:t>
            </a:r>
            <a:r>
              <a:rPr lang="en-US" altLang="zh-CN" sz="9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9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丘，目标收益是</a:t>
            </a:r>
            <a:r>
              <a:rPr lang="en-US" altLang="zh-CN" sz="9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DJE&amp;DJC&amp;DJB</a:t>
            </a:r>
            <a:r>
              <a:rPr lang="zh-CN" altLang="en-US" sz="9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丘。每层优化都是必赢的算法。</a:t>
            </a:r>
            <a:endParaRPr lang="en-US" altLang="zh-CN" sz="900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日类须遵从周类操作要点：（柱</a:t>
            </a:r>
            <a:r>
              <a:rPr lang="en-US" altLang="zh-CN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20250808</a:t>
            </a:r>
            <a:r>
              <a:rPr lang="zh-CN" altLang="en-US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：已改为按</a:t>
            </a:r>
            <a:r>
              <a:rPr lang="en-US" altLang="zh-CN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提前退出，一切以</a:t>
            </a:r>
            <a:r>
              <a:rPr lang="en-US" altLang="zh-CN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为操盘线）</a:t>
            </a:r>
            <a:endParaRPr lang="en-US" altLang="zh-CN" sz="900" b="1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止损：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与周类算法保持一致：破</a:t>
            </a:r>
            <a:r>
              <a:rPr lang="en-US" altLang="zh-CN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退出（日类可优化为破</a:t>
            </a:r>
            <a:r>
              <a:rPr lang="en-US" altLang="zh-CN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退出）；破</a:t>
            </a:r>
            <a:r>
              <a:rPr lang="en-US" altLang="zh-CN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双柱退出。例外，对于冲高情况，可在下破</a:t>
            </a:r>
            <a:r>
              <a:rPr lang="en-US" altLang="zh-CN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处提前退出，退出理由是基于以下理念，冲高时应卖出而未卖。</a:t>
            </a:r>
            <a:endParaRPr lang="en-US" altLang="zh-CN" sz="9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介入：</a:t>
            </a:r>
            <a:r>
              <a:rPr lang="en-US" altLang="zh-CN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正交；上破</a:t>
            </a:r>
            <a:r>
              <a:rPr lang="en-US" altLang="zh-CN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双柱。</a:t>
            </a:r>
            <a:endParaRPr lang="en-US" altLang="zh-CN" sz="9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周类视角：</a:t>
            </a:r>
            <a:r>
              <a:rPr lang="zh-CN" altLang="en-US" sz="9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相信下周冲高。把（</a:t>
            </a:r>
            <a:r>
              <a:rPr lang="en-US" altLang="zh-CN" sz="9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DJC,</a:t>
            </a:r>
            <a:r>
              <a:rPr lang="zh-CN" altLang="en-US" sz="9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顶）看做周管，在管中波动。在周类视角以</a:t>
            </a:r>
            <a:r>
              <a:rPr lang="en-US" altLang="zh-CN" sz="9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为操作底线，可以转化为，在日类视角以</a:t>
            </a:r>
            <a:r>
              <a:rPr lang="en-US" altLang="zh-CN" sz="9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作为辅助工具。</a:t>
            </a:r>
            <a:endParaRPr lang="en-US" altLang="zh-CN" sz="900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辅助护线的级别与作用：</a:t>
            </a:r>
            <a:endParaRPr lang="en-US" altLang="zh-CN" sz="9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）地位：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操作规则的核心龙骨。其他辅助护线只可增强信心，不可用作止损线。</a:t>
            </a:r>
            <a:endParaRPr lang="en-US" altLang="zh-CN" sz="9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DXBC/DXAB</a:t>
            </a:r>
            <a:r>
              <a:rPr lang="zh-CN" altLang="en-US" sz="9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护线作用：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坚决不能作为止损依据；满足（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DJD-DJC-DJB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）多头排列时增强信心；不满足多头排列时仅警示不止损，且仅按照</a:t>
            </a:r>
            <a:r>
              <a:rPr lang="en-US" altLang="zh-CN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进行操作。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仓位控制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endParaRPr lang="zh-CN" altLang="en-US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提高单股限额：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单股正常限额为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万。此举措的用意是，必须在手中持有的股票上搞出名堂，而不能总以未持有的股票作为借口。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限制持股类别：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个数限制在（总额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万元）以下，有余额也不买其他票，除非调整标的。不要太过分散持仓，而要提高选股准确度。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持有标的选择：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必须加大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ETF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仓位，增加未持有主升浪妖股的收益分享，另外减少交易费用。在周末按照下周冲高配置股票仓位，在周中利用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ETF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进行临时操作。</a:t>
            </a:r>
            <a:endParaRPr lang="zh-CN" altLang="en-US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操盘范围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日类范围：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限定在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上。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DXCE&gt;0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时：当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可接受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D6wD6v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，按周类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丘；当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要防止尾诱，必须在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（当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DXCE&lt;0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上穿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时，最好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做丘）。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周类范围：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优选但不强制要求。周类对应为：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WXZC&gt;0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。优选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WTZA=-1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入点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仓位授权来自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，理论上恒仓应保持不动，处于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DJC&amp;DJB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之上应保持恒仓，确定性机会用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仓，不确定则减为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必在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不在任何时间持有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之下仓位（例外，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/D6w/D6v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当柱排为升排时可主动进入，以劫修复后站上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为介入窗口。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持有时不能依赖形态，而要按柱未下破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来坚定持有。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劫已修复：对于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/DXZB/DXAB/DXAC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劫防止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头诱多；对于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劫可在首下破或站上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介入；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劫经过充分调整是最好机会。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之下：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不主动进入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之下。只可被动进入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之下（等待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退出，与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护型存在矛盾，只在少数周类柱排有把握情况）。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C0D67786-479F-199F-3675-AEB740213633}"/>
              </a:ext>
            </a:extLst>
          </p:cNvPr>
          <p:cNvSpPr txBox="1"/>
          <p:nvPr/>
        </p:nvSpPr>
        <p:spPr>
          <a:xfrm>
            <a:off x="60386" y="5766699"/>
            <a:ext cx="112143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b="1" dirty="0"/>
              <a:t>思考方式</a:t>
            </a: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CD074071-D1F8-42F0-49FB-B06B7D9B2BEB}"/>
              </a:ext>
            </a:extLst>
          </p:cNvPr>
          <p:cNvSpPr txBox="1"/>
          <p:nvPr/>
        </p:nvSpPr>
        <p:spPr>
          <a:xfrm>
            <a:off x="8155305" y="0"/>
            <a:ext cx="4036695" cy="954107"/>
          </a:xfrm>
          <a:prstGeom prst="rect">
            <a:avLst/>
          </a:prstGeom>
          <a:solidFill>
            <a:srgbClr val="FF99CC"/>
          </a:solidFill>
        </p:spPr>
        <p:txBody>
          <a:bodyPr wrap="square">
            <a:spAutoFit/>
          </a:bodyPr>
          <a:lstStyle/>
          <a:p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此类属于仅存在于理论推导，但实际操作过程中不但会造成交易摩擦损失，而且会错失“周主升”的歪门邪路。（注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20260220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，应废弃此类算法，无实际操作的可行性）</a:t>
            </a:r>
          </a:p>
        </p:txBody>
      </p:sp>
    </p:spTree>
    <p:extLst>
      <p:ext uri="{BB962C8B-B14F-4D97-AF65-F5344CB8AC3E}">
        <p14:creationId xmlns:p14="http://schemas.microsoft.com/office/powerpoint/2010/main" val="3605138169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36CB1E-6565-77A4-D582-1E6B6554B5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>
            <a:extLst>
              <a:ext uri="{FF2B5EF4-FFF2-40B4-BE49-F238E27FC236}">
                <a16:creationId xmlns:a16="http://schemas.microsoft.com/office/drawing/2014/main" id="{1B5A2216-F2EE-5FC2-806B-CB424EAA24A7}"/>
              </a:ext>
            </a:extLst>
          </p:cNvPr>
          <p:cNvSpPr/>
          <p:nvPr/>
        </p:nvSpPr>
        <p:spPr>
          <a:xfrm>
            <a:off x="7419241" y="720000"/>
            <a:ext cx="4760582" cy="6138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926F8BB7-A6F5-F367-3955-15ACD1312E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原算法存档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202410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日类策略概览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b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基本原则：日线只用于上冲触顶止盈，其余非触顶情况依赖周线，按周而非按日止损。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2FB2F56A-C345-59FC-1310-6E758C1BB92D}"/>
              </a:ext>
            </a:extLst>
          </p:cNvPr>
          <p:cNvSpPr txBox="1"/>
          <p:nvPr/>
        </p:nvSpPr>
        <p:spPr>
          <a:xfrm>
            <a:off x="7428766" y="720000"/>
            <a:ext cx="4754441" cy="31393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日线总页（</a:t>
            </a:r>
            <a:r>
              <a:rPr lang="en-US" altLang="zh-CN" sz="14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202411</a:t>
            </a:r>
            <a:r>
              <a:rPr lang="zh-CN" altLang="en-US" sz="14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已删除，用于存档参考）</a:t>
            </a:r>
          </a:p>
          <a:p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基本思路：利用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ZE&gt;0,ZC&gt;0,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顶哼合 ⇒解决抓偏离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最远问题。日线只用于上冲触顶止盈，其余非触顶情况依赖周线，按周而非按日止损。</a:t>
            </a:r>
          </a:p>
          <a:p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必赢方法：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严格按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丘抓冲高幅。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严格按照下周冲高，设定止盈幅度操作。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日周联动：日听周指挥，周线找位置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&amp;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日线找时点。在日图中保持周柱思维。</a:t>
            </a:r>
          </a:p>
          <a:p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日图运行规律：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柱，沿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波动，在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上下翻转，经过高阶均线形成丘。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突出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是必要条件：要以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进行过滤，剔除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以下围绕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震荡。对于此类震荡，当下破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，无法确定是大跌还是震荡，要规避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下任何操作。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决定多空方向和权重，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决定是否进行操作持仓。相信增加考虑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会增加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收益。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同向代表主攻波浪，在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进入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在日线看周柱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，一定要弃顶尾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利用周图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首要规律：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DJCBA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是弧，劫的级别逐步变化。</a:t>
            </a:r>
          </a:p>
          <a:p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各均线作用：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作用：首要条件，千万不要考虑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之下，只有围绕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多次震荡或已柱上穿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再进入。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之下各日级趋势随时会失败。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作用：按花模型，如已大升后破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DJD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须退出。当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DXZD&lt;0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须看周线是否已下破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两柱以上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应止盈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作用：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之上偏离极点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偏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DBS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哼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JE)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都是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之上的偏离极点 ⇒ 应优选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/DJC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之下仅守仓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(WJC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作用：对应于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WXAC&gt;0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，是周主升区域。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DXBC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作用：出现于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w2e/w5e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，出现次数较少。很可能属于诱多，应等待</a:t>
            </a:r>
            <a:r>
              <a:rPr lang="en-US" altLang="zh-CN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/D1b/D1w</a:t>
            </a:r>
            <a:r>
              <a:rPr lang="zh-CN" altLang="en-US" sz="8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之后再介入。</a:t>
            </a:r>
            <a:endParaRPr lang="zh-CN" altLang="en-US" sz="1000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DCBE135C-2BCB-567D-D074-EDF310494A77}"/>
              </a:ext>
            </a:extLst>
          </p:cNvPr>
          <p:cNvGrpSpPr/>
          <p:nvPr/>
        </p:nvGrpSpPr>
        <p:grpSpPr>
          <a:xfrm>
            <a:off x="12326416" y="3536155"/>
            <a:ext cx="2183760" cy="658440"/>
            <a:chOff x="7916571" y="3476766"/>
            <a:chExt cx="2183760" cy="65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6" name="墨迹 5">
                  <a:extLst>
                    <a:ext uri="{FF2B5EF4-FFF2-40B4-BE49-F238E27FC236}">
                      <a16:creationId xmlns:a16="http://schemas.microsoft.com/office/drawing/2014/main" id="{CA8960B1-351C-F878-A6B5-FD9F5D07A16E}"/>
                    </a:ext>
                  </a:extLst>
                </p14:cNvPr>
                <p14:cNvContentPartPr/>
                <p14:nvPr/>
              </p14:nvContentPartPr>
              <p14:xfrm>
                <a:off x="7916571" y="3861246"/>
                <a:ext cx="2140920" cy="25200"/>
              </p14:xfrm>
            </p:contentPart>
          </mc:Choice>
          <mc:Fallback xmlns="">
            <p:pic>
              <p:nvPicPr>
                <p:cNvPr id="5" name="墨迹 4">
                  <a:extLst>
                    <a:ext uri="{FF2B5EF4-FFF2-40B4-BE49-F238E27FC236}">
                      <a16:creationId xmlns:a16="http://schemas.microsoft.com/office/drawing/2014/main" id="{B9DF8BA3-FDC1-3834-40D2-1B2C15D0A6B3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7910451" y="3855126"/>
                  <a:ext cx="21531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7" name="墨迹 6">
                  <a:extLst>
                    <a:ext uri="{FF2B5EF4-FFF2-40B4-BE49-F238E27FC236}">
                      <a16:creationId xmlns:a16="http://schemas.microsoft.com/office/drawing/2014/main" id="{A37B859B-0655-3D37-D717-F419EC5A16A0}"/>
                    </a:ext>
                  </a:extLst>
                </p14:cNvPr>
                <p14:cNvContentPartPr/>
                <p14:nvPr/>
              </p14:nvContentPartPr>
              <p14:xfrm>
                <a:off x="7988931" y="3482526"/>
                <a:ext cx="760320" cy="561240"/>
              </p14:xfrm>
            </p:contentPart>
          </mc:Choice>
          <mc:Fallback xmlns="">
            <p:pic>
              <p:nvPicPr>
                <p:cNvPr id="6" name="墨迹 5">
                  <a:extLst>
                    <a:ext uri="{FF2B5EF4-FFF2-40B4-BE49-F238E27FC236}">
                      <a16:creationId xmlns:a16="http://schemas.microsoft.com/office/drawing/2014/main" id="{D83C7D36-8AAF-B06A-9AA3-F924B2950C7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7982811" y="3476406"/>
                  <a:ext cx="772560" cy="57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8" name="墨迹 7">
                  <a:extLst>
                    <a:ext uri="{FF2B5EF4-FFF2-40B4-BE49-F238E27FC236}">
                      <a16:creationId xmlns:a16="http://schemas.microsoft.com/office/drawing/2014/main" id="{EFC4C94B-781E-F503-5115-1C29FDB6215A}"/>
                    </a:ext>
                  </a:extLst>
                </p14:cNvPr>
                <p14:cNvContentPartPr/>
                <p14:nvPr/>
              </p14:nvContentPartPr>
              <p14:xfrm>
                <a:off x="8734491" y="3476766"/>
                <a:ext cx="1365840" cy="658440"/>
              </p14:xfrm>
            </p:contentPart>
          </mc:Choice>
          <mc:Fallback xmlns="">
            <p:pic>
              <p:nvPicPr>
                <p:cNvPr id="9" name="墨迹 8">
                  <a:extLst>
                    <a:ext uri="{FF2B5EF4-FFF2-40B4-BE49-F238E27FC236}">
                      <a16:creationId xmlns:a16="http://schemas.microsoft.com/office/drawing/2014/main" id="{688938BD-171A-3A5F-98A0-45496C2FCD2D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728371" y="3470646"/>
                  <a:ext cx="1378080" cy="670680"/>
                </a:xfrm>
                <a:prstGeom prst="rect">
                  <a:avLst/>
                </a:prstGeom>
              </p:spPr>
            </p:pic>
          </mc:Fallback>
        </mc:AlternateContent>
      </p:grpSp>
      <p:sp>
        <p:nvSpPr>
          <p:cNvPr id="14" name="文本框 13">
            <a:extLst>
              <a:ext uri="{FF2B5EF4-FFF2-40B4-BE49-F238E27FC236}">
                <a16:creationId xmlns:a16="http://schemas.microsoft.com/office/drawing/2014/main" id="{B46E0C80-8C76-FCA3-A500-E29F17FB2FFC}"/>
              </a:ext>
            </a:extLst>
          </p:cNvPr>
          <p:cNvSpPr txBox="1"/>
          <p:nvPr/>
        </p:nvSpPr>
        <p:spPr>
          <a:xfrm>
            <a:off x="7439477" y="5795129"/>
            <a:ext cx="4742998" cy="10618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9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</a:t>
            </a:r>
            <a:r>
              <a:rPr lang="en-US" altLang="zh-CN" sz="9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如果按照</a:t>
            </a:r>
            <a:r>
              <a:rPr lang="en-US" altLang="zh-CN" sz="9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作为退出线，那么从</a:t>
            </a:r>
            <a:r>
              <a:rPr lang="en-US" altLang="zh-CN" sz="9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触顶</a:t>
            </a:r>
            <a:r>
              <a:rPr lang="en-US" altLang="zh-CN" sz="9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lang="en-US" altLang="zh-CN" sz="9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9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DJC】</a:t>
            </a:r>
            <a:r>
              <a:rPr lang="zh-CN" altLang="en-US" sz="9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会经历哪些情况？</a:t>
            </a:r>
            <a:endParaRPr lang="en-US" altLang="zh-CN" sz="9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颠覆性认知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20241111</a:t>
            </a:r>
            <a:r>
              <a:rPr lang="zh-CN" altLang="en-US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：区间（从最高点到下破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），不应该被认为是必须躲避的损失，而应当看做是可被用来判断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已见顶且失势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的工具。出现了就可以在下破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之前退出。</a:t>
            </a:r>
            <a:endParaRPr lang="en-US" altLang="zh-CN" sz="9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颠覆性认知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20241111</a:t>
            </a:r>
            <a:r>
              <a:rPr lang="zh-CN" altLang="en-US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：必须等破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才允许卖出。之前的算法总是想左侧冲高止盈，但经常会错过后续高点。如果限制必须破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才能卖出，则可以保证已经经过高点。此条准则可能不适用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浮仓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；但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底仓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一定要遵守此准则。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E4B251E6-33AB-FA45-9BB9-B7BCA54B2EC9}"/>
              </a:ext>
            </a:extLst>
          </p:cNvPr>
          <p:cNvSpPr txBox="1"/>
          <p:nvPr/>
        </p:nvSpPr>
        <p:spPr>
          <a:xfrm>
            <a:off x="8793" y="720000"/>
            <a:ext cx="7407064" cy="3831818"/>
          </a:xfrm>
          <a:prstGeom prst="rect">
            <a:avLst/>
          </a:prstGeom>
          <a:solidFill>
            <a:schemeClr val="bg2">
              <a:lumMod val="90000"/>
            </a:schemeClr>
          </a:solidFill>
          <a:ln w="2857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en-US" altLang="zh-CN" sz="9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日类操盘方法</a:t>
            </a:r>
            <a:r>
              <a:rPr lang="en-US" altLang="zh-CN" sz="9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】@202410</a:t>
            </a:r>
            <a:r>
              <a:rPr lang="zh-CN" altLang="en-US" sz="9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：待对比后删除</a:t>
            </a:r>
            <a:endParaRPr lang="en-US" altLang="zh-CN" sz="900" b="1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基本原则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endParaRPr lang="zh-CN" altLang="en-US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周类划定备选范围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以周为准，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WXZC&gt;0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WXZB&gt;0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为备选范围。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日类划定操作区域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核心是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丘，对应于周柱在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之上。两线取上确定操作区域，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之上，选择远离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走势。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日类借助势头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之上主升阶段，借助（宽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排）确定日类势头。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仓位控制原则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根据后续走势调整仓位：保证底仓经历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丘上升波段；浮仓只在合顶升排时低吸高抛。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触顶减至底仓原则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触顶时判断是否止盈，减至底仓（高偏连宽）；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存疑减至底仓原则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对后面没有把握，就减至底仓。如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涨多了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合顶变为离顶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升排消失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底仓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之上维持底仓；且不破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不出。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浮仓入点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】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优选合顶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[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,DJA]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管；次选离顶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[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哼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,DJA]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管。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DJECB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之上，只在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之上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DTZA≥2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（注意后续止损不按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），只在升排进入。（注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202501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：上破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就应进入，此仓位代表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DJE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权重）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Wingdings" panose="05000000000000000000" pitchFamily="2" charset="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日类出现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失势标志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】(/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跌连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跌吞升孕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)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后，不知何时止跌，须等待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失势恢复标志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】(/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站上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DJA/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升吞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升孕升连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)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逆转信号后再进入，最好等待跌孕回踩信号。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要相信上破均线进入的方案；不要相信均线之上的特殊形态（鼎，四柱栅）。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浮仓出点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浮仓应在下破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退出，在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之上只有特殊情况考虑退出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：</a:t>
            </a:r>
            <a:endParaRPr lang="en-US" altLang="zh-CN" sz="9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Wingdings" panose="05000000000000000000" pitchFamily="2" charset="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（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1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）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【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冲高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】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触顶止盈：管宽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&gt;20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进行预警；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BSHA&gt;10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进行止盈；前柱为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DJB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之下，本柱冲高触顶。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之上止盈要关注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【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巨连久离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】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（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2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）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【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冲高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】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后下破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：冲高后，回落下破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。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  <a:sym typeface="Wingdings" panose="05000000000000000000" pitchFamily="2" charset="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（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3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）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之上巨震：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之上连续小阳柱后，形成（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/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大阴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/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大阳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/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大阴）震荡。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  <a:sym typeface="Wingdings" panose="05000000000000000000" pitchFamily="2" charset="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（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4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）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之上回归：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之上连续上涨后，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3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个以上阴柱逐渐贴附于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，近似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【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失势标志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】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。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  <a:sym typeface="Wingdings" panose="05000000000000000000" pitchFamily="2" charset="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（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5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）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【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失势标志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】DJA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之下未弹：下破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后，有可能延续下跌，等待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【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失势恢复标志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】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再进入。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  <a:sym typeface="Wingdings" panose="05000000000000000000" pitchFamily="2" charset="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（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6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）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【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失势标志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】DJA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之下震荡：下破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后，形成假鼎，或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/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升孕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/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升吞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/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升连，但未上破</a:t>
            </a:r>
            <a:r>
              <a:rPr lang="en-US" altLang="zh-CN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DJA</a:t>
            </a:r>
            <a:r>
              <a:rPr lang="zh-CN" altLang="en-US" sz="900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。</a:t>
            </a:r>
            <a:endParaRPr lang="en-US" altLang="zh-CN" sz="900" dirty="0">
              <a:latin typeface="微软雅黑" panose="020B0503020204020204" pitchFamily="34" charset="-122"/>
              <a:ea typeface="微软雅黑" panose="020B0503020204020204" pitchFamily="34" charset="-122"/>
              <a:sym typeface="Wingdings" panose="05000000000000000000" pitchFamily="2" charset="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</a:t>
            </a:r>
            <a:r>
              <a:rPr lang="en-US" altLang="zh-CN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筛选原则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在周级别选择（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〇），然后按照日层全部展开。周（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〇）⊕日（</a:t>
            </a:r>
            <a:r>
              <a:rPr lang="pl-PL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pl-PL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pl-PL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a/</a:t>
            </a:r>
            <a:r>
              <a:rPr lang="zh-CN" altLang="pl-PL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pl-PL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b/</a:t>
            </a:r>
            <a:r>
              <a:rPr lang="zh-CN" altLang="pl-PL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〇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根）。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在日看周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把日类本周五柱合为周柱，关注是否在周级别触顶（周触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触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）；是否偏离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DJC/WJA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过大。</a:t>
            </a:r>
            <a:endParaRPr lang="en-US" altLang="zh-CN" sz="9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忽略震动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不要把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以上震动太当事，不要因此调整仓位。如：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/DJA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之上跌连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DJA/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</a:t>
            </a:r>
            <a:r>
              <a:rPr lang="en-US" altLang="zh-CN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</p:txBody>
      </p:sp>
    </p:spTree>
    <p:extLst>
      <p:ext uri="{BB962C8B-B14F-4D97-AF65-F5344CB8AC3E}">
        <p14:creationId xmlns:p14="http://schemas.microsoft.com/office/powerpoint/2010/main" val="3872088448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D76731-CA34-D741-9EAE-120E6C13BD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CC05749-2C26-9DCD-EA93-1014FA6821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日类操盘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】《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稳升状态操作法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主题：利用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稳升状态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进行操作。以往是单纯讨论均线，本方法是以动态主升形成的状态来设计操盘方法，引入了动力概念。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F88D6CF4-B624-393E-758C-8B079CDDC14B}"/>
              </a:ext>
            </a:extLst>
          </p:cNvPr>
          <p:cNvSpPr/>
          <p:nvPr/>
        </p:nvSpPr>
        <p:spPr>
          <a:xfrm>
            <a:off x="0" y="720000"/>
            <a:ext cx="12192002" cy="1260000"/>
          </a:xfrm>
          <a:prstGeom prst="rect">
            <a:avLst/>
          </a:prstGeom>
          <a:solidFill>
            <a:srgbClr val="FF999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真理：通过观察全局图形可知，在稳升趋势一定维持状态：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DXCD&gt;0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DXAB&gt;0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。如果这个状态失效，则代表不再是稳升状态。</a:t>
            </a:r>
            <a:endParaRPr lang="en-US" altLang="zh-CN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需要明确：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此标准是（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丘）的子集。增加护线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是为了通过均线更好应对大规模和曲折复杂的上升。</a:t>
            </a:r>
            <a:endParaRPr lang="en-US" altLang="zh-CN" sz="9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眼中一定要时刻有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丘是操盘的最小波段，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进行辅助判断。（这是古早算法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DXZB&gt;0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的底层原因。）不添加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是为了应对更复杂的上升情况，而以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应对。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眼中一定要时刻有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是主战场；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DXCD&lt;0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DXZD&gt;0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是少数机会可放弃。通用要求是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DXZD&gt;0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。（在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VBA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展示时要按照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进行分类展示。）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眼中一定要时刻有</a:t>
            </a:r>
            <a:r>
              <a:rPr lang="en-US" altLang="zh-CN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是最基本的条件。不考虑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之下符合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的情况。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均线比升排重要：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不是升排代表稳升；而是均线状态代表稳升。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柱是划线师的工具，但均线才是划线师的目的。</a:t>
            </a:r>
            <a:endParaRPr lang="en-US" altLang="zh-CN" sz="9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9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依赖均线正交的意义：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长久稳升之后回头看，初次满足此状态时是最好介入点；如果短期指标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负交或下破</a:t>
            </a:r>
            <a:r>
              <a:rPr lang="en-US" altLang="zh-CN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9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，有可能是长期下跌的开始，要先退出，再择机进入。</a:t>
            </a:r>
          </a:p>
          <a:p>
            <a:endParaRPr lang="en-US" altLang="zh-CN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64F02074-7A61-9FEA-F01D-CA0669F32E98}"/>
              </a:ext>
            </a:extLst>
          </p:cNvPr>
          <p:cNvSpPr/>
          <p:nvPr/>
        </p:nvSpPr>
        <p:spPr>
          <a:xfrm>
            <a:off x="0" y="1974978"/>
            <a:ext cx="12192002" cy="2124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操作规则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按是否破坏此状态时区分：</a:t>
            </a:r>
            <a:r>
              <a:rPr lang="en-US" altLang="zh-CN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符</a:t>
            </a:r>
            <a:r>
              <a:rPr lang="en-US" altLang="zh-CN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漏</a:t>
            </a:r>
            <a:r>
              <a:rPr lang="en-US" altLang="zh-CN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否。</a:t>
            </a:r>
            <a:endParaRPr lang="en-US" altLang="zh-CN" sz="8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有始有终的操作方法：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在符合主升状态时进入，在状态失效时（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负交；下破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）退出。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在不同时点使用不同标准：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进入条件：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要求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DXAB&gt;0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DXZB&gt;0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，尽量在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已正交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将正交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时介入。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持有条件：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符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漏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都属于可持有状态，要放宽标准至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DXCD&gt;0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DXAB&gt;0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。注：不能一下破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就退出，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D3v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很可能是正常震荡。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退出条件：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根据（丘弧型）与（层类）选择不同的止损条件。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对于：宽＞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，（已冲高）（已整弧）。可以左侧止盈或在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之上任意处止盈，但为了保证经历最高点，应逐步减仓或保留底仓。</a:t>
            </a: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对于：宽＜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。要将退出线定为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，一定不要依赖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进行止损。</a:t>
            </a:r>
          </a:p>
          <a:p>
            <a:pPr marL="1543050" lvl="3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对于：中间情况。要依赖形态，如属于层类（主），可以依赖下破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两柱或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负交；否则，则要依赖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冲高止盈的操作方法：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在符合主升状态时，要卖在升排（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阳柱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连阳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巨偏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已冲高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已经历完整弧），要争取在靠近顶而非靠近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的位置止盈。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止盈后，如果出现回落。在符合主升状态，且靠近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的位置，在劫恢复后的小阳柱或止跌后的阴柱，再次介入。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捡漏的操作方法：在可捡漏位置进入，如果转换为主升状态则持有；如果继续失效则退出。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周级别捡漏：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是过滤周级别稳升的条件。当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DXZD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时，如果已满足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正交，可以进行试仓。（例如，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/D1w/D1b/D2cde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日级别捡漏：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是过滤日级别稳升的条件。当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时，如果满足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，即使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负交也可试仓。（例如，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/D1v/D2I/D2i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多级别捡漏：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同时放宽周级别与日级别的条件，风险较大，需要配合柱排。当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DXCD&gt;0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DXZC&lt;0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但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DXZD&gt;0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时，可以在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/D6w/D6v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进行试仓。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16AB368D-C4A3-9FA2-FDE0-A583BDE63FE5}"/>
              </a:ext>
            </a:extLst>
          </p:cNvPr>
          <p:cNvSpPr/>
          <p:nvPr/>
        </p:nvSpPr>
        <p:spPr>
          <a:xfrm>
            <a:off x="0" y="4097446"/>
            <a:ext cx="12192002" cy="216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为何要设计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日类稳升状态操盘法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？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按周级别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WJC&amp;WJB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丘进行操作，能够获得完整波段收益：前提是不进行提前止盈与提前止损。</a:t>
            </a: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</a:t>
            </a:r>
            <a:r>
              <a:rPr lang="en-US" altLang="zh-CN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日类温升状态操盘法</a:t>
            </a:r>
            <a:r>
              <a:rPr lang="en-US" altLang="zh-CN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，就是在不左侧止盈情况下，如何坚定持有仓位的信心。</a:t>
            </a:r>
            <a:endParaRPr lang="en-US" altLang="zh-CN" sz="8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日类稳升状态操盘法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增加收益的手段：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要经历最高点。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创新高仍然保证仓位，不进行左侧止盈，等待至少下破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再止盈。该方法等同于，利用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DJE&amp;DJC&amp;DJB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丘进行操作。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懂得低吸。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之上回撤时，一旦符合稳升状态，就再次介入。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日类应当有止损线。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根据日类已证明公理，所有可获利阳柱都处于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之上，如果不进行止损则必定经历下降趋势。所以，该止损一定要止损，但止损后如果按照周级别仍然符合趋势，可放入备选池，等待走势恢复再次介入。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懂得高抛。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此条属于左侧止盈，不属于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日类稳升状态操盘法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原则，但在实际操作中非常有效。日类目标收益空间：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DJC*1.2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⇒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DJA*1.1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日类要为冲高提供足够的时间与空间。将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日类稳升状态操作法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的条件进行划分。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决定日类仓位权重：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DXZE&gt;0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DXCD&gt;0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DXZC&gt;0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。此规则符合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丘的操作方法，只要满足此条件就可持有底仓。持有仓位的关键在于（下柱是否会上升）。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注意：此条规则适用于（认为大概率上升情况）（不确定上升情况但在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之上）这两种情况。主要是应对本应上升，但出现突然袭击或判断错误。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注意：此条规则不适用于（下柱必定会下跌情况），不要用于死扛。对于已下破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或已冲高偏离过大，则应先退出，待持有条件适宜后再介入。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牢记：下降不参与，上升要试仓。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明确</a:t>
            </a:r>
            <a:r>
              <a:rPr lang="en-US" altLang="zh-CN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DXAB&gt;0</a:t>
            </a:r>
            <a:r>
              <a:rPr lang="zh-CN" altLang="en-US" sz="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的作用：主要用于止盈，而非止损。</a:t>
            </a:r>
            <a:endParaRPr lang="en-US" altLang="zh-CN" sz="8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属于日级别，不能决定趋势的力度与持续度。可以用来控制止盈，但如果下破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负交时，并不能确定何时会扭转向上，此时不应使用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止损，应转为使用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止损。</a:t>
            </a:r>
            <a:endParaRPr lang="en-US" altLang="zh-CN" sz="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不能用于防守，一个中阴柱就可能下破，但下破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负交都有可能快速恢复，所以单纯依赖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止损都没有可操作性。只能针对（已冲高）（已整弧）的提前退出。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C7050AE5-90B7-24F8-7CFB-F6CF47D26346}"/>
              </a:ext>
            </a:extLst>
          </p:cNvPr>
          <p:cNvSpPr/>
          <p:nvPr/>
        </p:nvSpPr>
        <p:spPr>
          <a:xfrm>
            <a:off x="0" y="6216424"/>
            <a:ext cx="12192002" cy="641576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存档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20250309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：稳升状态的原始版本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》【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周级别稳升状态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总结主升阶段的特征，从基本特征出发，制定周级别持仓策略，特别是针对下周冲高策略。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主升阶段必然正确的特征：只要主升阶段维持足够长时间，必然形成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多头排列。具体内容参考本页下部备注：这是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日类稳升状态操作法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的原始版本与思想来源，可以进行参考，但具体内容已经总结为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护型专页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周级别稳升状态：依赖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WXZC&gt;0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且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WXAB&gt;0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，主要依赖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WXAB+WJA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丘。状态分类为：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之上：√（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W/1w/1be/2cde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）〇（大于二均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/1v/2I/2i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）〇（大于一均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/3h/3u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）〇（小于二均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/3v/3w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之下：放弃作为备选，可以依据日类稳升状态进行判断。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zh-CN" altLang="en-US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89803DF3-7187-9E74-4A99-9732A7B954FA}"/>
              </a:ext>
            </a:extLst>
          </p:cNvPr>
          <p:cNvSpPr/>
          <p:nvPr/>
        </p:nvSpPr>
        <p:spPr>
          <a:xfrm>
            <a:off x="7836981" y="1"/>
            <a:ext cx="4355019" cy="600553"/>
          </a:xfrm>
          <a:prstGeom prst="rect">
            <a:avLst/>
          </a:prstGeom>
          <a:solidFill>
            <a:srgbClr val="FF0000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20260217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：本页中的旧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稳升状态操作法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只考虑了表象，而忽略了内在。原因如下：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符合“稳升状态”后，并不能确保一定会延续。而且无法排除诱多的情况。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当不符合“稳升状态”后，已经下跌了一段时间。且在退出后，可能立刻反弹。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基于以上原因，本页算法废弃，移动至章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日丘优化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42911952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5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D29CA23-6191-4FD3-99FB-20A45E2346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2BD1752-B3F4-0035-9DDA-2EF57100E3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53000" y="365125"/>
            <a:ext cx="6400800" cy="1325563"/>
          </a:xfrm>
        </p:spPr>
        <p:txBody>
          <a:bodyPr/>
          <a:lstStyle/>
          <a:p>
            <a:r>
              <a:rPr lang="zh-CN" altLang="en-US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废弃内容</a:t>
            </a:r>
            <a:br>
              <a:rPr lang="en-US" altLang="zh-CN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tx2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等待日后整理或删除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BC2CDBE4-549D-0500-4123-D75FBD484F2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53000" y="1825625"/>
            <a:ext cx="6400800" cy="4351338"/>
          </a:xfrm>
        </p:spPr>
        <p:txBody>
          <a:bodyPr>
            <a:normAutofit/>
          </a:bodyPr>
          <a:lstStyle/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专页：打通任督二脉  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是运行中枢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原旨思考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周类上升的必要条件与充分条件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下周冲高战法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战法具体内容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日柱优化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DJA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柱均关系：须配合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护型使用</a:t>
            </a:r>
          </a:p>
          <a:p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经典图谱</a:t>
            </a:r>
            <a:r>
              <a:rPr lang="en-US" altLang="zh-CN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@DJB</a:t>
            </a:r>
            <a:r>
              <a:rPr lang="zh-CN" alt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破：日级别劫恢复</a:t>
            </a:r>
            <a:endParaRPr lang="en-US" altLang="zh-CN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indent="0">
              <a:buNone/>
            </a:pPr>
            <a:endParaRPr lang="zh-CN" altLang="en-US" sz="1600" dirty="0">
              <a:solidFill>
                <a:schemeClr val="tx2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68724B6B-C4B7-BC2F-9C77-BC69C7852840}"/>
              </a:ext>
            </a:extLst>
          </p:cNvPr>
          <p:cNvSpPr txBox="1"/>
          <p:nvPr/>
        </p:nvSpPr>
        <p:spPr>
          <a:xfrm>
            <a:off x="1071312" y="1746835"/>
            <a:ext cx="2867025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0" dirty="0">
                <a:solidFill>
                  <a:schemeClr val="tx2">
                    <a:lumMod val="75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废</a:t>
            </a:r>
          </a:p>
        </p:txBody>
      </p:sp>
    </p:spTree>
    <p:extLst>
      <p:ext uri="{BB962C8B-B14F-4D97-AF65-F5344CB8AC3E}">
        <p14:creationId xmlns:p14="http://schemas.microsoft.com/office/powerpoint/2010/main" val="72316031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矩形 51">
            <a:extLst>
              <a:ext uri="{FF2B5EF4-FFF2-40B4-BE49-F238E27FC236}">
                <a16:creationId xmlns:a16="http://schemas.microsoft.com/office/drawing/2014/main" id="{616B1F43-5FD8-D104-A264-E8441B8C7396}"/>
              </a:ext>
            </a:extLst>
          </p:cNvPr>
          <p:cNvSpPr/>
          <p:nvPr/>
        </p:nvSpPr>
        <p:spPr>
          <a:xfrm>
            <a:off x="1372" y="3965927"/>
            <a:ext cx="12190627" cy="10867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是运行中枢</a:t>
            </a:r>
            <a:endParaRPr lang="en-US" altLang="zh-CN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核心原理：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是周柱的运行中枢，需要关注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的位置与柱排列。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区分正常波动：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柱围绕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上下波动都属于正常波动，但须区分异常偏离，进行止盈或止损。</a:t>
            </a:r>
          </a:p>
        </p:txBody>
      </p:sp>
      <p:sp>
        <p:nvSpPr>
          <p:cNvPr id="53" name="矩形 52">
            <a:extLst>
              <a:ext uri="{FF2B5EF4-FFF2-40B4-BE49-F238E27FC236}">
                <a16:creationId xmlns:a16="http://schemas.microsoft.com/office/drawing/2014/main" id="{9F06FD13-BF11-0845-C001-DF427A4063E6}"/>
              </a:ext>
            </a:extLst>
          </p:cNvPr>
          <p:cNvSpPr/>
          <p:nvPr/>
        </p:nvSpPr>
        <p:spPr>
          <a:xfrm>
            <a:off x="5882429" y="3975452"/>
            <a:ext cx="6308200" cy="1086775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zh-CN" altLang="en-US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专页：打通任督二脉  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是运行中枢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主题：理清阴阳转化过程。两柱以上确认均线，</a:t>
            </a:r>
            <a:r>
              <a:rPr lang="en-US" altLang="zh-CN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WXZA=-1/1</a:t>
            </a: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都属于震荡。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0" y="720000"/>
            <a:ext cx="12192000" cy="181588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层界划分区域：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(</a:t>
            </a: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主要在周级别圈定操作区域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/</a:t>
            </a: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日线也要在此区域内展开操作，不要单独按照日线操作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)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之上是做多区域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震荡储：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w6v/w6w/w1v/w1w(</a:t>
            </a:r>
            <a:r>
              <a:rPr lang="zh-CN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看是否</a:t>
            </a: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形成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</a:t>
            </a:r>
            <a:r>
              <a:rPr lang="zh-CN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排列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趋势开启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WXAC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（长期趋势，可止盈）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趋势打破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：下破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看是否形成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柱排列</a:t>
            </a: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（仍属周范围，不应主动进入）</a:t>
            </a:r>
            <a:endParaRPr lang="en-US" altLang="zh-CN" sz="10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震荡再：正层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BCD</a:t>
            </a: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（一旦冲高后下破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后丘级别变小，失去趋势性进入震荡）</a:t>
            </a:r>
            <a:endParaRPr lang="zh-CN" altLang="zh-CN" sz="10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之下是做空区域</a:t>
            </a:r>
            <a:endParaRPr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震荡储：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w3v/w3w/w4v/w4w(</a:t>
            </a:r>
            <a:r>
              <a:rPr lang="zh-CN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看是否</a:t>
            </a: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后形成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</a:t>
            </a:r>
            <a:r>
              <a:rPr lang="zh-CN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排列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趋势开启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WXAC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趋势打破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：上破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看是否形成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柱排列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震荡再：负层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BCD</a:t>
            </a:r>
            <a:endParaRPr lang="zh-CN" altLang="en-US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5" name="组合 24">
            <a:extLst>
              <a:ext uri="{FF2B5EF4-FFF2-40B4-BE49-F238E27FC236}">
                <a16:creationId xmlns:a16="http://schemas.microsoft.com/office/drawing/2014/main" id="{C42763FB-A141-DD86-167E-D07011BF0F92}"/>
              </a:ext>
            </a:extLst>
          </p:cNvPr>
          <p:cNvGrpSpPr/>
          <p:nvPr/>
        </p:nvGrpSpPr>
        <p:grpSpPr>
          <a:xfrm>
            <a:off x="8259175" y="1404475"/>
            <a:ext cx="3792341" cy="813884"/>
            <a:chOff x="8259175" y="2124475"/>
            <a:chExt cx="3792341" cy="813884"/>
          </a:xfrm>
        </p:grpSpPr>
        <p:cxnSp>
          <p:nvCxnSpPr>
            <p:cNvPr id="6" name="直接连接符 5">
              <a:extLst>
                <a:ext uri="{FF2B5EF4-FFF2-40B4-BE49-F238E27FC236}">
                  <a16:creationId xmlns:a16="http://schemas.microsoft.com/office/drawing/2014/main" id="{04ABCF47-6148-DDF9-44D1-F3606D05AF2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84855" y="2291381"/>
              <a:ext cx="3266661" cy="26031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接连接符 8">
              <a:extLst>
                <a:ext uri="{FF2B5EF4-FFF2-40B4-BE49-F238E27FC236}">
                  <a16:creationId xmlns:a16="http://schemas.microsoft.com/office/drawing/2014/main" id="{71D949C1-5182-6059-FCB9-E3AB87586C4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84854" y="2524158"/>
              <a:ext cx="3266661" cy="26031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文本框 10">
              <a:extLst>
                <a:ext uri="{FF2B5EF4-FFF2-40B4-BE49-F238E27FC236}">
                  <a16:creationId xmlns:a16="http://schemas.microsoft.com/office/drawing/2014/main" id="{3225A746-50DA-B24B-3DA5-3A21F51CA188}"/>
                </a:ext>
              </a:extLst>
            </p:cNvPr>
            <p:cNvSpPr txBox="1"/>
            <p:nvPr/>
          </p:nvSpPr>
          <p:spPr>
            <a:xfrm>
              <a:off x="8259175" y="2446865"/>
              <a:ext cx="49276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400" dirty="0"/>
                <a:t>WJB</a:t>
              </a:r>
              <a:endParaRPr lang="zh-CN" altLang="en-US" sz="1400" dirty="0"/>
            </a:p>
          </p:txBody>
        </p:sp>
        <p:sp>
          <p:nvSpPr>
            <p:cNvPr id="7" name="文本框 6">
              <a:extLst>
                <a:ext uri="{FF2B5EF4-FFF2-40B4-BE49-F238E27FC236}">
                  <a16:creationId xmlns:a16="http://schemas.microsoft.com/office/drawing/2014/main" id="{ACC143C1-9615-1118-C6C3-CE7E34945978}"/>
                </a:ext>
              </a:extLst>
            </p:cNvPr>
            <p:cNvSpPr txBox="1"/>
            <p:nvPr/>
          </p:nvSpPr>
          <p:spPr>
            <a:xfrm>
              <a:off x="8259175" y="2630582"/>
              <a:ext cx="49116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400" dirty="0"/>
                <a:t>WJC</a:t>
              </a:r>
              <a:endParaRPr lang="zh-CN" altLang="en-US" sz="1400" dirty="0"/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90B0F6AF-9990-A835-C1B2-2B8E623BE42C}"/>
                </a:ext>
              </a:extLst>
            </p:cNvPr>
            <p:cNvSpPr/>
            <p:nvPr/>
          </p:nvSpPr>
          <p:spPr>
            <a:xfrm>
              <a:off x="8853854" y="2124475"/>
              <a:ext cx="3192273" cy="733986"/>
            </a:xfrm>
            <a:custGeom>
              <a:avLst/>
              <a:gdLst>
                <a:gd name="connsiteX0" fmla="*/ 0 w 3192273"/>
                <a:gd name="connsiteY0" fmla="*/ 733986 h 733986"/>
                <a:gd name="connsiteX1" fmla="*/ 984738 w 3192273"/>
                <a:gd name="connsiteY1" fmla="*/ 4224 h 733986"/>
                <a:gd name="connsiteX2" fmla="*/ 1608992 w 3192273"/>
                <a:gd name="connsiteY2" fmla="*/ 417463 h 733986"/>
                <a:gd name="connsiteX3" fmla="*/ 2145323 w 3192273"/>
                <a:gd name="connsiteY3" fmla="*/ 48186 h 733986"/>
                <a:gd name="connsiteX4" fmla="*/ 2488223 w 3192273"/>
                <a:gd name="connsiteY4" fmla="*/ 355917 h 733986"/>
                <a:gd name="connsiteX5" fmla="*/ 2892669 w 3192273"/>
                <a:gd name="connsiteY5" fmla="*/ 39394 h 733986"/>
                <a:gd name="connsiteX6" fmla="*/ 3156438 w 3192273"/>
                <a:gd name="connsiteY6" fmla="*/ 619686 h 733986"/>
                <a:gd name="connsiteX7" fmla="*/ 3182815 w 3192273"/>
                <a:gd name="connsiteY7" fmla="*/ 637271 h 73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92273" h="733986">
                  <a:moveTo>
                    <a:pt x="0" y="733986"/>
                  </a:moveTo>
                  <a:cubicBezTo>
                    <a:pt x="358286" y="395482"/>
                    <a:pt x="716573" y="56978"/>
                    <a:pt x="984738" y="4224"/>
                  </a:cubicBezTo>
                  <a:cubicBezTo>
                    <a:pt x="1252903" y="-48530"/>
                    <a:pt x="1415561" y="410136"/>
                    <a:pt x="1608992" y="417463"/>
                  </a:cubicBezTo>
                  <a:cubicBezTo>
                    <a:pt x="1802423" y="424790"/>
                    <a:pt x="1998785" y="58444"/>
                    <a:pt x="2145323" y="48186"/>
                  </a:cubicBezTo>
                  <a:cubicBezTo>
                    <a:pt x="2291862" y="37928"/>
                    <a:pt x="2363665" y="357382"/>
                    <a:pt x="2488223" y="355917"/>
                  </a:cubicBezTo>
                  <a:cubicBezTo>
                    <a:pt x="2612781" y="354452"/>
                    <a:pt x="2781300" y="-4568"/>
                    <a:pt x="2892669" y="39394"/>
                  </a:cubicBezTo>
                  <a:cubicBezTo>
                    <a:pt x="3004038" y="83355"/>
                    <a:pt x="3108080" y="520040"/>
                    <a:pt x="3156438" y="619686"/>
                  </a:cubicBezTo>
                  <a:cubicBezTo>
                    <a:pt x="3204796" y="719332"/>
                    <a:pt x="3193805" y="678301"/>
                    <a:pt x="3182815" y="637271"/>
                  </a:cubicBezTo>
                </a:path>
              </a:pathLst>
            </a:custGeom>
            <a:noFill/>
            <a:ln w="2540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4" name="文本框 23">
            <a:extLst>
              <a:ext uri="{FF2B5EF4-FFF2-40B4-BE49-F238E27FC236}">
                <a16:creationId xmlns:a16="http://schemas.microsoft.com/office/drawing/2014/main" id="{D0ED4539-F798-F2C4-43C6-42C89A6C58A7}"/>
              </a:ext>
            </a:extLst>
          </p:cNvPr>
          <p:cNvSpPr txBox="1"/>
          <p:nvPr/>
        </p:nvSpPr>
        <p:spPr>
          <a:xfrm>
            <a:off x="12721939" y="1305342"/>
            <a:ext cx="3064598" cy="212365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主要阶段：</a:t>
            </a:r>
          </a:p>
          <a:p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rPr>
              <a:t>升势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主要</a:t>
            </a:r>
            <a:r>
              <a: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2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r>
              <a:rPr lang="en-US" altLang="zh-CN" sz="12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跌孕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rPr>
              <a:t>升势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受阻：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守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rPr>
              <a:t>升转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震：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 (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可能是平震）</a:t>
            </a:r>
            <a:endParaRPr lang="en-US" altLang="zh-CN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rPr>
              <a:t>升转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跌：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下破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JB (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趋势结束）</a:t>
            </a:r>
            <a:endParaRPr lang="en-US" altLang="zh-CN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跌势主要：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</a:t>
            </a:r>
            <a:r>
              <a: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rPr>
              <a:t>吞</a:t>
            </a:r>
            <a:r>
              <a:rPr lang="en-US" altLang="zh-CN" sz="12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跌势受阻</a:t>
            </a:r>
            <a:r>
              <a: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2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en-US" altLang="zh-CN" sz="120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rPr>
              <a:t>升连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跌转震：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上破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 (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可能是平震）</a:t>
            </a:r>
            <a:endParaRPr lang="en-US" altLang="zh-CN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rPr>
              <a:t>跃转升：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上破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JB (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趋势结束）</a:t>
            </a:r>
            <a:endParaRPr lang="en-US" altLang="zh-CN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879505E6-07CC-0D4D-B32E-BEE6CACD4BE7}"/>
              </a:ext>
            </a:extLst>
          </p:cNvPr>
          <p:cNvSpPr/>
          <p:nvPr/>
        </p:nvSpPr>
        <p:spPr>
          <a:xfrm>
            <a:off x="0" y="2473534"/>
            <a:ext cx="12191999" cy="1498359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C8A98338-012E-517F-EE5B-6C473E1B15A7}"/>
              </a:ext>
            </a:extLst>
          </p:cNvPr>
          <p:cNvSpPr txBox="1"/>
          <p:nvPr/>
        </p:nvSpPr>
        <p:spPr>
          <a:xfrm>
            <a:off x="127000" y="2518758"/>
            <a:ext cx="1219199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因为主升必导致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多头 ⇒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WXAC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是必经之路，是必要条件的大部分。</a:t>
            </a:r>
          </a:p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正常活动是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WXAB&gt;0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且围绕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波动。</a:t>
            </a: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3F739440-0FB2-4458-4873-4343E1CA5592}"/>
              </a:ext>
            </a:extLst>
          </p:cNvPr>
          <p:cNvSpPr txBox="1"/>
          <p:nvPr/>
        </p:nvSpPr>
        <p:spPr>
          <a:xfrm>
            <a:off x="517588" y="3078891"/>
            <a:ext cx="1800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运行中枢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85469A62-2165-C23E-B643-61C6C4131859}"/>
              </a:ext>
            </a:extLst>
          </p:cNvPr>
          <p:cNvSpPr txBox="1"/>
          <p:nvPr/>
        </p:nvSpPr>
        <p:spPr>
          <a:xfrm>
            <a:off x="2696343" y="3078891"/>
            <a:ext cx="1800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柱排列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54549FB8-0EAC-9045-FC22-0723A09EAEAF}"/>
              </a:ext>
            </a:extLst>
          </p:cNvPr>
          <p:cNvSpPr txBox="1"/>
          <p:nvPr/>
        </p:nvSpPr>
        <p:spPr>
          <a:xfrm>
            <a:off x="4875098" y="3078891"/>
            <a:ext cx="1800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缠</a:t>
            </a: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C236A380-0F85-CC92-FF9C-DD68F74548D8}"/>
              </a:ext>
            </a:extLst>
          </p:cNvPr>
          <p:cNvSpPr txBox="1"/>
          <p:nvPr/>
        </p:nvSpPr>
        <p:spPr>
          <a:xfrm>
            <a:off x="7053854" y="3078891"/>
            <a:ext cx="1800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WXAC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势</a:t>
            </a:r>
          </a:p>
        </p:txBody>
      </p:sp>
      <p:sp>
        <p:nvSpPr>
          <p:cNvPr id="17" name="箭头: 右 16">
            <a:extLst>
              <a:ext uri="{FF2B5EF4-FFF2-40B4-BE49-F238E27FC236}">
                <a16:creationId xmlns:a16="http://schemas.microsoft.com/office/drawing/2014/main" id="{1764AD8D-99BB-ADD0-E760-FC4BEA4DC2D5}"/>
              </a:ext>
            </a:extLst>
          </p:cNvPr>
          <p:cNvSpPr/>
          <p:nvPr/>
        </p:nvSpPr>
        <p:spPr>
          <a:xfrm>
            <a:off x="2142898" y="3127444"/>
            <a:ext cx="372533" cy="269283"/>
          </a:xfrm>
          <a:prstGeom prst="rightArrow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箭头: 右 17">
            <a:extLst>
              <a:ext uri="{FF2B5EF4-FFF2-40B4-BE49-F238E27FC236}">
                <a16:creationId xmlns:a16="http://schemas.microsoft.com/office/drawing/2014/main" id="{92CBD680-E555-251C-6E65-167E2417FD2A}"/>
              </a:ext>
            </a:extLst>
          </p:cNvPr>
          <p:cNvSpPr/>
          <p:nvPr/>
        </p:nvSpPr>
        <p:spPr>
          <a:xfrm>
            <a:off x="4250393" y="3127444"/>
            <a:ext cx="372533" cy="269283"/>
          </a:xfrm>
          <a:prstGeom prst="rightArrow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箭头: 右 18">
            <a:extLst>
              <a:ext uri="{FF2B5EF4-FFF2-40B4-BE49-F238E27FC236}">
                <a16:creationId xmlns:a16="http://schemas.microsoft.com/office/drawing/2014/main" id="{83FA54B4-C1D5-D381-C219-DA403144E798}"/>
              </a:ext>
            </a:extLst>
          </p:cNvPr>
          <p:cNvSpPr/>
          <p:nvPr/>
        </p:nvSpPr>
        <p:spPr>
          <a:xfrm>
            <a:off x="6302565" y="3127444"/>
            <a:ext cx="372533" cy="269283"/>
          </a:xfrm>
          <a:prstGeom prst="rightArrow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文本框 20">
            <a:extLst>
              <a:ext uri="{FF2B5EF4-FFF2-40B4-BE49-F238E27FC236}">
                <a16:creationId xmlns:a16="http://schemas.microsoft.com/office/drawing/2014/main" id="{811D614D-41F2-004F-E4A1-1B86DE3F5123}"/>
              </a:ext>
            </a:extLst>
          </p:cNvPr>
          <p:cNvSpPr txBox="1"/>
          <p:nvPr/>
        </p:nvSpPr>
        <p:spPr>
          <a:xfrm>
            <a:off x="2737843" y="3457682"/>
            <a:ext cx="161713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止盈与止损</a:t>
            </a:r>
            <a:endParaRPr lang="en-US" altLang="zh-CN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zh-CN" sz="1200" kern="1200" dirty="0">
                <a:solidFill>
                  <a:srgbClr val="000000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rPr>
              <a:t>三柱</a:t>
            </a:r>
            <a:r>
              <a:rPr lang="zh-CN" altLang="en-US" sz="12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排列</a:t>
            </a:r>
            <a:r>
              <a:rPr lang="zh-CN" altLang="zh-CN" sz="1200" kern="1200" dirty="0">
                <a:solidFill>
                  <a:srgbClr val="000000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rPr>
              <a:t>确认趋势</a:t>
            </a:r>
            <a:endParaRPr lang="en-US" altLang="zh-CN" sz="1200" kern="1200" dirty="0">
              <a:solidFill>
                <a:srgbClr val="000000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文本框 21">
            <a:extLst>
              <a:ext uri="{FF2B5EF4-FFF2-40B4-BE49-F238E27FC236}">
                <a16:creationId xmlns:a16="http://schemas.microsoft.com/office/drawing/2014/main" id="{E84075E0-60B1-6509-2E03-10B9D6C54FED}"/>
              </a:ext>
            </a:extLst>
          </p:cNvPr>
          <p:cNvSpPr txBox="1"/>
          <p:nvPr/>
        </p:nvSpPr>
        <p:spPr>
          <a:xfrm>
            <a:off x="4862398" y="3457682"/>
            <a:ext cx="161713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是运行的内在动力</a:t>
            </a:r>
            <a:endParaRPr lang="en-US" altLang="zh-CN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是周日联动的纽带</a:t>
            </a:r>
          </a:p>
        </p:txBody>
      </p:sp>
      <p:sp>
        <p:nvSpPr>
          <p:cNvPr id="23" name="文本框 22">
            <a:extLst>
              <a:ext uri="{FF2B5EF4-FFF2-40B4-BE49-F238E27FC236}">
                <a16:creationId xmlns:a16="http://schemas.microsoft.com/office/drawing/2014/main" id="{299BD023-BC31-D550-97BC-7AD5F43CB255}"/>
              </a:ext>
            </a:extLst>
          </p:cNvPr>
          <p:cNvSpPr txBox="1"/>
          <p:nvPr/>
        </p:nvSpPr>
        <p:spPr>
          <a:xfrm>
            <a:off x="7135987" y="3457682"/>
            <a:ext cx="161713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rPr>
              <a:t>是大升的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必要条件</a:t>
            </a:r>
            <a:endParaRPr lang="en-US" altLang="zh-CN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划定操作范围</a:t>
            </a:r>
            <a:endParaRPr lang="en-US" altLang="zh-CN" sz="1200" kern="1200" dirty="0">
              <a:solidFill>
                <a:srgbClr val="000000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E109D75E-000E-0B33-E905-59041C7C8B37}"/>
              </a:ext>
            </a:extLst>
          </p:cNvPr>
          <p:cNvSpPr/>
          <p:nvPr/>
        </p:nvSpPr>
        <p:spPr>
          <a:xfrm>
            <a:off x="10689021" y="2473534"/>
            <a:ext cx="1502979" cy="149835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文本框 15">
            <a:extLst>
              <a:ext uri="{FF2B5EF4-FFF2-40B4-BE49-F238E27FC236}">
                <a16:creationId xmlns:a16="http://schemas.microsoft.com/office/drawing/2014/main" id="{F4FEBC93-6D0D-AB57-CACA-14710723873F}"/>
              </a:ext>
            </a:extLst>
          </p:cNvPr>
          <p:cNvSpPr txBox="1"/>
          <p:nvPr/>
        </p:nvSpPr>
        <p:spPr>
          <a:xfrm>
            <a:off x="11239078" y="2485171"/>
            <a:ext cx="738664" cy="1498359"/>
          </a:xfrm>
          <a:prstGeom prst="rect">
            <a:avLst/>
          </a:prstGeom>
          <a:noFill/>
        </p:spPr>
        <p:txBody>
          <a:bodyPr vert="eaVert" wrap="square">
            <a:spAutoFit/>
          </a:bodyPr>
          <a:lstStyle/>
          <a:p>
            <a:pPr algn="ctr"/>
            <a:r>
              <a:rPr lang="zh-CN" altLang="en-US" b="1" dirty="0">
                <a:solidFill>
                  <a:schemeClr val="bg1"/>
                </a:solidFill>
              </a:rPr>
              <a:t>正向与反向</a:t>
            </a:r>
            <a:endParaRPr lang="en-US" altLang="zh-CN" b="1" dirty="0">
              <a:solidFill>
                <a:schemeClr val="bg1"/>
              </a:solidFill>
            </a:endParaRPr>
          </a:p>
          <a:p>
            <a:pPr algn="ctr"/>
            <a:r>
              <a:rPr lang="zh-CN" altLang="en-US" b="1" dirty="0">
                <a:solidFill>
                  <a:schemeClr val="bg1"/>
                </a:solidFill>
              </a:rPr>
              <a:t>镜面对称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文本框 39">
                <a:extLst>
                  <a:ext uri="{FF2B5EF4-FFF2-40B4-BE49-F238E27FC236}">
                    <a16:creationId xmlns:a16="http://schemas.microsoft.com/office/drawing/2014/main" id="{F03C0484-488A-BEA8-01BC-76DE88B9265E}"/>
                  </a:ext>
                </a:extLst>
              </p:cNvPr>
              <p:cNvSpPr txBox="1"/>
              <p:nvPr/>
            </p:nvSpPr>
            <p:spPr>
              <a:xfrm>
                <a:off x="6028313" y="4098974"/>
                <a:ext cx="3369923" cy="7761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zh-CN" altLang="en-US" sz="1200" b="1" dirty="0" smtClean="0">
                          <a:solidFill>
                            <a:srgbClr val="1F2026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m:t>围绕</m:t>
                      </m:r>
                      <m:r>
                        <m:rPr>
                          <m:nor/>
                        </m:rPr>
                        <a:rPr lang="en-US" altLang="zh-CN" sz="1200" b="1" dirty="0" smtClean="0">
                          <a:solidFill>
                            <a:srgbClr val="1F2026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m:t>WJA</m:t>
                      </m:r>
                      <m:r>
                        <m:rPr>
                          <m:nor/>
                        </m:rPr>
                        <a:rPr lang="zh-CN" altLang="en-US" sz="1200" b="1" dirty="0" smtClean="0">
                          <a:solidFill>
                            <a:srgbClr val="1F2026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m:t>波动类型</m:t>
                      </m:r>
                      <m:d>
                        <m:dPr>
                          <m:begChr m:val="{"/>
                          <m:endChr m:val=""/>
                          <m:ctrlPr>
                            <a:rPr lang="en-US" altLang="zh-CN" sz="1200" i="1" dirty="0" smtClean="0">
                              <a:solidFill>
                                <a:srgbClr val="1F2026"/>
                              </a:solidFill>
                              <a:latin typeface="Cambria Math" panose="02040503050406030204" pitchFamily="18" charset="0"/>
                              <a:ea typeface="微软雅黑" panose="020B0503020204020204" pitchFamily="34" charset="-122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altLang="zh-CN" sz="1200" i="1" dirty="0" smtClean="0">
                                  <a:solidFill>
                                    <a:srgbClr val="1F2026"/>
                                  </a:solidFill>
                                  <a:latin typeface="Cambria Math" panose="02040503050406030204" pitchFamily="18" charset="0"/>
                                  <a:ea typeface="微软雅黑" panose="020B0503020204020204" pitchFamily="34" charset="-122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zh-CN" altLang="en-US" sz="1200" i="1" dirty="0">
                                    <a:solidFill>
                                      <a:srgbClr val="1F2026"/>
                                    </a:solidFill>
                                    <a:latin typeface="Cambria Math" panose="02040503050406030204" pitchFamily="18" charset="0"/>
                                  </a:rPr>
                                  <m:t>大幅弧</m:t>
                                </m:r>
                              </m:e>
                              <m:e>
                                <m:r>
                                  <a:rPr lang="zh-CN" altLang="en-US" sz="1200" i="1" dirty="0">
                                    <a:solidFill>
                                      <a:srgbClr val="1F2026"/>
                                    </a:solidFill>
                                    <a:latin typeface="Cambria Math" panose="02040503050406030204" pitchFamily="18" charset="0"/>
                                    <a:ea typeface="微软雅黑" panose="020B0503020204020204" pitchFamily="34" charset="-122"/>
                                  </a:rPr>
                                  <m:t>冲高</m:t>
                                </m:r>
                                <m:r>
                                  <a:rPr lang="zh-CN" altLang="en-US" sz="1200" i="1" dirty="0" smtClean="0">
                                    <a:solidFill>
                                      <a:srgbClr val="1F2026"/>
                                    </a:solidFill>
                                    <a:latin typeface="Cambria Math" panose="02040503050406030204" pitchFamily="18" charset="0"/>
                                    <a:ea typeface="微软雅黑" panose="020B0503020204020204" pitchFamily="34" charset="-122"/>
                                  </a:rPr>
                                  <m:t>并符</m:t>
                                </m:r>
                                <m:r>
                                  <a:rPr lang="zh-CN" altLang="en-US" sz="1200" i="1" dirty="0">
                                    <a:solidFill>
                                      <a:srgbClr val="1F2026"/>
                                    </a:solidFill>
                                    <a:latin typeface="Cambria Math" panose="02040503050406030204" pitchFamily="18" charset="0"/>
                                    <a:ea typeface="微软雅黑" panose="020B0503020204020204" pitchFamily="34" charset="-122"/>
                                  </a:rPr>
                                  <m:t>止盈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nor/>
                                  </m:rPr>
                                  <a:rPr lang="zh-CN" altLang="en-US" sz="1200" dirty="0">
                                    <a:solidFill>
                                      <a:srgbClr val="1F2026"/>
                                    </a:solidFill>
                                    <a:latin typeface="微软雅黑" panose="020B0503020204020204" pitchFamily="34" charset="-122"/>
                                    <a:ea typeface="微软雅黑" panose="020B0503020204020204" pitchFamily="34" charset="-122"/>
                                  </a:rPr>
                                  <m:t>中幅弧</m:t>
                                </m:r>
                              </m:e>
                              <m:e>
                                <m:r>
                                  <m:rPr>
                                    <m:nor/>
                                  </m:rPr>
                                  <a:rPr lang="zh-CN" altLang="en-US" sz="1200" dirty="0">
                                    <a:solidFill>
                                      <a:srgbClr val="1F2026"/>
                                    </a:solidFill>
                                    <a:latin typeface="微软雅黑" panose="020B0503020204020204" pitchFamily="34" charset="-122"/>
                                    <a:ea typeface="微软雅黑" panose="020B0503020204020204" pitchFamily="34" charset="-122"/>
                                  </a:rPr>
                                  <m:t>花模型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nor/>
                                  </m:rPr>
                                  <a:rPr lang="zh-CN" altLang="en-US" sz="1200" dirty="0">
                                    <a:solidFill>
                                      <a:srgbClr val="1F2026"/>
                                    </a:solidFill>
                                    <a:latin typeface="微软雅黑" panose="020B0503020204020204" pitchFamily="34" charset="-122"/>
                                    <a:ea typeface="微软雅黑" panose="020B0503020204020204" pitchFamily="34" charset="-122"/>
                                  </a:rPr>
                                  <m:t>交错</m:t>
                                </m:r>
                              </m:e>
                              <m:e>
                                <m:r>
                                  <m:rPr>
                                    <m:nor/>
                                  </m:rPr>
                                  <a:rPr lang="zh-CN" altLang="en-US" sz="1200" dirty="0">
                                    <a:solidFill>
                                      <a:srgbClr val="1F2026"/>
                                    </a:solidFill>
                                    <a:latin typeface="微软雅黑" panose="020B0503020204020204" pitchFamily="34" charset="-122"/>
                                    <a:ea typeface="微软雅黑" panose="020B0503020204020204" pitchFamily="34" charset="-122"/>
                                  </a:rPr>
                                  <m:t>按</m:t>
                                </m:r>
                                <m:r>
                                  <m:rPr>
                                    <m:nor/>
                                  </m:rPr>
                                  <a:rPr lang="en-US" altLang="zh-CN" sz="1200" dirty="0">
                                    <a:solidFill>
                                      <a:srgbClr val="1F2026"/>
                                    </a:solidFill>
                                    <a:latin typeface="微软雅黑" panose="020B0503020204020204" pitchFamily="34" charset="-122"/>
                                    <a:ea typeface="微软雅黑" panose="020B0503020204020204" pitchFamily="34" charset="-122"/>
                                  </a:rPr>
                                  <m:t>WJC</m:t>
                                </m:r>
                                <m:r>
                                  <m:rPr>
                                    <m:nor/>
                                  </m:rPr>
                                  <a:rPr lang="zh-CN" altLang="en-US" sz="1200" dirty="0">
                                    <a:solidFill>
                                      <a:srgbClr val="1F2026"/>
                                    </a:solidFill>
                                    <a:latin typeface="微软雅黑" panose="020B0503020204020204" pitchFamily="34" charset="-122"/>
                                    <a:ea typeface="微软雅黑" panose="020B0503020204020204" pitchFamily="34" charset="-122"/>
                                  </a:rPr>
                                  <m:t>止损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zh-CN" altLang="en-US" sz="12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mc:Choice>
        <mc:Fallback xmlns="">
          <p:sp>
            <p:nvSpPr>
              <p:cNvPr id="40" name="文本框 39">
                <a:extLst>
                  <a:ext uri="{FF2B5EF4-FFF2-40B4-BE49-F238E27FC236}">
                    <a16:creationId xmlns:a16="http://schemas.microsoft.com/office/drawing/2014/main" id="{F03C0484-488A-BEA8-01BC-76DE88B926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8313" y="4098974"/>
                <a:ext cx="3369923" cy="77617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1" name="组合 40">
            <a:extLst>
              <a:ext uri="{FF2B5EF4-FFF2-40B4-BE49-F238E27FC236}">
                <a16:creationId xmlns:a16="http://schemas.microsoft.com/office/drawing/2014/main" id="{3E3F3888-D0AD-5DA3-63FE-9F97EB2E517A}"/>
              </a:ext>
            </a:extLst>
          </p:cNvPr>
          <p:cNvGrpSpPr/>
          <p:nvPr/>
        </p:nvGrpSpPr>
        <p:grpSpPr>
          <a:xfrm>
            <a:off x="9512629" y="3984877"/>
            <a:ext cx="2352783" cy="1045406"/>
            <a:chOff x="9493321" y="2784280"/>
            <a:chExt cx="2352783" cy="1045406"/>
          </a:xfrm>
        </p:grpSpPr>
        <p:cxnSp>
          <p:nvCxnSpPr>
            <p:cNvPr id="42" name="直接连接符 41">
              <a:extLst>
                <a:ext uri="{FF2B5EF4-FFF2-40B4-BE49-F238E27FC236}">
                  <a16:creationId xmlns:a16="http://schemas.microsoft.com/office/drawing/2014/main" id="{0388B0C4-35F0-FF41-C3A7-DD8E6F5A4CE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493321" y="3429000"/>
              <a:ext cx="2352783" cy="18582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任意多边形: 形状 42">
              <a:extLst>
                <a:ext uri="{FF2B5EF4-FFF2-40B4-BE49-F238E27FC236}">
                  <a16:creationId xmlns:a16="http://schemas.microsoft.com/office/drawing/2014/main" id="{433C0E7D-7B85-8FFF-7541-766B0822B2A8}"/>
                </a:ext>
              </a:extLst>
            </p:cNvPr>
            <p:cNvSpPr/>
            <p:nvPr/>
          </p:nvSpPr>
          <p:spPr>
            <a:xfrm>
              <a:off x="9534418" y="2784280"/>
              <a:ext cx="616449" cy="1045406"/>
            </a:xfrm>
            <a:custGeom>
              <a:avLst/>
              <a:gdLst>
                <a:gd name="connsiteX0" fmla="*/ 0 w 616449"/>
                <a:gd name="connsiteY0" fmla="*/ 986336 h 1045406"/>
                <a:gd name="connsiteX1" fmla="*/ 195209 w 616449"/>
                <a:gd name="connsiteY1" fmla="*/ 17 h 1045406"/>
                <a:gd name="connsiteX2" fmla="*/ 472611 w 616449"/>
                <a:gd name="connsiteY2" fmla="*/ 1006884 h 1045406"/>
                <a:gd name="connsiteX3" fmla="*/ 616449 w 616449"/>
                <a:gd name="connsiteY3" fmla="*/ 739756 h 104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449" h="1045406">
                  <a:moveTo>
                    <a:pt x="0" y="986336"/>
                  </a:moveTo>
                  <a:cubicBezTo>
                    <a:pt x="58220" y="491464"/>
                    <a:pt x="116441" y="-3408"/>
                    <a:pt x="195209" y="17"/>
                  </a:cubicBezTo>
                  <a:cubicBezTo>
                    <a:pt x="273977" y="3442"/>
                    <a:pt x="402404" y="883594"/>
                    <a:pt x="472611" y="1006884"/>
                  </a:cubicBezTo>
                  <a:cubicBezTo>
                    <a:pt x="542818" y="1130174"/>
                    <a:pt x="579633" y="934965"/>
                    <a:pt x="616449" y="739756"/>
                  </a:cubicBezTo>
                </a:path>
              </a:pathLst>
            </a:cu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" name="任意多边形: 形状 43">
              <a:extLst>
                <a:ext uri="{FF2B5EF4-FFF2-40B4-BE49-F238E27FC236}">
                  <a16:creationId xmlns:a16="http://schemas.microsoft.com/office/drawing/2014/main" id="{F5A75B2D-46F3-1B2F-373F-A4E017B56355}"/>
                </a:ext>
              </a:extLst>
            </p:cNvPr>
            <p:cNvSpPr/>
            <p:nvPr/>
          </p:nvSpPr>
          <p:spPr>
            <a:xfrm>
              <a:off x="10335802" y="3246352"/>
              <a:ext cx="575353" cy="472893"/>
            </a:xfrm>
            <a:custGeom>
              <a:avLst/>
              <a:gdLst>
                <a:gd name="connsiteX0" fmla="*/ 0 w 575353"/>
                <a:gd name="connsiteY0" fmla="*/ 472893 h 472893"/>
                <a:gd name="connsiteX1" fmla="*/ 215758 w 575353"/>
                <a:gd name="connsiteY1" fmla="*/ 282 h 472893"/>
                <a:gd name="connsiteX2" fmla="*/ 493160 w 575353"/>
                <a:gd name="connsiteY2" fmla="*/ 400974 h 472893"/>
                <a:gd name="connsiteX3" fmla="*/ 575353 w 575353"/>
                <a:gd name="connsiteY3" fmla="*/ 236587 h 47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5353" h="472893">
                  <a:moveTo>
                    <a:pt x="0" y="472893"/>
                  </a:moveTo>
                  <a:cubicBezTo>
                    <a:pt x="66782" y="242580"/>
                    <a:pt x="133565" y="12268"/>
                    <a:pt x="215758" y="282"/>
                  </a:cubicBezTo>
                  <a:cubicBezTo>
                    <a:pt x="297951" y="-11704"/>
                    <a:pt x="433228" y="361590"/>
                    <a:pt x="493160" y="400974"/>
                  </a:cubicBezTo>
                  <a:cubicBezTo>
                    <a:pt x="553092" y="440358"/>
                    <a:pt x="564222" y="338472"/>
                    <a:pt x="575353" y="236587"/>
                  </a:cubicBezTo>
                </a:path>
              </a:pathLst>
            </a:cu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5" name="任意多边形: 形状 44">
              <a:extLst>
                <a:ext uri="{FF2B5EF4-FFF2-40B4-BE49-F238E27FC236}">
                  <a16:creationId xmlns:a16="http://schemas.microsoft.com/office/drawing/2014/main" id="{E1612342-6429-3D5D-1F22-09E8BFB6D9EF}"/>
                </a:ext>
              </a:extLst>
            </p:cNvPr>
            <p:cNvSpPr/>
            <p:nvPr/>
          </p:nvSpPr>
          <p:spPr>
            <a:xfrm>
              <a:off x="11024171" y="3317966"/>
              <a:ext cx="708917" cy="288263"/>
            </a:xfrm>
            <a:custGeom>
              <a:avLst/>
              <a:gdLst>
                <a:gd name="connsiteX0" fmla="*/ 0 w 708917"/>
                <a:gd name="connsiteY0" fmla="*/ 288263 h 288263"/>
                <a:gd name="connsiteX1" fmla="*/ 133564 w 708917"/>
                <a:gd name="connsiteY1" fmla="*/ 21135 h 288263"/>
                <a:gd name="connsiteX2" fmla="*/ 236305 w 708917"/>
                <a:gd name="connsiteY2" fmla="*/ 236892 h 288263"/>
                <a:gd name="connsiteX3" fmla="*/ 400692 w 708917"/>
                <a:gd name="connsiteY3" fmla="*/ 31409 h 288263"/>
                <a:gd name="connsiteX4" fmla="*/ 493159 w 708917"/>
                <a:gd name="connsiteY4" fmla="*/ 216344 h 288263"/>
                <a:gd name="connsiteX5" fmla="*/ 626723 w 708917"/>
                <a:gd name="connsiteY5" fmla="*/ 587 h 288263"/>
                <a:gd name="connsiteX6" fmla="*/ 708917 w 708917"/>
                <a:gd name="connsiteY6" fmla="*/ 164973 h 28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917" h="288263">
                  <a:moveTo>
                    <a:pt x="0" y="288263"/>
                  </a:moveTo>
                  <a:cubicBezTo>
                    <a:pt x="47090" y="158980"/>
                    <a:pt x="94180" y="29697"/>
                    <a:pt x="133564" y="21135"/>
                  </a:cubicBezTo>
                  <a:cubicBezTo>
                    <a:pt x="172948" y="12573"/>
                    <a:pt x="191784" y="235180"/>
                    <a:pt x="236305" y="236892"/>
                  </a:cubicBezTo>
                  <a:cubicBezTo>
                    <a:pt x="280826" y="238604"/>
                    <a:pt x="357883" y="34834"/>
                    <a:pt x="400692" y="31409"/>
                  </a:cubicBezTo>
                  <a:cubicBezTo>
                    <a:pt x="443501" y="27984"/>
                    <a:pt x="455487" y="221481"/>
                    <a:pt x="493159" y="216344"/>
                  </a:cubicBezTo>
                  <a:cubicBezTo>
                    <a:pt x="530831" y="211207"/>
                    <a:pt x="590763" y="9149"/>
                    <a:pt x="626723" y="587"/>
                  </a:cubicBezTo>
                  <a:cubicBezTo>
                    <a:pt x="662683" y="-7975"/>
                    <a:pt x="685800" y="78499"/>
                    <a:pt x="708917" y="164973"/>
                  </a:cubicBezTo>
                </a:path>
              </a:pathLst>
            </a:cu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6" name="文本框 45">
            <a:extLst>
              <a:ext uri="{FF2B5EF4-FFF2-40B4-BE49-F238E27FC236}">
                <a16:creationId xmlns:a16="http://schemas.microsoft.com/office/drawing/2014/main" id="{ACB53A25-797F-2780-E118-C11C0A9566F6}"/>
              </a:ext>
            </a:extLst>
          </p:cNvPr>
          <p:cNvSpPr txBox="1"/>
          <p:nvPr/>
        </p:nvSpPr>
        <p:spPr>
          <a:xfrm>
            <a:off x="0" y="5062228"/>
            <a:ext cx="12192000" cy="1169551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位置  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机会特征：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突破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/WJD/WJC/WJB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都代表进入新阶段，但不能因此断定趋势持续程度，要关注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柱排列。如果形成稳定平台，且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K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柱不频繁贯穿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，当出现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鼎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反鼎是机会。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应对策略：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一般应短线快进快出，重点选择阴柱进入。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不应介入点：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WXAC&lt;0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时，不能仅根据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WJZ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上穿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就介入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属于反向的正常波动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WXBC&gt;0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但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WXAB&lt;0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：已不属于正常波动，运行混乱，是反向尝试。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要选择波动较完整，不要选择频繁贯穿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7" name="组合 46">
            <a:extLst>
              <a:ext uri="{FF2B5EF4-FFF2-40B4-BE49-F238E27FC236}">
                <a16:creationId xmlns:a16="http://schemas.microsoft.com/office/drawing/2014/main" id="{8E03B364-A978-70A7-CD0A-CB10693C491D}"/>
              </a:ext>
            </a:extLst>
          </p:cNvPr>
          <p:cNvGrpSpPr/>
          <p:nvPr/>
        </p:nvGrpSpPr>
        <p:grpSpPr>
          <a:xfrm>
            <a:off x="9785898" y="5881679"/>
            <a:ext cx="2352783" cy="793358"/>
            <a:chOff x="9791271" y="2802597"/>
            <a:chExt cx="2352783" cy="793358"/>
          </a:xfrm>
        </p:grpSpPr>
        <p:cxnSp>
          <p:nvCxnSpPr>
            <p:cNvPr id="48" name="直接连接符 47">
              <a:extLst>
                <a:ext uri="{FF2B5EF4-FFF2-40B4-BE49-F238E27FC236}">
                  <a16:creationId xmlns:a16="http://schemas.microsoft.com/office/drawing/2014/main" id="{8FC3BEB5-47DE-9C4A-BADB-1378553009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91271" y="3142524"/>
              <a:ext cx="2352783" cy="18582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接连接符 48">
              <a:extLst>
                <a:ext uri="{FF2B5EF4-FFF2-40B4-BE49-F238E27FC236}">
                  <a16:creationId xmlns:a16="http://schemas.microsoft.com/office/drawing/2014/main" id="{9AEF7DCF-1F46-CB4B-9742-B3D966F3974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91271" y="3336087"/>
              <a:ext cx="2352783" cy="18582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任意多边形: 形状 49">
              <a:extLst>
                <a:ext uri="{FF2B5EF4-FFF2-40B4-BE49-F238E27FC236}">
                  <a16:creationId xmlns:a16="http://schemas.microsoft.com/office/drawing/2014/main" id="{095502C9-4C3B-46DF-FE7F-418548AD30DD}"/>
                </a:ext>
              </a:extLst>
            </p:cNvPr>
            <p:cNvSpPr/>
            <p:nvPr/>
          </p:nvSpPr>
          <p:spPr>
            <a:xfrm>
              <a:off x="10089222" y="2928135"/>
              <a:ext cx="1273996" cy="667820"/>
            </a:xfrm>
            <a:custGeom>
              <a:avLst/>
              <a:gdLst>
                <a:gd name="connsiteX0" fmla="*/ 0 w 1273996"/>
                <a:gd name="connsiteY0" fmla="*/ 667820 h 667820"/>
                <a:gd name="connsiteX1" fmla="*/ 359596 w 1273996"/>
                <a:gd name="connsiteY1" fmla="*/ 380144 h 667820"/>
                <a:gd name="connsiteX2" fmla="*/ 801385 w 1273996"/>
                <a:gd name="connsiteY2" fmla="*/ 493159 h 667820"/>
                <a:gd name="connsiteX3" fmla="*/ 1273996 w 1273996"/>
                <a:gd name="connsiteY3" fmla="*/ 0 h 667820"/>
                <a:gd name="connsiteX4" fmla="*/ 1273996 w 1273996"/>
                <a:gd name="connsiteY4" fmla="*/ 0 h 66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3996" h="667820">
                  <a:moveTo>
                    <a:pt x="0" y="667820"/>
                  </a:moveTo>
                  <a:cubicBezTo>
                    <a:pt x="113016" y="538537"/>
                    <a:pt x="226032" y="409254"/>
                    <a:pt x="359596" y="380144"/>
                  </a:cubicBezTo>
                  <a:cubicBezTo>
                    <a:pt x="493160" y="351034"/>
                    <a:pt x="648985" y="556516"/>
                    <a:pt x="801385" y="493159"/>
                  </a:cubicBezTo>
                  <a:cubicBezTo>
                    <a:pt x="953785" y="429802"/>
                    <a:pt x="1273996" y="0"/>
                    <a:pt x="1273996" y="0"/>
                  </a:cubicBezTo>
                  <a:lnTo>
                    <a:pt x="1273996" y="0"/>
                  </a:lnTo>
                </a:path>
              </a:pathLst>
            </a:cu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1" name="任意多边形: 形状 50">
              <a:extLst>
                <a:ext uri="{FF2B5EF4-FFF2-40B4-BE49-F238E27FC236}">
                  <a16:creationId xmlns:a16="http://schemas.microsoft.com/office/drawing/2014/main" id="{2C48F754-5FA2-BCBE-EB9F-BEF7E352D255}"/>
                </a:ext>
              </a:extLst>
            </p:cNvPr>
            <p:cNvSpPr/>
            <p:nvPr/>
          </p:nvSpPr>
          <p:spPr>
            <a:xfrm>
              <a:off x="10041276" y="2802597"/>
              <a:ext cx="1273996" cy="667820"/>
            </a:xfrm>
            <a:custGeom>
              <a:avLst/>
              <a:gdLst>
                <a:gd name="connsiteX0" fmla="*/ 0 w 1273996"/>
                <a:gd name="connsiteY0" fmla="*/ 667820 h 667820"/>
                <a:gd name="connsiteX1" fmla="*/ 359596 w 1273996"/>
                <a:gd name="connsiteY1" fmla="*/ 380144 h 667820"/>
                <a:gd name="connsiteX2" fmla="*/ 801385 w 1273996"/>
                <a:gd name="connsiteY2" fmla="*/ 493159 h 667820"/>
                <a:gd name="connsiteX3" fmla="*/ 1273996 w 1273996"/>
                <a:gd name="connsiteY3" fmla="*/ 0 h 667820"/>
                <a:gd name="connsiteX4" fmla="*/ 1273996 w 1273996"/>
                <a:gd name="connsiteY4" fmla="*/ 0 h 66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3996" h="667820">
                  <a:moveTo>
                    <a:pt x="0" y="667820"/>
                  </a:moveTo>
                  <a:cubicBezTo>
                    <a:pt x="113016" y="538537"/>
                    <a:pt x="226032" y="409254"/>
                    <a:pt x="359596" y="380144"/>
                  </a:cubicBezTo>
                  <a:cubicBezTo>
                    <a:pt x="493160" y="351034"/>
                    <a:pt x="648985" y="556516"/>
                    <a:pt x="801385" y="493159"/>
                  </a:cubicBezTo>
                  <a:cubicBezTo>
                    <a:pt x="953785" y="429802"/>
                    <a:pt x="1273996" y="0"/>
                    <a:pt x="1273996" y="0"/>
                  </a:cubicBezTo>
                  <a:lnTo>
                    <a:pt x="1273996" y="0"/>
                  </a:lnTo>
                </a:path>
              </a:pathLst>
            </a:cu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912349123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原旨思考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周类上升的必要条件与充分条件</a:t>
            </a:r>
            <a:b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本页主题：分析现有亏损的来源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0" y="720000"/>
            <a:ext cx="12192000" cy="64633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200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区分必要条件与充分条件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必要条件是刚性要求：可以在范围外增加少数试仓条件</a:t>
            </a:r>
            <a:r>
              <a:rPr lang="en-US" altLang="zh-CN" sz="12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2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要剔除冲高后必跌情况</a:t>
            </a:r>
            <a:r>
              <a:rPr lang="en-US" altLang="zh-CN" sz="12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(w2e</a:t>
            </a:r>
            <a:r>
              <a:rPr lang="zh-CN" altLang="en-US" sz="12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多柱</a:t>
            </a:r>
            <a:r>
              <a:rPr lang="en-US" altLang="zh-CN" sz="12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2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充分条件是概率游戏：可以尝试中途介入，快进快出，但不要重仓。</a:t>
            </a: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C07F8A38-EDE7-C6AB-9116-539055218EA1}"/>
              </a:ext>
            </a:extLst>
          </p:cNvPr>
          <p:cNvSpPr txBox="1"/>
          <p:nvPr/>
        </p:nvSpPr>
        <p:spPr>
          <a:xfrm>
            <a:off x="602124" y="2900922"/>
            <a:ext cx="152801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必要条件</a:t>
            </a: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2954E649-57F8-8D1A-CC38-09398261C24D}"/>
              </a:ext>
            </a:extLst>
          </p:cNvPr>
          <p:cNvSpPr txBox="1"/>
          <p:nvPr/>
        </p:nvSpPr>
        <p:spPr>
          <a:xfrm>
            <a:off x="557462" y="4198391"/>
            <a:ext cx="1528013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介于充分条件与必要条件的中间态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65118403-BAF2-A719-FDF7-1365E7BE7BBF}"/>
              </a:ext>
            </a:extLst>
          </p:cNvPr>
          <p:cNvSpPr txBox="1"/>
          <p:nvPr/>
        </p:nvSpPr>
        <p:spPr>
          <a:xfrm>
            <a:off x="557462" y="5541253"/>
            <a:ext cx="1528013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充分条件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另页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</a:p>
          <a:p>
            <a:pPr algn="ctr"/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文本框 15">
            <a:extLst>
              <a:ext uri="{FF2B5EF4-FFF2-40B4-BE49-F238E27FC236}">
                <a16:creationId xmlns:a16="http://schemas.microsoft.com/office/drawing/2014/main" id="{D26BA1E2-C7DF-5DCE-1B25-E4B2AFB7B097}"/>
              </a:ext>
            </a:extLst>
          </p:cNvPr>
          <p:cNvSpPr txBox="1"/>
          <p:nvPr/>
        </p:nvSpPr>
        <p:spPr>
          <a:xfrm>
            <a:off x="2855496" y="2269868"/>
            <a:ext cx="8775032" cy="178510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基本必要条件：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WXZC&gt;0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之下就属于非主升区域，不要抱幻想；只能试仓，如果走坏要及时退出。⇒放弃</a:t>
            </a:r>
          </a:p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次级必要条件：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是大升必要条件，非充分条件。用于确认大升可能性，但仍有可能走坏。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是大升必要条件，非充分条件。用于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之下试仓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w6w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，如未突破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则止损。</a:t>
            </a:r>
          </a:p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必要条件的剔除部分（虽满足</a:t>
            </a:r>
            <a:r>
              <a: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WXZC&gt;0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但必跌的情况）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冲高偏离大：可能会维持偏离大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偏大触顶要止盈。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两柱在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之下：不能仅下破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就退出，要等待下破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之后再确认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之下多柱排列。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首上破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：要等待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之上两柱确认。</a:t>
            </a: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周层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BCD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层诱多：很可能构成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头诱多。</a:t>
            </a: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5C269C10-B18F-2869-4E13-9014CFAA0086}"/>
              </a:ext>
            </a:extLst>
          </p:cNvPr>
          <p:cNvSpPr txBox="1"/>
          <p:nvPr/>
        </p:nvSpPr>
        <p:spPr>
          <a:xfrm>
            <a:off x="2855496" y="4187851"/>
            <a:ext cx="8775032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首先满足必要条件（剔除必跌情况），但也非充分条件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条件不移硬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)⇒</a:t>
            </a:r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守株待兔策略</a:t>
            </a:r>
          </a:p>
          <a:p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基本要求是：离 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较近，有希望远离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  <a:p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具体要求是： 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WXZC&gt;0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，首下破或两柱在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之上。（只要满足此条件即可守株待兔）</a:t>
            </a:r>
          </a:p>
          <a:p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要勇敢介入这些必要但非充分条件</a:t>
            </a:r>
          </a:p>
        </p:txBody>
      </p:sp>
      <p:sp>
        <p:nvSpPr>
          <p:cNvPr id="18" name="文本框 17">
            <a:extLst>
              <a:ext uri="{FF2B5EF4-FFF2-40B4-BE49-F238E27FC236}">
                <a16:creationId xmlns:a16="http://schemas.microsoft.com/office/drawing/2014/main" id="{035CA05B-37A1-4272-E356-0454E8040BB0}"/>
              </a:ext>
            </a:extLst>
          </p:cNvPr>
          <p:cNvSpPr txBox="1"/>
          <p:nvPr/>
        </p:nvSpPr>
        <p:spPr>
          <a:xfrm>
            <a:off x="2855496" y="5232025"/>
            <a:ext cx="8775032" cy="11079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特殊区域：</a:t>
            </a:r>
            <a:endParaRPr lang="zh-CN" altLang="en-US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介于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 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WJE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介于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 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</a:p>
          <a:p>
            <a:r>
              <a: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持</a:t>
            </a:r>
            <a:r>
              <a: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殊形态：</a:t>
            </a:r>
            <a:endParaRPr lang="zh-CN" altLang="en-US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鼎后阴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/w6v/w6w/w1v/w1w 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阴柱</a:t>
            </a:r>
          </a:p>
        </p:txBody>
      </p:sp>
      <p:sp>
        <p:nvSpPr>
          <p:cNvPr id="19" name="箭头: 上下 18">
            <a:extLst>
              <a:ext uri="{FF2B5EF4-FFF2-40B4-BE49-F238E27FC236}">
                <a16:creationId xmlns:a16="http://schemas.microsoft.com/office/drawing/2014/main" id="{45923247-5B3F-0417-CF16-F52CE06F1E6A}"/>
              </a:ext>
            </a:extLst>
          </p:cNvPr>
          <p:cNvSpPr/>
          <p:nvPr/>
        </p:nvSpPr>
        <p:spPr>
          <a:xfrm>
            <a:off x="1185110" y="3485697"/>
            <a:ext cx="272716" cy="489284"/>
          </a:xfrm>
          <a:prstGeom prst="upDownArrow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箭头: 上下 19">
            <a:extLst>
              <a:ext uri="{FF2B5EF4-FFF2-40B4-BE49-F238E27FC236}">
                <a16:creationId xmlns:a16="http://schemas.microsoft.com/office/drawing/2014/main" id="{8BEEFD5A-2583-78FB-D678-B6163D64E3A2}"/>
              </a:ext>
            </a:extLst>
          </p:cNvPr>
          <p:cNvSpPr/>
          <p:nvPr/>
        </p:nvSpPr>
        <p:spPr>
          <a:xfrm>
            <a:off x="1185110" y="5029388"/>
            <a:ext cx="272716" cy="489284"/>
          </a:xfrm>
          <a:prstGeom prst="upDownArrow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文本框 20">
            <a:extLst>
              <a:ext uri="{FF2B5EF4-FFF2-40B4-BE49-F238E27FC236}">
                <a16:creationId xmlns:a16="http://schemas.microsoft.com/office/drawing/2014/main" id="{641BCEE5-9681-E7E4-76E2-B5E3E16ACC6B}"/>
              </a:ext>
            </a:extLst>
          </p:cNvPr>
          <p:cNvSpPr txBox="1"/>
          <p:nvPr/>
        </p:nvSpPr>
        <p:spPr>
          <a:xfrm>
            <a:off x="224233" y="1845439"/>
            <a:ext cx="2194469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周类上升的条件级别</a:t>
            </a:r>
          </a:p>
        </p:txBody>
      </p:sp>
      <p:sp>
        <p:nvSpPr>
          <p:cNvPr id="22" name="左大括号 21">
            <a:extLst>
              <a:ext uri="{FF2B5EF4-FFF2-40B4-BE49-F238E27FC236}">
                <a16:creationId xmlns:a16="http://schemas.microsoft.com/office/drawing/2014/main" id="{0E0EB385-7482-B82C-FA9F-CBC131150B7F}"/>
              </a:ext>
            </a:extLst>
          </p:cNvPr>
          <p:cNvSpPr/>
          <p:nvPr/>
        </p:nvSpPr>
        <p:spPr>
          <a:xfrm>
            <a:off x="2270666" y="2338488"/>
            <a:ext cx="540000" cy="1654035"/>
          </a:xfrm>
          <a:prstGeom prst="leftBrace">
            <a:avLst>
              <a:gd name="adj1" fmla="val 9819"/>
              <a:gd name="adj2" fmla="val 48257"/>
            </a:avLst>
          </a:prstGeom>
          <a:solidFill>
            <a:schemeClr val="accent4">
              <a:lumMod val="40000"/>
              <a:lumOff val="60000"/>
            </a:schemeClr>
          </a:solidFill>
          <a:ln w="508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左大括号 22">
            <a:extLst>
              <a:ext uri="{FF2B5EF4-FFF2-40B4-BE49-F238E27FC236}">
                <a16:creationId xmlns:a16="http://schemas.microsoft.com/office/drawing/2014/main" id="{A7B80820-31A1-FE90-2989-4E5E6C5B7975}"/>
              </a:ext>
            </a:extLst>
          </p:cNvPr>
          <p:cNvSpPr/>
          <p:nvPr/>
        </p:nvSpPr>
        <p:spPr>
          <a:xfrm>
            <a:off x="2270666" y="4226910"/>
            <a:ext cx="540000" cy="690277"/>
          </a:xfrm>
          <a:prstGeom prst="leftBrace">
            <a:avLst>
              <a:gd name="adj1" fmla="val 8333"/>
              <a:gd name="adj2" fmla="val 48257"/>
            </a:avLst>
          </a:prstGeom>
          <a:solidFill>
            <a:schemeClr val="accent4">
              <a:lumMod val="40000"/>
              <a:lumOff val="60000"/>
            </a:schemeClr>
          </a:solidFill>
          <a:ln w="508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左大括号 23">
            <a:extLst>
              <a:ext uri="{FF2B5EF4-FFF2-40B4-BE49-F238E27FC236}">
                <a16:creationId xmlns:a16="http://schemas.microsoft.com/office/drawing/2014/main" id="{488FF8CA-CB1A-B4BD-7232-4661F5114727}"/>
              </a:ext>
            </a:extLst>
          </p:cNvPr>
          <p:cNvSpPr/>
          <p:nvPr/>
        </p:nvSpPr>
        <p:spPr>
          <a:xfrm>
            <a:off x="2270666" y="5264109"/>
            <a:ext cx="540000" cy="1011744"/>
          </a:xfrm>
          <a:prstGeom prst="leftBrace">
            <a:avLst>
              <a:gd name="adj1" fmla="val 8333"/>
              <a:gd name="adj2" fmla="val 48257"/>
            </a:avLst>
          </a:prstGeom>
          <a:solidFill>
            <a:schemeClr val="accent4">
              <a:lumMod val="40000"/>
              <a:lumOff val="60000"/>
            </a:schemeClr>
          </a:solidFill>
          <a:ln w="508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907004184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2E5B35-E29E-BCC7-43B0-8E9618220F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389B1847-31AF-0A89-01FB-5D31DF3FF4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2">
              <a:lumMod val="50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下周冲高战法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战法具体内容</a:t>
            </a:r>
            <a:r>
              <a:rPr lang="zh-CN" altLang="en-US" sz="1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（旧战法</a:t>
            </a:r>
            <a:r>
              <a:rPr lang="en-US" altLang="zh-CN" sz="1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</a:t>
            </a:r>
            <a:r>
              <a:rPr lang="zh-CN" altLang="en-US" sz="1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截止</a:t>
            </a:r>
            <a:r>
              <a:rPr lang="en-US" altLang="zh-CN" sz="1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202512</a:t>
            </a:r>
            <a:r>
              <a:rPr lang="zh-CN" altLang="en-US" sz="1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br>
              <a:rPr lang="en-US" altLang="zh-CN" sz="1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操盘方法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：下周冲高战法的周版算法与日版算法对比，其中周版算法是原旨。日类只负责止盈，周类负责止损。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E9C6E7C0-E920-30CB-B581-1A64B170FD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0309441"/>
              </p:ext>
            </p:extLst>
          </p:nvPr>
        </p:nvGraphicFramePr>
        <p:xfrm>
          <a:off x="1" y="2017336"/>
          <a:ext cx="12176562" cy="484066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556181">
                  <a:extLst>
                    <a:ext uri="{9D8B030D-6E8A-4147-A177-3AD203B41FA5}">
                      <a16:colId xmlns:a16="http://schemas.microsoft.com/office/drawing/2014/main" val="1319450680"/>
                    </a:ext>
                  </a:extLst>
                </a:gridCol>
                <a:gridCol w="5524108">
                  <a:extLst>
                    <a:ext uri="{9D8B030D-6E8A-4147-A177-3AD203B41FA5}">
                      <a16:colId xmlns:a16="http://schemas.microsoft.com/office/drawing/2014/main" val="1765568119"/>
                    </a:ext>
                  </a:extLst>
                </a:gridCol>
                <a:gridCol w="6096273">
                  <a:extLst>
                    <a:ext uri="{9D8B030D-6E8A-4147-A177-3AD203B41FA5}">
                      <a16:colId xmlns:a16="http://schemas.microsoft.com/office/drawing/2014/main" val="1016568979"/>
                    </a:ext>
                  </a:extLst>
                </a:gridCol>
              </a:tblGrid>
              <a:tr h="378084">
                <a:tc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dirty="0"/>
                        <a:t>下周冲高算法</a:t>
                      </a:r>
                      <a:r>
                        <a:rPr lang="en-US" altLang="zh-CN" dirty="0"/>
                        <a:t>.</a:t>
                      </a:r>
                      <a:r>
                        <a:rPr lang="zh-CN" altLang="en-US" dirty="0"/>
                        <a:t>周版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/>
                        <a:t>下周冲高算法</a:t>
                      </a:r>
                      <a:r>
                        <a:rPr lang="en-US" altLang="zh-CN"/>
                        <a:t>.</a:t>
                      </a:r>
                      <a:r>
                        <a:rPr lang="zh-CN" altLang="en-US"/>
                        <a:t>日版</a:t>
                      </a:r>
                      <a:endParaRPr lang="zh-CN" altLang="en-US"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3110830"/>
                  </a:ext>
                </a:extLst>
              </a:tr>
              <a:tr h="1795898">
                <a:tc>
                  <a:txBody>
                    <a:bodyPr/>
                    <a:lstStyle/>
                    <a:p>
                      <a:r>
                        <a:rPr lang="zh-CN" altLang="en-US" sz="1400" b="1" dirty="0"/>
                        <a:t>下周冲高算法</a:t>
                      </a:r>
                      <a:r>
                        <a:rPr lang="en-US" altLang="zh-CN" sz="1400" b="1" dirty="0"/>
                        <a:t>.</a:t>
                      </a:r>
                      <a:r>
                        <a:rPr lang="zh-CN" altLang="en-US" sz="1400" b="1" dirty="0"/>
                        <a:t>具体规则对比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周版算法：符合周范围，中符（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ABC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）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(D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首下破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)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，直到冲高止盈，或下破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WJB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止损。</a:t>
                      </a:r>
                      <a:endParaRPr lang="en-US" altLang="zh-CN" sz="900" b="1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符合周类操作范围：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WXZC&gt;0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且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WXZB&gt;0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（最好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WXAC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已正交）。区域：√口潜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针对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之下：一般不介入，须即将上破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，最好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已正交。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前周中符：</a:t>
                      </a:r>
                      <a:endParaRPr lang="en-US" altLang="zh-CN" sz="900" b="1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正交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中符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ABC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久上破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：可主动介入，周中下破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或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不退出。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正交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中符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ABC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首上破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：慎入轻仓。当前周柱为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柱可试仓。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正交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中符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首下破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：勿主动介入。若未冲高可被动持有；若已冲高可退出。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marR="0" lvl="1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正交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中符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久下破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：很可能诱多，舍弃。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正交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中符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EF]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：勿主动介入。若未破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，中符为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EF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可退出或被动持有。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正交下破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：应退出。（因为只有下破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才可能导致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负交）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负交：须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WXZB&gt;0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，且有可能导致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WXAB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正交才可介入。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周中操作：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针对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[ABC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久上破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，周中下破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不退出，周末下破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按以上规则处理。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日版算法：符合周版算法，增加日类信息作为辅助。</a:t>
                      </a:r>
                      <a:endParaRPr lang="en-US" altLang="zh-CN" sz="900" b="1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周类基本要求：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在周范围，前周中符为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[ABC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久上破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][ABC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首上破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][D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首下破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日类基本要求： 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一定要求</a:t>
                      </a:r>
                      <a:r>
                        <a:rPr lang="en-US" altLang="zh-CN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DTZE&gt;0</a:t>
                      </a:r>
                      <a:r>
                        <a:rPr lang="zh-CN" altLang="en-US" sz="900" b="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。</a:t>
                      </a:r>
                      <a:endParaRPr lang="en-US" altLang="zh-CN" sz="900" b="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配合前周中符：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前周中符为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[EF]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：不参与，等周末维持在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之上形成周中符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再考虑是否介入。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前周中符为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[D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首下破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如已有仓位，需要本周站上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才能继续持有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(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从而不会形成久下破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)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如没有仓位，须等站上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，且周末维持在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之上形成周中符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再介入。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前周中符为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首鼎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C]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：仅可谨慎试仓。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前周中符为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[ABC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久上破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周中下破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，一般不需立刻清仓，等待周末再看是否维持在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之上。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543050" lvl="3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周末下破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，本周中符形成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[D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首下破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，可被动持有，看下周是否反弹。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9002700"/>
                  </a:ext>
                </a:extLst>
              </a:tr>
              <a:tr h="1370554">
                <a:tc>
                  <a:txBody>
                    <a:bodyPr/>
                    <a:lstStyle/>
                    <a:p>
                      <a:r>
                        <a:rPr lang="zh-CN" altLang="en-US" sz="1400" b="1"/>
                        <a:t>拆解周柱</a:t>
                      </a:r>
                      <a:r>
                        <a:rPr lang="en-US" altLang="zh-CN" sz="1400" b="1"/>
                        <a:t>.</a:t>
                      </a:r>
                      <a:r>
                        <a:rPr lang="zh-CN" altLang="en-US" sz="1400" b="1"/>
                        <a:t>日周联合</a:t>
                      </a:r>
                      <a:endParaRPr lang="zh-CN" altLang="en-US" sz="1400" b="1"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下周冲高战法的总体实施方法：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（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1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）判断下周周柱是否会冲高？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是否满足出现周大阳柱的条件。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（</a:t>
                      </a:r>
                      <a:r>
                        <a:rPr lang="en-US" altLang="zh-CN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2</a:t>
                      </a: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）定位日柱。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进行周日联合对比，设想并验证，下周哪个日柱可以配合周柱形成高点？总结典型示例。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日柱时点：</a:t>
                      </a:r>
                      <a:endParaRPr lang="en-US" altLang="zh-CN" sz="900" b="1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下周初：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前周柱，均线已形成多头排列，且未冲高。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下周末：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前周柱为阳柱，本周初下跌震仓，周末拉升形成周级别下影线阳柱。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日柱组合：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将周柱拆解为五个日柱的组合。参考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《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周内五柱的典型形态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》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日单大阳柱：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多见于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周初冲高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或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后反包。可进行止盈。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日多柱组合：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参考日中符，分情况讨论，只有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日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ABC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久上破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可以多个小日柱形成周大阳柱。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日类信息：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利用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DXZC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配合周柱形态进行筛选。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操作规则：在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之上买卖，无须担心；介于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与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寄希望于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之上周柱；下破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暂退。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DXAB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：利用日类护型，优选上升趋势，但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DXAB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反交或下破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不作为清仓条件。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日类中符：作用主要为配合（周柱涨幅预期），寻找日类介入点。只用来止盈，不用来止损。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日柱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[ABC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久上破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：优先选择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DTZA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≥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2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085850" marR="0" lvl="2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日柱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[ABC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首上破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：次选能够站稳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日柱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[DEF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首下破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：当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DTZA=-1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，被动持有。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日柱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[DEF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久下破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]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：只在能够配合周柱回踩情况下使用。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321877"/>
                  </a:ext>
                </a:extLst>
              </a:tr>
              <a:tr h="1296129">
                <a:tc>
                  <a:txBody>
                    <a:bodyPr/>
                    <a:lstStyle/>
                    <a:p>
                      <a:r>
                        <a:rPr lang="zh-CN" altLang="en-US" sz="1400" b="1" dirty="0"/>
                        <a:t>止盈操作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周级别分两种情况：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若已冲高，则：左侧减仓，下破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时清仓，最迟在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止损；</a:t>
                      </a:r>
                    </a:p>
                    <a:p>
                      <a:pPr marL="171450" lvl="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若未冲高，则：在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WTZA≤-2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时止损，或等待下破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止损；其余条件：周中下破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，或周首下破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，不立刻清仓。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b="1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日类操作：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WXAB&gt;0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且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WXZB&gt;0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情况下，主动在阴柱介入。务必忽略所有日线因素，不要把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DJCBA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作为趋势性因素。根据日类短期走势进行如下操作：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若后续涨，则立刻卖出。</a:t>
                      </a: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若后续跌，则按照周类以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WJB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止损。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重视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作用：基本所有上升都在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之上，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DJB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之上才是上升的主战场。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升连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升吞：要看下柱是否会连阳；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跌孕：可直接买入；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跌连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/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跌吞：要出现单阳或遇支撑线。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在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之上卖出，不要强制依据下破均线作为卖出规则，而要看下柱是否有上升机会。</a:t>
                      </a:r>
                      <a:endParaRPr lang="en-US" altLang="zh-CN" sz="900" dirty="0">
                        <a:solidFill>
                          <a:schemeClr val="tx1"/>
                        </a:solidFill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marL="1085850" lvl="2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无上升机会的情况：已冲高；已下破</a:t>
                      </a:r>
                      <a:r>
                        <a:rPr lang="en-US" altLang="zh-CN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DJA</a:t>
                      </a:r>
                      <a:r>
                        <a:rPr lang="zh-CN" altLang="en-US" sz="900" dirty="0">
                          <a:solidFill>
                            <a:schemeClr val="tx1"/>
                          </a:solidFill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。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609360"/>
                  </a:ext>
                </a:extLst>
              </a:tr>
            </a:tbl>
          </a:graphicData>
        </a:graphic>
      </p:graphicFrame>
      <p:sp>
        <p:nvSpPr>
          <p:cNvPr id="4" name="矩形 3">
            <a:extLst>
              <a:ext uri="{FF2B5EF4-FFF2-40B4-BE49-F238E27FC236}">
                <a16:creationId xmlns:a16="http://schemas.microsoft.com/office/drawing/2014/main" id="{B11EC608-C769-213E-035C-62972A6CBDFE}"/>
              </a:ext>
            </a:extLst>
          </p:cNvPr>
          <p:cNvSpPr/>
          <p:nvPr/>
        </p:nvSpPr>
        <p:spPr>
          <a:xfrm>
            <a:off x="0" y="720000"/>
            <a:ext cx="12176562" cy="129733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190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下周冲高战法：周视角主要在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周类操作范围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内按照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【WXAB+WJA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周柱排列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进行操作。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四句真言：以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为界；以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为丘；尽量提前退出；</a:t>
            </a:r>
            <a:r>
              <a:rPr lang="zh-CN" altLang="en-US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下周冲高要止盈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核心思想：基于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所有上涨都在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的理念，选择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正交且在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</a:t>
            </a:r>
            <a:endParaRPr lang="en-US" altLang="zh-CN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作为基本限制：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需要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已经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即将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之上。按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将区域分为三部分：升区、降区、中间区（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潜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破）。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丘为准可以保证必赢：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完全以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作为退出条件。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在保证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丘情况下优化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丘的出入标准，由精确按照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出入，转为按周中符出入（这是此战法的最大改进之处，通过容错减少摩擦损失）。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085850" lvl="2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对于下破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后又站上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，依据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为持仓条件，应该再次介入。因为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是作为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的护线，上破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代表再次远离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，但具体情况要参考</a:t>
            </a:r>
            <a:r>
              <a:rPr lang="en-US" altLang="zh-CN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之上柱排列。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利用日周联合：</a:t>
            </a:r>
            <a:r>
              <a:rPr lang="zh-CN" altLang="en-US" sz="1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实现周类算法与日类算法的兼容与统一。</a:t>
            </a: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1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矩形 17">
            <a:extLst>
              <a:ext uri="{FF2B5EF4-FFF2-40B4-BE49-F238E27FC236}">
                <a16:creationId xmlns:a16="http://schemas.microsoft.com/office/drawing/2014/main" id="{3E718692-080C-208B-3E74-B61FA965A61F}"/>
              </a:ext>
            </a:extLst>
          </p:cNvPr>
          <p:cNvSpPr/>
          <p:nvPr/>
        </p:nvSpPr>
        <p:spPr>
          <a:xfrm>
            <a:off x="7836981" y="1"/>
            <a:ext cx="4355019" cy="820132"/>
          </a:xfrm>
          <a:prstGeom prst="rect">
            <a:avLst/>
          </a:prstGeom>
          <a:solidFill>
            <a:srgbClr val="FF0000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20260217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：本页中的旧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下周冲高算法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只考虑了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&lt;WJA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周中符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，但没有考虑：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柱型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：范围大于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周中符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，能描述柱排。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地型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：范围大于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柱型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&gt;&lt;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周中符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，能描述柱所处的环境。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顶型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：未锁定“主升”，有可能把精力放到“震荡”之中。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周奏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：未考虑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WXAB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是否正交。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基于以上原因，本页算法废弃，移动至章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废</a:t>
            </a:r>
            <a:r>
              <a:rPr lang="en-US" altLang="zh-CN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8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333139183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4130C2-8E4B-0420-2B8B-9FCD58065F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8C0B4E8-C477-3363-143C-5D522B0B77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20000"/>
          </a:xfrm>
          <a:solidFill>
            <a:schemeClr val="tx1">
              <a:lumMod val="95000"/>
              <a:lumOff val="5000"/>
            </a:schemeClr>
          </a:solidFill>
        </p:spPr>
        <p:txBody>
          <a:bodyPr>
            <a:normAutofit/>
          </a:bodyPr>
          <a:lstStyle/>
          <a:p>
            <a:r>
              <a:rPr lang="en-US" altLang="zh-CN" sz="2800" b="1" dirty="0">
                <a:solidFill>
                  <a:schemeClr val="accent2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accent2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废弃指标</a:t>
            </a:r>
            <a:r>
              <a:rPr lang="en-US" altLang="zh-CN" sz="2800" b="1" dirty="0">
                <a:solidFill>
                  <a:schemeClr val="accent2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日柱优化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 DJA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柱均关系：须配合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DXAB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护型使用</a:t>
            </a:r>
            <a:b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b="1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操盘方法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：要解决提前清仓、错过顶点、太晚止损的难题。在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DJE&amp;DJC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之上只能选取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攻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片段，不要去看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防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（在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DJC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之上无意义）。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2" name="表格 61">
            <a:extLst>
              <a:ext uri="{FF2B5EF4-FFF2-40B4-BE49-F238E27FC236}">
                <a16:creationId xmlns:a16="http://schemas.microsoft.com/office/drawing/2014/main" id="{DE7F464E-8AFB-378E-9F99-C6C55E3FA528}"/>
              </a:ext>
            </a:extLst>
          </p:cNvPr>
          <p:cNvGraphicFramePr>
            <a:graphicFrameLocks noGrp="1"/>
          </p:cNvGraphicFramePr>
          <p:nvPr/>
        </p:nvGraphicFramePr>
        <p:xfrm>
          <a:off x="0" y="715679"/>
          <a:ext cx="12192000" cy="36995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7975">
                  <a:extLst>
                    <a:ext uri="{9D8B030D-6E8A-4147-A177-3AD203B41FA5}">
                      <a16:colId xmlns:a16="http://schemas.microsoft.com/office/drawing/2014/main" val="3930089340"/>
                    </a:ext>
                  </a:extLst>
                </a:gridCol>
                <a:gridCol w="430576">
                  <a:extLst>
                    <a:ext uri="{9D8B030D-6E8A-4147-A177-3AD203B41FA5}">
                      <a16:colId xmlns:a16="http://schemas.microsoft.com/office/drawing/2014/main" val="2369630474"/>
                    </a:ext>
                  </a:extLst>
                </a:gridCol>
                <a:gridCol w="640773">
                  <a:extLst>
                    <a:ext uri="{9D8B030D-6E8A-4147-A177-3AD203B41FA5}">
                      <a16:colId xmlns:a16="http://schemas.microsoft.com/office/drawing/2014/main" val="823412921"/>
                    </a:ext>
                  </a:extLst>
                </a:gridCol>
                <a:gridCol w="6917125">
                  <a:extLst>
                    <a:ext uri="{9D8B030D-6E8A-4147-A177-3AD203B41FA5}">
                      <a16:colId xmlns:a16="http://schemas.microsoft.com/office/drawing/2014/main" val="2640978416"/>
                    </a:ext>
                  </a:extLst>
                </a:gridCol>
                <a:gridCol w="3605551">
                  <a:extLst>
                    <a:ext uri="{9D8B030D-6E8A-4147-A177-3AD203B41FA5}">
                      <a16:colId xmlns:a16="http://schemas.microsoft.com/office/drawing/2014/main" val="2054425171"/>
                    </a:ext>
                  </a:extLst>
                </a:gridCol>
              </a:tblGrid>
              <a:tr h="400783">
                <a:tc gridSpan="5"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柱均关系：</a:t>
                      </a:r>
                      <a:r>
                        <a:rPr lang="en-US" altLang="zh-CN" sz="10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10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可以对柱提供支撑或压制，当柱围绕</a:t>
                      </a:r>
                      <a:r>
                        <a:rPr lang="en-US" altLang="zh-CN" sz="10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10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换边时经常出现反复贯穿。</a:t>
                      </a:r>
                    </a:p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切勿牢记：</a:t>
                      </a:r>
                      <a:r>
                        <a:rPr lang="zh-CN" altLang="en-US" sz="10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低阶均线只能存善念，即是否站上均线从而更有机会上升；不能存歹念，即下破不代表需要止损，只能在脱离可获利区域</a:t>
                      </a:r>
                      <a:r>
                        <a:rPr lang="en-US" altLang="zh-CN" sz="10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10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时逆踢，或在下破趋势性均线时</a:t>
                      </a:r>
                      <a:r>
                        <a:rPr lang="en-US" altLang="zh-CN" sz="10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(DJC/WJB) </a:t>
                      </a:r>
                      <a:r>
                        <a:rPr lang="zh-CN" altLang="en-US" sz="1000" b="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止损。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9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4016975"/>
                  </a:ext>
                </a:extLst>
              </a:tr>
              <a:tr h="215806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DTZA</a:t>
                      </a:r>
                      <a:endParaRPr lang="zh-CN" altLang="en-US" sz="8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阶段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后验走势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阶段特征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特殊形态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1857369"/>
                  </a:ext>
                </a:extLst>
              </a:tr>
              <a:tr h="1325667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攻中常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攻中冲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攻中阻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阶段特征：出点为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宽偏连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，判断是否为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[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]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攻中常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升排；触顶（一般为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触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〇）。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攻中冲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之上时能否通过并符看出上升结束？必然存在空间或时间从而在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上形成跌排：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偏连久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/DSHA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过大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/DTZA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过久。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）冲高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异常偏离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）冲高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止涨标志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悬阴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大上影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十字星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柱体忽然变小。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攻中阻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出现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）顶离时出现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跌吞。人排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升连后吞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升衔吞吞</a:t>
                      </a: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之上巨震：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之上连续小阳柱后，形成（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大阳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大阴）震荡。</a:t>
                      </a: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之上回归：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之上连续上涨后，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个以上阴柱逐渐贴附于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〇逐步贴近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的继鼎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个以上阴柱组合，能够确认形成失势标志。单个大阴柱即使破线，仍然需要后续柱配合确认。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柱排：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管内运行方式</a:t>
                      </a:r>
                      <a:r>
                        <a:rPr lang="zh-CN" altLang="en-US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</a:t>
                      </a:r>
                      <a:r>
                        <a:rPr lang="en-US" altLang="zh-CN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r>
                        <a:rPr lang="en-US" altLang="zh-CN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标志由升转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震：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吞跌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根据本柱期待下柱走势：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本柱</a:t>
                      </a:r>
                      <a:r>
                        <a:rPr lang="zh-CN" altLang="en-US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</a:t>
                      </a:r>
                      <a:r>
                        <a:rPr lang="en-US" altLang="zh-CN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：可以期待下柱</a:t>
                      </a:r>
                      <a:r>
                        <a:rPr lang="zh-CN" altLang="en-US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为</a:t>
                      </a:r>
                      <a:r>
                        <a:rPr lang="en-US" altLang="zh-CN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913998"/>
                  </a:ext>
                </a:extLst>
              </a:tr>
              <a:tr h="585760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/1/2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攻试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攻试成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攻试逆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阶段特征：等待回踩再进入。很可能是顶部震荡，与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线下鼎同属于诱多。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DTZA=2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基本确认：需要配合形态，首选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跌孕回踩，其次是十字星，或连续小阳柱。等待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DTZA&gt;1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，主要是保证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K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柱的主体完全在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的单边。</a:t>
                      </a:r>
                    </a:p>
                    <a:p>
                      <a:pPr marL="0" indent="0">
                        <a:buFont typeface="Wingdings" panose="05000000000000000000" pitchFamily="2" charset="2"/>
                        <a:buNone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DTZA=1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不能确认：不能确认从失势中恢复。需要观察首上破时，柱排</a:t>
                      </a:r>
                      <a:r>
                        <a:rPr lang="zh-CN" altLang="en-US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是否为升排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，或自前高回落后经过充分调整（最好呈现规律排列的弧线）。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攻试逆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单个阳柱不足以改变运行势头。如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</a:t>
                      </a:r>
                      <a:r>
                        <a:rPr lang="zh-CN" altLang="en-US" sz="80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鼎</a:t>
                      </a:r>
                      <a:r>
                        <a:rPr lang="en-US" altLang="zh-CN" sz="80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单柱上破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很可能是中继下跌。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首上破：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鼎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价上破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第二柱站稳：鼎后阴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4592787"/>
                  </a:ext>
                </a:extLst>
              </a:tr>
              <a:tr h="462442"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/-1/-2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防试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防试成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防试逆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阶段特征：首下破，通常下柱为阳柱，下破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意味着进入捡漏阶段，切记不要下破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就减仓。需要区分：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是否已止跌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是否为下跌中继。</a:t>
                      </a:r>
                    </a:p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DTZA=-1</a:t>
                      </a:r>
                      <a:r>
                        <a:rPr lang="zh-CN" altLang="en-US" sz="80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：连升后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，通常是非常好的捡漏机会。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DTZA=-2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：如果下破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后两柱，可以先退出，等待止跌或站上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再介入。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首下破：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以阴后鼎形成连跌</a:t>
                      </a: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9776246"/>
                  </a:ext>
                </a:extLst>
              </a:tr>
              <a:tr h="709078"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-3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防中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防中常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防中阻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阶段特征：一定把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之下柱排沿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下降过程与上破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过程进行镜面参照。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防中常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维持跌排，直至下破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之下未弹：下破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后，有可能延续下跌，等待上破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再进入。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【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防中阻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】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出现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人排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升排。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之下震荡：下破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后，形成假鼎，或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升孕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升连，但未上破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特殊形态：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D2e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假鼎、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D2e/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升连</a:t>
                      </a: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2394718"/>
                  </a:ext>
                </a:extLst>
              </a:tr>
            </a:tbl>
          </a:graphicData>
        </a:graphic>
      </p:graphicFrame>
      <p:grpSp>
        <p:nvGrpSpPr>
          <p:cNvPr id="67" name="组合 66">
            <a:extLst>
              <a:ext uri="{FF2B5EF4-FFF2-40B4-BE49-F238E27FC236}">
                <a16:creationId xmlns:a16="http://schemas.microsoft.com/office/drawing/2014/main" id="{F12DF81D-19E3-296C-7D59-5EF652CC45FC}"/>
              </a:ext>
            </a:extLst>
          </p:cNvPr>
          <p:cNvGrpSpPr/>
          <p:nvPr/>
        </p:nvGrpSpPr>
        <p:grpSpPr>
          <a:xfrm>
            <a:off x="10504454" y="72000"/>
            <a:ext cx="1308127" cy="576000"/>
            <a:chOff x="10496141" y="1437282"/>
            <a:chExt cx="1308127" cy="576000"/>
          </a:xfrm>
        </p:grpSpPr>
        <p:cxnSp>
          <p:nvCxnSpPr>
            <p:cNvPr id="50" name="直接连接符 49">
              <a:extLst>
                <a:ext uri="{FF2B5EF4-FFF2-40B4-BE49-F238E27FC236}">
                  <a16:creationId xmlns:a16="http://schemas.microsoft.com/office/drawing/2014/main" id="{A4BFE911-D5CE-C770-E6E6-C800AAA99E49}"/>
                </a:ext>
              </a:extLst>
            </p:cNvPr>
            <p:cNvCxnSpPr/>
            <p:nvPr/>
          </p:nvCxnSpPr>
          <p:spPr>
            <a:xfrm flipV="1">
              <a:off x="10745072" y="1700688"/>
              <a:ext cx="1059196" cy="188937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任意多边形: 形状 50">
              <a:extLst>
                <a:ext uri="{FF2B5EF4-FFF2-40B4-BE49-F238E27FC236}">
                  <a16:creationId xmlns:a16="http://schemas.microsoft.com/office/drawing/2014/main" id="{E31F145B-EBCC-F639-A075-207157E32CCF}"/>
                </a:ext>
              </a:extLst>
            </p:cNvPr>
            <p:cNvSpPr/>
            <p:nvPr/>
          </p:nvSpPr>
          <p:spPr>
            <a:xfrm>
              <a:off x="10785149" y="1437282"/>
              <a:ext cx="933238" cy="576000"/>
            </a:xfrm>
            <a:custGeom>
              <a:avLst/>
              <a:gdLst>
                <a:gd name="connsiteX0" fmla="*/ 0 w 2070100"/>
                <a:gd name="connsiteY0" fmla="*/ 1028783 h 1277678"/>
                <a:gd name="connsiteX1" fmla="*/ 203200 w 2070100"/>
                <a:gd name="connsiteY1" fmla="*/ 838283 h 1277678"/>
                <a:gd name="connsiteX2" fmla="*/ 622300 w 2070100"/>
                <a:gd name="connsiteY2" fmla="*/ 83 h 1277678"/>
                <a:gd name="connsiteX3" fmla="*/ 1193800 w 2070100"/>
                <a:gd name="connsiteY3" fmla="*/ 787483 h 1277678"/>
                <a:gd name="connsiteX4" fmla="*/ 1320800 w 2070100"/>
                <a:gd name="connsiteY4" fmla="*/ 965283 h 1277678"/>
                <a:gd name="connsiteX5" fmla="*/ 1727200 w 2070100"/>
                <a:gd name="connsiteY5" fmla="*/ 1270083 h 1277678"/>
                <a:gd name="connsiteX6" fmla="*/ 2070100 w 2070100"/>
                <a:gd name="connsiteY6" fmla="*/ 622383 h 12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0100" h="1277678">
                  <a:moveTo>
                    <a:pt x="0" y="1028783"/>
                  </a:moveTo>
                  <a:cubicBezTo>
                    <a:pt x="49741" y="1019258"/>
                    <a:pt x="99483" y="1009733"/>
                    <a:pt x="203200" y="838283"/>
                  </a:cubicBezTo>
                  <a:cubicBezTo>
                    <a:pt x="306917" y="666833"/>
                    <a:pt x="457200" y="8550"/>
                    <a:pt x="622300" y="83"/>
                  </a:cubicBezTo>
                  <a:cubicBezTo>
                    <a:pt x="787400" y="-8384"/>
                    <a:pt x="1077383" y="626616"/>
                    <a:pt x="1193800" y="787483"/>
                  </a:cubicBezTo>
                  <a:cubicBezTo>
                    <a:pt x="1310217" y="948350"/>
                    <a:pt x="1231900" y="884850"/>
                    <a:pt x="1320800" y="965283"/>
                  </a:cubicBezTo>
                  <a:cubicBezTo>
                    <a:pt x="1409700" y="1045716"/>
                    <a:pt x="1602317" y="1327233"/>
                    <a:pt x="1727200" y="1270083"/>
                  </a:cubicBezTo>
                  <a:cubicBezTo>
                    <a:pt x="1852083" y="1212933"/>
                    <a:pt x="1961091" y="917658"/>
                    <a:pt x="2070100" y="622383"/>
                  </a:cubicBezTo>
                </a:path>
              </a:pathLst>
            </a:custGeom>
            <a:noFill/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52" name="椭圆 51">
              <a:extLst>
                <a:ext uri="{FF2B5EF4-FFF2-40B4-BE49-F238E27FC236}">
                  <a16:creationId xmlns:a16="http://schemas.microsoft.com/office/drawing/2014/main" id="{023ECDC3-F92B-7781-1FF8-CEFAA3D5EE3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16639" y="1852410"/>
              <a:ext cx="32459" cy="32459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7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椭圆 52">
              <a:extLst>
                <a:ext uri="{FF2B5EF4-FFF2-40B4-BE49-F238E27FC236}">
                  <a16:creationId xmlns:a16="http://schemas.microsoft.com/office/drawing/2014/main" id="{431D4989-507A-BA01-AFFF-B161062A337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65305" y="1795156"/>
              <a:ext cx="32459" cy="32459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7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椭圆 54">
              <a:extLst>
                <a:ext uri="{FF2B5EF4-FFF2-40B4-BE49-F238E27FC236}">
                  <a16:creationId xmlns:a16="http://schemas.microsoft.com/office/drawing/2014/main" id="{608B0D9F-D34B-3FDB-C8F1-BB0F5D4DDC7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349100" y="1831016"/>
              <a:ext cx="32459" cy="32459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7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椭圆 55">
              <a:extLst>
                <a:ext uri="{FF2B5EF4-FFF2-40B4-BE49-F238E27FC236}">
                  <a16:creationId xmlns:a16="http://schemas.microsoft.com/office/drawing/2014/main" id="{47A9CF2E-9B01-DF71-9F93-ECC369EECC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94709" y="1762697"/>
              <a:ext cx="32459" cy="32459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7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文本框 56">
              <a:extLst>
                <a:ext uri="{FF2B5EF4-FFF2-40B4-BE49-F238E27FC236}">
                  <a16:creationId xmlns:a16="http://schemas.microsoft.com/office/drawing/2014/main" id="{0B3A0FAB-5CB7-216B-8595-72CE9074A3F0}"/>
                </a:ext>
              </a:extLst>
            </p:cNvPr>
            <p:cNvSpPr txBox="1"/>
            <p:nvPr/>
          </p:nvSpPr>
          <p:spPr>
            <a:xfrm>
              <a:off x="10496141" y="1713206"/>
              <a:ext cx="36420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7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攻试</a:t>
              </a:r>
            </a:p>
          </p:txBody>
        </p:sp>
        <p:sp>
          <p:nvSpPr>
            <p:cNvPr id="58" name="文本框 57">
              <a:extLst>
                <a:ext uri="{FF2B5EF4-FFF2-40B4-BE49-F238E27FC236}">
                  <a16:creationId xmlns:a16="http://schemas.microsoft.com/office/drawing/2014/main" id="{594F4BC1-A55A-BE1F-E43E-F78FF67688F6}"/>
                </a:ext>
              </a:extLst>
            </p:cNvPr>
            <p:cNvSpPr txBox="1"/>
            <p:nvPr/>
          </p:nvSpPr>
          <p:spPr>
            <a:xfrm>
              <a:off x="10897764" y="1532342"/>
              <a:ext cx="36420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7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攻中</a:t>
              </a:r>
            </a:p>
          </p:txBody>
        </p:sp>
        <p:sp>
          <p:nvSpPr>
            <p:cNvPr id="61" name="文本框 60">
              <a:extLst>
                <a:ext uri="{FF2B5EF4-FFF2-40B4-BE49-F238E27FC236}">
                  <a16:creationId xmlns:a16="http://schemas.microsoft.com/office/drawing/2014/main" id="{603DD0BB-1876-860D-99D1-CF47FCB3F784}"/>
                </a:ext>
              </a:extLst>
            </p:cNvPr>
            <p:cNvSpPr txBox="1"/>
            <p:nvPr/>
          </p:nvSpPr>
          <p:spPr>
            <a:xfrm>
              <a:off x="11032873" y="1778926"/>
              <a:ext cx="36420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7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防试</a:t>
              </a:r>
            </a:p>
          </p:txBody>
        </p:sp>
        <p:sp>
          <p:nvSpPr>
            <p:cNvPr id="63" name="文本框 62">
              <a:extLst>
                <a:ext uri="{FF2B5EF4-FFF2-40B4-BE49-F238E27FC236}">
                  <a16:creationId xmlns:a16="http://schemas.microsoft.com/office/drawing/2014/main" id="{FDB57CED-BC2A-9A74-5F08-6C519F7EB286}"/>
                </a:ext>
              </a:extLst>
            </p:cNvPr>
            <p:cNvSpPr txBox="1"/>
            <p:nvPr/>
          </p:nvSpPr>
          <p:spPr>
            <a:xfrm>
              <a:off x="11364938" y="1743999"/>
              <a:ext cx="36420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7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防中</a:t>
              </a:r>
            </a:p>
          </p:txBody>
        </p:sp>
      </p:grp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2CA55FBB-59B4-9AFC-5681-BB064F12B758}"/>
              </a:ext>
            </a:extLst>
          </p:cNvPr>
          <p:cNvGraphicFramePr>
            <a:graphicFrameLocks noGrp="1"/>
          </p:cNvGraphicFramePr>
          <p:nvPr/>
        </p:nvGraphicFramePr>
        <p:xfrm>
          <a:off x="0" y="7065645"/>
          <a:ext cx="12191998" cy="1859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0869">
                  <a:extLst>
                    <a:ext uri="{9D8B030D-6E8A-4147-A177-3AD203B41FA5}">
                      <a16:colId xmlns:a16="http://schemas.microsoft.com/office/drawing/2014/main" val="189700861"/>
                    </a:ext>
                  </a:extLst>
                </a:gridCol>
                <a:gridCol w="775505">
                  <a:extLst>
                    <a:ext uri="{9D8B030D-6E8A-4147-A177-3AD203B41FA5}">
                      <a16:colId xmlns:a16="http://schemas.microsoft.com/office/drawing/2014/main" val="1747246564"/>
                    </a:ext>
                  </a:extLst>
                </a:gridCol>
                <a:gridCol w="1390650">
                  <a:extLst>
                    <a:ext uri="{9D8B030D-6E8A-4147-A177-3AD203B41FA5}">
                      <a16:colId xmlns:a16="http://schemas.microsoft.com/office/drawing/2014/main" val="3690710460"/>
                    </a:ext>
                  </a:extLst>
                </a:gridCol>
                <a:gridCol w="1466850">
                  <a:extLst>
                    <a:ext uri="{9D8B030D-6E8A-4147-A177-3AD203B41FA5}">
                      <a16:colId xmlns:a16="http://schemas.microsoft.com/office/drawing/2014/main" val="2640978416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205671454"/>
                    </a:ext>
                  </a:extLst>
                </a:gridCol>
                <a:gridCol w="1695450">
                  <a:extLst>
                    <a:ext uri="{9D8B030D-6E8A-4147-A177-3AD203B41FA5}">
                      <a16:colId xmlns:a16="http://schemas.microsoft.com/office/drawing/2014/main" val="1792901115"/>
                    </a:ext>
                  </a:extLst>
                </a:gridCol>
                <a:gridCol w="1076325">
                  <a:extLst>
                    <a:ext uri="{9D8B030D-6E8A-4147-A177-3AD203B41FA5}">
                      <a16:colId xmlns:a16="http://schemas.microsoft.com/office/drawing/2014/main" val="3315764323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947601137"/>
                    </a:ext>
                  </a:extLst>
                </a:gridCol>
                <a:gridCol w="1076325">
                  <a:extLst>
                    <a:ext uri="{9D8B030D-6E8A-4147-A177-3AD203B41FA5}">
                      <a16:colId xmlns:a16="http://schemas.microsoft.com/office/drawing/2014/main" val="4273193125"/>
                    </a:ext>
                  </a:extLst>
                </a:gridCol>
                <a:gridCol w="1257299">
                  <a:extLst>
                    <a:ext uri="{9D8B030D-6E8A-4147-A177-3AD203B41FA5}">
                      <a16:colId xmlns:a16="http://schemas.microsoft.com/office/drawing/2014/main" val="3324595741"/>
                    </a:ext>
                  </a:extLst>
                </a:gridCol>
              </a:tblGrid>
              <a:tr h="197836">
                <a:tc rowSpan="2"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管宽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顶型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</a:p>
                    <a:p>
                      <a:pPr algn="ctr"/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初始上破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zh-CN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en-US" altLang="zh-CN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</a:p>
                    <a:p>
                      <a:pPr algn="ctr"/>
                      <a:r>
                        <a:rPr lang="zh-CN" altLang="en-US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初始下破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zh-CN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DJA</a:t>
                      </a:r>
                      <a:r>
                        <a:rPr lang="zh-CN" altLang="en-US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之下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0187719"/>
                  </a:ext>
                </a:extLst>
              </a:tr>
              <a:tr h="19783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升排</a:t>
                      </a:r>
                      <a:endParaRPr lang="zh-CN" altLang="en-US" sz="10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人排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跌排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zh-CN" altLang="en-US" sz="10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升排</a:t>
                      </a:r>
                      <a:endParaRPr lang="zh-CN" altLang="en-US" sz="10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人排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0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跌排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1857369"/>
                  </a:ext>
                </a:extLst>
              </a:tr>
              <a:tr h="201029"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窄</a:t>
                      </a:r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≤</a:t>
                      </a:r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5)</a:t>
                      </a:r>
                      <a:endParaRPr lang="zh-CN" altLang="en-US" sz="10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不论顶型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攻试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不坏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不坏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防中试：机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不坏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不入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不坏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不入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不坏</a:t>
                      </a: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不入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4592787"/>
                  </a:ext>
                </a:extLst>
              </a:tr>
              <a:tr h="321484">
                <a:tc rowSpan="2"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</a:t>
                      </a:r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(5,20)</a:t>
                      </a:r>
                      <a:endParaRPr lang="zh-CN" altLang="en-US" sz="10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合顶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攻试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</a:t>
                      </a:r>
                      <a:endParaRPr lang="en-US" altLang="zh-CN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攻中阻：震荡判断方向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攻中阻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防中试：机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防中阻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防中阻</a:t>
                      </a:r>
                    </a:p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防中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159268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离顶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攻试：防诱顶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攻中：防诱顶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攻中阻：待判断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攻中阻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防中试：警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防中阻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防中阻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防中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1479583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宽</a:t>
                      </a:r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≥</a:t>
                      </a:r>
                      <a:r>
                        <a:rPr lang="en-US" altLang="zh-CN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20)</a:t>
                      </a:r>
                    </a:p>
                    <a:p>
                      <a:endParaRPr lang="zh-CN" altLang="en-US" sz="10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合顶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攻中冲：止盈减至底仓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攻中阻：震荡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攻中阻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rtl="0" eaLnBrk="1" fontAlgn="auto" latinLnBrk="0" hangingPunct="1"/>
                      <a:r>
                        <a:rPr lang="en-US" altLang="zh-CN" sz="1000" kern="120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lang="zh-CN" altLang="zh-CN">
                        <a:effectLst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rtl="0" eaLnBrk="1" fontAlgn="auto" latinLnBrk="0" hangingPunct="1"/>
                      <a:r>
                        <a:rPr lang="en-US" altLang="zh-CN" sz="1000" kern="1200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lang="zh-CN" altLang="zh-CN" dirty="0">
                        <a:effectLst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rtl="0" eaLnBrk="1" fontAlgn="auto" latinLnBrk="0" hangingPunct="1"/>
                      <a:r>
                        <a:rPr lang="en-US" altLang="zh-CN" sz="1000" kern="120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lang="zh-CN" altLang="zh-CN">
                        <a:effectLst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rtl="0" eaLnBrk="1" fontAlgn="auto" latinLnBrk="0" hangingPunct="1"/>
                      <a:r>
                        <a:rPr lang="en-US" altLang="zh-CN" sz="1000" kern="1200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lang="zh-CN" altLang="zh-CN" dirty="0">
                        <a:effectLst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977624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10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离顶</a:t>
                      </a: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10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×</a:t>
                      </a:r>
                      <a:endParaRPr lang="zh-CN" altLang="en-US" sz="10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rtl="0" eaLnBrk="1" fontAlgn="auto" latinLnBrk="0" hangingPunct="1"/>
                      <a:r>
                        <a:rPr lang="en-US" altLang="zh-CN" sz="1000" kern="120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lang="zh-CN" altLang="zh-CN">
                        <a:effectLst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rtl="0" eaLnBrk="1" fontAlgn="auto" latinLnBrk="0" hangingPunct="1"/>
                      <a:r>
                        <a:rPr lang="en-US" altLang="zh-CN" sz="1000" kern="120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lang="zh-CN" altLang="zh-CN">
                        <a:effectLst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rtl="0" eaLnBrk="1" fontAlgn="auto" latinLnBrk="0" hangingPunct="1"/>
                      <a:r>
                        <a:rPr lang="en-US" altLang="zh-CN" sz="1000" kern="120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lang="zh-CN" altLang="zh-CN">
                        <a:effectLst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rtl="0" eaLnBrk="1" fontAlgn="auto" latinLnBrk="0" hangingPunct="1"/>
                      <a:r>
                        <a:rPr lang="en-US" altLang="zh-CN" sz="1000" kern="1200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×</a:t>
                      </a:r>
                      <a:endParaRPr lang="zh-CN" altLang="zh-CN" dirty="0">
                        <a:effectLst/>
                      </a:endParaRPr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2394718"/>
                  </a:ext>
                </a:extLst>
              </a:tr>
            </a:tbl>
          </a:graphicData>
        </a:graphic>
      </p:graphicFrame>
      <p:sp>
        <p:nvSpPr>
          <p:cNvPr id="7" name="矩形 6">
            <a:extLst>
              <a:ext uri="{FF2B5EF4-FFF2-40B4-BE49-F238E27FC236}">
                <a16:creationId xmlns:a16="http://schemas.microsoft.com/office/drawing/2014/main" id="{B618A3EB-FBE5-4C3C-5E1F-0D6ECF71DE98}"/>
              </a:ext>
            </a:extLst>
          </p:cNvPr>
          <p:cNvSpPr/>
          <p:nvPr/>
        </p:nvSpPr>
        <p:spPr>
          <a:xfrm>
            <a:off x="0" y="5868521"/>
            <a:ext cx="12192000" cy="1004009"/>
          </a:xfrm>
          <a:prstGeom prst="rect">
            <a:avLst/>
          </a:prstGeom>
          <a:solidFill>
            <a:schemeClr val="bg1">
              <a:lumMod val="50000"/>
            </a:schemeClr>
          </a:solidFill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攻势失败</a:t>
            </a:r>
            <a:r>
              <a:rPr lang="en-US" altLang="zh-CN" sz="1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单柱不足以改变下降趋势：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）跌排后</a:t>
            </a:r>
            <a:r>
              <a:rPr lang="zh-CN" altLang="en-US" sz="100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出现</a:t>
            </a:r>
            <a:r>
              <a:rPr lang="en-US" altLang="zh-CN" sz="100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升孕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：大部分属于下跌中继。少数可能</a:t>
            </a:r>
            <a:r>
              <a:rPr lang="zh-CN" altLang="en-US" sz="100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继续上升的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情况是：大阴柱之后止跌、连阴之后止跌、接近收复前阴柱。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）跌排后</a:t>
            </a:r>
            <a:r>
              <a:rPr lang="zh-CN" altLang="en-US" sz="100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出现</a:t>
            </a:r>
            <a:r>
              <a:rPr lang="en-US" altLang="zh-CN" sz="100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升吞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：需要后续柱确认走向。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）顶离时出现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跌连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跌吞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DTZA=1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单柱上破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不可信。首鼎：单柱上破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DJA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不足以确认向上突破，最好回踩走稳。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zh-CN" altLang="en-US" sz="10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）要经过充分调整，不能以锐角进行回弹。</a:t>
            </a:r>
            <a:endParaRPr lang="en-US" altLang="zh-CN" sz="10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" name="组合 7">
            <a:extLst>
              <a:ext uri="{FF2B5EF4-FFF2-40B4-BE49-F238E27FC236}">
                <a16:creationId xmlns:a16="http://schemas.microsoft.com/office/drawing/2014/main" id="{F67C95E3-36E6-EFA4-73F7-9E0C690E4DF6}"/>
              </a:ext>
            </a:extLst>
          </p:cNvPr>
          <p:cNvGrpSpPr/>
          <p:nvPr/>
        </p:nvGrpSpPr>
        <p:grpSpPr>
          <a:xfrm>
            <a:off x="9168043" y="6151511"/>
            <a:ext cx="1479706" cy="564545"/>
            <a:chOff x="7860291" y="3528117"/>
            <a:chExt cx="1479706" cy="564545"/>
          </a:xfrm>
        </p:grpSpPr>
        <p:sp>
          <p:nvSpPr>
            <p:cNvPr id="9" name="矩形 8">
              <a:extLst>
                <a:ext uri="{FF2B5EF4-FFF2-40B4-BE49-F238E27FC236}">
                  <a16:creationId xmlns:a16="http://schemas.microsoft.com/office/drawing/2014/main" id="{A120928E-759B-A15A-933F-653C52D0588B}"/>
                </a:ext>
              </a:extLst>
            </p:cNvPr>
            <p:cNvSpPr/>
            <p:nvPr/>
          </p:nvSpPr>
          <p:spPr>
            <a:xfrm>
              <a:off x="8547997" y="3731074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矩形 20">
              <a:extLst>
                <a:ext uri="{FF2B5EF4-FFF2-40B4-BE49-F238E27FC236}">
                  <a16:creationId xmlns:a16="http://schemas.microsoft.com/office/drawing/2014/main" id="{4216E368-B109-C43B-30D2-9B643B134676}"/>
                </a:ext>
              </a:extLst>
            </p:cNvPr>
            <p:cNvSpPr/>
            <p:nvPr/>
          </p:nvSpPr>
          <p:spPr>
            <a:xfrm>
              <a:off x="8267452" y="3602141"/>
              <a:ext cx="72000" cy="144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2" name="直接连接符 21">
              <a:extLst>
                <a:ext uri="{FF2B5EF4-FFF2-40B4-BE49-F238E27FC236}">
                  <a16:creationId xmlns:a16="http://schemas.microsoft.com/office/drawing/2014/main" id="{A3CC77FD-B87F-9456-B3CB-7CFFF928E0F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99997" y="3528117"/>
              <a:ext cx="1440000" cy="346521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矩形 22">
              <a:extLst>
                <a:ext uri="{FF2B5EF4-FFF2-40B4-BE49-F238E27FC236}">
                  <a16:creationId xmlns:a16="http://schemas.microsoft.com/office/drawing/2014/main" id="{44F1AACC-2BE1-B56C-B545-C4E4134F9B64}"/>
                </a:ext>
              </a:extLst>
            </p:cNvPr>
            <p:cNvSpPr/>
            <p:nvPr/>
          </p:nvSpPr>
          <p:spPr>
            <a:xfrm>
              <a:off x="8700397" y="3706489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4" name="直接连接符 23">
              <a:extLst>
                <a:ext uri="{FF2B5EF4-FFF2-40B4-BE49-F238E27FC236}">
                  <a16:creationId xmlns:a16="http://schemas.microsoft.com/office/drawing/2014/main" id="{5495E45E-AD45-509B-55F6-2CAE7F4281C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99997" y="3746141"/>
              <a:ext cx="1440000" cy="346521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接箭头连接符 24">
              <a:extLst>
                <a:ext uri="{FF2B5EF4-FFF2-40B4-BE49-F238E27FC236}">
                  <a16:creationId xmlns:a16="http://schemas.microsoft.com/office/drawing/2014/main" id="{3CBAABBF-48F8-3833-8EE0-6CEFD8BD7D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60291" y="3594436"/>
              <a:ext cx="403455" cy="144000"/>
            </a:xfrm>
            <a:prstGeom prst="straightConnector1">
              <a:avLst/>
            </a:prstGeom>
            <a:ln w="254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矩形 25">
              <a:extLst>
                <a:ext uri="{FF2B5EF4-FFF2-40B4-BE49-F238E27FC236}">
                  <a16:creationId xmlns:a16="http://schemas.microsoft.com/office/drawing/2014/main" id="{1F5B4B52-E19F-6472-0E9F-8E0CF7A1AF76}"/>
                </a:ext>
              </a:extLst>
            </p:cNvPr>
            <p:cNvSpPr/>
            <p:nvPr/>
          </p:nvSpPr>
          <p:spPr>
            <a:xfrm>
              <a:off x="8419852" y="3754541"/>
              <a:ext cx="72000" cy="180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矩形 26">
              <a:extLst>
                <a:ext uri="{FF2B5EF4-FFF2-40B4-BE49-F238E27FC236}">
                  <a16:creationId xmlns:a16="http://schemas.microsoft.com/office/drawing/2014/main" id="{83FCF916-80F8-AFBB-4D3E-3E38B70033A9}"/>
                </a:ext>
              </a:extLst>
            </p:cNvPr>
            <p:cNvSpPr/>
            <p:nvPr/>
          </p:nvSpPr>
          <p:spPr>
            <a:xfrm>
              <a:off x="8843924" y="3786988"/>
              <a:ext cx="72000" cy="144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8" name="组合 27">
            <a:extLst>
              <a:ext uri="{FF2B5EF4-FFF2-40B4-BE49-F238E27FC236}">
                <a16:creationId xmlns:a16="http://schemas.microsoft.com/office/drawing/2014/main" id="{DEF9290F-4FAB-DBF6-69F3-2D7F98530C6A}"/>
              </a:ext>
            </a:extLst>
          </p:cNvPr>
          <p:cNvGrpSpPr/>
          <p:nvPr/>
        </p:nvGrpSpPr>
        <p:grpSpPr>
          <a:xfrm>
            <a:off x="7512301" y="6204606"/>
            <a:ext cx="1519412" cy="564545"/>
            <a:chOff x="9768634" y="3625092"/>
            <a:chExt cx="1519412" cy="564545"/>
          </a:xfrm>
        </p:grpSpPr>
        <p:sp>
          <p:nvSpPr>
            <p:cNvPr id="29" name="矩形 28">
              <a:extLst>
                <a:ext uri="{FF2B5EF4-FFF2-40B4-BE49-F238E27FC236}">
                  <a16:creationId xmlns:a16="http://schemas.microsoft.com/office/drawing/2014/main" id="{8101349E-3D9D-3E70-C2C8-3A722AE77895}"/>
                </a:ext>
              </a:extLst>
            </p:cNvPr>
            <p:cNvSpPr/>
            <p:nvPr/>
          </p:nvSpPr>
          <p:spPr>
            <a:xfrm>
              <a:off x="10600361" y="3722081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矩形 29">
              <a:extLst>
                <a:ext uri="{FF2B5EF4-FFF2-40B4-BE49-F238E27FC236}">
                  <a16:creationId xmlns:a16="http://schemas.microsoft.com/office/drawing/2014/main" id="{F4EDCA7E-FCE3-F073-5A91-1894F21533AF}"/>
                </a:ext>
              </a:extLst>
            </p:cNvPr>
            <p:cNvSpPr/>
            <p:nvPr/>
          </p:nvSpPr>
          <p:spPr>
            <a:xfrm>
              <a:off x="10308634" y="3645511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矩形 30">
              <a:extLst>
                <a:ext uri="{FF2B5EF4-FFF2-40B4-BE49-F238E27FC236}">
                  <a16:creationId xmlns:a16="http://schemas.microsoft.com/office/drawing/2014/main" id="{9B5F5D0F-AC85-4231-9352-477B37212F69}"/>
                </a:ext>
              </a:extLst>
            </p:cNvPr>
            <p:cNvSpPr/>
            <p:nvPr/>
          </p:nvSpPr>
          <p:spPr>
            <a:xfrm>
              <a:off x="10175795" y="3664280"/>
              <a:ext cx="72000" cy="180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32" name="直接连接符 31">
              <a:extLst>
                <a:ext uri="{FF2B5EF4-FFF2-40B4-BE49-F238E27FC236}">
                  <a16:creationId xmlns:a16="http://schemas.microsoft.com/office/drawing/2014/main" id="{DEB01860-F56C-34AD-D915-7AB8E98A4B7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808340" y="3625092"/>
              <a:ext cx="1440000" cy="346521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接连接符 32">
              <a:extLst>
                <a:ext uri="{FF2B5EF4-FFF2-40B4-BE49-F238E27FC236}">
                  <a16:creationId xmlns:a16="http://schemas.microsoft.com/office/drawing/2014/main" id="{16D780F3-B27C-6A01-AE3D-F25BF11997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808340" y="3843116"/>
              <a:ext cx="1440000" cy="346521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接箭头连接符 33">
              <a:extLst>
                <a:ext uri="{FF2B5EF4-FFF2-40B4-BE49-F238E27FC236}">
                  <a16:creationId xmlns:a16="http://schemas.microsoft.com/office/drawing/2014/main" id="{67CD7BB5-A699-B35F-7B6C-AB1473E2911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68634" y="3673993"/>
              <a:ext cx="403455" cy="144000"/>
            </a:xfrm>
            <a:prstGeom prst="straightConnector1">
              <a:avLst/>
            </a:prstGeom>
            <a:ln w="254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矩形 35">
              <a:extLst>
                <a:ext uri="{FF2B5EF4-FFF2-40B4-BE49-F238E27FC236}">
                  <a16:creationId xmlns:a16="http://schemas.microsoft.com/office/drawing/2014/main" id="{5E7B4DA0-A48A-BC2E-2BE7-A706D97E46D0}"/>
                </a:ext>
              </a:extLst>
            </p:cNvPr>
            <p:cNvSpPr/>
            <p:nvPr/>
          </p:nvSpPr>
          <p:spPr>
            <a:xfrm>
              <a:off x="10743829" y="3770654"/>
              <a:ext cx="72000" cy="144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矩形 36">
              <a:extLst>
                <a:ext uri="{FF2B5EF4-FFF2-40B4-BE49-F238E27FC236}">
                  <a16:creationId xmlns:a16="http://schemas.microsoft.com/office/drawing/2014/main" id="{40573C8B-7078-8681-9512-D7673F7095AE}"/>
                </a:ext>
              </a:extLst>
            </p:cNvPr>
            <p:cNvSpPr/>
            <p:nvPr/>
          </p:nvSpPr>
          <p:spPr>
            <a:xfrm>
              <a:off x="10457499" y="3643290"/>
              <a:ext cx="72000" cy="180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矩形 37">
              <a:extLst>
                <a:ext uri="{FF2B5EF4-FFF2-40B4-BE49-F238E27FC236}">
                  <a16:creationId xmlns:a16="http://schemas.microsoft.com/office/drawing/2014/main" id="{930DDB6A-A0D0-79F4-0671-CF1E55C23F1E}"/>
                </a:ext>
              </a:extLst>
            </p:cNvPr>
            <p:cNvSpPr/>
            <p:nvPr/>
          </p:nvSpPr>
          <p:spPr>
            <a:xfrm>
              <a:off x="10873133" y="3820638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39" name="直接箭头连接符 38">
              <a:extLst>
                <a:ext uri="{FF2B5EF4-FFF2-40B4-BE49-F238E27FC236}">
                  <a16:creationId xmlns:a16="http://schemas.microsoft.com/office/drawing/2014/main" id="{515BBC99-E4E6-3022-0AFD-35EDE595B8F9}"/>
                </a:ext>
              </a:extLst>
            </p:cNvPr>
            <p:cNvCxnSpPr>
              <a:cxnSpLocks/>
            </p:cNvCxnSpPr>
            <p:nvPr/>
          </p:nvCxnSpPr>
          <p:spPr>
            <a:xfrm>
              <a:off x="11042469" y="3851516"/>
              <a:ext cx="245577" cy="169166"/>
            </a:xfrm>
            <a:prstGeom prst="straightConnector1">
              <a:avLst/>
            </a:prstGeom>
            <a:ln w="25400">
              <a:solidFill>
                <a:srgbClr val="5482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文本框 39">
            <a:extLst>
              <a:ext uri="{FF2B5EF4-FFF2-40B4-BE49-F238E27FC236}">
                <a16:creationId xmlns:a16="http://schemas.microsoft.com/office/drawing/2014/main" id="{8CAB794A-5825-65DA-E68A-FBDBBAA8F2C8}"/>
              </a:ext>
            </a:extLst>
          </p:cNvPr>
          <p:cNvSpPr txBox="1"/>
          <p:nvPr/>
        </p:nvSpPr>
        <p:spPr>
          <a:xfrm>
            <a:off x="8361879" y="5987670"/>
            <a:ext cx="93038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情况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zh-CN" altLang="en-US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文本框 40">
            <a:extLst>
              <a:ext uri="{FF2B5EF4-FFF2-40B4-BE49-F238E27FC236}">
                <a16:creationId xmlns:a16="http://schemas.microsoft.com/office/drawing/2014/main" id="{ED123E01-80D7-9B4F-729B-052331646B97}"/>
              </a:ext>
            </a:extLst>
          </p:cNvPr>
          <p:cNvSpPr txBox="1"/>
          <p:nvPr/>
        </p:nvSpPr>
        <p:spPr>
          <a:xfrm>
            <a:off x="9614958" y="6015036"/>
            <a:ext cx="93038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情况</a:t>
            </a:r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zh-CN" altLang="en-US" sz="1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2" name="组合 41">
            <a:extLst>
              <a:ext uri="{FF2B5EF4-FFF2-40B4-BE49-F238E27FC236}">
                <a16:creationId xmlns:a16="http://schemas.microsoft.com/office/drawing/2014/main" id="{148E8886-93C4-CF0A-B4D0-C1EC7B9A8468}"/>
              </a:ext>
            </a:extLst>
          </p:cNvPr>
          <p:cNvGrpSpPr/>
          <p:nvPr/>
        </p:nvGrpSpPr>
        <p:grpSpPr>
          <a:xfrm>
            <a:off x="10728149" y="5905979"/>
            <a:ext cx="1463851" cy="888378"/>
            <a:chOff x="9744783" y="1116864"/>
            <a:chExt cx="1463851" cy="888378"/>
          </a:xfrm>
        </p:grpSpPr>
        <p:cxnSp>
          <p:nvCxnSpPr>
            <p:cNvPr id="43" name="直接连接符 42">
              <a:extLst>
                <a:ext uri="{FF2B5EF4-FFF2-40B4-BE49-F238E27FC236}">
                  <a16:creationId xmlns:a16="http://schemas.microsoft.com/office/drawing/2014/main" id="{9BDE089D-C10E-124B-9DED-307A403D5C4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4783" y="1454012"/>
              <a:ext cx="1440000" cy="346521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接连接符 43">
              <a:extLst>
                <a:ext uri="{FF2B5EF4-FFF2-40B4-BE49-F238E27FC236}">
                  <a16:creationId xmlns:a16="http://schemas.microsoft.com/office/drawing/2014/main" id="{D786D418-C568-B58C-4D54-CCDA799195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68634" y="1658721"/>
              <a:ext cx="1440000" cy="346521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任意多边形: 形状 44">
              <a:extLst>
                <a:ext uri="{FF2B5EF4-FFF2-40B4-BE49-F238E27FC236}">
                  <a16:creationId xmlns:a16="http://schemas.microsoft.com/office/drawing/2014/main" id="{F8D61C02-82D6-4667-40AD-3DAA64DE8644}"/>
                </a:ext>
              </a:extLst>
            </p:cNvPr>
            <p:cNvSpPr/>
            <p:nvPr/>
          </p:nvSpPr>
          <p:spPr>
            <a:xfrm>
              <a:off x="9853599" y="1255767"/>
              <a:ext cx="870857" cy="522520"/>
            </a:xfrm>
            <a:custGeom>
              <a:avLst/>
              <a:gdLst>
                <a:gd name="connsiteX0" fmla="*/ 0 w 870857"/>
                <a:gd name="connsiteY0" fmla="*/ 513812 h 522520"/>
                <a:gd name="connsiteX1" fmla="*/ 391885 w 870857"/>
                <a:gd name="connsiteY1" fmla="*/ 6 h 522520"/>
                <a:gd name="connsiteX2" fmla="*/ 870857 w 870857"/>
                <a:gd name="connsiteY2" fmla="*/ 522520 h 52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0857" h="522520">
                  <a:moveTo>
                    <a:pt x="0" y="513812"/>
                  </a:moveTo>
                  <a:cubicBezTo>
                    <a:pt x="123371" y="256183"/>
                    <a:pt x="246742" y="-1445"/>
                    <a:pt x="391885" y="6"/>
                  </a:cubicBezTo>
                  <a:cubicBezTo>
                    <a:pt x="537028" y="1457"/>
                    <a:pt x="703942" y="261988"/>
                    <a:pt x="870857" y="522520"/>
                  </a:cubicBezTo>
                </a:path>
              </a:pathLst>
            </a:custGeom>
            <a:noFill/>
            <a:ln w="25400">
              <a:solidFill>
                <a:srgbClr val="54823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矩形 45">
              <a:extLst>
                <a:ext uri="{FF2B5EF4-FFF2-40B4-BE49-F238E27FC236}">
                  <a16:creationId xmlns:a16="http://schemas.microsoft.com/office/drawing/2014/main" id="{81CA4151-2A7E-8495-F5FC-3F2D08CB0CF1}"/>
                </a:ext>
              </a:extLst>
            </p:cNvPr>
            <p:cNvSpPr/>
            <p:nvPr/>
          </p:nvSpPr>
          <p:spPr>
            <a:xfrm>
              <a:off x="10734078" y="1508934"/>
              <a:ext cx="72000" cy="25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文本框 46">
              <a:extLst>
                <a:ext uri="{FF2B5EF4-FFF2-40B4-BE49-F238E27FC236}">
                  <a16:creationId xmlns:a16="http://schemas.microsoft.com/office/drawing/2014/main" id="{1F54B0A0-0B2D-5377-2544-337A708CC0E3}"/>
                </a:ext>
              </a:extLst>
            </p:cNvPr>
            <p:cNvSpPr txBox="1"/>
            <p:nvPr/>
          </p:nvSpPr>
          <p:spPr>
            <a:xfrm>
              <a:off x="10503638" y="1116864"/>
              <a:ext cx="62802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情况</a:t>
              </a:r>
              <a:r>
                <a:rPr lang="en-US" altLang="zh-CN" sz="1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" name="矩形 2">
            <a:extLst>
              <a:ext uri="{FF2B5EF4-FFF2-40B4-BE49-F238E27FC236}">
                <a16:creationId xmlns:a16="http://schemas.microsoft.com/office/drawing/2014/main" id="{57EB3986-56B8-F51B-1508-6654A40B4943}"/>
              </a:ext>
            </a:extLst>
          </p:cNvPr>
          <p:cNvSpPr/>
          <p:nvPr/>
        </p:nvSpPr>
        <p:spPr>
          <a:xfrm>
            <a:off x="2043" y="4415215"/>
            <a:ext cx="12192000" cy="1456786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zh-CN" altLang="en-US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grpSp>
        <p:nvGrpSpPr>
          <p:cNvPr id="5" name="组合 4">
            <a:extLst>
              <a:ext uri="{FF2B5EF4-FFF2-40B4-BE49-F238E27FC236}">
                <a16:creationId xmlns:a16="http://schemas.microsoft.com/office/drawing/2014/main" id="{2E6DF34D-06D4-4E53-1A6B-8FC0195560A2}"/>
              </a:ext>
            </a:extLst>
          </p:cNvPr>
          <p:cNvGrpSpPr/>
          <p:nvPr/>
        </p:nvGrpSpPr>
        <p:grpSpPr>
          <a:xfrm>
            <a:off x="10992432" y="4660660"/>
            <a:ext cx="903959" cy="415683"/>
            <a:chOff x="10988586" y="4539371"/>
            <a:chExt cx="903959" cy="415683"/>
          </a:xfrm>
        </p:grpSpPr>
        <p:sp>
          <p:nvSpPr>
            <p:cNvPr id="6" name="矩形 5">
              <a:extLst>
                <a:ext uri="{FF2B5EF4-FFF2-40B4-BE49-F238E27FC236}">
                  <a16:creationId xmlns:a16="http://schemas.microsoft.com/office/drawing/2014/main" id="{8FCC5264-45CF-7F0A-A879-C33703EAEE75}"/>
                </a:ext>
              </a:extLst>
            </p:cNvPr>
            <p:cNvSpPr/>
            <p:nvPr/>
          </p:nvSpPr>
          <p:spPr>
            <a:xfrm>
              <a:off x="11330466" y="4675689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" name="矩形 9">
              <a:extLst>
                <a:ext uri="{FF2B5EF4-FFF2-40B4-BE49-F238E27FC236}">
                  <a16:creationId xmlns:a16="http://schemas.microsoft.com/office/drawing/2014/main" id="{E1764B55-EA60-FAB4-E69E-992DCB2F827B}"/>
                </a:ext>
              </a:extLst>
            </p:cNvPr>
            <p:cNvSpPr/>
            <p:nvPr/>
          </p:nvSpPr>
          <p:spPr>
            <a:xfrm>
              <a:off x="11200436" y="4739054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" name="矩形 10">
              <a:extLst>
                <a:ext uri="{FF2B5EF4-FFF2-40B4-BE49-F238E27FC236}">
                  <a16:creationId xmlns:a16="http://schemas.microsoft.com/office/drawing/2014/main" id="{9C1B0F2D-5ADE-CF7E-6CD5-628C8E84A24B}"/>
                </a:ext>
              </a:extLst>
            </p:cNvPr>
            <p:cNvSpPr/>
            <p:nvPr/>
          </p:nvSpPr>
          <p:spPr>
            <a:xfrm>
              <a:off x="11479298" y="4645217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2" name="直接连接符 11">
              <a:extLst>
                <a:ext uri="{FF2B5EF4-FFF2-40B4-BE49-F238E27FC236}">
                  <a16:creationId xmlns:a16="http://schemas.microsoft.com/office/drawing/2014/main" id="{EC92CA0A-E8BC-DA3D-5BC3-1FBD4F929CE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988586" y="4746954"/>
              <a:ext cx="903959" cy="176543"/>
            </a:xfrm>
            <a:prstGeom prst="line">
              <a:avLst/>
            </a:prstGeom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箭头连接符 12">
              <a:extLst>
                <a:ext uri="{FF2B5EF4-FFF2-40B4-BE49-F238E27FC236}">
                  <a16:creationId xmlns:a16="http://schemas.microsoft.com/office/drawing/2014/main" id="{BE05C29D-5028-EC50-BDDE-CF4BE7269B8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610564" y="4539371"/>
              <a:ext cx="202191" cy="16414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文本框 58">
            <a:extLst>
              <a:ext uri="{FF2B5EF4-FFF2-40B4-BE49-F238E27FC236}">
                <a16:creationId xmlns:a16="http://schemas.microsoft.com/office/drawing/2014/main" id="{31C6C416-BC3C-8EFC-D7B5-03E444418B0D}"/>
              </a:ext>
            </a:extLst>
          </p:cNvPr>
          <p:cNvSpPr txBox="1"/>
          <p:nvPr/>
        </p:nvSpPr>
        <p:spPr>
          <a:xfrm>
            <a:off x="4065978" y="4327676"/>
            <a:ext cx="4427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/>
              <a:t>(2)</a:t>
            </a:r>
            <a:endParaRPr lang="zh-CN" altLang="en-US" dirty="0"/>
          </a:p>
        </p:txBody>
      </p:sp>
      <p:grpSp>
        <p:nvGrpSpPr>
          <p:cNvPr id="14" name="组合 13">
            <a:extLst>
              <a:ext uri="{FF2B5EF4-FFF2-40B4-BE49-F238E27FC236}">
                <a16:creationId xmlns:a16="http://schemas.microsoft.com/office/drawing/2014/main" id="{50748A7B-B19A-BB3D-17CB-D58FAC71A2CA}"/>
              </a:ext>
            </a:extLst>
          </p:cNvPr>
          <p:cNvGrpSpPr/>
          <p:nvPr/>
        </p:nvGrpSpPr>
        <p:grpSpPr>
          <a:xfrm>
            <a:off x="4194108" y="4533291"/>
            <a:ext cx="1246238" cy="666163"/>
            <a:chOff x="4190262" y="4412002"/>
            <a:chExt cx="1246238" cy="666163"/>
          </a:xfrm>
        </p:grpSpPr>
        <p:sp>
          <p:nvSpPr>
            <p:cNvPr id="15" name="任意多边形: 形状 14">
              <a:extLst>
                <a:ext uri="{FF2B5EF4-FFF2-40B4-BE49-F238E27FC236}">
                  <a16:creationId xmlns:a16="http://schemas.microsoft.com/office/drawing/2014/main" id="{9D8D567D-A5A9-D709-5D25-22151CC87355}"/>
                </a:ext>
              </a:extLst>
            </p:cNvPr>
            <p:cNvSpPr/>
            <p:nvPr/>
          </p:nvSpPr>
          <p:spPr>
            <a:xfrm>
              <a:off x="4190262" y="4703511"/>
              <a:ext cx="1233996" cy="337352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6" name="直接箭头连接符 15">
              <a:extLst>
                <a:ext uri="{FF2B5EF4-FFF2-40B4-BE49-F238E27FC236}">
                  <a16:creationId xmlns:a16="http://schemas.microsoft.com/office/drawing/2014/main" id="{8E762DC4-F998-C1E4-4171-1F4EC0D0DC6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202504" y="4671899"/>
              <a:ext cx="604756" cy="327283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矩形 63">
              <a:extLst>
                <a:ext uri="{FF2B5EF4-FFF2-40B4-BE49-F238E27FC236}">
                  <a16:creationId xmlns:a16="http://schemas.microsoft.com/office/drawing/2014/main" id="{7D6B07C0-6B70-E3F0-E010-BEB3A4ECFD3E}"/>
                </a:ext>
              </a:extLst>
            </p:cNvPr>
            <p:cNvSpPr/>
            <p:nvPr/>
          </p:nvSpPr>
          <p:spPr>
            <a:xfrm>
              <a:off x="4835312" y="4637854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5" name="矩形 64">
              <a:extLst>
                <a:ext uri="{FF2B5EF4-FFF2-40B4-BE49-F238E27FC236}">
                  <a16:creationId xmlns:a16="http://schemas.microsoft.com/office/drawing/2014/main" id="{C62806D8-B073-549C-2EAF-D8DAE9A63F62}"/>
                </a:ext>
              </a:extLst>
            </p:cNvPr>
            <p:cNvSpPr/>
            <p:nvPr/>
          </p:nvSpPr>
          <p:spPr>
            <a:xfrm>
              <a:off x="4963297" y="4681217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矩形 16">
              <a:extLst>
                <a:ext uri="{FF2B5EF4-FFF2-40B4-BE49-F238E27FC236}">
                  <a16:creationId xmlns:a16="http://schemas.microsoft.com/office/drawing/2014/main" id="{66214DB9-FDFF-354F-3050-2033D24EC3EA}"/>
                </a:ext>
              </a:extLst>
            </p:cNvPr>
            <p:cNvSpPr/>
            <p:nvPr/>
          </p:nvSpPr>
          <p:spPr>
            <a:xfrm>
              <a:off x="5092422" y="4616886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68" name="直接箭头连接符 67">
              <a:extLst>
                <a:ext uri="{FF2B5EF4-FFF2-40B4-BE49-F238E27FC236}">
                  <a16:creationId xmlns:a16="http://schemas.microsoft.com/office/drawing/2014/main" id="{6B1FC9EF-AF59-C213-04BB-56DF4F32246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228318" y="4412002"/>
              <a:ext cx="190920" cy="240842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文本框 68">
              <a:extLst>
                <a:ext uri="{FF2B5EF4-FFF2-40B4-BE49-F238E27FC236}">
                  <a16:creationId xmlns:a16="http://schemas.microsoft.com/office/drawing/2014/main" id="{BBB6DBC0-4419-44C7-2CEA-92831FA81454}"/>
                </a:ext>
              </a:extLst>
            </p:cNvPr>
            <p:cNvSpPr txBox="1"/>
            <p:nvPr/>
          </p:nvSpPr>
          <p:spPr>
            <a:xfrm>
              <a:off x="4995354" y="4831944"/>
              <a:ext cx="44114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dirty="0"/>
                <a:t>继鼎</a:t>
              </a:r>
            </a:p>
          </p:txBody>
        </p:sp>
      </p:grpSp>
      <p:grpSp>
        <p:nvGrpSpPr>
          <p:cNvPr id="70" name="组合 69">
            <a:extLst>
              <a:ext uri="{FF2B5EF4-FFF2-40B4-BE49-F238E27FC236}">
                <a16:creationId xmlns:a16="http://schemas.microsoft.com/office/drawing/2014/main" id="{4C27FEFE-63B8-A211-1FD0-C7B6022C40FE}"/>
              </a:ext>
            </a:extLst>
          </p:cNvPr>
          <p:cNvGrpSpPr/>
          <p:nvPr/>
        </p:nvGrpSpPr>
        <p:grpSpPr>
          <a:xfrm>
            <a:off x="4194108" y="5077485"/>
            <a:ext cx="1447035" cy="742579"/>
            <a:chOff x="4190262" y="4956196"/>
            <a:chExt cx="1447035" cy="742579"/>
          </a:xfrm>
        </p:grpSpPr>
        <p:sp>
          <p:nvSpPr>
            <p:cNvPr id="71" name="任意多边形: 形状 70">
              <a:extLst>
                <a:ext uri="{FF2B5EF4-FFF2-40B4-BE49-F238E27FC236}">
                  <a16:creationId xmlns:a16="http://schemas.microsoft.com/office/drawing/2014/main" id="{4A0B45C3-8724-DE25-7CFD-B95E242BAAD5}"/>
                </a:ext>
              </a:extLst>
            </p:cNvPr>
            <p:cNvSpPr/>
            <p:nvPr/>
          </p:nvSpPr>
          <p:spPr>
            <a:xfrm>
              <a:off x="4190262" y="5361423"/>
              <a:ext cx="1233996" cy="337352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72" name="直接箭头连接符 71">
              <a:extLst>
                <a:ext uri="{FF2B5EF4-FFF2-40B4-BE49-F238E27FC236}">
                  <a16:creationId xmlns:a16="http://schemas.microsoft.com/office/drawing/2014/main" id="{99346DD4-8F67-3985-6F01-2AC34E05CA1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202504" y="5222714"/>
              <a:ext cx="502773" cy="43438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矩形 72">
              <a:extLst>
                <a:ext uri="{FF2B5EF4-FFF2-40B4-BE49-F238E27FC236}">
                  <a16:creationId xmlns:a16="http://schemas.microsoft.com/office/drawing/2014/main" id="{F308AE80-2BB0-B7FC-4889-15EB42B878BD}"/>
                </a:ext>
              </a:extLst>
            </p:cNvPr>
            <p:cNvSpPr/>
            <p:nvPr/>
          </p:nvSpPr>
          <p:spPr>
            <a:xfrm>
              <a:off x="4835312" y="5295766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4" name="矩形 73">
              <a:extLst>
                <a:ext uri="{FF2B5EF4-FFF2-40B4-BE49-F238E27FC236}">
                  <a16:creationId xmlns:a16="http://schemas.microsoft.com/office/drawing/2014/main" id="{54E7CB62-CFFC-7FAF-D401-617EBB259560}"/>
                </a:ext>
              </a:extLst>
            </p:cNvPr>
            <p:cNvSpPr/>
            <p:nvPr/>
          </p:nvSpPr>
          <p:spPr>
            <a:xfrm>
              <a:off x="4963297" y="5339129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5" name="矩形 74">
              <a:extLst>
                <a:ext uri="{FF2B5EF4-FFF2-40B4-BE49-F238E27FC236}">
                  <a16:creationId xmlns:a16="http://schemas.microsoft.com/office/drawing/2014/main" id="{FBF7703A-979F-1804-BC44-2DD04DB11828}"/>
                </a:ext>
              </a:extLst>
            </p:cNvPr>
            <p:cNvSpPr/>
            <p:nvPr/>
          </p:nvSpPr>
          <p:spPr>
            <a:xfrm>
              <a:off x="5092422" y="5337738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76" name="直接箭头连接符 75">
              <a:extLst>
                <a:ext uri="{FF2B5EF4-FFF2-40B4-BE49-F238E27FC236}">
                  <a16:creationId xmlns:a16="http://schemas.microsoft.com/office/drawing/2014/main" id="{708C5E0C-38E4-0580-89DD-DC8CFBFD1D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46377" y="4956196"/>
              <a:ext cx="190920" cy="240842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矩形 76">
              <a:extLst>
                <a:ext uri="{FF2B5EF4-FFF2-40B4-BE49-F238E27FC236}">
                  <a16:creationId xmlns:a16="http://schemas.microsoft.com/office/drawing/2014/main" id="{65809CAA-0847-0C94-EE77-E16580DA2299}"/>
                </a:ext>
              </a:extLst>
            </p:cNvPr>
            <p:cNvSpPr/>
            <p:nvPr/>
          </p:nvSpPr>
          <p:spPr>
            <a:xfrm>
              <a:off x="4710114" y="5204388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8" name="矩形 77">
              <a:extLst>
                <a:ext uri="{FF2B5EF4-FFF2-40B4-BE49-F238E27FC236}">
                  <a16:creationId xmlns:a16="http://schemas.microsoft.com/office/drawing/2014/main" id="{44FC611C-F1EC-E555-29A4-CA544061A7A9}"/>
                </a:ext>
              </a:extLst>
            </p:cNvPr>
            <p:cNvSpPr/>
            <p:nvPr/>
          </p:nvSpPr>
          <p:spPr>
            <a:xfrm>
              <a:off x="5215927" y="5292595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9" name="矩形 78">
              <a:extLst>
                <a:ext uri="{FF2B5EF4-FFF2-40B4-BE49-F238E27FC236}">
                  <a16:creationId xmlns:a16="http://schemas.microsoft.com/office/drawing/2014/main" id="{289857DC-FA9F-BE09-90FD-DD4F8679E76F}"/>
                </a:ext>
              </a:extLst>
            </p:cNvPr>
            <p:cNvSpPr/>
            <p:nvPr/>
          </p:nvSpPr>
          <p:spPr>
            <a:xfrm>
              <a:off x="5341125" y="5229477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80" name="文本框 79">
            <a:extLst>
              <a:ext uri="{FF2B5EF4-FFF2-40B4-BE49-F238E27FC236}">
                <a16:creationId xmlns:a16="http://schemas.microsoft.com/office/drawing/2014/main" id="{C67EE89E-3315-3CB6-BF36-6FA1A37BC808}"/>
              </a:ext>
            </a:extLst>
          </p:cNvPr>
          <p:cNvSpPr txBox="1"/>
          <p:nvPr/>
        </p:nvSpPr>
        <p:spPr>
          <a:xfrm>
            <a:off x="5819518" y="4327676"/>
            <a:ext cx="4427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/>
              <a:t>(3)</a:t>
            </a:r>
            <a:endParaRPr lang="zh-CN" altLang="en-US" dirty="0"/>
          </a:p>
        </p:txBody>
      </p:sp>
      <p:grpSp>
        <p:nvGrpSpPr>
          <p:cNvPr id="81" name="组合 80">
            <a:extLst>
              <a:ext uri="{FF2B5EF4-FFF2-40B4-BE49-F238E27FC236}">
                <a16:creationId xmlns:a16="http://schemas.microsoft.com/office/drawing/2014/main" id="{8305825B-6060-676E-42EE-0F401A4898C7}"/>
              </a:ext>
            </a:extLst>
          </p:cNvPr>
          <p:cNvGrpSpPr/>
          <p:nvPr/>
        </p:nvGrpSpPr>
        <p:grpSpPr>
          <a:xfrm>
            <a:off x="5924809" y="4447299"/>
            <a:ext cx="1254551" cy="742676"/>
            <a:chOff x="5943802" y="4412002"/>
            <a:chExt cx="1254551" cy="742676"/>
          </a:xfrm>
        </p:grpSpPr>
        <p:sp>
          <p:nvSpPr>
            <p:cNvPr id="82" name="任意多边形: 形状 81">
              <a:extLst>
                <a:ext uri="{FF2B5EF4-FFF2-40B4-BE49-F238E27FC236}">
                  <a16:creationId xmlns:a16="http://schemas.microsoft.com/office/drawing/2014/main" id="{6DB86DFF-4702-F8FD-43BA-8A5741B4ECF2}"/>
                </a:ext>
              </a:extLst>
            </p:cNvPr>
            <p:cNvSpPr/>
            <p:nvPr/>
          </p:nvSpPr>
          <p:spPr>
            <a:xfrm>
              <a:off x="5943802" y="4703511"/>
              <a:ext cx="1233996" cy="337352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83" name="直接箭头连接符 82">
              <a:extLst>
                <a:ext uri="{FF2B5EF4-FFF2-40B4-BE49-F238E27FC236}">
                  <a16:creationId xmlns:a16="http://schemas.microsoft.com/office/drawing/2014/main" id="{CD0461A3-80EF-E103-9DA6-CA694BF616B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6044" y="4671899"/>
              <a:ext cx="604756" cy="327283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矩形 83">
              <a:extLst>
                <a:ext uri="{FF2B5EF4-FFF2-40B4-BE49-F238E27FC236}">
                  <a16:creationId xmlns:a16="http://schemas.microsoft.com/office/drawing/2014/main" id="{5EF12E1D-1C00-1A35-1103-30AEC38FA626}"/>
                </a:ext>
              </a:extLst>
            </p:cNvPr>
            <p:cNvSpPr/>
            <p:nvPr/>
          </p:nvSpPr>
          <p:spPr>
            <a:xfrm>
              <a:off x="6588852" y="4637854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5" name="矩形 84">
              <a:extLst>
                <a:ext uri="{FF2B5EF4-FFF2-40B4-BE49-F238E27FC236}">
                  <a16:creationId xmlns:a16="http://schemas.microsoft.com/office/drawing/2014/main" id="{45160F5E-1C08-6EE6-D50A-B25402432B97}"/>
                </a:ext>
              </a:extLst>
            </p:cNvPr>
            <p:cNvSpPr/>
            <p:nvPr/>
          </p:nvSpPr>
          <p:spPr>
            <a:xfrm>
              <a:off x="6716837" y="4681217"/>
              <a:ext cx="72000" cy="252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6" name="矩形 85">
              <a:extLst>
                <a:ext uri="{FF2B5EF4-FFF2-40B4-BE49-F238E27FC236}">
                  <a16:creationId xmlns:a16="http://schemas.microsoft.com/office/drawing/2014/main" id="{FB970A30-99A2-0C01-EAE4-9E3812B9B36E}"/>
                </a:ext>
              </a:extLst>
            </p:cNvPr>
            <p:cNvSpPr/>
            <p:nvPr/>
          </p:nvSpPr>
          <p:spPr>
            <a:xfrm>
              <a:off x="6845962" y="4674036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87" name="直接箭头连接符 86">
              <a:extLst>
                <a:ext uri="{FF2B5EF4-FFF2-40B4-BE49-F238E27FC236}">
                  <a16:creationId xmlns:a16="http://schemas.microsoft.com/office/drawing/2014/main" id="{4FE66DBF-8A9E-4A2B-A66A-E109686CC8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81858" y="4412002"/>
              <a:ext cx="190920" cy="240842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任意多边形: 形状 87">
              <a:extLst>
                <a:ext uri="{FF2B5EF4-FFF2-40B4-BE49-F238E27FC236}">
                  <a16:creationId xmlns:a16="http://schemas.microsoft.com/office/drawing/2014/main" id="{73D8D7E5-EB92-B167-C4EC-26BD1AF9BCA8}"/>
                </a:ext>
              </a:extLst>
            </p:cNvPr>
            <p:cNvSpPr/>
            <p:nvPr/>
          </p:nvSpPr>
          <p:spPr>
            <a:xfrm>
              <a:off x="5964357" y="4817326"/>
              <a:ext cx="1233996" cy="337352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89" name="文本框 88">
            <a:extLst>
              <a:ext uri="{FF2B5EF4-FFF2-40B4-BE49-F238E27FC236}">
                <a16:creationId xmlns:a16="http://schemas.microsoft.com/office/drawing/2014/main" id="{2BD413C8-BD9C-F0A0-95BA-7D172EB5C8F1}"/>
              </a:ext>
            </a:extLst>
          </p:cNvPr>
          <p:cNvSpPr txBox="1"/>
          <p:nvPr/>
        </p:nvSpPr>
        <p:spPr>
          <a:xfrm>
            <a:off x="5819518" y="5152685"/>
            <a:ext cx="4427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/>
              <a:t>(4)</a:t>
            </a:r>
            <a:endParaRPr lang="zh-CN" altLang="en-US" dirty="0"/>
          </a:p>
        </p:txBody>
      </p:sp>
      <p:grpSp>
        <p:nvGrpSpPr>
          <p:cNvPr id="90" name="组合 89">
            <a:extLst>
              <a:ext uri="{FF2B5EF4-FFF2-40B4-BE49-F238E27FC236}">
                <a16:creationId xmlns:a16="http://schemas.microsoft.com/office/drawing/2014/main" id="{7D16FA21-7E4E-59A4-B0F7-069C7FFC01F5}"/>
              </a:ext>
            </a:extLst>
          </p:cNvPr>
          <p:cNvGrpSpPr/>
          <p:nvPr/>
        </p:nvGrpSpPr>
        <p:grpSpPr>
          <a:xfrm>
            <a:off x="5951645" y="5320332"/>
            <a:ext cx="1254551" cy="516824"/>
            <a:chOff x="7576574" y="4637854"/>
            <a:chExt cx="1254551" cy="516824"/>
          </a:xfrm>
        </p:grpSpPr>
        <p:sp>
          <p:nvSpPr>
            <p:cNvPr id="91" name="任意多边形: 形状 90">
              <a:extLst>
                <a:ext uri="{FF2B5EF4-FFF2-40B4-BE49-F238E27FC236}">
                  <a16:creationId xmlns:a16="http://schemas.microsoft.com/office/drawing/2014/main" id="{2F358739-FA8B-0166-FA82-044022A135AA}"/>
                </a:ext>
              </a:extLst>
            </p:cNvPr>
            <p:cNvSpPr/>
            <p:nvPr/>
          </p:nvSpPr>
          <p:spPr>
            <a:xfrm>
              <a:off x="7576574" y="4703511"/>
              <a:ext cx="1233996" cy="337352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92" name="直接箭头连接符 91">
              <a:extLst>
                <a:ext uri="{FF2B5EF4-FFF2-40B4-BE49-F238E27FC236}">
                  <a16:creationId xmlns:a16="http://schemas.microsoft.com/office/drawing/2014/main" id="{D67AD1C1-8904-884D-E069-2DF9944003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88816" y="4671899"/>
              <a:ext cx="604756" cy="327283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矩形 92">
              <a:extLst>
                <a:ext uri="{FF2B5EF4-FFF2-40B4-BE49-F238E27FC236}">
                  <a16:creationId xmlns:a16="http://schemas.microsoft.com/office/drawing/2014/main" id="{D76A0F35-7354-107B-19A8-1E17A6E90309}"/>
                </a:ext>
              </a:extLst>
            </p:cNvPr>
            <p:cNvSpPr/>
            <p:nvPr/>
          </p:nvSpPr>
          <p:spPr>
            <a:xfrm>
              <a:off x="8221624" y="4637854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3" name="矩形 132">
              <a:extLst>
                <a:ext uri="{FF2B5EF4-FFF2-40B4-BE49-F238E27FC236}">
                  <a16:creationId xmlns:a16="http://schemas.microsoft.com/office/drawing/2014/main" id="{F8F04B52-DA12-92DA-944C-E3EFCE4C2D32}"/>
                </a:ext>
              </a:extLst>
            </p:cNvPr>
            <p:cNvSpPr/>
            <p:nvPr/>
          </p:nvSpPr>
          <p:spPr>
            <a:xfrm>
              <a:off x="8349609" y="4681217"/>
              <a:ext cx="72000" cy="252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4" name="矩形 133">
              <a:extLst>
                <a:ext uri="{FF2B5EF4-FFF2-40B4-BE49-F238E27FC236}">
                  <a16:creationId xmlns:a16="http://schemas.microsoft.com/office/drawing/2014/main" id="{87E7A42B-A0C1-E908-1F4A-2BA12ACB5356}"/>
                </a:ext>
              </a:extLst>
            </p:cNvPr>
            <p:cNvSpPr/>
            <p:nvPr/>
          </p:nvSpPr>
          <p:spPr>
            <a:xfrm>
              <a:off x="8620400" y="4663217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5" name="任意多边形: 形状 134">
              <a:extLst>
                <a:ext uri="{FF2B5EF4-FFF2-40B4-BE49-F238E27FC236}">
                  <a16:creationId xmlns:a16="http://schemas.microsoft.com/office/drawing/2014/main" id="{1F71E92D-94EF-3AD0-3A0C-C516DD7F8870}"/>
                </a:ext>
              </a:extLst>
            </p:cNvPr>
            <p:cNvSpPr/>
            <p:nvPr/>
          </p:nvSpPr>
          <p:spPr>
            <a:xfrm>
              <a:off x="7597129" y="4817326"/>
              <a:ext cx="1233996" cy="337352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6" name="矩形 135">
              <a:extLst>
                <a:ext uri="{FF2B5EF4-FFF2-40B4-BE49-F238E27FC236}">
                  <a16:creationId xmlns:a16="http://schemas.microsoft.com/office/drawing/2014/main" id="{D04FB873-86B2-2D5B-1EE6-B968F9D8E7B9}"/>
                </a:ext>
              </a:extLst>
            </p:cNvPr>
            <p:cNvSpPr/>
            <p:nvPr/>
          </p:nvSpPr>
          <p:spPr>
            <a:xfrm>
              <a:off x="8485004" y="4807217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37" name="矩形 136">
            <a:extLst>
              <a:ext uri="{FF2B5EF4-FFF2-40B4-BE49-F238E27FC236}">
                <a16:creationId xmlns:a16="http://schemas.microsoft.com/office/drawing/2014/main" id="{201F2AA2-8E9A-6219-4EE7-B70BEA9DBB31}"/>
              </a:ext>
            </a:extLst>
          </p:cNvPr>
          <p:cNvSpPr/>
          <p:nvPr/>
        </p:nvSpPr>
        <p:spPr>
          <a:xfrm>
            <a:off x="0" y="4415215"/>
            <a:ext cx="3906246" cy="145678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【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柱站上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DJA】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的几种方式：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）上穿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时已站上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：在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DJC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之下已经上穿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）从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之上回归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：包含继鼎。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3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）首下破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后反弹站上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：特别是找到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DJB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支撑会形成冲高。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4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）跌破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较短时间后又站上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：一般为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DXZA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恢复。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5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）跌破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较长时间后站上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最好要经过下跌</a:t>
            </a:r>
            <a:r>
              <a:rPr lang="en-US" altLang="zh-CN" sz="1000" dirty="0" err="1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abc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浪形成反转。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首个单阳柱不足以站上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。</a:t>
            </a:r>
            <a:endParaRPr lang="en-US" altLang="zh-CN" sz="1000" dirty="0">
              <a:solidFill>
                <a:schemeClr val="tx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最好在站上</a:t>
            </a:r>
            <a:r>
              <a:rPr lang="en-US" altLang="zh-CN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DJA</a:t>
            </a:r>
            <a:r>
              <a:rPr lang="zh-CN" altLang="en-US" sz="1000" dirty="0">
                <a:solidFill>
                  <a:schemeClr val="tx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后回踩站稳。</a:t>
            </a:r>
          </a:p>
        </p:txBody>
      </p:sp>
      <p:sp>
        <p:nvSpPr>
          <p:cNvPr id="138" name="文本框 137">
            <a:extLst>
              <a:ext uri="{FF2B5EF4-FFF2-40B4-BE49-F238E27FC236}">
                <a16:creationId xmlns:a16="http://schemas.microsoft.com/office/drawing/2014/main" id="{146F7ADD-9462-AA3C-B042-4D10B8F27C50}"/>
              </a:ext>
            </a:extLst>
          </p:cNvPr>
          <p:cNvSpPr txBox="1"/>
          <p:nvPr/>
        </p:nvSpPr>
        <p:spPr>
          <a:xfrm>
            <a:off x="7386019" y="4327676"/>
            <a:ext cx="4427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/>
              <a:t>(5)</a:t>
            </a:r>
            <a:endParaRPr lang="zh-CN" altLang="en-US" dirty="0"/>
          </a:p>
        </p:txBody>
      </p:sp>
      <p:grpSp>
        <p:nvGrpSpPr>
          <p:cNvPr id="139" name="组合 138">
            <a:extLst>
              <a:ext uri="{FF2B5EF4-FFF2-40B4-BE49-F238E27FC236}">
                <a16:creationId xmlns:a16="http://schemas.microsoft.com/office/drawing/2014/main" id="{41638CC1-C74E-BB51-2CA7-7E2D317A7DA3}"/>
              </a:ext>
            </a:extLst>
          </p:cNvPr>
          <p:cNvGrpSpPr/>
          <p:nvPr/>
        </p:nvGrpSpPr>
        <p:grpSpPr>
          <a:xfrm>
            <a:off x="7806376" y="4414627"/>
            <a:ext cx="1315754" cy="604235"/>
            <a:chOff x="9121536" y="4443363"/>
            <a:chExt cx="1315754" cy="604235"/>
          </a:xfrm>
        </p:grpSpPr>
        <p:sp>
          <p:nvSpPr>
            <p:cNvPr id="140" name="任意多边形: 形状 139">
              <a:extLst>
                <a:ext uri="{FF2B5EF4-FFF2-40B4-BE49-F238E27FC236}">
                  <a16:creationId xmlns:a16="http://schemas.microsoft.com/office/drawing/2014/main" id="{64DC954F-120E-C541-DB59-BF254D98D104}"/>
                </a:ext>
              </a:extLst>
            </p:cNvPr>
            <p:cNvSpPr/>
            <p:nvPr/>
          </p:nvSpPr>
          <p:spPr>
            <a:xfrm flipV="1">
              <a:off x="9121536" y="4605833"/>
              <a:ext cx="1312303" cy="292451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41" name="直接箭头连接符 140">
              <a:extLst>
                <a:ext uri="{FF2B5EF4-FFF2-40B4-BE49-F238E27FC236}">
                  <a16:creationId xmlns:a16="http://schemas.microsoft.com/office/drawing/2014/main" id="{014C9874-F62C-A720-B2B0-3D0041E6688D}"/>
                </a:ext>
              </a:extLst>
            </p:cNvPr>
            <p:cNvCxnSpPr>
              <a:cxnSpLocks/>
            </p:cNvCxnSpPr>
            <p:nvPr/>
          </p:nvCxnSpPr>
          <p:spPr>
            <a:xfrm>
              <a:off x="9144581" y="4709127"/>
              <a:ext cx="468783" cy="19618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矩形 141">
              <a:extLst>
                <a:ext uri="{FF2B5EF4-FFF2-40B4-BE49-F238E27FC236}">
                  <a16:creationId xmlns:a16="http://schemas.microsoft.com/office/drawing/2014/main" id="{5E5A05DF-EBDE-7C8A-19D6-0D20656DB5F3}"/>
                </a:ext>
              </a:extLst>
            </p:cNvPr>
            <p:cNvSpPr/>
            <p:nvPr/>
          </p:nvSpPr>
          <p:spPr>
            <a:xfrm>
              <a:off x="9663891" y="4718284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43" name="直接箭头连接符 142">
              <a:extLst>
                <a:ext uri="{FF2B5EF4-FFF2-40B4-BE49-F238E27FC236}">
                  <a16:creationId xmlns:a16="http://schemas.microsoft.com/office/drawing/2014/main" id="{5B7EC532-79E4-89BB-BB08-FAF12276E556}"/>
                </a:ext>
              </a:extLst>
            </p:cNvPr>
            <p:cNvCxnSpPr>
              <a:cxnSpLocks/>
            </p:cNvCxnSpPr>
            <p:nvPr/>
          </p:nvCxnSpPr>
          <p:spPr>
            <a:xfrm>
              <a:off x="9837852" y="4807217"/>
              <a:ext cx="172955" cy="240381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" name="文本框 143">
              <a:extLst>
                <a:ext uri="{FF2B5EF4-FFF2-40B4-BE49-F238E27FC236}">
                  <a16:creationId xmlns:a16="http://schemas.microsoft.com/office/drawing/2014/main" id="{C9387B4A-A272-DDF7-B72B-E51815E7C61C}"/>
                </a:ext>
              </a:extLst>
            </p:cNvPr>
            <p:cNvSpPr txBox="1"/>
            <p:nvPr/>
          </p:nvSpPr>
          <p:spPr>
            <a:xfrm>
              <a:off x="9483183" y="4443363"/>
              <a:ext cx="95410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dirty="0"/>
                <a:t>单柱很难站上</a:t>
              </a:r>
            </a:p>
          </p:txBody>
        </p:sp>
      </p:grpSp>
      <p:grpSp>
        <p:nvGrpSpPr>
          <p:cNvPr id="145" name="组合 144">
            <a:extLst>
              <a:ext uri="{FF2B5EF4-FFF2-40B4-BE49-F238E27FC236}">
                <a16:creationId xmlns:a16="http://schemas.microsoft.com/office/drawing/2014/main" id="{8A888C47-F440-4EA8-5F73-159FF9CA2520}"/>
              </a:ext>
            </a:extLst>
          </p:cNvPr>
          <p:cNvGrpSpPr/>
          <p:nvPr/>
        </p:nvGrpSpPr>
        <p:grpSpPr>
          <a:xfrm>
            <a:off x="9296107" y="4576409"/>
            <a:ext cx="1407763" cy="493453"/>
            <a:chOff x="9121536" y="5205322"/>
            <a:chExt cx="1407763" cy="493453"/>
          </a:xfrm>
        </p:grpSpPr>
        <p:sp>
          <p:nvSpPr>
            <p:cNvPr id="146" name="任意多边形: 形状 145">
              <a:extLst>
                <a:ext uri="{FF2B5EF4-FFF2-40B4-BE49-F238E27FC236}">
                  <a16:creationId xmlns:a16="http://schemas.microsoft.com/office/drawing/2014/main" id="{8E3C009C-35A7-8010-0B4C-C5897D3EED08}"/>
                </a:ext>
              </a:extLst>
            </p:cNvPr>
            <p:cNvSpPr/>
            <p:nvPr/>
          </p:nvSpPr>
          <p:spPr>
            <a:xfrm flipV="1">
              <a:off x="9121536" y="5349031"/>
              <a:ext cx="1312303" cy="292451"/>
            </a:xfrm>
            <a:custGeom>
              <a:avLst/>
              <a:gdLst>
                <a:gd name="connsiteX0" fmla="*/ 0 w 1260629"/>
                <a:gd name="connsiteY0" fmla="*/ 230820 h 230820"/>
                <a:gd name="connsiteX1" fmla="*/ 1260629 w 1260629"/>
                <a:gd name="connsiteY1" fmla="*/ 0 h 230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0629" h="230820">
                  <a:moveTo>
                    <a:pt x="0" y="230820"/>
                  </a:moveTo>
                  <a:lnTo>
                    <a:pt x="1260629" y="0"/>
                  </a:lnTo>
                </a:path>
              </a:pathLst>
            </a:custGeom>
            <a:noFill/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47" name="直接箭头连接符 146">
              <a:extLst>
                <a:ext uri="{FF2B5EF4-FFF2-40B4-BE49-F238E27FC236}">
                  <a16:creationId xmlns:a16="http://schemas.microsoft.com/office/drawing/2014/main" id="{E267D22B-B0AE-95E9-8688-E48E7FF5BF4C}"/>
                </a:ext>
              </a:extLst>
            </p:cNvPr>
            <p:cNvCxnSpPr>
              <a:cxnSpLocks/>
            </p:cNvCxnSpPr>
            <p:nvPr/>
          </p:nvCxnSpPr>
          <p:spPr>
            <a:xfrm>
              <a:off x="9144581" y="5452325"/>
              <a:ext cx="468783" cy="196180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8" name="矩形 147">
              <a:extLst>
                <a:ext uri="{FF2B5EF4-FFF2-40B4-BE49-F238E27FC236}">
                  <a16:creationId xmlns:a16="http://schemas.microsoft.com/office/drawing/2014/main" id="{67CE4513-7B9F-76DA-920D-5C91B2798543}"/>
                </a:ext>
              </a:extLst>
            </p:cNvPr>
            <p:cNvSpPr/>
            <p:nvPr/>
          </p:nvSpPr>
          <p:spPr>
            <a:xfrm>
              <a:off x="9617608" y="5496935"/>
              <a:ext cx="72000" cy="180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9" name="矩形 148">
              <a:extLst>
                <a:ext uri="{FF2B5EF4-FFF2-40B4-BE49-F238E27FC236}">
                  <a16:creationId xmlns:a16="http://schemas.microsoft.com/office/drawing/2014/main" id="{C558D713-7D8B-DB82-486F-A468E022C303}"/>
                </a:ext>
              </a:extLst>
            </p:cNvPr>
            <p:cNvSpPr/>
            <p:nvPr/>
          </p:nvSpPr>
          <p:spPr>
            <a:xfrm>
              <a:off x="9732162" y="5494069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0" name="矩形 149">
              <a:extLst>
                <a:ext uri="{FF2B5EF4-FFF2-40B4-BE49-F238E27FC236}">
                  <a16:creationId xmlns:a16="http://schemas.microsoft.com/office/drawing/2014/main" id="{D1D6F7E6-5867-2039-2E33-F426E4CCDF9E}"/>
                </a:ext>
              </a:extLst>
            </p:cNvPr>
            <p:cNvSpPr/>
            <p:nvPr/>
          </p:nvSpPr>
          <p:spPr>
            <a:xfrm>
              <a:off x="9846716" y="5580502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1" name="矩形 150">
              <a:extLst>
                <a:ext uri="{FF2B5EF4-FFF2-40B4-BE49-F238E27FC236}">
                  <a16:creationId xmlns:a16="http://schemas.microsoft.com/office/drawing/2014/main" id="{CCCFD6B3-EC8B-E4DB-C06A-AB10D63A06EA}"/>
                </a:ext>
              </a:extLst>
            </p:cNvPr>
            <p:cNvSpPr/>
            <p:nvPr/>
          </p:nvSpPr>
          <p:spPr>
            <a:xfrm>
              <a:off x="9974807" y="5626775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2" name="矩形 151">
              <a:extLst>
                <a:ext uri="{FF2B5EF4-FFF2-40B4-BE49-F238E27FC236}">
                  <a16:creationId xmlns:a16="http://schemas.microsoft.com/office/drawing/2014/main" id="{D803B9DD-2E49-92B0-AA20-8AE23530446E}"/>
                </a:ext>
              </a:extLst>
            </p:cNvPr>
            <p:cNvSpPr/>
            <p:nvPr/>
          </p:nvSpPr>
          <p:spPr>
            <a:xfrm>
              <a:off x="10102898" y="5580110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" name="矩形 152">
              <a:extLst>
                <a:ext uri="{FF2B5EF4-FFF2-40B4-BE49-F238E27FC236}">
                  <a16:creationId xmlns:a16="http://schemas.microsoft.com/office/drawing/2014/main" id="{D28855EC-EEF1-4A49-3C7C-FA25BE16F3A4}"/>
                </a:ext>
              </a:extLst>
            </p:cNvPr>
            <p:cNvSpPr/>
            <p:nvPr/>
          </p:nvSpPr>
          <p:spPr>
            <a:xfrm>
              <a:off x="10217452" y="5503188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54" name="直接箭头连接符 153">
              <a:extLst>
                <a:ext uri="{FF2B5EF4-FFF2-40B4-BE49-F238E27FC236}">
                  <a16:creationId xmlns:a16="http://schemas.microsoft.com/office/drawing/2014/main" id="{B7555B52-131F-11A4-5622-E39C732DD7F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38379" y="5289317"/>
              <a:ext cx="190920" cy="240842"/>
            </a:xfrm>
            <a:prstGeom prst="straightConnector1">
              <a:avLst/>
            </a:prstGeom>
            <a:ln w="34925">
              <a:solidFill>
                <a:schemeClr val="accent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" name="文本框 154">
              <a:extLst>
                <a:ext uri="{FF2B5EF4-FFF2-40B4-BE49-F238E27FC236}">
                  <a16:creationId xmlns:a16="http://schemas.microsoft.com/office/drawing/2014/main" id="{F3FC6946-0A6B-90B9-A04F-496F0F9C06F6}"/>
                </a:ext>
              </a:extLst>
            </p:cNvPr>
            <p:cNvSpPr txBox="1"/>
            <p:nvPr/>
          </p:nvSpPr>
          <p:spPr>
            <a:xfrm>
              <a:off x="9299857" y="5205322"/>
              <a:ext cx="100860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dirty="0"/>
                <a:t>已经</a:t>
              </a:r>
              <a:r>
                <a:rPr lang="en-US" altLang="zh-CN" sz="1000" dirty="0" err="1"/>
                <a:t>abc</a:t>
              </a:r>
              <a:r>
                <a:rPr lang="zh-CN" altLang="en-US" sz="1000" dirty="0"/>
                <a:t>浪调整</a:t>
              </a:r>
            </a:p>
          </p:txBody>
        </p:sp>
      </p:grpSp>
      <p:sp>
        <p:nvSpPr>
          <p:cNvPr id="156" name="文本框 155">
            <a:extLst>
              <a:ext uri="{FF2B5EF4-FFF2-40B4-BE49-F238E27FC236}">
                <a16:creationId xmlns:a16="http://schemas.microsoft.com/office/drawing/2014/main" id="{9A81D770-3805-766D-57DF-85122D6AFE4C}"/>
              </a:ext>
            </a:extLst>
          </p:cNvPr>
          <p:cNvSpPr txBox="1"/>
          <p:nvPr/>
        </p:nvSpPr>
        <p:spPr>
          <a:xfrm>
            <a:off x="10916783" y="4524395"/>
            <a:ext cx="69762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000" dirty="0"/>
              <a:t>回踩站稳</a:t>
            </a:r>
          </a:p>
        </p:txBody>
      </p:sp>
      <p:grpSp>
        <p:nvGrpSpPr>
          <p:cNvPr id="157" name="组合 156">
            <a:extLst>
              <a:ext uri="{FF2B5EF4-FFF2-40B4-BE49-F238E27FC236}">
                <a16:creationId xmlns:a16="http://schemas.microsoft.com/office/drawing/2014/main" id="{73D2CCDD-B8C2-9328-3DEC-298FF37D6972}"/>
              </a:ext>
            </a:extLst>
          </p:cNvPr>
          <p:cNvGrpSpPr/>
          <p:nvPr/>
        </p:nvGrpSpPr>
        <p:grpSpPr>
          <a:xfrm>
            <a:off x="10916783" y="5278745"/>
            <a:ext cx="973037" cy="572070"/>
            <a:chOff x="10912937" y="5157456"/>
            <a:chExt cx="973037" cy="572070"/>
          </a:xfrm>
        </p:grpSpPr>
        <p:grpSp>
          <p:nvGrpSpPr>
            <p:cNvPr id="158" name="组合 157">
              <a:extLst>
                <a:ext uri="{FF2B5EF4-FFF2-40B4-BE49-F238E27FC236}">
                  <a16:creationId xmlns:a16="http://schemas.microsoft.com/office/drawing/2014/main" id="{EE498A4F-FE32-087F-81C3-E87E011051DC}"/>
                </a:ext>
              </a:extLst>
            </p:cNvPr>
            <p:cNvGrpSpPr/>
            <p:nvPr/>
          </p:nvGrpSpPr>
          <p:grpSpPr>
            <a:xfrm>
              <a:off x="10982015" y="5217160"/>
              <a:ext cx="903959" cy="512366"/>
              <a:chOff x="5867881" y="5790015"/>
              <a:chExt cx="903959" cy="512366"/>
            </a:xfrm>
          </p:grpSpPr>
          <p:sp>
            <p:nvSpPr>
              <p:cNvPr id="162" name="矩形 161">
                <a:extLst>
                  <a:ext uri="{FF2B5EF4-FFF2-40B4-BE49-F238E27FC236}">
                    <a16:creationId xmlns:a16="http://schemas.microsoft.com/office/drawing/2014/main" id="{FB3030D4-DA8D-902F-94B0-69C3C60FF9D5}"/>
                  </a:ext>
                </a:extLst>
              </p:cNvPr>
              <p:cNvSpPr/>
              <p:nvPr/>
            </p:nvSpPr>
            <p:spPr>
              <a:xfrm>
                <a:off x="6212360" y="6015076"/>
                <a:ext cx="72000" cy="108000"/>
              </a:xfrm>
              <a:prstGeom prst="rect">
                <a:avLst/>
              </a:prstGeom>
              <a:solidFill>
                <a:srgbClr val="C00000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3" name="矩形 162">
                <a:extLst>
                  <a:ext uri="{FF2B5EF4-FFF2-40B4-BE49-F238E27FC236}">
                    <a16:creationId xmlns:a16="http://schemas.microsoft.com/office/drawing/2014/main" id="{57597371-4886-2465-D1B9-C24E3B9E27DB}"/>
                  </a:ext>
                </a:extLst>
              </p:cNvPr>
              <p:cNvSpPr/>
              <p:nvPr/>
            </p:nvSpPr>
            <p:spPr>
              <a:xfrm>
                <a:off x="6072805" y="6086381"/>
                <a:ext cx="72000" cy="216000"/>
              </a:xfrm>
              <a:prstGeom prst="rect">
                <a:avLst/>
              </a:prstGeom>
              <a:solidFill>
                <a:srgbClr val="C00000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cxnSp>
            <p:nvCxnSpPr>
              <p:cNvPr id="164" name="直接连接符 163">
                <a:extLst>
                  <a:ext uri="{FF2B5EF4-FFF2-40B4-BE49-F238E27FC236}">
                    <a16:creationId xmlns:a16="http://schemas.microsoft.com/office/drawing/2014/main" id="{DE22A5AF-AA47-79A9-74B4-7CECDA18B1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67881" y="6066308"/>
                <a:ext cx="903959" cy="176543"/>
              </a:xfrm>
              <a:prstGeom prst="line">
                <a:avLst/>
              </a:prstGeom>
              <a:ln w="285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接箭头连接符 164">
                <a:extLst>
                  <a:ext uri="{FF2B5EF4-FFF2-40B4-BE49-F238E27FC236}">
                    <a16:creationId xmlns:a16="http://schemas.microsoft.com/office/drawing/2014/main" id="{0DC422D3-A3AB-8127-E198-3364DECD94C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94652" y="5790015"/>
                <a:ext cx="127202" cy="172849"/>
              </a:xfrm>
              <a:prstGeom prst="straightConnector1">
                <a:avLst/>
              </a:prstGeom>
              <a:ln w="34925">
                <a:solidFill>
                  <a:schemeClr val="accent5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9" name="文本框 158">
              <a:extLst>
                <a:ext uri="{FF2B5EF4-FFF2-40B4-BE49-F238E27FC236}">
                  <a16:creationId xmlns:a16="http://schemas.microsoft.com/office/drawing/2014/main" id="{8AC72193-8393-8C31-7F88-8DE1A29C0E4C}"/>
                </a:ext>
              </a:extLst>
            </p:cNvPr>
            <p:cNvSpPr txBox="1"/>
            <p:nvPr/>
          </p:nvSpPr>
          <p:spPr>
            <a:xfrm>
              <a:off x="10912937" y="5157456"/>
              <a:ext cx="69762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/>
                <a:t>连升站稳</a:t>
              </a:r>
              <a:endParaRPr lang="zh-CN" altLang="en-US" sz="1000" dirty="0"/>
            </a:p>
          </p:txBody>
        </p:sp>
        <p:sp>
          <p:nvSpPr>
            <p:cNvPr id="160" name="矩形 159">
              <a:extLst>
                <a:ext uri="{FF2B5EF4-FFF2-40B4-BE49-F238E27FC236}">
                  <a16:creationId xmlns:a16="http://schemas.microsoft.com/office/drawing/2014/main" id="{A87E77D0-68EE-DDCC-2233-5C98C0B9A2A8}"/>
                </a:ext>
              </a:extLst>
            </p:cNvPr>
            <p:cNvSpPr/>
            <p:nvPr/>
          </p:nvSpPr>
          <p:spPr>
            <a:xfrm>
              <a:off x="11453309" y="5394496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1" name="矩形 160">
              <a:extLst>
                <a:ext uri="{FF2B5EF4-FFF2-40B4-BE49-F238E27FC236}">
                  <a16:creationId xmlns:a16="http://schemas.microsoft.com/office/drawing/2014/main" id="{F1647DE0-60A2-CE27-ABE6-898908F19A99}"/>
                </a:ext>
              </a:extLst>
            </p:cNvPr>
            <p:cNvSpPr/>
            <p:nvPr/>
          </p:nvSpPr>
          <p:spPr>
            <a:xfrm>
              <a:off x="11587796" y="5356659"/>
              <a:ext cx="72000" cy="72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6" name="组合 165">
            <a:extLst>
              <a:ext uri="{FF2B5EF4-FFF2-40B4-BE49-F238E27FC236}">
                <a16:creationId xmlns:a16="http://schemas.microsoft.com/office/drawing/2014/main" id="{8C7247B1-5421-7909-68EB-FA0F4A321EA2}"/>
              </a:ext>
            </a:extLst>
          </p:cNvPr>
          <p:cNvGrpSpPr/>
          <p:nvPr/>
        </p:nvGrpSpPr>
        <p:grpSpPr>
          <a:xfrm>
            <a:off x="7769607" y="5088809"/>
            <a:ext cx="1308659" cy="759402"/>
            <a:chOff x="8568750" y="5744735"/>
            <a:chExt cx="1308659" cy="759402"/>
          </a:xfrm>
        </p:grpSpPr>
        <p:sp>
          <p:nvSpPr>
            <p:cNvPr id="167" name="任意多边形: 形状 166">
              <a:extLst>
                <a:ext uri="{FF2B5EF4-FFF2-40B4-BE49-F238E27FC236}">
                  <a16:creationId xmlns:a16="http://schemas.microsoft.com/office/drawing/2014/main" id="{CCD83680-D0E7-6AEA-E476-A55142BBA510}"/>
                </a:ext>
              </a:extLst>
            </p:cNvPr>
            <p:cNvSpPr/>
            <p:nvPr/>
          </p:nvSpPr>
          <p:spPr>
            <a:xfrm>
              <a:off x="8648801" y="5758610"/>
              <a:ext cx="1114927" cy="731350"/>
            </a:xfrm>
            <a:custGeom>
              <a:avLst/>
              <a:gdLst>
                <a:gd name="connsiteX0" fmla="*/ 0 w 1114927"/>
                <a:gd name="connsiteY0" fmla="*/ 731350 h 731350"/>
                <a:gd name="connsiteX1" fmla="*/ 657727 w 1114927"/>
                <a:gd name="connsiteY1" fmla="*/ 9455 h 731350"/>
                <a:gd name="connsiteX2" fmla="*/ 1026695 w 1114927"/>
                <a:gd name="connsiteY2" fmla="*/ 322276 h 731350"/>
                <a:gd name="connsiteX3" fmla="*/ 1114927 w 1114927"/>
                <a:gd name="connsiteY3" fmla="*/ 370403 h 73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4927" h="731350">
                  <a:moveTo>
                    <a:pt x="0" y="731350"/>
                  </a:moveTo>
                  <a:cubicBezTo>
                    <a:pt x="243305" y="404492"/>
                    <a:pt x="486611" y="77634"/>
                    <a:pt x="657727" y="9455"/>
                  </a:cubicBezTo>
                  <a:cubicBezTo>
                    <a:pt x="828843" y="-58724"/>
                    <a:pt x="950495" y="262118"/>
                    <a:pt x="1026695" y="322276"/>
                  </a:cubicBezTo>
                  <a:cubicBezTo>
                    <a:pt x="1102895" y="382434"/>
                    <a:pt x="1108911" y="376418"/>
                    <a:pt x="1114927" y="370403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8" name="矩形 167">
              <a:extLst>
                <a:ext uri="{FF2B5EF4-FFF2-40B4-BE49-F238E27FC236}">
                  <a16:creationId xmlns:a16="http://schemas.microsoft.com/office/drawing/2014/main" id="{94FFBF26-AFCC-D90E-85D0-595C96CE09FC}"/>
                </a:ext>
              </a:extLst>
            </p:cNvPr>
            <p:cNvSpPr/>
            <p:nvPr/>
          </p:nvSpPr>
          <p:spPr>
            <a:xfrm>
              <a:off x="8568750" y="6138000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9" name="矩形 168">
              <a:extLst>
                <a:ext uri="{FF2B5EF4-FFF2-40B4-BE49-F238E27FC236}">
                  <a16:creationId xmlns:a16="http://schemas.microsoft.com/office/drawing/2014/main" id="{8CBED9CE-67B9-8DAC-8C33-0036C35DDD26}"/>
                </a:ext>
              </a:extLst>
            </p:cNvPr>
            <p:cNvSpPr/>
            <p:nvPr/>
          </p:nvSpPr>
          <p:spPr>
            <a:xfrm>
              <a:off x="8827326" y="5886087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1" name="矩形 170">
              <a:extLst>
                <a:ext uri="{FF2B5EF4-FFF2-40B4-BE49-F238E27FC236}">
                  <a16:creationId xmlns:a16="http://schemas.microsoft.com/office/drawing/2014/main" id="{21B47AEC-428E-3F03-0B19-4FBE1E917751}"/>
                </a:ext>
              </a:extLst>
            </p:cNvPr>
            <p:cNvSpPr/>
            <p:nvPr/>
          </p:nvSpPr>
          <p:spPr>
            <a:xfrm>
              <a:off x="8956614" y="5783527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2" name="矩形 171">
              <a:extLst>
                <a:ext uri="{FF2B5EF4-FFF2-40B4-BE49-F238E27FC236}">
                  <a16:creationId xmlns:a16="http://schemas.microsoft.com/office/drawing/2014/main" id="{E39205E4-32C0-46B2-092B-82730B5DC312}"/>
                </a:ext>
              </a:extLst>
            </p:cNvPr>
            <p:cNvSpPr/>
            <p:nvPr/>
          </p:nvSpPr>
          <p:spPr>
            <a:xfrm>
              <a:off x="8698038" y="5994000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3" name="矩形 172">
              <a:extLst>
                <a:ext uri="{FF2B5EF4-FFF2-40B4-BE49-F238E27FC236}">
                  <a16:creationId xmlns:a16="http://schemas.microsoft.com/office/drawing/2014/main" id="{2E5747F2-FFD7-575E-E3DC-3ABEA766B167}"/>
                </a:ext>
              </a:extLst>
            </p:cNvPr>
            <p:cNvSpPr/>
            <p:nvPr/>
          </p:nvSpPr>
          <p:spPr>
            <a:xfrm>
              <a:off x="9079524" y="5744735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4" name="矩形 173">
              <a:extLst>
                <a:ext uri="{FF2B5EF4-FFF2-40B4-BE49-F238E27FC236}">
                  <a16:creationId xmlns:a16="http://schemas.microsoft.com/office/drawing/2014/main" id="{FEDAE7E0-6B64-7A8B-A1FE-3ADEE9BEF59D}"/>
                </a:ext>
              </a:extLst>
            </p:cNvPr>
            <p:cNvSpPr/>
            <p:nvPr/>
          </p:nvSpPr>
          <p:spPr>
            <a:xfrm>
              <a:off x="9215187" y="5811763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5" name="矩形 174">
              <a:extLst>
                <a:ext uri="{FF2B5EF4-FFF2-40B4-BE49-F238E27FC236}">
                  <a16:creationId xmlns:a16="http://schemas.microsoft.com/office/drawing/2014/main" id="{C0FE800F-CD7C-BCBF-DB98-3BCD8E71F9BF}"/>
                </a:ext>
              </a:extLst>
            </p:cNvPr>
            <p:cNvSpPr/>
            <p:nvPr/>
          </p:nvSpPr>
          <p:spPr>
            <a:xfrm>
              <a:off x="9335943" y="5922087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6" name="矩形 175">
              <a:extLst>
                <a:ext uri="{FF2B5EF4-FFF2-40B4-BE49-F238E27FC236}">
                  <a16:creationId xmlns:a16="http://schemas.microsoft.com/office/drawing/2014/main" id="{20EC2CB5-48BB-4F48-3B23-FA7C1FF9840A}"/>
                </a:ext>
              </a:extLst>
            </p:cNvPr>
            <p:cNvSpPr/>
            <p:nvPr/>
          </p:nvSpPr>
          <p:spPr>
            <a:xfrm>
              <a:off x="9465231" y="5902523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77" name="直接箭头连接符 176">
              <a:extLst>
                <a:ext uri="{FF2B5EF4-FFF2-40B4-BE49-F238E27FC236}">
                  <a16:creationId xmlns:a16="http://schemas.microsoft.com/office/drawing/2014/main" id="{2F9D1444-4E8C-F673-528D-6423221DD62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14249" y="6094419"/>
              <a:ext cx="0" cy="371519"/>
            </a:xfrm>
            <a:prstGeom prst="straightConnector1">
              <a:avLst/>
            </a:prstGeom>
            <a:ln w="317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文本框 177">
              <a:extLst>
                <a:ext uri="{FF2B5EF4-FFF2-40B4-BE49-F238E27FC236}">
                  <a16:creationId xmlns:a16="http://schemas.microsoft.com/office/drawing/2014/main" id="{F2DE7344-95ED-3042-144D-B5CA60756EAA}"/>
                </a:ext>
              </a:extLst>
            </p:cNvPr>
            <p:cNvSpPr txBox="1"/>
            <p:nvPr/>
          </p:nvSpPr>
          <p:spPr>
            <a:xfrm>
              <a:off x="9179782" y="6257916"/>
              <a:ext cx="69762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dirty="0">
                  <a:solidFill>
                    <a:srgbClr val="FF0000"/>
                  </a:solidFill>
                </a:rPr>
                <a:t>特别小心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09693830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719802-8118-9061-BE92-1CE5006E05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>
            <a:extLst>
              <a:ext uri="{FF2B5EF4-FFF2-40B4-BE49-F238E27FC236}">
                <a16:creationId xmlns:a16="http://schemas.microsoft.com/office/drawing/2014/main" id="{5AFC9F5C-1871-BA6E-31BD-20D6EB19016E}"/>
              </a:ext>
            </a:extLst>
          </p:cNvPr>
          <p:cNvSpPr txBox="1"/>
          <p:nvPr/>
        </p:nvSpPr>
        <p:spPr>
          <a:xfrm>
            <a:off x="-1" y="727099"/>
            <a:ext cx="6105600" cy="30777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换边：第二柱或第三柱确认均线换边。关注回踩第二柱。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6" name="直接连接符 15">
            <a:extLst>
              <a:ext uri="{FF2B5EF4-FFF2-40B4-BE49-F238E27FC236}">
                <a16:creationId xmlns:a16="http://schemas.microsoft.com/office/drawing/2014/main" id="{3AFF4DD7-67DE-7EC7-6DC7-D788A3E12CE5}"/>
              </a:ext>
            </a:extLst>
          </p:cNvPr>
          <p:cNvCxnSpPr/>
          <p:nvPr/>
        </p:nvCxnSpPr>
        <p:spPr>
          <a:xfrm flipV="1">
            <a:off x="505097" y="1602377"/>
            <a:ext cx="3204754" cy="226423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矩形 16">
            <a:extLst>
              <a:ext uri="{FF2B5EF4-FFF2-40B4-BE49-F238E27FC236}">
                <a16:creationId xmlns:a16="http://schemas.microsoft.com/office/drawing/2014/main" id="{7829F46C-55EC-68C9-2027-D7741DC9EEA3}"/>
              </a:ext>
            </a:extLst>
          </p:cNvPr>
          <p:cNvSpPr/>
          <p:nvPr/>
        </p:nvSpPr>
        <p:spPr>
          <a:xfrm>
            <a:off x="1165783" y="1636594"/>
            <a:ext cx="72000" cy="28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矩形 17">
            <a:extLst>
              <a:ext uri="{FF2B5EF4-FFF2-40B4-BE49-F238E27FC236}">
                <a16:creationId xmlns:a16="http://schemas.microsoft.com/office/drawing/2014/main" id="{00C0686E-0362-47D5-5674-429D0B4C4EF6}"/>
              </a:ext>
            </a:extLst>
          </p:cNvPr>
          <p:cNvSpPr/>
          <p:nvPr/>
        </p:nvSpPr>
        <p:spPr>
          <a:xfrm>
            <a:off x="1300766" y="1582594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矩形 18">
            <a:extLst>
              <a:ext uri="{FF2B5EF4-FFF2-40B4-BE49-F238E27FC236}">
                <a16:creationId xmlns:a16="http://schemas.microsoft.com/office/drawing/2014/main" id="{83346D98-5F61-34D3-112C-B5ED8DB82554}"/>
              </a:ext>
            </a:extLst>
          </p:cNvPr>
          <p:cNvSpPr/>
          <p:nvPr/>
        </p:nvSpPr>
        <p:spPr>
          <a:xfrm>
            <a:off x="1618629" y="1636594"/>
            <a:ext cx="72000" cy="28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11ABE4AB-A09A-AC9A-1E9F-CA2CFC5B615C}"/>
              </a:ext>
            </a:extLst>
          </p:cNvPr>
          <p:cNvSpPr/>
          <p:nvPr/>
        </p:nvSpPr>
        <p:spPr>
          <a:xfrm>
            <a:off x="1753612" y="1582594"/>
            <a:ext cx="72000" cy="10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CA819C2E-4B69-350F-4613-17F0DE12096C}"/>
              </a:ext>
            </a:extLst>
          </p:cNvPr>
          <p:cNvSpPr/>
          <p:nvPr/>
        </p:nvSpPr>
        <p:spPr>
          <a:xfrm>
            <a:off x="2230288" y="1570601"/>
            <a:ext cx="72000" cy="28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47B01BCB-C5A8-5E3C-6383-0522DD7CBA8E}"/>
              </a:ext>
            </a:extLst>
          </p:cNvPr>
          <p:cNvSpPr/>
          <p:nvPr/>
        </p:nvSpPr>
        <p:spPr>
          <a:xfrm>
            <a:off x="2341168" y="1501348"/>
            <a:ext cx="72000" cy="10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9FD8371A-02EC-44AB-C42A-FAE9A4C17FE0}"/>
              </a:ext>
            </a:extLst>
          </p:cNvPr>
          <p:cNvSpPr/>
          <p:nvPr/>
        </p:nvSpPr>
        <p:spPr>
          <a:xfrm>
            <a:off x="2598928" y="1422377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5" name="直接连接符 34">
            <a:extLst>
              <a:ext uri="{FF2B5EF4-FFF2-40B4-BE49-F238E27FC236}">
                <a16:creationId xmlns:a16="http://schemas.microsoft.com/office/drawing/2014/main" id="{644B65BD-5320-1EAB-EB22-C68023134038}"/>
              </a:ext>
            </a:extLst>
          </p:cNvPr>
          <p:cNvCxnSpPr>
            <a:cxnSpLocks/>
          </p:cNvCxnSpPr>
          <p:nvPr/>
        </p:nvCxnSpPr>
        <p:spPr>
          <a:xfrm>
            <a:off x="6104090" y="689517"/>
            <a:ext cx="0" cy="6165737"/>
          </a:xfrm>
          <a:prstGeom prst="line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>
            <a:extLst>
              <a:ext uri="{FF2B5EF4-FFF2-40B4-BE49-F238E27FC236}">
                <a16:creationId xmlns:a16="http://schemas.microsoft.com/office/drawing/2014/main" id="{77DC7D06-CB57-B915-DC14-9A76074F1436}"/>
              </a:ext>
            </a:extLst>
          </p:cNvPr>
          <p:cNvSpPr/>
          <p:nvPr/>
        </p:nvSpPr>
        <p:spPr>
          <a:xfrm>
            <a:off x="1888595" y="1507008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F84EF31A-25CE-4610-0B47-F2FE8E4AE943}"/>
              </a:ext>
            </a:extLst>
          </p:cNvPr>
          <p:cNvSpPr/>
          <p:nvPr/>
        </p:nvSpPr>
        <p:spPr>
          <a:xfrm>
            <a:off x="2476151" y="1519630"/>
            <a:ext cx="72000" cy="10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DD3B28A9-87EB-D0E7-3EB2-A228373AD8E5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基础工具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柱排列相关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总结不论周期、不论股性的通用基本规律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EB511F08-2E23-9332-8DEC-24D34448ED47}"/>
              </a:ext>
            </a:extLst>
          </p:cNvPr>
          <p:cNvSpPr txBox="1"/>
          <p:nvPr/>
        </p:nvSpPr>
        <p:spPr>
          <a:xfrm>
            <a:off x="-1" y="2086549"/>
            <a:ext cx="6105600" cy="30777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脱离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后第一个悬浮柱后，可能会回踩寻找支撑。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2" name="组合 31">
            <a:extLst>
              <a:ext uri="{FF2B5EF4-FFF2-40B4-BE49-F238E27FC236}">
                <a16:creationId xmlns:a16="http://schemas.microsoft.com/office/drawing/2014/main" id="{AD1748D4-0FC8-3AEB-0233-A4560E4EAE31}"/>
              </a:ext>
            </a:extLst>
          </p:cNvPr>
          <p:cNvGrpSpPr/>
          <p:nvPr/>
        </p:nvGrpSpPr>
        <p:grpSpPr>
          <a:xfrm>
            <a:off x="563454" y="2552432"/>
            <a:ext cx="1811383" cy="721171"/>
            <a:chOff x="563454" y="2552432"/>
            <a:chExt cx="1811383" cy="721171"/>
          </a:xfrm>
        </p:grpSpPr>
        <p:sp>
          <p:nvSpPr>
            <p:cNvPr id="12" name="任意多边形: 形状 11">
              <a:extLst>
                <a:ext uri="{FF2B5EF4-FFF2-40B4-BE49-F238E27FC236}">
                  <a16:creationId xmlns:a16="http://schemas.microsoft.com/office/drawing/2014/main" id="{8AF67D51-F402-E985-E4E8-0E4E443F5412}"/>
                </a:ext>
              </a:extLst>
            </p:cNvPr>
            <p:cNvSpPr/>
            <p:nvPr/>
          </p:nvSpPr>
          <p:spPr>
            <a:xfrm>
              <a:off x="563454" y="2704923"/>
              <a:ext cx="1811383" cy="487680"/>
            </a:xfrm>
            <a:custGeom>
              <a:avLst/>
              <a:gdLst>
                <a:gd name="connsiteX0" fmla="*/ 0 w 1811383"/>
                <a:gd name="connsiteY0" fmla="*/ 487680 h 487680"/>
                <a:gd name="connsiteX1" fmla="*/ 1088572 w 1811383"/>
                <a:gd name="connsiteY1" fmla="*/ 339635 h 487680"/>
                <a:gd name="connsiteX2" fmla="*/ 1811383 w 1811383"/>
                <a:gd name="connsiteY2" fmla="*/ 0 h 48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11383" h="487680">
                  <a:moveTo>
                    <a:pt x="0" y="487680"/>
                  </a:moveTo>
                  <a:cubicBezTo>
                    <a:pt x="393337" y="454297"/>
                    <a:pt x="786675" y="420915"/>
                    <a:pt x="1088572" y="339635"/>
                  </a:cubicBezTo>
                  <a:cubicBezTo>
                    <a:pt x="1390469" y="258355"/>
                    <a:pt x="1600926" y="129177"/>
                    <a:pt x="1811383" y="0"/>
                  </a:cubicBezTo>
                </a:path>
              </a:pathLst>
            </a:custGeom>
            <a:noFill/>
            <a:ln w="381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矩形 12">
              <a:extLst>
                <a:ext uri="{FF2B5EF4-FFF2-40B4-BE49-F238E27FC236}">
                  <a16:creationId xmlns:a16="http://schemas.microsoft.com/office/drawing/2014/main" id="{D7DC7082-F427-876F-287A-843356865844}"/>
                </a:ext>
              </a:extLst>
            </p:cNvPr>
            <p:cNvSpPr/>
            <p:nvPr/>
          </p:nvSpPr>
          <p:spPr>
            <a:xfrm>
              <a:off x="737820" y="3165603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" name="矩形 13">
              <a:extLst>
                <a:ext uri="{FF2B5EF4-FFF2-40B4-BE49-F238E27FC236}">
                  <a16:creationId xmlns:a16="http://schemas.microsoft.com/office/drawing/2014/main" id="{45B406AD-492F-6DDC-95B1-B7733F81D54C}"/>
                </a:ext>
              </a:extLst>
            </p:cNvPr>
            <p:cNvSpPr/>
            <p:nvPr/>
          </p:nvSpPr>
          <p:spPr>
            <a:xfrm>
              <a:off x="885676" y="3138603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" name="矩形 20">
              <a:extLst>
                <a:ext uri="{FF2B5EF4-FFF2-40B4-BE49-F238E27FC236}">
                  <a16:creationId xmlns:a16="http://schemas.microsoft.com/office/drawing/2014/main" id="{6183AA64-7C95-C0B2-816B-277F088D482D}"/>
                </a:ext>
              </a:extLst>
            </p:cNvPr>
            <p:cNvSpPr/>
            <p:nvPr/>
          </p:nvSpPr>
          <p:spPr>
            <a:xfrm>
              <a:off x="1033532" y="3081258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" name="矩形 21">
              <a:extLst>
                <a:ext uri="{FF2B5EF4-FFF2-40B4-BE49-F238E27FC236}">
                  <a16:creationId xmlns:a16="http://schemas.microsoft.com/office/drawing/2014/main" id="{54D08922-FCA9-0018-F8E3-C8D7D58DC3E5}"/>
                </a:ext>
              </a:extLst>
            </p:cNvPr>
            <p:cNvSpPr/>
            <p:nvPr/>
          </p:nvSpPr>
          <p:spPr>
            <a:xfrm>
              <a:off x="1181388" y="2787603"/>
              <a:ext cx="72000" cy="28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矩形 23">
              <a:extLst>
                <a:ext uri="{FF2B5EF4-FFF2-40B4-BE49-F238E27FC236}">
                  <a16:creationId xmlns:a16="http://schemas.microsoft.com/office/drawing/2014/main" id="{95D0D940-C52A-A11F-FD85-5A5E5113D4F0}"/>
                </a:ext>
              </a:extLst>
            </p:cNvPr>
            <p:cNvSpPr/>
            <p:nvPr/>
          </p:nvSpPr>
          <p:spPr>
            <a:xfrm>
              <a:off x="1329245" y="2804763"/>
              <a:ext cx="72000" cy="108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文本框 24">
              <a:extLst>
                <a:ext uri="{FF2B5EF4-FFF2-40B4-BE49-F238E27FC236}">
                  <a16:creationId xmlns:a16="http://schemas.microsoft.com/office/drawing/2014/main" id="{11BF3D99-E8F9-7B37-8891-C8D1C349F20D}"/>
                </a:ext>
              </a:extLst>
            </p:cNvPr>
            <p:cNvSpPr txBox="1"/>
            <p:nvPr/>
          </p:nvSpPr>
          <p:spPr>
            <a:xfrm>
              <a:off x="921676" y="2552432"/>
              <a:ext cx="56938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000" b="1" dirty="0"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悬浮柱</a:t>
              </a:r>
            </a:p>
          </p:txBody>
        </p:sp>
      </p:grpSp>
      <p:sp>
        <p:nvSpPr>
          <p:cNvPr id="41" name="文本框 40">
            <a:extLst>
              <a:ext uri="{FF2B5EF4-FFF2-40B4-BE49-F238E27FC236}">
                <a16:creationId xmlns:a16="http://schemas.microsoft.com/office/drawing/2014/main" id="{75BAC036-0DF4-FE77-10D2-5BAD45A80531}"/>
              </a:ext>
            </a:extLst>
          </p:cNvPr>
          <p:cNvSpPr txBox="1"/>
          <p:nvPr/>
        </p:nvSpPr>
        <p:spPr>
          <a:xfrm>
            <a:off x="-1" y="3465737"/>
            <a:ext cx="6105600" cy="30777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柱排列规律：一般规律。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矩形 69">
            <a:extLst>
              <a:ext uri="{FF2B5EF4-FFF2-40B4-BE49-F238E27FC236}">
                <a16:creationId xmlns:a16="http://schemas.microsoft.com/office/drawing/2014/main" id="{6E0CC1C1-23A8-DAF4-8A4C-EB8FD380C39A}"/>
              </a:ext>
            </a:extLst>
          </p:cNvPr>
          <p:cNvSpPr/>
          <p:nvPr/>
        </p:nvSpPr>
        <p:spPr>
          <a:xfrm>
            <a:off x="248468" y="4109648"/>
            <a:ext cx="72000" cy="28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1" name="矩形 70">
            <a:extLst>
              <a:ext uri="{FF2B5EF4-FFF2-40B4-BE49-F238E27FC236}">
                <a16:creationId xmlns:a16="http://schemas.microsoft.com/office/drawing/2014/main" id="{B8908D27-4866-44E7-92A2-E4E1BB955027}"/>
              </a:ext>
            </a:extLst>
          </p:cNvPr>
          <p:cNvSpPr/>
          <p:nvPr/>
        </p:nvSpPr>
        <p:spPr>
          <a:xfrm>
            <a:off x="405961" y="4074346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矩形 71">
            <a:extLst>
              <a:ext uri="{FF2B5EF4-FFF2-40B4-BE49-F238E27FC236}">
                <a16:creationId xmlns:a16="http://schemas.microsoft.com/office/drawing/2014/main" id="{A1EE2486-AC3D-B3A1-A34E-C304B09C1E1F}"/>
              </a:ext>
            </a:extLst>
          </p:cNvPr>
          <p:cNvSpPr/>
          <p:nvPr/>
        </p:nvSpPr>
        <p:spPr>
          <a:xfrm>
            <a:off x="563454" y="3821648"/>
            <a:ext cx="72000" cy="28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" name="文本框 72">
            <a:extLst>
              <a:ext uri="{FF2B5EF4-FFF2-40B4-BE49-F238E27FC236}">
                <a16:creationId xmlns:a16="http://schemas.microsoft.com/office/drawing/2014/main" id="{FBCE0F99-2B8E-0419-1F22-E002AF6C4F08}"/>
              </a:ext>
            </a:extLst>
          </p:cNvPr>
          <p:cNvSpPr txBox="1"/>
          <p:nvPr/>
        </p:nvSpPr>
        <p:spPr>
          <a:xfrm>
            <a:off x="756403" y="4007427"/>
            <a:ext cx="258263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后续：很可能是阴柱</a:t>
            </a:r>
          </a:p>
        </p:txBody>
      </p:sp>
      <p:sp>
        <p:nvSpPr>
          <p:cNvPr id="74" name="矩形 73">
            <a:extLst>
              <a:ext uri="{FF2B5EF4-FFF2-40B4-BE49-F238E27FC236}">
                <a16:creationId xmlns:a16="http://schemas.microsoft.com/office/drawing/2014/main" id="{34758B96-6D3E-2878-4153-88CA1A64E501}"/>
              </a:ext>
            </a:extLst>
          </p:cNvPr>
          <p:cNvSpPr/>
          <p:nvPr/>
        </p:nvSpPr>
        <p:spPr>
          <a:xfrm>
            <a:off x="248468" y="4556925"/>
            <a:ext cx="72000" cy="28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6" name="矩形 75">
            <a:extLst>
              <a:ext uri="{FF2B5EF4-FFF2-40B4-BE49-F238E27FC236}">
                <a16:creationId xmlns:a16="http://schemas.microsoft.com/office/drawing/2014/main" id="{2B67D9E2-3B26-6BC4-24D7-987E9B047A8D}"/>
              </a:ext>
            </a:extLst>
          </p:cNvPr>
          <p:cNvSpPr/>
          <p:nvPr/>
        </p:nvSpPr>
        <p:spPr>
          <a:xfrm>
            <a:off x="547983" y="4445473"/>
            <a:ext cx="72000" cy="28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7" name="矩形 76">
            <a:extLst>
              <a:ext uri="{FF2B5EF4-FFF2-40B4-BE49-F238E27FC236}">
                <a16:creationId xmlns:a16="http://schemas.microsoft.com/office/drawing/2014/main" id="{524D47B9-2946-FF06-7867-523BB1C55B80}"/>
              </a:ext>
            </a:extLst>
          </p:cNvPr>
          <p:cNvSpPr/>
          <p:nvPr/>
        </p:nvSpPr>
        <p:spPr>
          <a:xfrm>
            <a:off x="390722" y="4556925"/>
            <a:ext cx="72000" cy="180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文本框 77">
            <a:extLst>
              <a:ext uri="{FF2B5EF4-FFF2-40B4-BE49-F238E27FC236}">
                <a16:creationId xmlns:a16="http://schemas.microsoft.com/office/drawing/2014/main" id="{355FD4D8-DFBD-7D73-85F3-722E79B8BBF7}"/>
              </a:ext>
            </a:extLst>
          </p:cNvPr>
          <p:cNvSpPr txBox="1"/>
          <p:nvPr/>
        </p:nvSpPr>
        <p:spPr>
          <a:xfrm>
            <a:off x="756403" y="4445473"/>
            <a:ext cx="258263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后续：很可能继续阴阳相间</a:t>
            </a:r>
          </a:p>
        </p:txBody>
      </p:sp>
      <p:cxnSp>
        <p:nvCxnSpPr>
          <p:cNvPr id="79" name="直接连接符 78">
            <a:extLst>
              <a:ext uri="{FF2B5EF4-FFF2-40B4-BE49-F238E27FC236}">
                <a16:creationId xmlns:a16="http://schemas.microsoft.com/office/drawing/2014/main" id="{7701E84F-A4D9-A518-9D6F-4C9EF3A0CECB}"/>
              </a:ext>
            </a:extLst>
          </p:cNvPr>
          <p:cNvCxnSpPr>
            <a:cxnSpLocks/>
          </p:cNvCxnSpPr>
          <p:nvPr/>
        </p:nvCxnSpPr>
        <p:spPr>
          <a:xfrm flipV="1">
            <a:off x="166571" y="5465897"/>
            <a:ext cx="1438209" cy="133066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矩形 79">
            <a:extLst>
              <a:ext uri="{FF2B5EF4-FFF2-40B4-BE49-F238E27FC236}">
                <a16:creationId xmlns:a16="http://schemas.microsoft.com/office/drawing/2014/main" id="{20605DB6-38F5-D5CB-537B-167D620D7584}"/>
              </a:ext>
            </a:extLst>
          </p:cNvPr>
          <p:cNvSpPr/>
          <p:nvPr/>
        </p:nvSpPr>
        <p:spPr>
          <a:xfrm>
            <a:off x="327726" y="5522073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矩形 80">
            <a:extLst>
              <a:ext uri="{FF2B5EF4-FFF2-40B4-BE49-F238E27FC236}">
                <a16:creationId xmlns:a16="http://schemas.microsoft.com/office/drawing/2014/main" id="{5C705148-01A4-C836-3A90-AA30574220FD}"/>
              </a:ext>
            </a:extLst>
          </p:cNvPr>
          <p:cNvSpPr/>
          <p:nvPr/>
        </p:nvSpPr>
        <p:spPr>
          <a:xfrm>
            <a:off x="446299" y="5499370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" name="矩形 81">
            <a:extLst>
              <a:ext uri="{FF2B5EF4-FFF2-40B4-BE49-F238E27FC236}">
                <a16:creationId xmlns:a16="http://schemas.microsoft.com/office/drawing/2014/main" id="{03EFD9AA-B29F-44C3-F50F-C966CFE7B897}"/>
              </a:ext>
            </a:extLst>
          </p:cNvPr>
          <p:cNvSpPr/>
          <p:nvPr/>
        </p:nvSpPr>
        <p:spPr>
          <a:xfrm>
            <a:off x="580452" y="5480788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8" name="矩形 87">
            <a:extLst>
              <a:ext uri="{FF2B5EF4-FFF2-40B4-BE49-F238E27FC236}">
                <a16:creationId xmlns:a16="http://schemas.microsoft.com/office/drawing/2014/main" id="{F6998EBD-AE53-75F2-7C2C-62781740E2EE}"/>
              </a:ext>
            </a:extLst>
          </p:cNvPr>
          <p:cNvSpPr/>
          <p:nvPr/>
        </p:nvSpPr>
        <p:spPr>
          <a:xfrm>
            <a:off x="726027" y="5462788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9" name="矩形 88">
            <a:extLst>
              <a:ext uri="{FF2B5EF4-FFF2-40B4-BE49-F238E27FC236}">
                <a16:creationId xmlns:a16="http://schemas.microsoft.com/office/drawing/2014/main" id="{DC1E6DC6-9B3D-1886-810F-1A334B83859D}"/>
              </a:ext>
            </a:extLst>
          </p:cNvPr>
          <p:cNvSpPr/>
          <p:nvPr/>
        </p:nvSpPr>
        <p:spPr>
          <a:xfrm>
            <a:off x="870966" y="5390788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0" name="矩形 89">
            <a:extLst>
              <a:ext uri="{FF2B5EF4-FFF2-40B4-BE49-F238E27FC236}">
                <a16:creationId xmlns:a16="http://schemas.microsoft.com/office/drawing/2014/main" id="{437D4F0E-7283-D143-16C2-1CE07431BFE3}"/>
              </a:ext>
            </a:extLst>
          </p:cNvPr>
          <p:cNvSpPr/>
          <p:nvPr/>
        </p:nvSpPr>
        <p:spPr>
          <a:xfrm>
            <a:off x="1003189" y="5395942"/>
            <a:ext cx="72000" cy="72000"/>
          </a:xfrm>
          <a:prstGeom prst="rect">
            <a:avLst/>
          </a:prstGeom>
          <a:solidFill>
            <a:srgbClr val="548235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1" name="矩形 90">
            <a:extLst>
              <a:ext uri="{FF2B5EF4-FFF2-40B4-BE49-F238E27FC236}">
                <a16:creationId xmlns:a16="http://schemas.microsoft.com/office/drawing/2014/main" id="{0EFD7D04-BCFF-A2D6-9D01-09FA5ED9ABDC}"/>
              </a:ext>
            </a:extLst>
          </p:cNvPr>
          <p:cNvSpPr/>
          <p:nvPr/>
        </p:nvSpPr>
        <p:spPr>
          <a:xfrm>
            <a:off x="1138808" y="5354788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2" name="文本框 91">
            <a:extLst>
              <a:ext uri="{FF2B5EF4-FFF2-40B4-BE49-F238E27FC236}">
                <a16:creationId xmlns:a16="http://schemas.microsoft.com/office/drawing/2014/main" id="{35082925-67D9-28E9-78E0-0B37DA179337}"/>
              </a:ext>
            </a:extLst>
          </p:cNvPr>
          <p:cNvSpPr txBox="1"/>
          <p:nvPr/>
        </p:nvSpPr>
        <p:spPr>
          <a:xfrm>
            <a:off x="1556063" y="5408391"/>
            <a:ext cx="258263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后续：很可能启动连阳冲高（基于多头炮）</a:t>
            </a:r>
          </a:p>
        </p:txBody>
      </p:sp>
      <p:cxnSp>
        <p:nvCxnSpPr>
          <p:cNvPr id="93" name="直接连接符 92">
            <a:extLst>
              <a:ext uri="{FF2B5EF4-FFF2-40B4-BE49-F238E27FC236}">
                <a16:creationId xmlns:a16="http://schemas.microsoft.com/office/drawing/2014/main" id="{7A19B730-1CAF-097C-F14F-717FCB20825C}"/>
              </a:ext>
            </a:extLst>
          </p:cNvPr>
          <p:cNvCxnSpPr>
            <a:cxnSpLocks/>
          </p:cNvCxnSpPr>
          <p:nvPr/>
        </p:nvCxnSpPr>
        <p:spPr>
          <a:xfrm flipV="1">
            <a:off x="166571" y="5046986"/>
            <a:ext cx="1438209" cy="133066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矩形 93">
            <a:extLst>
              <a:ext uri="{FF2B5EF4-FFF2-40B4-BE49-F238E27FC236}">
                <a16:creationId xmlns:a16="http://schemas.microsoft.com/office/drawing/2014/main" id="{952998E6-35D8-AA8A-4ED7-E0DC1E1E4B50}"/>
              </a:ext>
            </a:extLst>
          </p:cNvPr>
          <p:cNvSpPr/>
          <p:nvPr/>
        </p:nvSpPr>
        <p:spPr>
          <a:xfrm>
            <a:off x="327726" y="5103162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矩形 94">
            <a:extLst>
              <a:ext uri="{FF2B5EF4-FFF2-40B4-BE49-F238E27FC236}">
                <a16:creationId xmlns:a16="http://schemas.microsoft.com/office/drawing/2014/main" id="{2B597438-4E3B-E374-D35C-CC921117C580}"/>
              </a:ext>
            </a:extLst>
          </p:cNvPr>
          <p:cNvSpPr/>
          <p:nvPr/>
        </p:nvSpPr>
        <p:spPr>
          <a:xfrm>
            <a:off x="446299" y="5080459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6" name="矩形 95">
            <a:extLst>
              <a:ext uri="{FF2B5EF4-FFF2-40B4-BE49-F238E27FC236}">
                <a16:creationId xmlns:a16="http://schemas.microsoft.com/office/drawing/2014/main" id="{B2AF279D-F15E-96B3-574A-26BD81164CEB}"/>
              </a:ext>
            </a:extLst>
          </p:cNvPr>
          <p:cNvSpPr/>
          <p:nvPr/>
        </p:nvSpPr>
        <p:spPr>
          <a:xfrm>
            <a:off x="580452" y="5061877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矩形 96">
            <a:extLst>
              <a:ext uri="{FF2B5EF4-FFF2-40B4-BE49-F238E27FC236}">
                <a16:creationId xmlns:a16="http://schemas.microsoft.com/office/drawing/2014/main" id="{21E589C2-B645-1109-148A-64D5E9632471}"/>
              </a:ext>
            </a:extLst>
          </p:cNvPr>
          <p:cNvSpPr/>
          <p:nvPr/>
        </p:nvSpPr>
        <p:spPr>
          <a:xfrm>
            <a:off x="726027" y="5043877"/>
            <a:ext cx="72000" cy="36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8" name="矩形 97">
            <a:extLst>
              <a:ext uri="{FF2B5EF4-FFF2-40B4-BE49-F238E27FC236}">
                <a16:creationId xmlns:a16="http://schemas.microsoft.com/office/drawing/2014/main" id="{7865454E-D415-C610-78C3-5A412D613456}"/>
              </a:ext>
            </a:extLst>
          </p:cNvPr>
          <p:cNvSpPr/>
          <p:nvPr/>
        </p:nvSpPr>
        <p:spPr>
          <a:xfrm>
            <a:off x="870966" y="4971877"/>
            <a:ext cx="72000" cy="10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1" name="文本框 100">
            <a:extLst>
              <a:ext uri="{FF2B5EF4-FFF2-40B4-BE49-F238E27FC236}">
                <a16:creationId xmlns:a16="http://schemas.microsoft.com/office/drawing/2014/main" id="{93EA9C4D-4FC1-F966-5FC9-7AFD628F9A71}"/>
              </a:ext>
            </a:extLst>
          </p:cNvPr>
          <p:cNvSpPr txBox="1"/>
          <p:nvPr/>
        </p:nvSpPr>
        <p:spPr>
          <a:xfrm>
            <a:off x="1556063" y="4989480"/>
            <a:ext cx="258263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后续：很可能冲高（未必能持续上升）</a:t>
            </a: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40315B55-CD8F-0D05-5FAF-077042550505}"/>
              </a:ext>
            </a:extLst>
          </p:cNvPr>
          <p:cNvSpPr txBox="1"/>
          <p:nvPr/>
        </p:nvSpPr>
        <p:spPr>
          <a:xfrm>
            <a:off x="6096000" y="721404"/>
            <a:ext cx="6105600" cy="30777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跌孕：不要吃掉前阳柱太多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11962231-7A36-8138-80C8-0BA698D711FE}"/>
              </a:ext>
            </a:extLst>
          </p:cNvPr>
          <p:cNvSpPr/>
          <p:nvPr/>
        </p:nvSpPr>
        <p:spPr>
          <a:xfrm>
            <a:off x="6431368" y="1153490"/>
            <a:ext cx="72000" cy="28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6B701554-05F0-5189-8271-E972DBC4F2FF}"/>
              </a:ext>
            </a:extLst>
          </p:cNvPr>
          <p:cNvSpPr/>
          <p:nvPr/>
        </p:nvSpPr>
        <p:spPr>
          <a:xfrm>
            <a:off x="6573622" y="1090860"/>
            <a:ext cx="72000" cy="10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EEB973A3-B92B-CDAE-B981-07311BFDABD6}"/>
              </a:ext>
            </a:extLst>
          </p:cNvPr>
          <p:cNvSpPr txBox="1"/>
          <p:nvPr/>
        </p:nvSpPr>
        <p:spPr>
          <a:xfrm>
            <a:off x="6778161" y="1099623"/>
            <a:ext cx="258263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类似于连升排列</a:t>
            </a:r>
            <a:endParaRPr lang="en-US" altLang="zh-CN" sz="10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0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后续：很可能连升。</a:t>
            </a: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8404F58E-43C9-C7B3-828C-54B538DC35A6}"/>
              </a:ext>
            </a:extLst>
          </p:cNvPr>
          <p:cNvSpPr/>
          <p:nvPr/>
        </p:nvSpPr>
        <p:spPr>
          <a:xfrm>
            <a:off x="6431368" y="2048193"/>
            <a:ext cx="72000" cy="28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A3AD14D4-102A-86F2-E024-DACF8EEC9B81}"/>
              </a:ext>
            </a:extLst>
          </p:cNvPr>
          <p:cNvSpPr/>
          <p:nvPr/>
        </p:nvSpPr>
        <p:spPr>
          <a:xfrm>
            <a:off x="6573622" y="2048193"/>
            <a:ext cx="72000" cy="216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文本框 27">
            <a:extLst>
              <a:ext uri="{FF2B5EF4-FFF2-40B4-BE49-F238E27FC236}">
                <a16:creationId xmlns:a16="http://schemas.microsoft.com/office/drawing/2014/main" id="{C4805520-0974-69A7-051D-AC1CFA26E77A}"/>
              </a:ext>
            </a:extLst>
          </p:cNvPr>
          <p:cNvSpPr txBox="1"/>
          <p:nvPr/>
        </p:nvSpPr>
        <p:spPr>
          <a:xfrm>
            <a:off x="6778161" y="2057282"/>
            <a:ext cx="258263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后续：极有可能转为平移震荡</a:t>
            </a: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A1821DBC-CA93-D37D-97F3-A5132FD04D39}"/>
              </a:ext>
            </a:extLst>
          </p:cNvPr>
          <p:cNvSpPr/>
          <p:nvPr/>
        </p:nvSpPr>
        <p:spPr>
          <a:xfrm>
            <a:off x="6431368" y="1607753"/>
            <a:ext cx="72000" cy="288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矩形 29">
            <a:extLst>
              <a:ext uri="{FF2B5EF4-FFF2-40B4-BE49-F238E27FC236}">
                <a16:creationId xmlns:a16="http://schemas.microsoft.com/office/drawing/2014/main" id="{2CA82FAF-3BF0-FAF6-6C15-4C66D6A3E482}"/>
              </a:ext>
            </a:extLst>
          </p:cNvPr>
          <p:cNvSpPr/>
          <p:nvPr/>
        </p:nvSpPr>
        <p:spPr>
          <a:xfrm>
            <a:off x="6573622" y="1520071"/>
            <a:ext cx="72000" cy="216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B6613EF5-F880-2417-872C-287DF57D7652}"/>
              </a:ext>
            </a:extLst>
          </p:cNvPr>
          <p:cNvSpPr txBox="1"/>
          <p:nvPr/>
        </p:nvSpPr>
        <p:spPr>
          <a:xfrm>
            <a:off x="6778161" y="1523664"/>
            <a:ext cx="258263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向上向下均有可能。</a:t>
            </a:r>
            <a:endParaRPr lang="en-US" altLang="zh-CN" sz="1000" b="1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1000" b="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后续：很可能转为平移震荡</a:t>
            </a:r>
          </a:p>
        </p:txBody>
      </p:sp>
    </p:spTree>
    <p:extLst>
      <p:ext uri="{BB962C8B-B14F-4D97-AF65-F5344CB8AC3E}">
        <p14:creationId xmlns:p14="http://schemas.microsoft.com/office/powerpoint/2010/main" val="433630205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/>
        </p:nvSpPr>
        <p:spPr>
          <a:xfrm>
            <a:off x="-8710" y="700156"/>
            <a:ext cx="6105600" cy="30777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恢复天劫：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D2d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文本框 27">
            <a:extLst>
              <a:ext uri="{FF2B5EF4-FFF2-40B4-BE49-F238E27FC236}">
                <a16:creationId xmlns:a16="http://schemas.microsoft.com/office/drawing/2014/main" id="{75DDCE4E-B290-E7EA-EDFF-4F44FE98497C}"/>
              </a:ext>
            </a:extLst>
          </p:cNvPr>
          <p:cNvSpPr txBox="1"/>
          <p:nvPr/>
        </p:nvSpPr>
        <p:spPr>
          <a:xfrm>
            <a:off x="0" y="3621242"/>
            <a:ext cx="6105600" cy="30777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恢复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JA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劫：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D2e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" name="直接连接符 34">
            <a:extLst>
              <a:ext uri="{FF2B5EF4-FFF2-40B4-BE49-F238E27FC236}">
                <a16:creationId xmlns:a16="http://schemas.microsoft.com/office/drawing/2014/main" id="{D48B4997-AEC0-49A8-F479-881E885314C6}"/>
              </a:ext>
            </a:extLst>
          </p:cNvPr>
          <p:cNvCxnSpPr>
            <a:cxnSpLocks/>
          </p:cNvCxnSpPr>
          <p:nvPr/>
        </p:nvCxnSpPr>
        <p:spPr>
          <a:xfrm>
            <a:off x="6096000" y="692263"/>
            <a:ext cx="0" cy="6165737"/>
          </a:xfrm>
          <a:prstGeom prst="line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标题 1">
            <a:extLst>
              <a:ext uri="{FF2B5EF4-FFF2-40B4-BE49-F238E27FC236}">
                <a16:creationId xmlns:a16="http://schemas.microsoft.com/office/drawing/2014/main" id="{A98D4D9C-E444-B299-7FFD-E2B43E977414}"/>
              </a:ext>
            </a:extLst>
          </p:cNvPr>
          <p:cNvSpPr txBox="1">
            <a:spLocks/>
          </p:cNvSpPr>
          <p:nvPr/>
        </p:nvSpPr>
        <p:spPr>
          <a:xfrm>
            <a:off x="0" y="-17942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经典图谱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@DJB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破：日级别劫恢复</a:t>
            </a:r>
            <a:b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总结经典图形与变体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文本框 37">
            <a:extLst>
              <a:ext uri="{FF2B5EF4-FFF2-40B4-BE49-F238E27FC236}">
                <a16:creationId xmlns:a16="http://schemas.microsoft.com/office/drawing/2014/main" id="{C7A7CFA8-6D28-3D91-857B-FA8D2B3C89CD}"/>
              </a:ext>
            </a:extLst>
          </p:cNvPr>
          <p:cNvSpPr txBox="1"/>
          <p:nvPr/>
        </p:nvSpPr>
        <p:spPr>
          <a:xfrm>
            <a:off x="6096000" y="699162"/>
            <a:ext cx="6105600" cy="307777"/>
          </a:xfrm>
          <a:prstGeom prst="rect">
            <a:avLst/>
          </a:prstGeom>
          <a:solidFill>
            <a:schemeClr val="bg1">
              <a:lumMod val="65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恢复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JB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劫：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D3v/D3w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1" name="图片 40">
            <a:extLst>
              <a:ext uri="{FF2B5EF4-FFF2-40B4-BE49-F238E27FC236}">
                <a16:creationId xmlns:a16="http://schemas.microsoft.com/office/drawing/2014/main" id="{BB8E12CA-BC8B-8ED4-7325-E04CA034A0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122534" y="1644510"/>
            <a:ext cx="1800000" cy="1047012"/>
          </a:xfrm>
          <a:prstGeom prst="rect">
            <a:avLst/>
          </a:prstGeom>
        </p:spPr>
      </p:pic>
      <p:sp>
        <p:nvSpPr>
          <p:cNvPr id="42" name="文本框 41">
            <a:extLst>
              <a:ext uri="{FF2B5EF4-FFF2-40B4-BE49-F238E27FC236}">
                <a16:creationId xmlns:a16="http://schemas.microsoft.com/office/drawing/2014/main" id="{04CFFBCC-F543-32F0-2848-E610124813D1}"/>
              </a:ext>
            </a:extLst>
          </p:cNvPr>
          <p:cNvSpPr txBox="1"/>
          <p:nvPr/>
        </p:nvSpPr>
        <p:spPr>
          <a:xfrm>
            <a:off x="6105600" y="1030800"/>
            <a:ext cx="169469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(</a:t>
            </a: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大阴</a:t>
            </a:r>
            <a:r>
              <a:rPr lang="en-US" altLang="zh-CN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)(</a:t>
            </a: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大阳</a:t>
            </a:r>
            <a:r>
              <a:rPr lang="en-US" altLang="zh-CN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)(</a:t>
            </a: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小阴</a:t>
            </a:r>
            <a:r>
              <a:rPr lang="en-US" altLang="zh-CN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)(</a:t>
            </a: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小阳</a:t>
            </a:r>
            <a:r>
              <a:rPr lang="en-US" altLang="zh-CN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)(</a:t>
            </a: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上</a:t>
            </a:r>
            <a:r>
              <a:rPr lang="en-US" altLang="zh-CN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JA)</a:t>
            </a:r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73" name="文本框 72">
            <a:extLst>
              <a:ext uri="{FF2B5EF4-FFF2-40B4-BE49-F238E27FC236}">
                <a16:creationId xmlns:a16="http://schemas.microsoft.com/office/drawing/2014/main" id="{F848FF2E-78D4-9427-E753-CC97BE62C0DD}"/>
              </a:ext>
            </a:extLst>
          </p:cNvPr>
          <p:cNvSpPr txBox="1"/>
          <p:nvPr/>
        </p:nvSpPr>
        <p:spPr>
          <a:xfrm>
            <a:off x="48469" y="4024388"/>
            <a:ext cx="180369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第二柱站回</a:t>
            </a:r>
            <a:r>
              <a:rPr lang="en-US" altLang="zh-CN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JA</a:t>
            </a: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：最好等回踩站稳</a:t>
            </a:r>
            <a:endParaRPr lang="en-US" altLang="zh-CN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第三柱站回</a:t>
            </a:r>
            <a:r>
              <a:rPr lang="en-US" altLang="zh-CN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JA</a:t>
            </a: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：最好等回踩站稳</a:t>
            </a:r>
            <a:endParaRPr lang="en-US" altLang="zh-CN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grpSp>
        <p:nvGrpSpPr>
          <p:cNvPr id="40" name="组合 39">
            <a:extLst>
              <a:ext uri="{FF2B5EF4-FFF2-40B4-BE49-F238E27FC236}">
                <a16:creationId xmlns:a16="http://schemas.microsoft.com/office/drawing/2014/main" id="{6669438F-FBFC-059E-7328-A99DACD813A1}"/>
              </a:ext>
            </a:extLst>
          </p:cNvPr>
          <p:cNvGrpSpPr/>
          <p:nvPr/>
        </p:nvGrpSpPr>
        <p:grpSpPr>
          <a:xfrm>
            <a:off x="4354587" y="4034416"/>
            <a:ext cx="668642" cy="288000"/>
            <a:chOff x="2175726" y="4137788"/>
            <a:chExt cx="668642" cy="288000"/>
          </a:xfrm>
        </p:grpSpPr>
        <p:cxnSp>
          <p:nvCxnSpPr>
            <p:cNvPr id="43" name="直接连接符 42">
              <a:extLst>
                <a:ext uri="{FF2B5EF4-FFF2-40B4-BE49-F238E27FC236}">
                  <a16:creationId xmlns:a16="http://schemas.microsoft.com/office/drawing/2014/main" id="{18A32ED1-9164-624D-29DF-E441794754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75726" y="4250897"/>
              <a:ext cx="668642" cy="9524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矩形 43">
              <a:extLst>
                <a:ext uri="{FF2B5EF4-FFF2-40B4-BE49-F238E27FC236}">
                  <a16:creationId xmlns:a16="http://schemas.microsoft.com/office/drawing/2014/main" id="{E85071D1-445F-DB21-2315-EE43FCA50268}"/>
                </a:ext>
              </a:extLst>
            </p:cNvPr>
            <p:cNvSpPr/>
            <p:nvPr/>
          </p:nvSpPr>
          <p:spPr>
            <a:xfrm>
              <a:off x="2579400" y="4137788"/>
              <a:ext cx="72000" cy="28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4" name="矩形 73">
              <a:extLst>
                <a:ext uri="{FF2B5EF4-FFF2-40B4-BE49-F238E27FC236}">
                  <a16:creationId xmlns:a16="http://schemas.microsoft.com/office/drawing/2014/main" id="{ED99CF83-7718-124C-B564-B9C0FD8CA1D5}"/>
                </a:ext>
              </a:extLst>
            </p:cNvPr>
            <p:cNvSpPr/>
            <p:nvPr/>
          </p:nvSpPr>
          <p:spPr>
            <a:xfrm>
              <a:off x="2465814" y="4155788"/>
              <a:ext cx="72000" cy="252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81" name="文本框 80">
            <a:extLst>
              <a:ext uri="{FF2B5EF4-FFF2-40B4-BE49-F238E27FC236}">
                <a16:creationId xmlns:a16="http://schemas.microsoft.com/office/drawing/2014/main" id="{2B6EAF27-CD80-0546-B2F6-130FC884868E}"/>
              </a:ext>
            </a:extLst>
          </p:cNvPr>
          <p:cNvSpPr txBox="1"/>
          <p:nvPr/>
        </p:nvSpPr>
        <p:spPr>
          <a:xfrm>
            <a:off x="64975" y="1026973"/>
            <a:ext cx="37842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四柱栅</a:t>
            </a:r>
            <a:endParaRPr lang="en-US" altLang="zh-CN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应对连续小阳后大阴：</a:t>
            </a:r>
            <a:r>
              <a:rPr lang="en-US" altLang="zh-CN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(</a:t>
            </a: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大阴</a:t>
            </a:r>
            <a:r>
              <a:rPr lang="en-US" altLang="zh-CN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)(</a:t>
            </a: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小阳</a:t>
            </a:r>
            <a:r>
              <a:rPr lang="en-US" altLang="zh-CN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)(</a:t>
            </a: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小阳</a:t>
            </a:r>
            <a:r>
              <a:rPr lang="en-US" altLang="zh-CN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)(</a:t>
            </a:r>
            <a:r>
              <a:rPr lang="zh-CN" altLang="en-US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小阳*</a:t>
            </a:r>
            <a:r>
              <a:rPr lang="en-US" altLang="zh-CN" sz="9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N)</a:t>
            </a:r>
            <a:endParaRPr lang="zh-CN" altLang="en-US" sz="900" dirty="0"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pic>
        <p:nvPicPr>
          <p:cNvPr id="83" name="图片 82">
            <a:extLst>
              <a:ext uri="{FF2B5EF4-FFF2-40B4-BE49-F238E27FC236}">
                <a16:creationId xmlns:a16="http://schemas.microsoft.com/office/drawing/2014/main" id="{A3FC95E5-D1DF-D3B4-5402-FB0B1AE6F99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27443" y="5664684"/>
            <a:ext cx="1800000" cy="615789"/>
          </a:xfrm>
          <a:prstGeom prst="rect">
            <a:avLst/>
          </a:prstGeom>
        </p:spPr>
      </p:pic>
      <p:grpSp>
        <p:nvGrpSpPr>
          <p:cNvPr id="98" name="组合 97">
            <a:extLst>
              <a:ext uri="{FF2B5EF4-FFF2-40B4-BE49-F238E27FC236}">
                <a16:creationId xmlns:a16="http://schemas.microsoft.com/office/drawing/2014/main" id="{FD80F0A0-45B2-498B-C542-9FA0002BE738}"/>
              </a:ext>
            </a:extLst>
          </p:cNvPr>
          <p:cNvGrpSpPr/>
          <p:nvPr/>
        </p:nvGrpSpPr>
        <p:grpSpPr>
          <a:xfrm>
            <a:off x="3257725" y="2935790"/>
            <a:ext cx="1800000" cy="683133"/>
            <a:chOff x="-8710" y="1437392"/>
            <a:chExt cx="1800000" cy="683133"/>
          </a:xfrm>
        </p:grpSpPr>
        <p:pic>
          <p:nvPicPr>
            <p:cNvPr id="94" name="图片 93">
              <a:extLst>
                <a:ext uri="{FF2B5EF4-FFF2-40B4-BE49-F238E27FC236}">
                  <a16:creationId xmlns:a16="http://schemas.microsoft.com/office/drawing/2014/main" id="{B96BD2A5-FB33-9AEA-B342-20752131EC1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8710" y="1437392"/>
              <a:ext cx="1800000" cy="683133"/>
            </a:xfrm>
            <a:prstGeom prst="rect">
              <a:avLst/>
            </a:prstGeom>
          </p:spPr>
        </p:pic>
        <p:sp>
          <p:nvSpPr>
            <p:cNvPr id="97" name="文本框 96">
              <a:extLst>
                <a:ext uri="{FF2B5EF4-FFF2-40B4-BE49-F238E27FC236}">
                  <a16:creationId xmlns:a16="http://schemas.microsoft.com/office/drawing/2014/main" id="{D03914D3-AAF5-D7ED-B711-FBC08449C398}"/>
                </a:ext>
              </a:extLst>
            </p:cNvPr>
            <p:cNvSpPr txBox="1"/>
            <p:nvPr/>
          </p:nvSpPr>
          <p:spPr>
            <a:xfrm>
              <a:off x="0" y="1447679"/>
              <a:ext cx="116259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海南机场</a:t>
              </a:r>
              <a:r>
                <a:rPr lang="en-US" altLang="zh-CN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20210521</a:t>
              </a:r>
              <a:endParaRPr lang="zh-CN" altLang="en-US" sz="8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102" name="图片 101">
            <a:extLst>
              <a:ext uri="{FF2B5EF4-FFF2-40B4-BE49-F238E27FC236}">
                <a16:creationId xmlns:a16="http://schemas.microsoft.com/office/drawing/2014/main" id="{76CED459-3A86-E50B-93A0-C63E77C5D74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29653" y="6290149"/>
            <a:ext cx="1800000" cy="491648"/>
          </a:xfrm>
          <a:prstGeom prst="rect">
            <a:avLst/>
          </a:prstGeom>
        </p:spPr>
      </p:pic>
      <p:grpSp>
        <p:nvGrpSpPr>
          <p:cNvPr id="108" name="组合 107">
            <a:extLst>
              <a:ext uri="{FF2B5EF4-FFF2-40B4-BE49-F238E27FC236}">
                <a16:creationId xmlns:a16="http://schemas.microsoft.com/office/drawing/2014/main" id="{6325D6D0-505D-AA55-A3C3-52BEF7FFE29A}"/>
              </a:ext>
            </a:extLst>
          </p:cNvPr>
          <p:cNvGrpSpPr/>
          <p:nvPr/>
        </p:nvGrpSpPr>
        <p:grpSpPr>
          <a:xfrm>
            <a:off x="3627443" y="4763272"/>
            <a:ext cx="1800000" cy="888248"/>
            <a:chOff x="4305601" y="5611882"/>
            <a:chExt cx="1800000" cy="888248"/>
          </a:xfrm>
        </p:grpSpPr>
        <p:pic>
          <p:nvPicPr>
            <p:cNvPr id="106" name="图片 105">
              <a:extLst>
                <a:ext uri="{FF2B5EF4-FFF2-40B4-BE49-F238E27FC236}">
                  <a16:creationId xmlns:a16="http://schemas.microsoft.com/office/drawing/2014/main" id="{D8E6E2A1-BFED-69F4-64B8-076DC77F919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305601" y="5625950"/>
              <a:ext cx="1800000" cy="874180"/>
            </a:xfrm>
            <a:prstGeom prst="rect">
              <a:avLst/>
            </a:prstGeom>
          </p:spPr>
        </p:pic>
        <p:sp>
          <p:nvSpPr>
            <p:cNvPr id="107" name="文本框 106">
              <a:extLst>
                <a:ext uri="{FF2B5EF4-FFF2-40B4-BE49-F238E27FC236}">
                  <a16:creationId xmlns:a16="http://schemas.microsoft.com/office/drawing/2014/main" id="{CC619EDD-0C48-5C50-6C7C-2CB067DC48AF}"/>
                </a:ext>
              </a:extLst>
            </p:cNvPr>
            <p:cNvSpPr txBox="1"/>
            <p:nvPr/>
          </p:nvSpPr>
          <p:spPr>
            <a:xfrm>
              <a:off x="4306932" y="5611882"/>
              <a:ext cx="116259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菲达环保</a:t>
              </a:r>
              <a:r>
                <a:rPr lang="en-US" altLang="zh-CN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20090123</a:t>
              </a:r>
              <a:endParaRPr lang="zh-CN" altLang="en-US" sz="8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112" name="组合 111">
            <a:extLst>
              <a:ext uri="{FF2B5EF4-FFF2-40B4-BE49-F238E27FC236}">
                <a16:creationId xmlns:a16="http://schemas.microsoft.com/office/drawing/2014/main" id="{BDBEB16B-3FA9-C16E-DA56-D0BC3D572CD3}"/>
              </a:ext>
            </a:extLst>
          </p:cNvPr>
          <p:cNvGrpSpPr>
            <a:grpSpLocks noChangeAspect="1"/>
          </p:cNvGrpSpPr>
          <p:nvPr/>
        </p:nvGrpSpPr>
        <p:grpSpPr>
          <a:xfrm>
            <a:off x="0" y="5841998"/>
            <a:ext cx="1800000" cy="1022591"/>
            <a:chOff x="-17416" y="5259384"/>
            <a:chExt cx="1800000" cy="1022591"/>
          </a:xfrm>
        </p:grpSpPr>
        <p:pic>
          <p:nvPicPr>
            <p:cNvPr id="110" name="图片 109">
              <a:extLst>
                <a:ext uri="{FF2B5EF4-FFF2-40B4-BE49-F238E27FC236}">
                  <a16:creationId xmlns:a16="http://schemas.microsoft.com/office/drawing/2014/main" id="{511350D8-6CE4-615E-2854-17A0DC4F39F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-17416" y="5259384"/>
              <a:ext cx="1800000" cy="1022591"/>
            </a:xfrm>
            <a:prstGeom prst="rect">
              <a:avLst/>
            </a:prstGeom>
          </p:spPr>
        </p:pic>
        <p:sp>
          <p:nvSpPr>
            <p:cNvPr id="111" name="文本框 110">
              <a:extLst>
                <a:ext uri="{FF2B5EF4-FFF2-40B4-BE49-F238E27FC236}">
                  <a16:creationId xmlns:a16="http://schemas.microsoft.com/office/drawing/2014/main" id="{F621EEE4-6DEA-22CC-5863-A0CEB21E2AE0}"/>
                </a:ext>
              </a:extLst>
            </p:cNvPr>
            <p:cNvSpPr txBox="1"/>
            <p:nvPr/>
          </p:nvSpPr>
          <p:spPr>
            <a:xfrm>
              <a:off x="0" y="5259966"/>
              <a:ext cx="116259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菲达环保</a:t>
              </a:r>
              <a:r>
                <a:rPr lang="en-US" altLang="zh-CN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20151021</a:t>
              </a:r>
              <a:endParaRPr lang="zh-CN" altLang="en-US" sz="8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123" name="组合 122">
            <a:extLst>
              <a:ext uri="{FF2B5EF4-FFF2-40B4-BE49-F238E27FC236}">
                <a16:creationId xmlns:a16="http://schemas.microsoft.com/office/drawing/2014/main" id="{49709EBD-86A9-6F3F-2DEB-CB911F3AA0E0}"/>
              </a:ext>
            </a:extLst>
          </p:cNvPr>
          <p:cNvGrpSpPr/>
          <p:nvPr/>
        </p:nvGrpSpPr>
        <p:grpSpPr>
          <a:xfrm>
            <a:off x="6114650" y="2702621"/>
            <a:ext cx="1800000" cy="915524"/>
            <a:chOff x="6105600" y="2455802"/>
            <a:chExt cx="1800000" cy="915524"/>
          </a:xfrm>
        </p:grpSpPr>
        <p:pic>
          <p:nvPicPr>
            <p:cNvPr id="114" name="图片 113">
              <a:extLst>
                <a:ext uri="{FF2B5EF4-FFF2-40B4-BE49-F238E27FC236}">
                  <a16:creationId xmlns:a16="http://schemas.microsoft.com/office/drawing/2014/main" id="{545B500B-EF0B-CF0A-AA8F-AA851339F1BA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6105600" y="2458884"/>
              <a:ext cx="1800000" cy="912442"/>
            </a:xfrm>
            <a:prstGeom prst="rect">
              <a:avLst/>
            </a:prstGeom>
          </p:spPr>
        </p:pic>
        <p:sp>
          <p:nvSpPr>
            <p:cNvPr id="115" name="文本框 114">
              <a:extLst>
                <a:ext uri="{FF2B5EF4-FFF2-40B4-BE49-F238E27FC236}">
                  <a16:creationId xmlns:a16="http://schemas.microsoft.com/office/drawing/2014/main" id="{08EB4AFB-3399-ED65-3F8F-CE1621C9DEEF}"/>
                </a:ext>
              </a:extLst>
            </p:cNvPr>
            <p:cNvSpPr txBox="1"/>
            <p:nvPr/>
          </p:nvSpPr>
          <p:spPr>
            <a:xfrm>
              <a:off x="6114650" y="2455802"/>
              <a:ext cx="116259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空港股份</a:t>
              </a:r>
              <a:r>
                <a:rPr lang="en-US" altLang="zh-CN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20241008</a:t>
              </a:r>
              <a:endParaRPr lang="zh-CN" altLang="en-US" sz="8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119" name="组合 118">
            <a:extLst>
              <a:ext uri="{FF2B5EF4-FFF2-40B4-BE49-F238E27FC236}">
                <a16:creationId xmlns:a16="http://schemas.microsoft.com/office/drawing/2014/main" id="{EEC8D5BF-6D1E-2B5F-88EE-AB35E13F8CC0}"/>
              </a:ext>
            </a:extLst>
          </p:cNvPr>
          <p:cNvGrpSpPr/>
          <p:nvPr/>
        </p:nvGrpSpPr>
        <p:grpSpPr>
          <a:xfrm>
            <a:off x="0" y="2290016"/>
            <a:ext cx="1440000" cy="1323664"/>
            <a:chOff x="4124325" y="1625031"/>
            <a:chExt cx="1440000" cy="1323664"/>
          </a:xfrm>
        </p:grpSpPr>
        <p:pic>
          <p:nvPicPr>
            <p:cNvPr id="117" name="图片 116">
              <a:extLst>
                <a:ext uri="{FF2B5EF4-FFF2-40B4-BE49-F238E27FC236}">
                  <a16:creationId xmlns:a16="http://schemas.microsoft.com/office/drawing/2014/main" id="{1C9D2B9B-4F49-2643-AC82-92D059F90CE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124325" y="1647825"/>
              <a:ext cx="1440000" cy="1300870"/>
            </a:xfrm>
            <a:prstGeom prst="rect">
              <a:avLst/>
            </a:prstGeom>
          </p:spPr>
        </p:pic>
        <p:sp>
          <p:nvSpPr>
            <p:cNvPr id="118" name="文本框 117">
              <a:extLst>
                <a:ext uri="{FF2B5EF4-FFF2-40B4-BE49-F238E27FC236}">
                  <a16:creationId xmlns:a16="http://schemas.microsoft.com/office/drawing/2014/main" id="{A6938EC2-58DC-4659-674D-CF60E6A4E40C}"/>
                </a:ext>
              </a:extLst>
            </p:cNvPr>
            <p:cNvSpPr txBox="1"/>
            <p:nvPr/>
          </p:nvSpPr>
          <p:spPr>
            <a:xfrm>
              <a:off x="4125607" y="1625031"/>
              <a:ext cx="116259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海创药业</a:t>
              </a:r>
              <a:r>
                <a:rPr lang="en-US" altLang="zh-CN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20240923</a:t>
              </a:r>
              <a:endParaRPr lang="zh-CN" altLang="en-US" sz="8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124" name="组合 123">
            <a:extLst>
              <a:ext uri="{FF2B5EF4-FFF2-40B4-BE49-F238E27FC236}">
                <a16:creationId xmlns:a16="http://schemas.microsoft.com/office/drawing/2014/main" id="{13C4EA78-D598-8D58-E959-697AACBD9D73}"/>
              </a:ext>
            </a:extLst>
          </p:cNvPr>
          <p:cNvGrpSpPr/>
          <p:nvPr/>
        </p:nvGrpSpPr>
        <p:grpSpPr>
          <a:xfrm>
            <a:off x="7922534" y="2770469"/>
            <a:ext cx="1809258" cy="839944"/>
            <a:chOff x="7914650" y="2406638"/>
            <a:chExt cx="1809258" cy="839944"/>
          </a:xfrm>
        </p:grpSpPr>
        <p:pic>
          <p:nvPicPr>
            <p:cNvPr id="121" name="图片 120">
              <a:extLst>
                <a:ext uri="{FF2B5EF4-FFF2-40B4-BE49-F238E27FC236}">
                  <a16:creationId xmlns:a16="http://schemas.microsoft.com/office/drawing/2014/main" id="{EB37A39F-35FD-280A-0477-AD789EBBEEF8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7923908" y="2442903"/>
              <a:ext cx="1800000" cy="803679"/>
            </a:xfrm>
            <a:prstGeom prst="rect">
              <a:avLst/>
            </a:prstGeom>
          </p:spPr>
        </p:pic>
        <p:sp>
          <p:nvSpPr>
            <p:cNvPr id="122" name="文本框 121">
              <a:extLst>
                <a:ext uri="{FF2B5EF4-FFF2-40B4-BE49-F238E27FC236}">
                  <a16:creationId xmlns:a16="http://schemas.microsoft.com/office/drawing/2014/main" id="{A72D85E1-8206-BBD6-1B5C-3650F4EACCB0}"/>
                </a:ext>
              </a:extLst>
            </p:cNvPr>
            <p:cNvSpPr txBox="1"/>
            <p:nvPr/>
          </p:nvSpPr>
          <p:spPr>
            <a:xfrm>
              <a:off x="7914650" y="2406638"/>
              <a:ext cx="116259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申科股份</a:t>
              </a:r>
              <a:r>
                <a:rPr lang="en-US" altLang="zh-CN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20241009</a:t>
              </a:r>
              <a:endParaRPr lang="zh-CN" altLang="en-US" sz="8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133" name="组合 132">
            <a:extLst>
              <a:ext uri="{FF2B5EF4-FFF2-40B4-BE49-F238E27FC236}">
                <a16:creationId xmlns:a16="http://schemas.microsoft.com/office/drawing/2014/main" id="{3571AA12-86EA-C08E-3433-45B9F5B4E5C7}"/>
              </a:ext>
            </a:extLst>
          </p:cNvPr>
          <p:cNvGrpSpPr>
            <a:grpSpLocks noChangeAspect="1"/>
          </p:cNvGrpSpPr>
          <p:nvPr/>
        </p:nvGrpSpPr>
        <p:grpSpPr>
          <a:xfrm>
            <a:off x="-2837" y="4778761"/>
            <a:ext cx="1800000" cy="1058301"/>
            <a:chOff x="-10488" y="4744892"/>
            <a:chExt cx="1800889" cy="1058824"/>
          </a:xfrm>
        </p:grpSpPr>
        <p:pic>
          <p:nvPicPr>
            <p:cNvPr id="129" name="图片 128">
              <a:extLst>
                <a:ext uri="{FF2B5EF4-FFF2-40B4-BE49-F238E27FC236}">
                  <a16:creationId xmlns:a16="http://schemas.microsoft.com/office/drawing/2014/main" id="{DE61ED82-A297-B327-6F6B-870D476629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-9599" y="4744892"/>
              <a:ext cx="1800000" cy="1058824"/>
            </a:xfrm>
            <a:prstGeom prst="rect">
              <a:avLst/>
            </a:prstGeom>
          </p:spPr>
        </p:pic>
        <p:sp>
          <p:nvSpPr>
            <p:cNvPr id="132" name="文本框 131">
              <a:extLst>
                <a:ext uri="{FF2B5EF4-FFF2-40B4-BE49-F238E27FC236}">
                  <a16:creationId xmlns:a16="http://schemas.microsoft.com/office/drawing/2014/main" id="{E3D2352A-A055-4260-E517-49C92288002E}"/>
                </a:ext>
              </a:extLst>
            </p:cNvPr>
            <p:cNvSpPr txBox="1"/>
            <p:nvPr/>
          </p:nvSpPr>
          <p:spPr>
            <a:xfrm>
              <a:off x="-10488" y="4750436"/>
              <a:ext cx="116259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川大智胜</a:t>
              </a:r>
              <a:r>
                <a:rPr lang="en-US" altLang="zh-CN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20241011</a:t>
              </a:r>
              <a:endParaRPr lang="zh-CN" altLang="en-US" sz="8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135" name="图片 134">
            <a:extLst>
              <a:ext uri="{FF2B5EF4-FFF2-40B4-BE49-F238E27FC236}">
                <a16:creationId xmlns:a16="http://schemas.microsoft.com/office/drawing/2014/main" id="{FEF45F12-A966-E514-1996-EE7DDEADC43C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748934" y="2592293"/>
            <a:ext cx="1440000" cy="1017995"/>
          </a:xfrm>
          <a:prstGeom prst="rect">
            <a:avLst/>
          </a:prstGeom>
        </p:spPr>
      </p:pic>
      <p:pic>
        <p:nvPicPr>
          <p:cNvPr id="138" name="图片 137">
            <a:extLst>
              <a:ext uri="{FF2B5EF4-FFF2-40B4-BE49-F238E27FC236}">
                <a16:creationId xmlns:a16="http://schemas.microsoft.com/office/drawing/2014/main" id="{1E52D4D4-5B59-F89C-1E20-9C8094337310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815384" y="4778402"/>
            <a:ext cx="1800000" cy="1042606"/>
          </a:xfrm>
          <a:prstGeom prst="rect">
            <a:avLst/>
          </a:prstGeom>
        </p:spPr>
      </p:pic>
      <p:sp>
        <p:nvSpPr>
          <p:cNvPr id="139" name="文本框 138">
            <a:extLst>
              <a:ext uri="{FF2B5EF4-FFF2-40B4-BE49-F238E27FC236}">
                <a16:creationId xmlns:a16="http://schemas.microsoft.com/office/drawing/2014/main" id="{6D060E13-67FC-1702-5586-5016A7E58763}"/>
              </a:ext>
            </a:extLst>
          </p:cNvPr>
          <p:cNvSpPr txBox="1"/>
          <p:nvPr/>
        </p:nvSpPr>
        <p:spPr>
          <a:xfrm>
            <a:off x="1818747" y="4745103"/>
            <a:ext cx="116259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8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富祥药业</a:t>
            </a:r>
            <a:r>
              <a:rPr lang="en-US" altLang="zh-CN" sz="8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20241011</a:t>
            </a:r>
            <a:endParaRPr lang="zh-CN" altLang="en-US" sz="800" dirty="0">
              <a:solidFill>
                <a:schemeClr val="bg1">
                  <a:lumMod val="95000"/>
                </a:schemeClr>
              </a:solidFill>
            </a:endParaRPr>
          </a:p>
        </p:txBody>
      </p:sp>
      <p:grpSp>
        <p:nvGrpSpPr>
          <p:cNvPr id="6" name="组合 5">
            <a:extLst>
              <a:ext uri="{FF2B5EF4-FFF2-40B4-BE49-F238E27FC236}">
                <a16:creationId xmlns:a16="http://schemas.microsoft.com/office/drawing/2014/main" id="{F5632D72-3D42-B730-E12C-9A727CECC83F}"/>
              </a:ext>
            </a:extLst>
          </p:cNvPr>
          <p:cNvGrpSpPr/>
          <p:nvPr/>
        </p:nvGrpSpPr>
        <p:grpSpPr>
          <a:xfrm>
            <a:off x="1449258" y="2726493"/>
            <a:ext cx="1800000" cy="889759"/>
            <a:chOff x="3810000" y="2299278"/>
            <a:chExt cx="1800000" cy="889759"/>
          </a:xfrm>
        </p:grpSpPr>
        <p:pic>
          <p:nvPicPr>
            <p:cNvPr id="4" name="图片 3">
              <a:extLst>
                <a:ext uri="{FF2B5EF4-FFF2-40B4-BE49-F238E27FC236}">
                  <a16:creationId xmlns:a16="http://schemas.microsoft.com/office/drawing/2014/main" id="{FF9AF76A-A853-1B74-BF94-6EA8F22127D5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3810000" y="2300287"/>
              <a:ext cx="1800000" cy="888750"/>
            </a:xfrm>
            <a:prstGeom prst="rect">
              <a:avLst/>
            </a:prstGeom>
          </p:spPr>
        </p:pic>
        <p:sp>
          <p:nvSpPr>
            <p:cNvPr id="5" name="文本框 4">
              <a:extLst>
                <a:ext uri="{FF2B5EF4-FFF2-40B4-BE49-F238E27FC236}">
                  <a16:creationId xmlns:a16="http://schemas.microsoft.com/office/drawing/2014/main" id="{052833B1-950A-E49C-25D1-DFFFAC7AC992}"/>
                </a:ext>
              </a:extLst>
            </p:cNvPr>
            <p:cNvSpPr txBox="1"/>
            <p:nvPr/>
          </p:nvSpPr>
          <p:spPr>
            <a:xfrm>
              <a:off x="3826187" y="2299278"/>
              <a:ext cx="116259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动力新科</a:t>
              </a:r>
              <a:r>
                <a:rPr lang="en-US" altLang="zh-CN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20241105</a:t>
              </a:r>
              <a:endParaRPr lang="zh-CN" altLang="en-US" sz="8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14" name="组合 13">
            <a:extLst>
              <a:ext uri="{FF2B5EF4-FFF2-40B4-BE49-F238E27FC236}">
                <a16:creationId xmlns:a16="http://schemas.microsoft.com/office/drawing/2014/main" id="{FC025285-9ED5-2897-53D3-CB7115AE0D56}"/>
              </a:ext>
            </a:extLst>
          </p:cNvPr>
          <p:cNvGrpSpPr/>
          <p:nvPr/>
        </p:nvGrpSpPr>
        <p:grpSpPr>
          <a:xfrm>
            <a:off x="7932133" y="1633758"/>
            <a:ext cx="1800000" cy="919605"/>
            <a:chOff x="10391149" y="1465567"/>
            <a:chExt cx="1800000" cy="919605"/>
          </a:xfrm>
        </p:grpSpPr>
        <p:pic>
          <p:nvPicPr>
            <p:cNvPr id="12" name="图片 11">
              <a:extLst>
                <a:ext uri="{FF2B5EF4-FFF2-40B4-BE49-F238E27FC236}">
                  <a16:creationId xmlns:a16="http://schemas.microsoft.com/office/drawing/2014/main" id="{7B17F839-6C37-D78D-B19F-35FD1B6592AC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10391149" y="1478466"/>
              <a:ext cx="1800000" cy="906706"/>
            </a:xfrm>
            <a:prstGeom prst="rect">
              <a:avLst/>
            </a:prstGeom>
          </p:spPr>
        </p:pic>
        <p:sp>
          <p:nvSpPr>
            <p:cNvPr id="13" name="文本框 12">
              <a:extLst>
                <a:ext uri="{FF2B5EF4-FFF2-40B4-BE49-F238E27FC236}">
                  <a16:creationId xmlns:a16="http://schemas.microsoft.com/office/drawing/2014/main" id="{6246C9C4-0000-BC09-384E-CA92A94C90D7}"/>
                </a:ext>
              </a:extLst>
            </p:cNvPr>
            <p:cNvSpPr txBox="1"/>
            <p:nvPr/>
          </p:nvSpPr>
          <p:spPr>
            <a:xfrm>
              <a:off x="10414097" y="1465567"/>
              <a:ext cx="116259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威唐工业</a:t>
              </a:r>
              <a:r>
                <a:rPr lang="en-US" altLang="zh-CN" sz="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202410</a:t>
              </a:r>
              <a:endParaRPr lang="zh-CN" altLang="en-US" sz="8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36" name="组合 35">
            <a:extLst>
              <a:ext uri="{FF2B5EF4-FFF2-40B4-BE49-F238E27FC236}">
                <a16:creationId xmlns:a16="http://schemas.microsoft.com/office/drawing/2014/main" id="{CBD7CC1D-D56D-C9A4-57E6-597DB0183316}"/>
              </a:ext>
            </a:extLst>
          </p:cNvPr>
          <p:cNvGrpSpPr/>
          <p:nvPr/>
        </p:nvGrpSpPr>
        <p:grpSpPr>
          <a:xfrm>
            <a:off x="5162287" y="4024388"/>
            <a:ext cx="668642" cy="330265"/>
            <a:chOff x="2983426" y="4127760"/>
            <a:chExt cx="668642" cy="330265"/>
          </a:xfrm>
        </p:grpSpPr>
        <p:sp>
          <p:nvSpPr>
            <p:cNvPr id="51" name="矩形 50">
              <a:extLst>
                <a:ext uri="{FF2B5EF4-FFF2-40B4-BE49-F238E27FC236}">
                  <a16:creationId xmlns:a16="http://schemas.microsoft.com/office/drawing/2014/main" id="{FC7E33B1-7E44-4244-3231-A9AA2EEB39C4}"/>
                </a:ext>
              </a:extLst>
            </p:cNvPr>
            <p:cNvSpPr/>
            <p:nvPr/>
          </p:nvSpPr>
          <p:spPr>
            <a:xfrm>
              <a:off x="3238668" y="4312949"/>
              <a:ext cx="72000" cy="144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7" name="矩形 76">
              <a:extLst>
                <a:ext uri="{FF2B5EF4-FFF2-40B4-BE49-F238E27FC236}">
                  <a16:creationId xmlns:a16="http://schemas.microsoft.com/office/drawing/2014/main" id="{45F7A99D-F42A-B018-4515-7C609FFEA328}"/>
                </a:ext>
              </a:extLst>
            </p:cNvPr>
            <p:cNvSpPr/>
            <p:nvPr/>
          </p:nvSpPr>
          <p:spPr>
            <a:xfrm>
              <a:off x="3361359" y="4127760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8" name="矩形 77">
              <a:extLst>
                <a:ext uri="{FF2B5EF4-FFF2-40B4-BE49-F238E27FC236}">
                  <a16:creationId xmlns:a16="http://schemas.microsoft.com/office/drawing/2014/main" id="{8CD19814-484D-849B-1BD4-1655FB9A20D2}"/>
                </a:ext>
              </a:extLst>
            </p:cNvPr>
            <p:cNvSpPr/>
            <p:nvPr/>
          </p:nvSpPr>
          <p:spPr>
            <a:xfrm>
              <a:off x="3115977" y="4206025"/>
              <a:ext cx="72000" cy="252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7" name="直接连接符 6">
              <a:extLst>
                <a:ext uri="{FF2B5EF4-FFF2-40B4-BE49-F238E27FC236}">
                  <a16:creationId xmlns:a16="http://schemas.microsoft.com/office/drawing/2014/main" id="{EE411307-63C3-98A2-50B3-F983D33026F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983426" y="4270227"/>
              <a:ext cx="668642" cy="9524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C6D31C7E-2925-979F-226F-3CE5591377EB}"/>
              </a:ext>
            </a:extLst>
          </p:cNvPr>
          <p:cNvGrpSpPr/>
          <p:nvPr/>
        </p:nvGrpSpPr>
        <p:grpSpPr>
          <a:xfrm>
            <a:off x="3543702" y="1163866"/>
            <a:ext cx="668642" cy="299409"/>
            <a:chOff x="2977195" y="1606022"/>
            <a:chExt cx="668642" cy="299409"/>
          </a:xfrm>
        </p:grpSpPr>
        <p:cxnSp>
          <p:nvCxnSpPr>
            <p:cNvPr id="20" name="直接连接符 19">
              <a:extLst>
                <a:ext uri="{FF2B5EF4-FFF2-40B4-BE49-F238E27FC236}">
                  <a16:creationId xmlns:a16="http://schemas.microsoft.com/office/drawing/2014/main" id="{ACD8FF69-35D5-384D-9722-2DB2DC9E09F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977195" y="1810183"/>
              <a:ext cx="668642" cy="9524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矩形 20">
              <a:extLst>
                <a:ext uri="{FF2B5EF4-FFF2-40B4-BE49-F238E27FC236}">
                  <a16:creationId xmlns:a16="http://schemas.microsoft.com/office/drawing/2014/main" id="{1FD50558-906D-96BB-ECC0-B1F569809A06}"/>
                </a:ext>
              </a:extLst>
            </p:cNvPr>
            <p:cNvSpPr/>
            <p:nvPr/>
          </p:nvSpPr>
          <p:spPr>
            <a:xfrm>
              <a:off x="3430712" y="1606022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" name="矩形 21">
              <a:extLst>
                <a:ext uri="{FF2B5EF4-FFF2-40B4-BE49-F238E27FC236}">
                  <a16:creationId xmlns:a16="http://schemas.microsoft.com/office/drawing/2014/main" id="{52258658-BB95-7BD3-E9AE-C065B287315D}"/>
                </a:ext>
              </a:extLst>
            </p:cNvPr>
            <p:cNvSpPr/>
            <p:nvPr/>
          </p:nvSpPr>
          <p:spPr>
            <a:xfrm>
              <a:off x="3317126" y="1624022"/>
              <a:ext cx="72000" cy="216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24" name="直接箭头连接符 23">
              <a:extLst>
                <a:ext uri="{FF2B5EF4-FFF2-40B4-BE49-F238E27FC236}">
                  <a16:creationId xmlns:a16="http://schemas.microsoft.com/office/drawing/2014/main" id="{3CC9C732-CD21-FA34-CDE2-39E81649AE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25125" y="1654795"/>
              <a:ext cx="232600" cy="215525"/>
            </a:xfrm>
            <a:prstGeom prst="straightConnector1">
              <a:avLst/>
            </a:prstGeom>
            <a:ln w="3175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组合 52">
            <a:extLst>
              <a:ext uri="{FF2B5EF4-FFF2-40B4-BE49-F238E27FC236}">
                <a16:creationId xmlns:a16="http://schemas.microsoft.com/office/drawing/2014/main" id="{8174B643-2AF3-9627-48CE-5B20D618C242}"/>
              </a:ext>
            </a:extLst>
          </p:cNvPr>
          <p:cNvGrpSpPr/>
          <p:nvPr/>
        </p:nvGrpSpPr>
        <p:grpSpPr>
          <a:xfrm>
            <a:off x="4460221" y="1115178"/>
            <a:ext cx="668642" cy="312986"/>
            <a:chOff x="3899945" y="1208770"/>
            <a:chExt cx="668642" cy="312986"/>
          </a:xfrm>
        </p:grpSpPr>
        <p:cxnSp>
          <p:nvCxnSpPr>
            <p:cNvPr id="30" name="直接连接符 29">
              <a:extLst>
                <a:ext uri="{FF2B5EF4-FFF2-40B4-BE49-F238E27FC236}">
                  <a16:creationId xmlns:a16="http://schemas.microsoft.com/office/drawing/2014/main" id="{89A3EA88-A0DA-C901-5886-9C8BAFC0D5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99945" y="1426508"/>
              <a:ext cx="668642" cy="9524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矩形 30">
              <a:extLst>
                <a:ext uri="{FF2B5EF4-FFF2-40B4-BE49-F238E27FC236}">
                  <a16:creationId xmlns:a16="http://schemas.microsoft.com/office/drawing/2014/main" id="{31F8584E-2E92-8FAB-39B7-3C4994BCF068}"/>
                </a:ext>
              </a:extLst>
            </p:cNvPr>
            <p:cNvSpPr/>
            <p:nvPr/>
          </p:nvSpPr>
          <p:spPr>
            <a:xfrm>
              <a:off x="3947556" y="1277346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2" name="矩形 31">
              <a:extLst>
                <a:ext uri="{FF2B5EF4-FFF2-40B4-BE49-F238E27FC236}">
                  <a16:creationId xmlns:a16="http://schemas.microsoft.com/office/drawing/2014/main" id="{6B6596E2-DEC8-99EB-7EF9-069A9BA42036}"/>
                </a:ext>
              </a:extLst>
            </p:cNvPr>
            <p:cNvSpPr/>
            <p:nvPr/>
          </p:nvSpPr>
          <p:spPr>
            <a:xfrm>
              <a:off x="4073818" y="1256818"/>
              <a:ext cx="72000" cy="144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4" name="矩形 33">
              <a:extLst>
                <a:ext uri="{FF2B5EF4-FFF2-40B4-BE49-F238E27FC236}">
                  <a16:creationId xmlns:a16="http://schemas.microsoft.com/office/drawing/2014/main" id="{A432810A-2973-2155-33D0-FDFD1CD30AB9}"/>
                </a:ext>
              </a:extLst>
            </p:cNvPr>
            <p:cNvSpPr/>
            <p:nvPr/>
          </p:nvSpPr>
          <p:spPr>
            <a:xfrm>
              <a:off x="4201604" y="1341239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5" name="矩形 44">
              <a:extLst>
                <a:ext uri="{FF2B5EF4-FFF2-40B4-BE49-F238E27FC236}">
                  <a16:creationId xmlns:a16="http://schemas.microsoft.com/office/drawing/2014/main" id="{F779DC54-930E-E14E-D1F6-9A9B0803A926}"/>
                </a:ext>
              </a:extLst>
            </p:cNvPr>
            <p:cNvSpPr/>
            <p:nvPr/>
          </p:nvSpPr>
          <p:spPr>
            <a:xfrm>
              <a:off x="4327632" y="1208770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2" name="组合 51">
            <a:extLst>
              <a:ext uri="{FF2B5EF4-FFF2-40B4-BE49-F238E27FC236}">
                <a16:creationId xmlns:a16="http://schemas.microsoft.com/office/drawing/2014/main" id="{7DE60F56-2994-2551-9C9A-1EC17040F142}"/>
              </a:ext>
            </a:extLst>
          </p:cNvPr>
          <p:cNvGrpSpPr/>
          <p:nvPr/>
        </p:nvGrpSpPr>
        <p:grpSpPr>
          <a:xfrm>
            <a:off x="5358119" y="1115178"/>
            <a:ext cx="668642" cy="312986"/>
            <a:chOff x="4797843" y="1208770"/>
            <a:chExt cx="668642" cy="312986"/>
          </a:xfrm>
        </p:grpSpPr>
        <p:cxnSp>
          <p:nvCxnSpPr>
            <p:cNvPr id="46" name="直接连接符 45">
              <a:extLst>
                <a:ext uri="{FF2B5EF4-FFF2-40B4-BE49-F238E27FC236}">
                  <a16:creationId xmlns:a16="http://schemas.microsoft.com/office/drawing/2014/main" id="{10C0F310-5CD5-AD97-E1A9-DD72709686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97843" y="1426508"/>
              <a:ext cx="668642" cy="9524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矩形 46">
              <a:extLst>
                <a:ext uri="{FF2B5EF4-FFF2-40B4-BE49-F238E27FC236}">
                  <a16:creationId xmlns:a16="http://schemas.microsoft.com/office/drawing/2014/main" id="{DF377A8F-0042-3114-861D-0B7D22D802A8}"/>
                </a:ext>
              </a:extLst>
            </p:cNvPr>
            <p:cNvSpPr/>
            <p:nvPr/>
          </p:nvSpPr>
          <p:spPr>
            <a:xfrm>
              <a:off x="4845454" y="1277346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8" name="矩形 47">
              <a:extLst>
                <a:ext uri="{FF2B5EF4-FFF2-40B4-BE49-F238E27FC236}">
                  <a16:creationId xmlns:a16="http://schemas.microsoft.com/office/drawing/2014/main" id="{4D1CDD8C-BD70-630C-2567-9F4F66FF4358}"/>
                </a:ext>
              </a:extLst>
            </p:cNvPr>
            <p:cNvSpPr/>
            <p:nvPr/>
          </p:nvSpPr>
          <p:spPr>
            <a:xfrm>
              <a:off x="5090287" y="1290584"/>
              <a:ext cx="72000" cy="1440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" name="矩形 48">
              <a:extLst>
                <a:ext uri="{FF2B5EF4-FFF2-40B4-BE49-F238E27FC236}">
                  <a16:creationId xmlns:a16="http://schemas.microsoft.com/office/drawing/2014/main" id="{F617FA50-E75C-250A-740E-5BD63E59F9A7}"/>
                </a:ext>
              </a:extLst>
            </p:cNvPr>
            <p:cNvSpPr/>
            <p:nvPr/>
          </p:nvSpPr>
          <p:spPr>
            <a:xfrm>
              <a:off x="4964356" y="1241734"/>
              <a:ext cx="72000" cy="108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0" name="矩形 49">
              <a:extLst>
                <a:ext uri="{FF2B5EF4-FFF2-40B4-BE49-F238E27FC236}">
                  <a16:creationId xmlns:a16="http://schemas.microsoft.com/office/drawing/2014/main" id="{37FAEA20-0811-FAE3-356A-565EA347B602}"/>
                </a:ext>
              </a:extLst>
            </p:cNvPr>
            <p:cNvSpPr/>
            <p:nvPr/>
          </p:nvSpPr>
          <p:spPr>
            <a:xfrm>
              <a:off x="5225530" y="1208770"/>
              <a:ext cx="72000" cy="216000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" name="文本框 1">
            <a:extLst>
              <a:ext uri="{FF2B5EF4-FFF2-40B4-BE49-F238E27FC236}">
                <a16:creationId xmlns:a16="http://schemas.microsoft.com/office/drawing/2014/main" id="{01C9A1E5-8EC7-2676-1885-2B9E16656E33}"/>
              </a:ext>
            </a:extLst>
          </p:cNvPr>
          <p:cNvSpPr txBox="1"/>
          <p:nvPr/>
        </p:nvSpPr>
        <p:spPr>
          <a:xfrm>
            <a:off x="6086401" y="5435449"/>
            <a:ext cx="6105600" cy="307777"/>
          </a:xfrm>
          <a:prstGeom prst="rect">
            <a:avLst/>
          </a:prstGeom>
          <a:solidFill>
            <a:schemeClr val="bg1">
              <a:lumMod val="65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衍生：周折叠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9D7EC85D-A9A7-B3EE-B20B-4CCA313477CC}"/>
              </a:ext>
            </a:extLst>
          </p:cNvPr>
          <p:cNvSpPr/>
          <p:nvPr/>
        </p:nvSpPr>
        <p:spPr>
          <a:xfrm>
            <a:off x="6954332" y="5889272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矩形 119">
            <a:extLst>
              <a:ext uri="{FF2B5EF4-FFF2-40B4-BE49-F238E27FC236}">
                <a16:creationId xmlns:a16="http://schemas.microsoft.com/office/drawing/2014/main" id="{FB93762C-EF61-FF5E-DAAB-7F10F9B330A3}"/>
              </a:ext>
            </a:extLst>
          </p:cNvPr>
          <p:cNvSpPr/>
          <p:nvPr/>
        </p:nvSpPr>
        <p:spPr>
          <a:xfrm>
            <a:off x="7689197" y="5807807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1F61E2E4-8391-53E7-DCC3-065A05CB76A2}"/>
              </a:ext>
            </a:extLst>
          </p:cNvPr>
          <p:cNvSpPr/>
          <p:nvPr/>
        </p:nvSpPr>
        <p:spPr>
          <a:xfrm>
            <a:off x="7244202" y="5916389"/>
            <a:ext cx="72000" cy="10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F9DCB7AB-5783-6705-E4DC-5E5AB896DD40}"/>
              </a:ext>
            </a:extLst>
          </p:cNvPr>
          <p:cNvCxnSpPr>
            <a:cxnSpLocks/>
          </p:cNvCxnSpPr>
          <p:nvPr/>
        </p:nvCxnSpPr>
        <p:spPr>
          <a:xfrm flipV="1">
            <a:off x="6792222" y="5931125"/>
            <a:ext cx="1157813" cy="203704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矩形 22">
            <a:extLst>
              <a:ext uri="{FF2B5EF4-FFF2-40B4-BE49-F238E27FC236}">
                <a16:creationId xmlns:a16="http://schemas.microsoft.com/office/drawing/2014/main" id="{97650954-5790-2F13-0488-7F369A001121}"/>
              </a:ext>
            </a:extLst>
          </p:cNvPr>
          <p:cNvSpPr/>
          <p:nvPr/>
        </p:nvSpPr>
        <p:spPr>
          <a:xfrm>
            <a:off x="7099267" y="5823125"/>
            <a:ext cx="72000" cy="10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4E5A30DA-DA62-D785-5CAB-6D7EAB920E4A}"/>
              </a:ext>
            </a:extLst>
          </p:cNvPr>
          <p:cNvSpPr/>
          <p:nvPr/>
        </p:nvSpPr>
        <p:spPr>
          <a:xfrm>
            <a:off x="7392975" y="6057488"/>
            <a:ext cx="72000" cy="36000"/>
          </a:xfrm>
          <a:prstGeom prst="rect">
            <a:avLst/>
          </a:prstGeom>
          <a:solidFill>
            <a:srgbClr val="548235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5" name="矩形 124">
            <a:extLst>
              <a:ext uri="{FF2B5EF4-FFF2-40B4-BE49-F238E27FC236}">
                <a16:creationId xmlns:a16="http://schemas.microsoft.com/office/drawing/2014/main" id="{788AE839-E1A9-8903-9888-CD410238066A}"/>
              </a:ext>
            </a:extLst>
          </p:cNvPr>
          <p:cNvSpPr/>
          <p:nvPr/>
        </p:nvSpPr>
        <p:spPr>
          <a:xfrm>
            <a:off x="7544138" y="6005877"/>
            <a:ext cx="72000" cy="72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文本框 127">
            <a:extLst>
              <a:ext uri="{FF2B5EF4-FFF2-40B4-BE49-F238E27FC236}">
                <a16:creationId xmlns:a16="http://schemas.microsoft.com/office/drawing/2014/main" id="{319B8674-EE3E-C2AA-C5F9-3CD95DB912C2}"/>
              </a:ext>
            </a:extLst>
          </p:cNvPr>
          <p:cNvSpPr txBox="1"/>
          <p:nvPr/>
        </p:nvSpPr>
        <p:spPr>
          <a:xfrm>
            <a:off x="8065729" y="5857002"/>
            <a:ext cx="1002042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对应于周线</a:t>
            </a:r>
            <a:endParaRPr lang="zh-CN" altLang="en-US" sz="1100" dirty="0"/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073C6993-78CF-8BF0-8E39-F8CAD4A2178F}"/>
              </a:ext>
            </a:extLst>
          </p:cNvPr>
          <p:cNvSpPr/>
          <p:nvPr/>
        </p:nvSpPr>
        <p:spPr>
          <a:xfrm>
            <a:off x="9389621" y="5926062"/>
            <a:ext cx="72000" cy="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矩形 129">
            <a:extLst>
              <a:ext uri="{FF2B5EF4-FFF2-40B4-BE49-F238E27FC236}">
                <a16:creationId xmlns:a16="http://schemas.microsoft.com/office/drawing/2014/main" id="{B0FECCC4-63FB-F7B7-25EF-484D4D60095A}"/>
              </a:ext>
            </a:extLst>
          </p:cNvPr>
          <p:cNvSpPr/>
          <p:nvPr/>
        </p:nvSpPr>
        <p:spPr>
          <a:xfrm>
            <a:off x="9253173" y="5926062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1" name="矩形 130">
            <a:extLst>
              <a:ext uri="{FF2B5EF4-FFF2-40B4-BE49-F238E27FC236}">
                <a16:creationId xmlns:a16="http://schemas.microsoft.com/office/drawing/2014/main" id="{BD5439EE-75F2-7505-E21B-C25A8E8686F1}"/>
              </a:ext>
            </a:extLst>
          </p:cNvPr>
          <p:cNvSpPr/>
          <p:nvPr/>
        </p:nvSpPr>
        <p:spPr>
          <a:xfrm>
            <a:off x="9558657" y="5764222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34" name="直接连接符 133">
            <a:extLst>
              <a:ext uri="{FF2B5EF4-FFF2-40B4-BE49-F238E27FC236}">
                <a16:creationId xmlns:a16="http://schemas.microsoft.com/office/drawing/2014/main" id="{575D82FA-664A-8271-822D-69398D17970B}"/>
              </a:ext>
            </a:extLst>
          </p:cNvPr>
          <p:cNvCxnSpPr>
            <a:cxnSpLocks/>
          </p:cNvCxnSpPr>
          <p:nvPr/>
        </p:nvCxnSpPr>
        <p:spPr>
          <a:xfrm>
            <a:off x="9426785" y="5838485"/>
            <a:ext cx="0" cy="1440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矩形 28">
            <a:extLst>
              <a:ext uri="{FF2B5EF4-FFF2-40B4-BE49-F238E27FC236}">
                <a16:creationId xmlns:a16="http://schemas.microsoft.com/office/drawing/2014/main" id="{EE60C595-9FB5-D897-A784-332096B97C50}"/>
              </a:ext>
            </a:extLst>
          </p:cNvPr>
          <p:cNvSpPr/>
          <p:nvPr/>
        </p:nvSpPr>
        <p:spPr>
          <a:xfrm>
            <a:off x="7099267" y="6463672"/>
            <a:ext cx="72000" cy="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6" name="矩形 135">
            <a:extLst>
              <a:ext uri="{FF2B5EF4-FFF2-40B4-BE49-F238E27FC236}">
                <a16:creationId xmlns:a16="http://schemas.microsoft.com/office/drawing/2014/main" id="{A0478D2D-1D67-624F-C59B-2EF32DFEC535}"/>
              </a:ext>
            </a:extLst>
          </p:cNvPr>
          <p:cNvSpPr/>
          <p:nvPr/>
        </p:nvSpPr>
        <p:spPr>
          <a:xfrm>
            <a:off x="6954332" y="6469442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矩形 32">
            <a:extLst>
              <a:ext uri="{FF2B5EF4-FFF2-40B4-BE49-F238E27FC236}">
                <a16:creationId xmlns:a16="http://schemas.microsoft.com/office/drawing/2014/main" id="{9DBE8CE2-1ECF-8F31-98C3-0D8E7C6849C7}"/>
              </a:ext>
            </a:extLst>
          </p:cNvPr>
          <p:cNvSpPr/>
          <p:nvPr/>
        </p:nvSpPr>
        <p:spPr>
          <a:xfrm>
            <a:off x="7555685" y="6383394"/>
            <a:ext cx="72000" cy="10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4" name="直接连接符 53">
            <a:extLst>
              <a:ext uri="{FF2B5EF4-FFF2-40B4-BE49-F238E27FC236}">
                <a16:creationId xmlns:a16="http://schemas.microsoft.com/office/drawing/2014/main" id="{0AAB57B7-3198-066F-8C02-F1FFDD763E46}"/>
              </a:ext>
            </a:extLst>
          </p:cNvPr>
          <p:cNvCxnSpPr>
            <a:cxnSpLocks/>
          </p:cNvCxnSpPr>
          <p:nvPr/>
        </p:nvCxnSpPr>
        <p:spPr>
          <a:xfrm flipV="1">
            <a:off x="6759208" y="6390654"/>
            <a:ext cx="1372894" cy="295441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直接连接符 139">
            <a:extLst>
              <a:ext uri="{FF2B5EF4-FFF2-40B4-BE49-F238E27FC236}">
                <a16:creationId xmlns:a16="http://schemas.microsoft.com/office/drawing/2014/main" id="{BE9C7B6F-95EE-107F-844C-E34863654D96}"/>
              </a:ext>
            </a:extLst>
          </p:cNvPr>
          <p:cNvCxnSpPr>
            <a:cxnSpLocks/>
          </p:cNvCxnSpPr>
          <p:nvPr/>
        </p:nvCxnSpPr>
        <p:spPr>
          <a:xfrm>
            <a:off x="7136431" y="6376095"/>
            <a:ext cx="0" cy="1440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1" name="矩形 140">
            <a:extLst>
              <a:ext uri="{FF2B5EF4-FFF2-40B4-BE49-F238E27FC236}">
                <a16:creationId xmlns:a16="http://schemas.microsoft.com/office/drawing/2014/main" id="{00B22B69-2CD1-EA9A-BBE5-330B52732D31}"/>
              </a:ext>
            </a:extLst>
          </p:cNvPr>
          <p:cNvSpPr/>
          <p:nvPr/>
        </p:nvSpPr>
        <p:spPr>
          <a:xfrm>
            <a:off x="7400526" y="6384884"/>
            <a:ext cx="72000" cy="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2" name="矩形 141">
            <a:extLst>
              <a:ext uri="{FF2B5EF4-FFF2-40B4-BE49-F238E27FC236}">
                <a16:creationId xmlns:a16="http://schemas.microsoft.com/office/drawing/2014/main" id="{3A819DDE-DF7F-AEBC-E254-2590D4061D0A}"/>
              </a:ext>
            </a:extLst>
          </p:cNvPr>
          <p:cNvSpPr/>
          <p:nvPr/>
        </p:nvSpPr>
        <p:spPr>
          <a:xfrm>
            <a:off x="7255591" y="6390654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43" name="直接连接符 142">
            <a:extLst>
              <a:ext uri="{FF2B5EF4-FFF2-40B4-BE49-F238E27FC236}">
                <a16:creationId xmlns:a16="http://schemas.microsoft.com/office/drawing/2014/main" id="{AA454F9B-4388-7BA3-9816-6874A8AF4E55}"/>
              </a:ext>
            </a:extLst>
          </p:cNvPr>
          <p:cNvCxnSpPr>
            <a:cxnSpLocks/>
          </p:cNvCxnSpPr>
          <p:nvPr/>
        </p:nvCxnSpPr>
        <p:spPr>
          <a:xfrm>
            <a:off x="7437690" y="6297307"/>
            <a:ext cx="0" cy="1440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矩形 144">
            <a:extLst>
              <a:ext uri="{FF2B5EF4-FFF2-40B4-BE49-F238E27FC236}">
                <a16:creationId xmlns:a16="http://schemas.microsoft.com/office/drawing/2014/main" id="{8ED0BA41-63CA-8964-637D-59D001608A76}"/>
              </a:ext>
            </a:extLst>
          </p:cNvPr>
          <p:cNvSpPr/>
          <p:nvPr/>
        </p:nvSpPr>
        <p:spPr>
          <a:xfrm>
            <a:off x="8001122" y="6265841"/>
            <a:ext cx="72000" cy="1800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7" name="矩形 146">
            <a:extLst>
              <a:ext uri="{FF2B5EF4-FFF2-40B4-BE49-F238E27FC236}">
                <a16:creationId xmlns:a16="http://schemas.microsoft.com/office/drawing/2014/main" id="{A3F33DA8-26BF-D546-7585-EE8D75F0FAC8}"/>
              </a:ext>
            </a:extLst>
          </p:cNvPr>
          <p:cNvSpPr/>
          <p:nvPr/>
        </p:nvSpPr>
        <p:spPr>
          <a:xfrm>
            <a:off x="7692682" y="6491394"/>
            <a:ext cx="72000" cy="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48" name="直接连接符 147">
            <a:extLst>
              <a:ext uri="{FF2B5EF4-FFF2-40B4-BE49-F238E27FC236}">
                <a16:creationId xmlns:a16="http://schemas.microsoft.com/office/drawing/2014/main" id="{CA7ADF44-690C-A60D-3E29-93C1E2238A14}"/>
              </a:ext>
            </a:extLst>
          </p:cNvPr>
          <p:cNvCxnSpPr>
            <a:cxnSpLocks/>
          </p:cNvCxnSpPr>
          <p:nvPr/>
        </p:nvCxnSpPr>
        <p:spPr>
          <a:xfrm>
            <a:off x="7729846" y="6403817"/>
            <a:ext cx="0" cy="1440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矩形 148">
            <a:extLst>
              <a:ext uri="{FF2B5EF4-FFF2-40B4-BE49-F238E27FC236}">
                <a16:creationId xmlns:a16="http://schemas.microsoft.com/office/drawing/2014/main" id="{19FF9D68-B35D-FC63-D9E8-DDA6AE561963}"/>
              </a:ext>
            </a:extLst>
          </p:cNvPr>
          <p:cNvSpPr/>
          <p:nvPr/>
        </p:nvSpPr>
        <p:spPr>
          <a:xfrm>
            <a:off x="7873584" y="6475053"/>
            <a:ext cx="72000" cy="10800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1" name="文本框 150">
            <a:extLst>
              <a:ext uri="{FF2B5EF4-FFF2-40B4-BE49-F238E27FC236}">
                <a16:creationId xmlns:a16="http://schemas.microsoft.com/office/drawing/2014/main" id="{65015E4D-EDEF-0A47-4672-4B392E893601}"/>
              </a:ext>
            </a:extLst>
          </p:cNvPr>
          <p:cNvSpPr txBox="1"/>
          <p:nvPr/>
        </p:nvSpPr>
        <p:spPr>
          <a:xfrm>
            <a:off x="8065728" y="6431745"/>
            <a:ext cx="4125383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单鼎或线下鼎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价上均</a:t>
            </a:r>
            <a:r>
              <a: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不要介入，等待第二柱回踩或站稳</a:t>
            </a:r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3096688025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2059DC-4617-A99A-7DB0-2D454ADA31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矩形 20">
            <a:extLst>
              <a:ext uri="{FF2B5EF4-FFF2-40B4-BE49-F238E27FC236}">
                <a16:creationId xmlns:a16="http://schemas.microsoft.com/office/drawing/2014/main" id="{3EE5A1A0-2C0C-BE7A-3991-C6D9AA54086E}"/>
              </a:ext>
            </a:extLst>
          </p:cNvPr>
          <p:cNvSpPr/>
          <p:nvPr/>
        </p:nvSpPr>
        <p:spPr>
          <a:xfrm>
            <a:off x="7583434" y="722746"/>
            <a:ext cx="2580346" cy="6123089"/>
          </a:xfrm>
          <a:prstGeom prst="rect">
            <a:avLst/>
          </a:prstGeom>
          <a:solidFill>
            <a:schemeClr val="accent2">
              <a:lumMod val="75000"/>
              <a:alpha val="2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zh-CN" altLang="en-US" sz="800" dirty="0"/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F80907DB-C9EA-99D4-9CCB-707A8A0A3C70}"/>
              </a:ext>
            </a:extLst>
          </p:cNvPr>
          <p:cNvSpPr/>
          <p:nvPr/>
        </p:nvSpPr>
        <p:spPr>
          <a:xfrm>
            <a:off x="10163780" y="722746"/>
            <a:ext cx="2034000" cy="6123089"/>
          </a:xfrm>
          <a:prstGeom prst="rect">
            <a:avLst/>
          </a:prstGeom>
          <a:solidFill>
            <a:schemeClr val="tx2">
              <a:lumMod val="50000"/>
              <a:alpha val="2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zh-CN" altLang="en-US" sz="800" dirty="0"/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EAF12597-B174-34AD-D4F8-29914E645385}"/>
              </a:ext>
            </a:extLst>
          </p:cNvPr>
          <p:cNvSpPr/>
          <p:nvPr/>
        </p:nvSpPr>
        <p:spPr>
          <a:xfrm>
            <a:off x="4665225" y="711462"/>
            <a:ext cx="2925696" cy="6134374"/>
          </a:xfrm>
          <a:prstGeom prst="rect">
            <a:avLst/>
          </a:prstGeom>
          <a:solidFill>
            <a:schemeClr val="accent5">
              <a:lumMod val="75000"/>
              <a:alpha val="2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zh-CN" altLang="en-US" sz="800" dirty="0"/>
          </a:p>
        </p:txBody>
      </p:sp>
      <p:sp>
        <p:nvSpPr>
          <p:cNvPr id="19" name="矩形 18">
            <a:extLst>
              <a:ext uri="{FF2B5EF4-FFF2-40B4-BE49-F238E27FC236}">
                <a16:creationId xmlns:a16="http://schemas.microsoft.com/office/drawing/2014/main" id="{C5D2AAD5-FC79-7535-FFD2-8EFD4EE19309}"/>
              </a:ext>
            </a:extLst>
          </p:cNvPr>
          <p:cNvSpPr/>
          <p:nvPr/>
        </p:nvSpPr>
        <p:spPr>
          <a:xfrm>
            <a:off x="2512470" y="722746"/>
            <a:ext cx="2160000" cy="6131932"/>
          </a:xfrm>
          <a:prstGeom prst="rect">
            <a:avLst/>
          </a:prstGeom>
          <a:solidFill>
            <a:schemeClr val="accent6">
              <a:lumMod val="75000"/>
              <a:alpha val="2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zh-CN" altLang="en-US" sz="800" dirty="0"/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EDF8B71E-59C3-7B52-95CB-D79F2205A6DD}"/>
              </a:ext>
            </a:extLst>
          </p:cNvPr>
          <p:cNvSpPr/>
          <p:nvPr/>
        </p:nvSpPr>
        <p:spPr>
          <a:xfrm>
            <a:off x="-2" y="727509"/>
            <a:ext cx="2520000" cy="6131932"/>
          </a:xfrm>
          <a:prstGeom prst="rect">
            <a:avLst/>
          </a:prstGeom>
          <a:solidFill>
            <a:schemeClr val="tx2">
              <a:lumMod val="50000"/>
              <a:alpha val="2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zh-CN" altLang="en-US" sz="800" dirty="0"/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50A0E18E-F23E-7D2A-B6B1-2E14389E2650}"/>
              </a:ext>
            </a:extLst>
          </p:cNvPr>
          <p:cNvSpPr txBox="1">
            <a:spLocks/>
          </p:cNvSpPr>
          <p:nvPr/>
        </p:nvSpPr>
        <p:spPr>
          <a:xfrm>
            <a:off x="0" y="2746"/>
            <a:ext cx="12192000" cy="720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vert="horz" lIns="91440" tIns="45720" rIns="91440" bIns="45720" rtlCol="0" anchor="ctr">
            <a:normAutofit fontScale="925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大局观附注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趋势判定原则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：利用</a:t>
            </a: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确定月级别大势</a:t>
            </a:r>
            <a:r>
              <a:rPr lang="zh-CN" altLang="en-US" sz="15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5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15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</a:t>
            </a:r>
            <a:r>
              <a:rPr lang="en-US" altLang="zh-CN" sz="15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15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丘幅度的影响）</a:t>
            </a:r>
            <a:br>
              <a:rPr lang="en-US" altLang="zh-CN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主题：月势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是宝藏发现，是各种思路的出发点，不要再丢弃。月局是规划走势的最高级别，利用</a:t>
            </a:r>
            <a:r>
              <a:rPr lang="en-US" altLang="zh-CN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12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确定月级别可能出现大升的位置，从而抓住最有把握的大升。</a:t>
            </a:r>
            <a:endParaRPr lang="en-US" altLang="zh-CN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11A5BEF1-A5A7-A21D-B8C7-42FA0E4299B8}"/>
              </a:ext>
            </a:extLst>
          </p:cNvPr>
          <p:cNvSpPr/>
          <p:nvPr/>
        </p:nvSpPr>
        <p:spPr>
          <a:xfrm>
            <a:off x="4671839" y="5469277"/>
            <a:ext cx="1727228" cy="925991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月级别上升趋势包含两部分：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完整弧的回踩：可下破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，但不应下破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月级别主升：前面周级别回撤变为月阴柱，并开始长时间月级别主升。</a:t>
            </a:r>
          </a:p>
        </p:txBody>
      </p:sp>
      <p:cxnSp>
        <p:nvCxnSpPr>
          <p:cNvPr id="18" name="直接箭头连接符 17">
            <a:extLst>
              <a:ext uri="{FF2B5EF4-FFF2-40B4-BE49-F238E27FC236}">
                <a16:creationId xmlns:a16="http://schemas.microsoft.com/office/drawing/2014/main" id="{4B9751C5-80AD-E3F0-9670-1EF5304A8856}"/>
              </a:ext>
            </a:extLst>
          </p:cNvPr>
          <p:cNvCxnSpPr>
            <a:cxnSpLocks/>
          </p:cNvCxnSpPr>
          <p:nvPr/>
        </p:nvCxnSpPr>
        <p:spPr>
          <a:xfrm flipV="1">
            <a:off x="5627989" y="5189534"/>
            <a:ext cx="0" cy="279743"/>
          </a:xfrm>
          <a:prstGeom prst="straightConnector1">
            <a:avLst/>
          </a:prstGeom>
          <a:ln w="12700"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右大括号 24">
            <a:extLst>
              <a:ext uri="{FF2B5EF4-FFF2-40B4-BE49-F238E27FC236}">
                <a16:creationId xmlns:a16="http://schemas.microsoft.com/office/drawing/2014/main" id="{08FF3DE4-4CA2-708B-5D78-4CA15251F9FF}"/>
              </a:ext>
            </a:extLst>
          </p:cNvPr>
          <p:cNvSpPr/>
          <p:nvPr/>
        </p:nvSpPr>
        <p:spPr>
          <a:xfrm rot="5400000">
            <a:off x="3444115" y="4692893"/>
            <a:ext cx="241066" cy="2119596"/>
          </a:xfrm>
          <a:prstGeom prst="rightBrace">
            <a:avLst>
              <a:gd name="adj1" fmla="val 79188"/>
              <a:gd name="adj2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0DBE3303-24E6-1683-80EA-9D0EB18C587C}"/>
              </a:ext>
            </a:extLst>
          </p:cNvPr>
          <p:cNvSpPr/>
          <p:nvPr/>
        </p:nvSpPr>
        <p:spPr>
          <a:xfrm>
            <a:off x="6451021" y="5469277"/>
            <a:ext cx="1546168" cy="925991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多头排列，在首次经历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级别震荡后，存在两个方向：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再次形成主升。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形成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头，从而进入顶部震荡。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28" name="直接箭头连接符 27">
            <a:extLst>
              <a:ext uri="{FF2B5EF4-FFF2-40B4-BE49-F238E27FC236}">
                <a16:creationId xmlns:a16="http://schemas.microsoft.com/office/drawing/2014/main" id="{2424F22F-3A0E-5777-95EF-E706553209F1}"/>
              </a:ext>
            </a:extLst>
          </p:cNvPr>
          <p:cNvCxnSpPr>
            <a:cxnSpLocks/>
          </p:cNvCxnSpPr>
          <p:nvPr/>
        </p:nvCxnSpPr>
        <p:spPr>
          <a:xfrm flipV="1">
            <a:off x="6864483" y="4195985"/>
            <a:ext cx="0" cy="1273292"/>
          </a:xfrm>
          <a:prstGeom prst="straightConnector1">
            <a:avLst/>
          </a:prstGeom>
          <a:ln w="12700"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矩形 30">
            <a:extLst>
              <a:ext uri="{FF2B5EF4-FFF2-40B4-BE49-F238E27FC236}">
                <a16:creationId xmlns:a16="http://schemas.microsoft.com/office/drawing/2014/main" id="{6EA2CD92-D623-9AF8-DE30-B8D761B804FC}"/>
              </a:ext>
            </a:extLst>
          </p:cNvPr>
          <p:cNvSpPr/>
          <p:nvPr/>
        </p:nvSpPr>
        <p:spPr>
          <a:xfrm>
            <a:off x="4678682" y="3177043"/>
            <a:ext cx="2252401" cy="799592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当处于上升趋势中，不是单边快速上冲，而是沿东北方向某角度反复波动上升。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不会因前柱为阳，从而下柱必为阳。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不会因前柱为阴，从而下柱必为阴。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不要在日线左侧退出。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不要一定等日线止跌出现阳柱再介入。</a:t>
            </a:r>
          </a:p>
        </p:txBody>
      </p:sp>
      <p:sp>
        <p:nvSpPr>
          <p:cNvPr id="33" name="右大括号 32">
            <a:extLst>
              <a:ext uri="{FF2B5EF4-FFF2-40B4-BE49-F238E27FC236}">
                <a16:creationId xmlns:a16="http://schemas.microsoft.com/office/drawing/2014/main" id="{34BA25D0-DB1A-14A5-A24B-9AC3D2E2C53B}"/>
              </a:ext>
            </a:extLst>
          </p:cNvPr>
          <p:cNvSpPr/>
          <p:nvPr/>
        </p:nvSpPr>
        <p:spPr>
          <a:xfrm rot="5400000">
            <a:off x="8740980" y="2542460"/>
            <a:ext cx="241066" cy="2587335"/>
          </a:xfrm>
          <a:prstGeom prst="rightBrace">
            <a:avLst>
              <a:gd name="adj1" fmla="val 79188"/>
              <a:gd name="adj2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矩形 33">
            <a:extLst>
              <a:ext uri="{FF2B5EF4-FFF2-40B4-BE49-F238E27FC236}">
                <a16:creationId xmlns:a16="http://schemas.microsoft.com/office/drawing/2014/main" id="{FBAB684D-D8DA-E4DB-1E1E-3EAE0CA409B7}"/>
              </a:ext>
            </a:extLst>
          </p:cNvPr>
          <p:cNvSpPr/>
          <p:nvPr/>
        </p:nvSpPr>
        <p:spPr>
          <a:xfrm>
            <a:off x="10172379" y="5385019"/>
            <a:ext cx="2014079" cy="1034831"/>
          </a:xfrm>
          <a:prstGeom prst="rect">
            <a:avLst/>
          </a:prstGeom>
          <a:solidFill>
            <a:schemeClr val="accent4">
              <a:lumMod val="75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月级别下升趋势包含两部分：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完整弧的回弹：可上破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28600" indent="-228600">
              <a:buFont typeface="+mj-ea"/>
              <a:buAutoNum type="circleNumDbPlain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月级别主降：前面周级别回撤变为月阳柱，并开始长时间月级别主降。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WJCDE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呈空头排列，此处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WJCBA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丘虽然也有一定规模，但本质上属于下跌趋势的刹车。</a:t>
            </a:r>
          </a:p>
          <a:p>
            <a:endParaRPr lang="zh-CN" altLang="en-US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6" name="直接箭头连接符 35">
            <a:extLst>
              <a:ext uri="{FF2B5EF4-FFF2-40B4-BE49-F238E27FC236}">
                <a16:creationId xmlns:a16="http://schemas.microsoft.com/office/drawing/2014/main" id="{93B54036-F3B9-6B99-9FD8-7BDA8D0EA951}"/>
              </a:ext>
            </a:extLst>
          </p:cNvPr>
          <p:cNvCxnSpPr>
            <a:cxnSpLocks/>
            <a:stCxn id="34" idx="0"/>
          </p:cNvCxnSpPr>
          <p:nvPr/>
        </p:nvCxnSpPr>
        <p:spPr>
          <a:xfrm flipV="1">
            <a:off x="11179419" y="4587667"/>
            <a:ext cx="45185" cy="797352"/>
          </a:xfrm>
          <a:prstGeom prst="straightConnector1">
            <a:avLst/>
          </a:prstGeom>
          <a:ln w="12700"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矩形 37">
            <a:extLst>
              <a:ext uri="{FF2B5EF4-FFF2-40B4-BE49-F238E27FC236}">
                <a16:creationId xmlns:a16="http://schemas.microsoft.com/office/drawing/2014/main" id="{E9D93AAC-F60A-28DF-51FC-35D2A8D06BFD}"/>
              </a:ext>
            </a:extLst>
          </p:cNvPr>
          <p:cNvSpPr/>
          <p:nvPr/>
        </p:nvSpPr>
        <p:spPr>
          <a:xfrm>
            <a:off x="7593244" y="4003334"/>
            <a:ext cx="2581200" cy="119342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周级别操作规则：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入口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应只从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介入，少数在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WTZA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两柱后介入。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应避开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月顶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周震荡。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出口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原则上只以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WJB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作为止损点；针对已完整弧可以下破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两柱退出；针对已冲高可以下破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退出。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捡漏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】/WJA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上跌孕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上跌吞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上跌连</a:t>
            </a:r>
            <a:r>
              <a:rPr lang="en-US" altLang="zh-CN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/WJA</a:t>
            </a:r>
            <a:r>
              <a:rPr lang="zh-CN" alt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首下破</a:t>
            </a:r>
            <a:endParaRPr lang="en-US" altLang="zh-CN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endParaRPr lang="zh-CN" altLang="en-US" sz="8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右大括号 39">
            <a:extLst>
              <a:ext uri="{FF2B5EF4-FFF2-40B4-BE49-F238E27FC236}">
                <a16:creationId xmlns:a16="http://schemas.microsoft.com/office/drawing/2014/main" id="{8168258F-DF46-E489-6DBF-1232FD16AF6E}"/>
              </a:ext>
            </a:extLst>
          </p:cNvPr>
          <p:cNvSpPr/>
          <p:nvPr/>
        </p:nvSpPr>
        <p:spPr>
          <a:xfrm rot="12359150">
            <a:off x="5672164" y="3803551"/>
            <a:ext cx="241066" cy="1404149"/>
          </a:xfrm>
          <a:prstGeom prst="rightBrace">
            <a:avLst>
              <a:gd name="adj1" fmla="val 79188"/>
              <a:gd name="adj2" fmla="val 83603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BA00B38D-F1EE-FE96-3984-6F82E5629544}"/>
              </a:ext>
            </a:extLst>
          </p:cNvPr>
          <p:cNvSpPr/>
          <p:nvPr/>
        </p:nvSpPr>
        <p:spPr>
          <a:xfrm>
            <a:off x="2512470" y="6425967"/>
            <a:ext cx="2160000" cy="432000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800" dirty="0"/>
              <a:t>底震</a:t>
            </a:r>
            <a:endParaRPr lang="en-US" altLang="zh-CN" sz="800" dirty="0"/>
          </a:p>
          <a:p>
            <a:pPr algn="ctr"/>
            <a:r>
              <a:rPr lang="en-US" altLang="zh-CN" sz="800" dirty="0"/>
              <a:t>/A1/A0</a:t>
            </a:r>
          </a:p>
          <a:p>
            <a:pPr algn="ctr"/>
            <a:r>
              <a:rPr lang="zh-CN" altLang="en-US" sz="800" dirty="0"/>
              <a:t>无序底震：下柱冲高战法</a:t>
            </a: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DD3CCD24-426B-4A17-C6C2-2693DE1D58BC}"/>
              </a:ext>
            </a:extLst>
          </p:cNvPr>
          <p:cNvSpPr/>
          <p:nvPr/>
        </p:nvSpPr>
        <p:spPr>
          <a:xfrm>
            <a:off x="4665225" y="6425967"/>
            <a:ext cx="2925696" cy="432000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800" dirty="0"/>
              <a:t>升主</a:t>
            </a:r>
            <a:endParaRPr lang="en-US" altLang="zh-CN" sz="800" dirty="0"/>
          </a:p>
          <a:p>
            <a:pPr algn="ctr"/>
            <a:r>
              <a:rPr lang="en-US" altLang="zh-CN" sz="800" dirty="0"/>
              <a:t>/A3/A7</a:t>
            </a:r>
          </a:p>
          <a:p>
            <a:pPr algn="ctr"/>
            <a:r>
              <a:rPr lang="zh-CN" altLang="en-US" sz="800" dirty="0"/>
              <a:t>良序主升：坐公交战法</a:t>
            </a:r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548CBE25-B034-0FC1-EB64-808D5829F5AB}"/>
              </a:ext>
            </a:extLst>
          </p:cNvPr>
          <p:cNvSpPr/>
          <p:nvPr/>
        </p:nvSpPr>
        <p:spPr>
          <a:xfrm>
            <a:off x="7583434" y="6425967"/>
            <a:ext cx="2580346" cy="432000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800" dirty="0"/>
              <a:t>顶震</a:t>
            </a:r>
            <a:endParaRPr lang="en-US" altLang="zh-CN" sz="800" dirty="0"/>
          </a:p>
          <a:p>
            <a:pPr algn="ctr"/>
            <a:r>
              <a:rPr lang="en-US" altLang="zh-CN" sz="800" dirty="0"/>
              <a:t>/C6/C7</a:t>
            </a:r>
          </a:p>
          <a:p>
            <a:pPr algn="ctr"/>
            <a:r>
              <a:rPr lang="zh-CN" altLang="en-US" sz="800" dirty="0"/>
              <a:t>无序顶震：下柱冲高战法</a:t>
            </a:r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8E767B5D-7549-43DE-B624-A602E97BDC34}"/>
              </a:ext>
            </a:extLst>
          </p:cNvPr>
          <p:cNvSpPr/>
          <p:nvPr/>
        </p:nvSpPr>
        <p:spPr>
          <a:xfrm>
            <a:off x="10163780" y="6425967"/>
            <a:ext cx="2034000" cy="432000"/>
          </a:xfrm>
          <a:prstGeom prst="rect">
            <a:avLst/>
          </a:prstGeom>
          <a:solidFill>
            <a:schemeClr val="tx2">
              <a:lumMod val="5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zh-CN" altLang="en-US" sz="800" dirty="0"/>
              <a:t>降诱</a:t>
            </a:r>
            <a:endParaRPr lang="en-US" altLang="zh-CN" sz="800" dirty="0"/>
          </a:p>
          <a:p>
            <a:pPr algn="ctr"/>
            <a:r>
              <a:rPr lang="en-US" altLang="zh-CN" sz="800" dirty="0"/>
              <a:t>/C4/C0</a:t>
            </a:r>
          </a:p>
          <a:p>
            <a:pPr algn="ctr"/>
            <a:r>
              <a:rPr lang="zh-CN" altLang="en-US" sz="800" dirty="0"/>
              <a:t>良序主降：勿介入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18FA217C-42B4-E7C9-89B4-729D6724E8D7}"/>
              </a:ext>
            </a:extLst>
          </p:cNvPr>
          <p:cNvSpPr/>
          <p:nvPr/>
        </p:nvSpPr>
        <p:spPr>
          <a:xfrm>
            <a:off x="-3027" y="5196757"/>
            <a:ext cx="2520000" cy="1223092"/>
          </a:xfrm>
          <a:prstGeom prst="rect">
            <a:avLst/>
          </a:prstGeom>
          <a:solidFill>
            <a:schemeClr val="bg1">
              <a:lumMod val="75000"/>
              <a:alpha val="8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月势级别：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变化规律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＜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沿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主跌（不存在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围绕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底部震荡（存在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由负交变为正交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＞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围绕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底部震荡（存在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沿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主升（不存在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8650" lvl="1" indent="-171450">
              <a:buFont typeface="Arial" panose="020B0604020202020204" pitchFamily="34" charset="0"/>
              <a:buChar char="•"/>
            </a:pP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围绕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顶部震荡（存在</a:t>
            </a:r>
            <a:r>
              <a:rPr lang="en-US" altLang="zh-CN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WXZD</a:t>
            </a:r>
            <a:r>
              <a:rPr lang="zh-CN" altLang="en-US" sz="800" b="1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劫）</a:t>
            </a: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zh-CN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800" b="1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73439065-1E85-5A85-479A-D05E3D13E5D2}"/>
              </a:ext>
            </a:extLst>
          </p:cNvPr>
          <p:cNvSpPr/>
          <p:nvPr/>
        </p:nvSpPr>
        <p:spPr>
          <a:xfrm>
            <a:off x="-4151" y="6425967"/>
            <a:ext cx="2520000" cy="432000"/>
          </a:xfrm>
          <a:prstGeom prst="rect">
            <a:avLst/>
          </a:prstGeom>
          <a:solidFill>
            <a:schemeClr val="tx2">
              <a:lumMod val="50000"/>
            </a:schemeClr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zh-CN" altLang="en-US" sz="800" dirty="0"/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453C74D6-0FC2-8F1B-FCBC-F1CDF28CD7F3}"/>
              </a:ext>
            </a:extLst>
          </p:cNvPr>
          <p:cNvSpPr/>
          <p:nvPr/>
        </p:nvSpPr>
        <p:spPr>
          <a:xfrm>
            <a:off x="-25637" y="3076266"/>
            <a:ext cx="12579409" cy="2749148"/>
          </a:xfrm>
          <a:custGeom>
            <a:avLst/>
            <a:gdLst>
              <a:gd name="connsiteX0" fmla="*/ 0 w 12579409"/>
              <a:gd name="connsiteY0" fmla="*/ 128409 h 2749148"/>
              <a:gd name="connsiteX1" fmla="*/ 623843 w 12579409"/>
              <a:gd name="connsiteY1" fmla="*/ 179684 h 2749148"/>
              <a:gd name="connsiteX2" fmla="*/ 1239140 w 12579409"/>
              <a:gd name="connsiteY2" fmla="*/ 1863205 h 2749148"/>
              <a:gd name="connsiteX3" fmla="*/ 1743342 w 12579409"/>
              <a:gd name="connsiteY3" fmla="*/ 1564103 h 2749148"/>
              <a:gd name="connsiteX4" fmla="*/ 2486826 w 12579409"/>
              <a:gd name="connsiteY4" fmla="*/ 2461411 h 2749148"/>
              <a:gd name="connsiteX5" fmla="*/ 3367043 w 12579409"/>
              <a:gd name="connsiteY5" fmla="*/ 2299041 h 2749148"/>
              <a:gd name="connsiteX6" fmla="*/ 3683237 w 12579409"/>
              <a:gd name="connsiteY6" fmla="*/ 2521232 h 2749148"/>
              <a:gd name="connsiteX7" fmla="*/ 4238714 w 12579409"/>
              <a:gd name="connsiteY7" fmla="*/ 2230675 h 2749148"/>
              <a:gd name="connsiteX8" fmla="*/ 4580545 w 12579409"/>
              <a:gd name="connsiteY8" fmla="*/ 2478503 h 2749148"/>
              <a:gd name="connsiteX9" fmla="*/ 5144568 w 12579409"/>
              <a:gd name="connsiteY9" fmla="*/ 1803385 h 2749148"/>
              <a:gd name="connsiteX10" fmla="*/ 5580403 w 12579409"/>
              <a:gd name="connsiteY10" fmla="*/ 2153762 h 2749148"/>
              <a:gd name="connsiteX11" fmla="*/ 6255521 w 12579409"/>
              <a:gd name="connsiteY11" fmla="*/ 897531 h 2749148"/>
              <a:gd name="connsiteX12" fmla="*/ 6836635 w 12579409"/>
              <a:gd name="connsiteY12" fmla="*/ 1145359 h 2749148"/>
              <a:gd name="connsiteX13" fmla="*/ 7315200 w 12579409"/>
              <a:gd name="connsiteY13" fmla="*/ 205321 h 2749148"/>
              <a:gd name="connsiteX14" fmla="*/ 7904859 w 12579409"/>
              <a:gd name="connsiteY14" fmla="*/ 564245 h 2749148"/>
              <a:gd name="connsiteX15" fmla="*/ 8545794 w 12579409"/>
              <a:gd name="connsiteY15" fmla="*/ 154047 h 2749148"/>
              <a:gd name="connsiteX16" fmla="*/ 9049996 w 12579409"/>
              <a:gd name="connsiteY16" fmla="*/ 504424 h 2749148"/>
              <a:gd name="connsiteX17" fmla="*/ 9537106 w 12579409"/>
              <a:gd name="connsiteY17" fmla="*/ 316417 h 2749148"/>
              <a:gd name="connsiteX18" fmla="*/ 9844755 w 12579409"/>
              <a:gd name="connsiteY18" fmla="*/ 530061 h 2749148"/>
              <a:gd name="connsiteX19" fmla="*/ 10049854 w 12579409"/>
              <a:gd name="connsiteY19" fmla="*/ 393329 h 2749148"/>
              <a:gd name="connsiteX20" fmla="*/ 10665151 w 12579409"/>
              <a:gd name="connsiteY20" fmla="*/ 1555557 h 2749148"/>
              <a:gd name="connsiteX21" fmla="*/ 11126624 w 12579409"/>
              <a:gd name="connsiteY21" fmla="*/ 1051355 h 2749148"/>
              <a:gd name="connsiteX22" fmla="*/ 11870108 w 12579409"/>
              <a:gd name="connsiteY22" fmla="*/ 2666510 h 2749148"/>
              <a:gd name="connsiteX23" fmla="*/ 12211940 w 12579409"/>
              <a:gd name="connsiteY23" fmla="*/ 2529777 h 2749148"/>
              <a:gd name="connsiteX24" fmla="*/ 12579409 w 12579409"/>
              <a:gd name="connsiteY24" fmla="*/ 2666510 h 2749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2579409" h="2749148">
                <a:moveTo>
                  <a:pt x="0" y="128409"/>
                </a:moveTo>
                <a:cubicBezTo>
                  <a:pt x="208660" y="9480"/>
                  <a:pt x="417320" y="-109449"/>
                  <a:pt x="623843" y="179684"/>
                </a:cubicBezTo>
                <a:cubicBezTo>
                  <a:pt x="830366" y="468817"/>
                  <a:pt x="1052557" y="1632469"/>
                  <a:pt x="1239140" y="1863205"/>
                </a:cubicBezTo>
                <a:cubicBezTo>
                  <a:pt x="1425723" y="2093941"/>
                  <a:pt x="1535394" y="1464402"/>
                  <a:pt x="1743342" y="1564103"/>
                </a:cubicBezTo>
                <a:cubicBezTo>
                  <a:pt x="1951290" y="1663804"/>
                  <a:pt x="2216209" y="2338921"/>
                  <a:pt x="2486826" y="2461411"/>
                </a:cubicBezTo>
                <a:cubicBezTo>
                  <a:pt x="2757443" y="2583901"/>
                  <a:pt x="3167641" y="2289071"/>
                  <a:pt x="3367043" y="2299041"/>
                </a:cubicBezTo>
                <a:cubicBezTo>
                  <a:pt x="3566445" y="2309011"/>
                  <a:pt x="3537959" y="2532626"/>
                  <a:pt x="3683237" y="2521232"/>
                </a:cubicBezTo>
                <a:cubicBezTo>
                  <a:pt x="3828515" y="2509838"/>
                  <a:pt x="4089163" y="2237796"/>
                  <a:pt x="4238714" y="2230675"/>
                </a:cubicBezTo>
                <a:cubicBezTo>
                  <a:pt x="4388265" y="2223554"/>
                  <a:pt x="4429569" y="2549718"/>
                  <a:pt x="4580545" y="2478503"/>
                </a:cubicBezTo>
                <a:cubicBezTo>
                  <a:pt x="4731521" y="2407288"/>
                  <a:pt x="4977925" y="1857509"/>
                  <a:pt x="5144568" y="1803385"/>
                </a:cubicBezTo>
                <a:cubicBezTo>
                  <a:pt x="5311211" y="1749262"/>
                  <a:pt x="5395244" y="2304738"/>
                  <a:pt x="5580403" y="2153762"/>
                </a:cubicBezTo>
                <a:cubicBezTo>
                  <a:pt x="5765562" y="2002786"/>
                  <a:pt x="6046149" y="1065598"/>
                  <a:pt x="6255521" y="897531"/>
                </a:cubicBezTo>
                <a:cubicBezTo>
                  <a:pt x="6464893" y="729464"/>
                  <a:pt x="6660022" y="1260727"/>
                  <a:pt x="6836635" y="1145359"/>
                </a:cubicBezTo>
                <a:cubicBezTo>
                  <a:pt x="7013248" y="1029991"/>
                  <a:pt x="7137163" y="302173"/>
                  <a:pt x="7315200" y="205321"/>
                </a:cubicBezTo>
                <a:cubicBezTo>
                  <a:pt x="7493237" y="108469"/>
                  <a:pt x="7699760" y="572791"/>
                  <a:pt x="7904859" y="564245"/>
                </a:cubicBezTo>
                <a:cubicBezTo>
                  <a:pt x="8109958" y="555699"/>
                  <a:pt x="8354938" y="164017"/>
                  <a:pt x="8545794" y="154047"/>
                </a:cubicBezTo>
                <a:cubicBezTo>
                  <a:pt x="8736650" y="144077"/>
                  <a:pt x="8884777" y="477362"/>
                  <a:pt x="9049996" y="504424"/>
                </a:cubicBezTo>
                <a:cubicBezTo>
                  <a:pt x="9215215" y="531486"/>
                  <a:pt x="9404646" y="312144"/>
                  <a:pt x="9537106" y="316417"/>
                </a:cubicBezTo>
                <a:cubicBezTo>
                  <a:pt x="9669566" y="320690"/>
                  <a:pt x="9759297" y="517242"/>
                  <a:pt x="9844755" y="530061"/>
                </a:cubicBezTo>
                <a:cubicBezTo>
                  <a:pt x="9930213" y="542880"/>
                  <a:pt x="9913121" y="222413"/>
                  <a:pt x="10049854" y="393329"/>
                </a:cubicBezTo>
                <a:cubicBezTo>
                  <a:pt x="10186587" y="564245"/>
                  <a:pt x="10485689" y="1445886"/>
                  <a:pt x="10665151" y="1555557"/>
                </a:cubicBezTo>
                <a:cubicBezTo>
                  <a:pt x="10844613" y="1665228"/>
                  <a:pt x="10925798" y="866196"/>
                  <a:pt x="11126624" y="1051355"/>
                </a:cubicBezTo>
                <a:cubicBezTo>
                  <a:pt x="11327450" y="1236514"/>
                  <a:pt x="11689222" y="2420106"/>
                  <a:pt x="11870108" y="2666510"/>
                </a:cubicBezTo>
                <a:cubicBezTo>
                  <a:pt x="12050994" y="2912914"/>
                  <a:pt x="12093723" y="2529777"/>
                  <a:pt x="12211940" y="2529777"/>
                </a:cubicBezTo>
                <a:cubicBezTo>
                  <a:pt x="12330157" y="2529777"/>
                  <a:pt x="12563742" y="2646570"/>
                  <a:pt x="12579409" y="2666510"/>
                </a:cubicBezTo>
              </a:path>
            </a:pathLst>
          </a:custGeom>
          <a:noFill/>
          <a:ln w="381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180F3BE2-DE9E-6A2D-6556-9A6E792A3214}"/>
              </a:ext>
            </a:extLst>
          </p:cNvPr>
          <p:cNvSpPr txBox="1"/>
          <p:nvPr/>
        </p:nvSpPr>
        <p:spPr>
          <a:xfrm>
            <a:off x="2512470" y="4445000"/>
            <a:ext cx="2150432" cy="830997"/>
          </a:xfrm>
          <a:prstGeom prst="rect">
            <a:avLst/>
          </a:prstGeom>
          <a:solidFill>
            <a:schemeClr val="accent4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关注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WXCD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如何定位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大丘：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处于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WJE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之上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介于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WJE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WJA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介于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WJC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en-US" altLang="zh-CN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WJD</a:t>
            </a:r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  <a:endParaRPr lang="en-US" altLang="zh-CN" sz="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关注周丘变化规律：从阴至阳，从小到大再到小</a:t>
            </a:r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8F6701B9-F995-FF6F-7B31-25DEAC8A51D4}"/>
              </a:ext>
            </a:extLst>
          </p:cNvPr>
          <p:cNvGraphicFramePr>
            <a:graphicFrameLocks noGrp="1"/>
          </p:cNvGraphicFramePr>
          <p:nvPr/>
        </p:nvGraphicFramePr>
        <p:xfrm>
          <a:off x="-5780" y="711463"/>
          <a:ext cx="12189229" cy="2450272"/>
        </p:xfrm>
        <a:graphic>
          <a:graphicData uri="http://schemas.openxmlformats.org/drawingml/2006/table">
            <a:tbl>
              <a:tblPr firstRow="1" bandRow="1">
                <a:tableStyleId>{35758FB7-9AC5-4552-8A53-C91805E547FA}</a:tableStyleId>
              </a:tblPr>
              <a:tblGrid>
                <a:gridCol w="584664">
                  <a:extLst>
                    <a:ext uri="{9D8B030D-6E8A-4147-A177-3AD203B41FA5}">
                      <a16:colId xmlns:a16="http://schemas.microsoft.com/office/drawing/2014/main" val="872410501"/>
                    </a:ext>
                  </a:extLst>
                </a:gridCol>
                <a:gridCol w="4921134">
                  <a:extLst>
                    <a:ext uri="{9D8B030D-6E8A-4147-A177-3AD203B41FA5}">
                      <a16:colId xmlns:a16="http://schemas.microsoft.com/office/drawing/2014/main" val="3200641771"/>
                    </a:ext>
                  </a:extLst>
                </a:gridCol>
                <a:gridCol w="507077">
                  <a:extLst>
                    <a:ext uri="{9D8B030D-6E8A-4147-A177-3AD203B41FA5}">
                      <a16:colId xmlns:a16="http://schemas.microsoft.com/office/drawing/2014/main" val="3095418928"/>
                    </a:ext>
                  </a:extLst>
                </a:gridCol>
                <a:gridCol w="1637607">
                  <a:extLst>
                    <a:ext uri="{9D8B030D-6E8A-4147-A177-3AD203B41FA5}">
                      <a16:colId xmlns:a16="http://schemas.microsoft.com/office/drawing/2014/main" val="3289867939"/>
                    </a:ext>
                  </a:extLst>
                </a:gridCol>
                <a:gridCol w="1130531">
                  <a:extLst>
                    <a:ext uri="{9D8B030D-6E8A-4147-A177-3AD203B41FA5}">
                      <a16:colId xmlns:a16="http://schemas.microsoft.com/office/drawing/2014/main" val="1743828848"/>
                    </a:ext>
                  </a:extLst>
                </a:gridCol>
                <a:gridCol w="1205345">
                  <a:extLst>
                    <a:ext uri="{9D8B030D-6E8A-4147-A177-3AD203B41FA5}">
                      <a16:colId xmlns:a16="http://schemas.microsoft.com/office/drawing/2014/main" val="3677835167"/>
                    </a:ext>
                  </a:extLst>
                </a:gridCol>
                <a:gridCol w="1521230">
                  <a:extLst>
                    <a:ext uri="{9D8B030D-6E8A-4147-A177-3AD203B41FA5}">
                      <a16:colId xmlns:a16="http://schemas.microsoft.com/office/drawing/2014/main" val="4256085655"/>
                    </a:ext>
                  </a:extLst>
                </a:gridCol>
                <a:gridCol w="681641">
                  <a:extLst>
                    <a:ext uri="{9D8B030D-6E8A-4147-A177-3AD203B41FA5}">
                      <a16:colId xmlns:a16="http://schemas.microsoft.com/office/drawing/2014/main" val="3063292155"/>
                    </a:ext>
                  </a:extLst>
                </a:gridCol>
              </a:tblGrid>
              <a:tr h="240472">
                <a:tc gridSpan="8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月势：依靠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WJCDE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对全时间进行划分，基本要求是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WXZC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。眼中时刻要有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护型；要珍惜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与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WXAB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＞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0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。</a:t>
                      </a:r>
                      <a:endParaRPr lang="en-US" altLang="zh-CN" sz="800" dirty="0">
                        <a:solidFill>
                          <a:schemeClr val="tx1"/>
                        </a:solidFill>
                      </a:endParaRPr>
                    </a:p>
                    <a:p>
                      <a:pPr marL="628650" lvl="1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交叉是全时域的定海神针，不会频繁交叉，一定要珍惜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正交，直至冲高。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正交且始终不破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WJD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对应于月级别主升；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负交且始终不破</a:t>
                      </a:r>
                      <a:r>
                        <a:rPr lang="en-US" altLang="zh-CN" sz="800" dirty="0">
                          <a:solidFill>
                            <a:schemeClr val="tx1"/>
                          </a:solidFill>
                        </a:rPr>
                        <a:t>WJD</a:t>
                      </a: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对应于月级别主降；其余为阴阳转换。</a:t>
                      </a:r>
                      <a:endParaRPr lang="en-US" altLang="zh-CN" sz="800" dirty="0">
                        <a:solidFill>
                          <a:schemeClr val="tx1"/>
                        </a:solidFill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/>
                          </a:solidFill>
                        </a:rPr>
                        <a:t>操作目标：优选（有序主升）备选（无序震荡）剔除（下降诱多）</a:t>
                      </a:r>
                      <a:endParaRPr lang="zh-CN" altLang="en-US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endParaRPr lang="zh-CN" altLang="en-US" sz="8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8831060"/>
                  </a:ext>
                </a:extLst>
              </a:tr>
              <a:tr h="142097"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区域</a:t>
                      </a:r>
                    </a:p>
                  </a:txBody>
                  <a:tcPr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区域特征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码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WJCDE</a:t>
                      </a:r>
                      <a:endParaRPr lang="zh-CN" altLang="en-US" sz="7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筛选操作</a:t>
                      </a:r>
                    </a:p>
                  </a:txBody>
                  <a:tcP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7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应对战法</a:t>
                      </a:r>
                    </a:p>
                  </a:txBody>
                  <a:tcP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6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能否开启月级别主升？</a:t>
                      </a:r>
                    </a:p>
                  </a:txBody>
                  <a:tcP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6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策略</a:t>
                      </a:r>
                    </a:p>
                  </a:txBody>
                  <a:tcP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0517302"/>
                  </a:ext>
                </a:extLst>
              </a:tr>
              <a:tr h="153028">
                <a:tc rowSpan="2"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降诱</a:t>
                      </a:r>
                    </a:p>
                  </a:txBody>
                  <a:tcPr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row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周类走势只为在月级别形成底部震荡（多为月阴阳交错），不适合长期持有。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存在少数为月级别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V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字走势。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底部可能存在多次震荡诱多，要等待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即将正交时再介入。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C4/X4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弃仅参考（有序主降）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勿介入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不太可能</a:t>
                      </a:r>
                    </a:p>
                  </a:txBody>
                  <a:tcP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“可看”</a:t>
                      </a:r>
                    </a:p>
                  </a:txBody>
                  <a:tcP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391973"/>
                  </a:ext>
                </a:extLst>
              </a:tr>
              <a:tr h="240472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C0/X0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＜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弃仅参考（有序主降）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勿介入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不可能，要防止多次震荡诱多</a:t>
                      </a:r>
                    </a:p>
                  </a:txBody>
                  <a:tcP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“可看”</a:t>
                      </a:r>
                    </a:p>
                  </a:txBody>
                  <a:tcP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6832818"/>
                  </a:ext>
                </a:extLst>
              </a:tr>
              <a:tr h="153028">
                <a:tc rowSpan="2"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底震</a:t>
                      </a:r>
                    </a:p>
                  </a:txBody>
                  <a:tcPr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rowSpan="2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在底部突破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后，可能在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M6v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长时间震荡后启动主升突破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WJE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月级别波动有限，周级别无序震荡。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A0/B0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且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WTZD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＞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单列备选（无序底震）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下柱冲高战法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有可能</a:t>
                      </a:r>
                    </a:p>
                  </a:txBody>
                  <a:tcPr>
                    <a:gradFill flip="none" rotWithShape="1">
                      <a:gsLst>
                        <a:gs pos="0">
                          <a:schemeClr val="accent1">
                            <a:tint val="66000"/>
                            <a:satMod val="160000"/>
                          </a:schemeClr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chemeClr val="accent1">
                            <a:tint val="23500"/>
                            <a:satMod val="160000"/>
                          </a:schemeClr>
                        </a:gs>
                      </a:gsLst>
                      <a:lin ang="0" scaled="1"/>
                      <a:tileRect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“可持”</a:t>
                      </a:r>
                    </a:p>
                  </a:txBody>
                  <a:tcPr>
                    <a:gradFill flip="none" rotWithShape="1">
                      <a:gsLst>
                        <a:gs pos="0">
                          <a:schemeClr val="accent1">
                            <a:tint val="66000"/>
                            <a:satMod val="160000"/>
                          </a:schemeClr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chemeClr val="accent1">
                            <a:tint val="23500"/>
                            <a:satMod val="160000"/>
                          </a:schemeClr>
                        </a:gs>
                      </a:gsLst>
                      <a:lin ang="0" scaled="1"/>
                      <a:tileRect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3559584887"/>
                  </a:ext>
                </a:extLst>
              </a:tr>
              <a:tr h="153028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A1/B1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单列备选（无序底震）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下柱冲高战法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很可能</a:t>
                      </a:r>
                    </a:p>
                  </a:txBody>
                  <a:tcPr>
                    <a:gradFill flip="none" rotWithShape="1">
                      <a:gsLst>
                        <a:gs pos="0">
                          <a:schemeClr val="accent1">
                            <a:tint val="66000"/>
                            <a:satMod val="160000"/>
                          </a:schemeClr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chemeClr val="accent1">
                            <a:tint val="23500"/>
                            <a:satMod val="160000"/>
                          </a:schemeClr>
                        </a:gs>
                      </a:gsLst>
                      <a:lin ang="0" scaled="1"/>
                      <a:tileRect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“可持”</a:t>
                      </a:r>
                    </a:p>
                  </a:txBody>
                  <a:tcPr>
                    <a:gradFill flip="none" rotWithShape="1">
                      <a:gsLst>
                        <a:gs pos="0">
                          <a:schemeClr val="accent1">
                            <a:tint val="66000"/>
                            <a:satMod val="160000"/>
                          </a:schemeClr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chemeClr val="accent1">
                            <a:tint val="23500"/>
                            <a:satMod val="160000"/>
                          </a:schemeClr>
                        </a:gs>
                      </a:gsLst>
                      <a:lin ang="0" scaled="1"/>
                      <a:tileRect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1571930641"/>
                  </a:ext>
                </a:extLst>
              </a:tr>
              <a:tr h="153028">
                <a:tc rowSpan="2"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升主</a:t>
                      </a:r>
                    </a:p>
                  </a:txBody>
                  <a:tcPr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rowSpan="2"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要珍惜：（阶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3&amp;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7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）且（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WJC&amp;WJB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之上）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良序主升区域。</a:t>
                      </a:r>
                      <a:endParaRPr lang="en-US" altLang="zh-CN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启动月级别主升。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A3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单列优选（有序主升）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坐公交战法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非常可能</a:t>
                      </a:r>
                    </a:p>
                  </a:txBody>
                  <a:tcPr>
                    <a:gradFill flip="none" rotWithShape="1">
                      <a:gsLst>
                        <a:gs pos="0">
                          <a:schemeClr val="accent1">
                            <a:tint val="66000"/>
                            <a:satMod val="160000"/>
                          </a:schemeClr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chemeClr val="accent1">
                            <a:tint val="23500"/>
                            <a:satMod val="160000"/>
                          </a:schemeClr>
                        </a:gs>
                      </a:gsLst>
                      <a:lin ang="0" scaled="1"/>
                      <a:tileRect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“可持”</a:t>
                      </a:r>
                    </a:p>
                  </a:txBody>
                  <a:tcPr>
                    <a:gradFill flip="none" rotWithShape="1">
                      <a:gsLst>
                        <a:gs pos="0">
                          <a:schemeClr val="accent1">
                            <a:tint val="66000"/>
                            <a:satMod val="160000"/>
                          </a:schemeClr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chemeClr val="accent1">
                            <a:tint val="23500"/>
                            <a:satMod val="160000"/>
                          </a:schemeClr>
                        </a:gs>
                      </a:gsLst>
                      <a:lin ang="0" scaled="1"/>
                      <a:tileRect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2953430594"/>
                  </a:ext>
                </a:extLst>
              </a:tr>
              <a:tr h="174889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A7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7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主再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单列优选（有序主升）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坐公交战法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有可能</a:t>
                      </a:r>
                    </a:p>
                  </a:txBody>
                  <a:tcPr>
                    <a:gradFill flip="none" rotWithShape="1">
                      <a:gsLst>
                        <a:gs pos="0">
                          <a:schemeClr val="accent1">
                            <a:tint val="66000"/>
                            <a:satMod val="160000"/>
                          </a:schemeClr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chemeClr val="accent1">
                            <a:tint val="23500"/>
                            <a:satMod val="160000"/>
                          </a:schemeClr>
                        </a:gs>
                      </a:gsLst>
                      <a:lin ang="0" scaled="1"/>
                      <a:tileRect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“可持”</a:t>
                      </a:r>
                    </a:p>
                  </a:txBody>
                  <a:tcPr>
                    <a:gradFill flip="none" rotWithShape="1">
                      <a:gsLst>
                        <a:gs pos="0">
                          <a:schemeClr val="accent1">
                            <a:tint val="66000"/>
                            <a:satMod val="160000"/>
                          </a:schemeClr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chemeClr val="accent1">
                            <a:tint val="23500"/>
                            <a:satMod val="160000"/>
                          </a:schemeClr>
                        </a:gs>
                      </a:gsLst>
                      <a:lin ang="0" scaled="1"/>
                      <a:tileRect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118422767"/>
                  </a:ext>
                </a:extLst>
              </a:tr>
              <a:tr h="240472">
                <a:tc rowSpan="2">
                  <a:txBody>
                    <a:bodyPr/>
                    <a:lstStyle/>
                    <a:p>
                      <a:r>
                        <a:rPr lang="zh-CN" altLang="en-US" sz="7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顶震</a:t>
                      </a:r>
                    </a:p>
                  </a:txBody>
                  <a:tcPr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row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周级别走势多数为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WXBC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劫或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WXAC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劫。奏：要统计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WXCD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正交时</a:t>
                      </a:r>
                      <a:r>
                        <a:rPr lang="en-US" altLang="zh-CN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/WXBC/WXAB</a:t>
                      </a: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相交次数。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顶部多次震荡，只为在月级别形成顶部震荡（多为月阴阳交错）。</a:t>
                      </a:r>
                      <a:endParaRPr lang="en-US" altLang="zh-CN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C7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7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初储破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单列备选（无序顶震）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下柱冲高战法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有可能，要防止多次震荡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</a:t>
                      </a: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头</a:t>
                      </a:r>
                    </a:p>
                  </a:txBody>
                  <a:tcPr>
                    <a:gradFill flip="none" rotWithShape="1">
                      <a:gsLst>
                        <a:gs pos="0">
                          <a:schemeClr val="accent1">
                            <a:tint val="66000"/>
                            <a:satMod val="160000"/>
                          </a:schemeClr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chemeClr val="accent1">
                            <a:tint val="23500"/>
                            <a:satMod val="160000"/>
                          </a:schemeClr>
                        </a:gs>
                      </a:gsLst>
                      <a:lin ang="0" scaled="1"/>
                      <a:tileRect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“可持”</a:t>
                      </a:r>
                    </a:p>
                  </a:txBody>
                  <a:tcPr>
                    <a:gradFill flip="none" rotWithShape="1">
                      <a:gsLst>
                        <a:gs pos="0">
                          <a:schemeClr val="accent1">
                            <a:tint val="66000"/>
                            <a:satMod val="160000"/>
                          </a:schemeClr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chemeClr val="accent1">
                            <a:tint val="23500"/>
                            <a:satMod val="160000"/>
                          </a:schemeClr>
                        </a:gs>
                      </a:gsLst>
                      <a:lin ang="0" scaled="1"/>
                      <a:tileRect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131271756"/>
                  </a:ext>
                </a:extLst>
              </a:tr>
              <a:tr h="165252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C6</a:t>
                      </a:r>
                      <a:endParaRPr lang="zh-CN" altLang="en-US" sz="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阶</a:t>
                      </a:r>
                      <a:r>
                        <a:rPr lang="en-US" altLang="zh-CN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</a:t>
                      </a:r>
                      <a:endParaRPr lang="zh-CN" altLang="en-US" sz="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单列备选（无序顶震）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下柱冲高战法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不太可能</a:t>
                      </a:r>
                    </a:p>
                  </a:txBody>
                  <a:tcP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“可看”</a:t>
                      </a:r>
                      <a:endParaRPr lang="zh-CN" altLang="en-US" sz="800" dirty="0">
                        <a:solidFill>
                          <a:schemeClr val="bg1">
                            <a:lumMod val="50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819526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8371017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主题​​">
  <a:themeElements>
    <a:clrScheme name="Office 主题​​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主题​​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​​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2013 - 2022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348343</TotalTime>
  <Words>134657</Words>
  <Application>Microsoft Office PowerPoint</Application>
  <PresentationFormat>宽屏</PresentationFormat>
  <Paragraphs>9115</Paragraphs>
  <Slides>128</Slides>
  <Notes>115</Notes>
  <HiddenSlides>0</HiddenSlides>
  <MMClips>0</MMClips>
  <ScaleCrop>false</ScaleCrop>
  <HeadingPairs>
    <vt:vector size="6" baseType="variant">
      <vt:variant>
        <vt:lpstr>已用的字体</vt:lpstr>
      </vt:variant>
      <vt:variant>
        <vt:i4>9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128</vt:i4>
      </vt:variant>
    </vt:vector>
  </HeadingPairs>
  <TitlesOfParts>
    <vt:vector size="138" baseType="lpstr">
      <vt:lpstr>-apple-system</vt:lpstr>
      <vt:lpstr>华文楷体</vt:lpstr>
      <vt:lpstr>微软雅黑</vt:lpstr>
      <vt:lpstr>Microsoft YaHei Light</vt:lpstr>
      <vt:lpstr>Arial</vt:lpstr>
      <vt:lpstr>Calibri</vt:lpstr>
      <vt:lpstr>Calibri Light</vt:lpstr>
      <vt:lpstr>Cambria Math</vt:lpstr>
      <vt:lpstr>Wingdings</vt:lpstr>
      <vt:lpstr>Office 主题​​</vt:lpstr>
      <vt:lpstr>基础理论</vt:lpstr>
      <vt:lpstr>【基础理论】股场动力学 基础公理与思维 作用：洞悉客观规律形成SOP，摆脱主观思维与心理障碍。</vt:lpstr>
      <vt:lpstr>【基础理论】第一性原理在抓涨的应用 问题：本页要阐明的是，基于第一性原理得到的抓上涨的方法论；而非为何股价会上涨的第一性原理（价值投资、反身性原理等）。</vt:lpstr>
      <vt:lpstr>【基础理论】思维法宝 优化本质：在遵守基本数学规律的基础上，进行变通，提高收益。</vt:lpstr>
      <vt:lpstr>【原旨思考】优化思路 核心是寻找WJC最大偏离位置原旨教义：WTZC&gt;0是大涨必要条件(通过观察全局周线图得出) 优化本质：低阶均线是否能够决定高阶均线仓位的存在 (抓上升段，避下跌段)</vt:lpstr>
      <vt:lpstr>【原旨思考】亏损来源与应对策略 本页主题：以 WJC丘为根本，分析亏损来源与应对策略的得失。在真正操盘过程中，开始不知丘大小，只能摸着石头过河。要按照持有标准进行判定，被动演化为大丘或止损退出。 分析思路是：亏损来源 ⇒应对策略 ⇒操盘方法</vt:lpstr>
      <vt:lpstr>【日类操盘】反思：为何会亏损 操盘方法：要解决现有操盘中亏损问题，解决不同操盘方法的冲突。</vt:lpstr>
      <vt:lpstr>【日类操盘】日类柱型分布 ⇒&lt;可获利升势区域&gt;在DJB之上 问题：实际操盘不能只依赖周趋势，周趋势保持不变的情况下，日类波动可能很大。</vt:lpstr>
      <vt:lpstr>PowerPoint 演示文稿</vt:lpstr>
      <vt:lpstr>WJC生命周期 总结WJC生命周期的核心主题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【 WJC生命周期】周级别“升连”在甄别主升的作用 本页主题：要明确“升连”是主升阶段的最典型形态；要明确在非主升阶段，即使出现“升连”也不应参与。</vt:lpstr>
      <vt:lpstr>PowerPoint 演示文稿</vt:lpstr>
      <vt:lpstr>PowerPoint 演示文稿</vt:lpstr>
      <vt:lpstr>【WJC生命周期】 &lt;周机&gt;的定位方法 本页主题：根据&lt;周奏：渡主&gt;&lt;地型&gt;&lt;柱型&gt;&lt;反例&gt;，总结下周冲高机会的特征，应采用何种策略？并汇总notion图谱。</vt:lpstr>
      <vt:lpstr>【WJC生命周期】柱型分类</vt:lpstr>
      <vt:lpstr>大局观 本章只串联里程碑结论，不推导中间过程。</vt:lpstr>
      <vt:lpstr>PowerPoint 演示文稿</vt:lpstr>
      <vt:lpstr>PowerPoint 演示文稿</vt:lpstr>
      <vt:lpstr>【大局观】趋势判定原则 ⇒ 做多与做空的区别 观点：趋势有逻辑，震荡无厘头，不要混淆做多与做空的边界。</vt:lpstr>
      <vt:lpstr>PowerPoint 演示文稿</vt:lpstr>
      <vt:lpstr>PowerPoint 演示文稿</vt:lpstr>
      <vt:lpstr>PowerPoint 演示文稿</vt:lpstr>
      <vt:lpstr>PowerPoint 演示文稿</vt:lpstr>
      <vt:lpstr>龙战法  周级别下柱冲高最靠谱，按周为周期进行操作，映射到日级进行细化。 在周末按照下周冲高配置股票仓位，在周中利用ETF进行临时操作。</vt:lpstr>
      <vt:lpstr>【龙战法】“龙战法”适用条件 &amp; 盯盘观察指标 本页主题：总结龙战法共用的前提条件。</vt:lpstr>
      <vt:lpstr>【龙战法】底仓退出程序 操盘方法：总结&lt;龙丘周战法&gt;各种情况下的退出策略，汇总为底仓退出程序。</vt:lpstr>
      <vt:lpstr>PowerPoint 演示文稿</vt:lpstr>
      <vt:lpstr>【龙战法】周版战法&lt;龙冲周战法&gt; 本页主题：当处于主升时，要把主升前后衔接情况进行分类，对每种典型模式进行罗列，形成图谱。基于此图谱，针对下周“可冲”，可以适用&lt;龙冲周战法&gt;</vt:lpstr>
      <vt:lpstr>PowerPoint 演示文稿</vt:lpstr>
      <vt:lpstr>主升图谱 </vt:lpstr>
      <vt:lpstr>PowerPoint 演示文稿</vt:lpstr>
      <vt:lpstr>【基础工具】护型专页 主题：利用护型捕捉短线上升区域，增强冲高阶段的信心。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【周类操盘算法】周类以WJB作为卖线，不可早卖只能晚卖。 【算法基石思想】自由度创造盈利 精确度扼杀牛股 拆解必赢抓牛股算法，找出其中的可取之处，优化日常算法。</vt:lpstr>
      <vt:lpstr>【主升图谱】必赢战法步骤3. WXAB在WJC之上动态行进→波型状态流转图 本页内容：当处于WJC丘时，要有WXAB在WJC之上动态行进的概念。基于此概念，梳理“波型状态流转图”。</vt:lpstr>
      <vt:lpstr>【主升图谱】必赢战法步骤4.周地型&amp;周柱型 本页主题：根据&lt;周奏：渡主&gt;&lt;地型&gt;&lt;柱型&gt;&lt;反例&gt;，总结下周冲高机会的特征，应采用何种策略？并汇总notion图谱。</vt:lpstr>
      <vt:lpstr>【主升图谱】必赢战法. VBA实现→全局筛选流程+主升筛选漏斗 核心目标：将全部股票按照主升筛选漏斗进行分层筛选，得到下周冲高的备选。打通“波型状态流转图”与“下周冲高筛选流程”。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【主升图谱】&lt;地型.4暂&amp;4蛀&gt;.穿越WJA的典型模式  问题：针对穿越WJA的典型模式，汇集总结典型图谱。利用穿越WJA，辅助判断趋势的状态。</vt:lpstr>
      <vt:lpstr>【 主升图谱】陷阱汇总 本页主题：汇总主升操盘过程中的陷阱，防止踏空、失去仓位、错误加仓、该走不走。理解有容乃大的重要性。</vt:lpstr>
      <vt:lpstr>【大局观附注】以镜面对称原则.来醍醐灌顶⇒负向扩展 主题：将困扰已久的操盘疑问与思维陷阱，按照对称逻辑进行映射，检视规则设置的合理性。</vt:lpstr>
      <vt:lpstr>PowerPoint 演示文稿</vt:lpstr>
      <vt:lpstr>PowerPoint 演示文稿</vt:lpstr>
      <vt:lpstr>【主升图谱.垒升】垒升の定位方法.第4步：日类展开模式2.日漏 →日周联动图谱.典型形态 主题：总结各种日周联动的特殊形态，截图、命名、程序自动识别。</vt:lpstr>
      <vt:lpstr>【日柱择入机】日护型：以DJA丘辅助的DJB丘（DXAB护型+DJA丘） 问题：针对DJA丘，给出开始信号、结束信号、典型形态。日类要服从周类，先周后日。日类只负责止盈，周类负责止损。</vt:lpstr>
      <vt:lpstr>【日柱择入机】单独依靠日类特殊形态 日类特殊警报与机会汇总：总结各种特殊形态，截图、命名、程序自动识别。</vt:lpstr>
      <vt:lpstr>【龙展日战法】日周联动聚焦日机 在[下周冲高战法]基础上根据[日周联动]提高收益。</vt:lpstr>
      <vt:lpstr>【龙展日战法】日周联动聚焦日机的起心动念 主题：在下周冲高战法框架下，利用日周联动，制定日类筛选流程。牢记：一定要以周柱为准，先确定周柱存在上升空间，再根据日类选择介入时机。</vt:lpstr>
      <vt:lpstr>日周联动聚焦日机的整体思路 主题：在下周冲高战法框架下，利用日周联动，制定日类筛选流程。</vt:lpstr>
      <vt:lpstr>【龙展日战法】优化后的操盘方法 主题：在下周冲高战法框架下，利用日周联动，制定日类筛选流程。牢记：一定要以周柱为准，先确定周柱存在上升空间，再根据日类选择介入时机。</vt:lpstr>
      <vt:lpstr>【S2周排与日排的协调】 主题：根据日类形态，制定决策树地图。</vt:lpstr>
      <vt:lpstr>待完成：放在《周排与日排的协调》的后面 【基础设施】 日周联动的VBA指标设计 漏斗筛选流程：顺应最小阻力原理，筛选周日联动标的，甄别下周冲高概率最大的股票放入备选池。</vt:lpstr>
      <vt:lpstr>【日周联动】日连升.图谱 主题：针对日连升，给出启动图谱。并拓展为“打板”专题，将打板相关内容整合至此。</vt:lpstr>
      <vt:lpstr>【S3日柱择入机】日柱排：预谋吃第几个阳柱【日地型】 主题：预谋在何种形态介入？吃第几个阳柱？总结所有日类机会，并进行后续验证。牢记日类基本要求：周范围内；日在DJC之上；DTZA≥-2或参考WJA之上周柱。</vt:lpstr>
      <vt:lpstr>日周联动聚焦日机的操作细化路线图（按联护DXBC改造） 主题：操作细化路线图。</vt:lpstr>
      <vt:lpstr>【S3日柱择入机】算法优化链条.买卖交易决策依据 问题：梳理新的交易规则20250815。等待成熟后与原交易规则合并。在各种情况下进行买卖交易决策分类。</vt:lpstr>
      <vt:lpstr>基础工具 汇总基础工具</vt:lpstr>
      <vt:lpstr>【基础工具】WJA丘的典型运行形态 问题描述：在周范围内，按照【WXAB+WJA丘+周柱排列】进行操作。其中一个支类问题是，下破WJA如何处理？</vt:lpstr>
      <vt:lpstr>【基础工具】 柱排（包括主升过程中的柱排特征） 分类柱排：哪些代表升排？哪些代表跌排？如何利用柱排延续或扭转趋势?基于群环域的思想，但不完全封闭。</vt:lpstr>
      <vt:lpstr>【基础工具】柱排. 日类DJA之上柱排演变路径 分类柱排：在DJA之上升排介入，并查看其后续演变规律。</vt:lpstr>
      <vt:lpstr>PowerPoint 演示文稿</vt:lpstr>
      <vt:lpstr>【日周联动】“五日合周” 指导思想 日周联动核心思想：日服从周</vt:lpstr>
      <vt:lpstr>【基础工具】日类势头判断工具汇总（适用于DJB之上/可推广至所有区域） 问题：如何识别日类上升势头。对于日类，每柱评估是否失势？对于阳柱，关注是否已冲高，进行/减仓/持仓；对于阴柱，关注是否已失势，进行/清仓/持仓。</vt:lpstr>
      <vt:lpstr>PowerPoint 演示文稿</vt:lpstr>
      <vt:lpstr>【日柱优化】[均](顶,DJC)管⇒仓类指标的设计思路 核心思想：综合周类与日类持仓规则，止损按照周类，止盈按照日类。</vt:lpstr>
      <vt:lpstr>【基础工具】单条形式的卖出条件汇总 本页罗列单独形式的卖出条件。后续讨论替代的操盘策略。再对不同仓位应用不同的操盘策略，从而构成完整的操盘策略。</vt:lpstr>
      <vt:lpstr>PowerPoint 演示文稿</vt:lpstr>
      <vt:lpstr>【基础工具】WJC生命周期中的核心主题 【WJC生命周期】基于葛兰比法则，只依赖周类划定生命周期（不依赖日类划定生命周期），并据此分别研究核心主题。核心思维方式：不预测，只应对。</vt:lpstr>
      <vt:lpstr>【基础工具】DJC生命周期中的核心主题 【DJC生命周期】以DJC为操盘首要参考，在持有过程中一定要首先关注DJC丘的生命周期。核心思维方式：不预测，只应对。</vt:lpstr>
      <vt:lpstr>仓位管理</vt:lpstr>
      <vt:lpstr>PowerPoint 演示文稿</vt:lpstr>
      <vt:lpstr>PowerPoint 演示文稿</vt:lpstr>
      <vt:lpstr>思维陷阱</vt:lpstr>
      <vt:lpstr>PowerPoint 演示文稿</vt:lpstr>
      <vt:lpstr>思维陷阱总结：人性 汇总思维陷阱并制定应对策略</vt:lpstr>
      <vt:lpstr>思维陷阱总结：人性 汇总思维陷阱并制定应对策略</vt:lpstr>
      <vt:lpstr>思维陷阱总结：持仓 汇总思维陷阱并制定应对策略</vt:lpstr>
      <vt:lpstr>知名交易思想 汇总思维陷阱并制定应对策略</vt:lpstr>
      <vt:lpstr>全部算法总览</vt:lpstr>
      <vt:lpstr>【算法基石】算法优化路线图 研究算法优化的路线图，并时时刻刻以这些原理为指导原则，不要被细节勾引偏离主线。</vt:lpstr>
      <vt:lpstr>【算法基石】单条形式的操盘策略（待与日类操盘方法合并） 研究设计算法的基石原理，并时时刻刻以这些原理为指导原则，不要被细节勾引偏离主线。</vt:lpstr>
      <vt:lpstr>【算法基石】仓位管理专页（待与日类操盘方法合并） 在单条形式的操盘策略基础上，增加汇总仓位管理方法，并研究仓位管理方法的演变路径与特殊情况</vt:lpstr>
      <vt:lpstr>PowerPoint 演示文稿</vt:lpstr>
      <vt:lpstr>操盘方法汇总与统一 待完成任务：总结跨周期操盘方法，统一合并形成筛选与操盘SOP，不要同时存在多种操盘方法。 核心思路：选定周范围，按周进入与止损， 按日确定进入时点，按日止盈。要把日线当作周线辅助工具，而不要把日线当作操作依据，白线帮周线，日线说了不算。</vt:lpstr>
      <vt:lpstr>【全局】操盘方法梳理与统一 问题：各种操盘方法单独运行良好，但相互之间会有冲突⇒须仿照右手法则走出迷宫，先罗列各种方法，以及可能的冲突，确定单一操盘方法或最有效的操盘方法。</vt:lpstr>
      <vt:lpstr>周级必赢算法 优化至WJB丘为止</vt:lpstr>
      <vt:lpstr>周层优化路径 主要目标是圈定【可操作区域】与【主升区域】</vt:lpstr>
      <vt:lpstr>周层界：圈定操作范围&amp;圈定主升区域 作用：1.确定趋势的始终特征；2.在升趋势中进一步细分主升阶段。</vt:lpstr>
      <vt:lpstr>周层【警机矩阵】 针对各种条件给出判定条件与应对策略，分别总结：虚拟仓位、是否止盈、是否机、期望柱排、是否止损。</vt:lpstr>
      <vt:lpstr>周类持仓决策图 周类持仓判定条件与应对策略</vt:lpstr>
      <vt:lpstr>【周类】阶段划分与盈利模式 操盘方法：要解决层段各情况的盈利来源与注意要点。周线级别区分得势与失势；其中得势在日线级别再区分攻势与防势。</vt:lpstr>
      <vt:lpstr>原算法存档202410：【周类策略概览】 以 WJC丘为根本，分析亏损来源与应对策略的得失。在真正操盘过程中，开始不知丘大小，只能摸着石头过河。要按照持有标准进行判定，被动演化为大丘或止损退出。</vt:lpstr>
      <vt:lpstr>周类策略进化路线202512 核心是寻找WJC最大偏离位置原旨教义：WTZC&gt;0是大涨必要条件(通过观察全局周线图得出) 优化本质：低阶均线是否能够决定高阶均线仓位的存在 (抓上升段，避下跌段)</vt:lpstr>
      <vt:lpstr>日丘优化 本章主题：能否用日丘优化DJE&amp;DJC替代WJB作为止损线？ 结论是日丘优化仅限于理论推导，不具有实操性；日类只能用于确定介入点。 主要讨论以下问题： （1）替待的可行性：是否具有WJB丘必赢的效果。 （2）替代的完整性：确保如何不踏空，从而吃到所有涨幅。 （3）替代的优越性：只有在周主升与日主升共振时，才可能参考DJC或DJB止损。 （4）镜面对称原则：在下跌趋势中，不能依赖日级别均线判定转升。 </vt:lpstr>
      <vt:lpstr>【日丘优化】思路：如何利用【可获利升势区域DJB】设计算法优化路径？ 核心思想：在原旨必赢算法基础上，逐渐优化算法，使得收益增加而非减少。</vt:lpstr>
      <vt:lpstr>【日丘优化】算法优化路径与辅助工具 算法优化路径：DJE丘⇒DJE&amp;DJC丘⇒DJE&amp;DJC&amp;DJB丘⇒日柱优化 算法辅助工具：DXCD护型、DXAB护型</vt:lpstr>
      <vt:lpstr>【日丘优化】算法优化的替代完整性 核心思想：先利用周线判断出现大趋势，并筛选操作池，再利用日类替代进行精细化操作，确保替代完整性（不要针对日类另起炉灶）。</vt:lpstr>
      <vt:lpstr>PowerPoint 演示文稿</vt:lpstr>
      <vt:lpstr>【日丘优化】算法优化链条的注意事项@20250915 问题：梳理新的交易规则20250815。等待成熟后与原交易规则合并。</vt:lpstr>
      <vt:lpstr>【日丘优化】比较算法：DJE丘【DJE&amp;DJC】与【DJE&amp;DJC&amp;DJB丘】 核心原则：优先关注DJC丘周期，谨慎对待/DXZB劫/DXAB劫/DXAC劫。 仓位原则：触顶代表应有恒仓，但不宜重仓。</vt:lpstr>
      <vt:lpstr>【日丘优化】日类操盘方法总页 核心思想：先利用周线理清可操作范围与趋势阶段，再利用更精细的日类进行操作（不要针对日类另起炉灶）。日类操盘方法要吸取游击战作战方法。</vt:lpstr>
      <vt:lpstr>原算法存档202410：【日类策略概览】 基本原则：日线只用于上冲触顶止盈，其余非触顶情况依赖周线，按周而非按日止损。</vt:lpstr>
      <vt:lpstr>【日类操盘】《稳升状态操作法》 主题：利用【稳升状态】进行操作。以往是单纯讨论均线，本方法是以动态主升形成的状态来设计操盘方法，引入了动力概念。</vt:lpstr>
      <vt:lpstr>废弃内容 等待日后整理或删除</vt:lpstr>
      <vt:lpstr>专页：打通任督二脉  WJA是运行中枢 主题：理清阴阳转化过程。两柱以上确认均线，WXZA=-1/1都属于震荡。</vt:lpstr>
      <vt:lpstr>【原旨思考】周类上升的必要条件与充分条件 本页主题：分析现有亏损的来源</vt:lpstr>
      <vt:lpstr>【下周冲高战法】战法具体内容（旧战法.截止202512） 操盘方法：下周冲高战法的周版算法与日版算法对比，其中周版算法是原旨。日类只负责止盈，周类负责止损。</vt:lpstr>
      <vt:lpstr>【废弃指标】【日柱优化】 DJA柱均关系：须配合DXAB护型使用 操盘方法：要解决提前清仓、错过顶点、太晚止损的难题。在DJE&amp;DJC之上只能选取【攻】片段，不要去看【防】（在DJC之上无意义）。</vt:lpstr>
      <vt:lpstr>PowerPoint 演示文稿</vt:lpstr>
      <vt:lpstr>PowerPoint 演示文稿</vt:lpstr>
      <vt:lpstr>PowerPoint 演示文稿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Shark Yang</dc:creator>
  <cp:lastModifiedBy>Shark Yang</cp:lastModifiedBy>
  <cp:revision>1216</cp:revision>
  <cp:lastPrinted>2026-05-22T11:50:10Z</cp:lastPrinted>
  <dcterms:created xsi:type="dcterms:W3CDTF">2018-01-04T05:49:38Z</dcterms:created>
  <dcterms:modified xsi:type="dcterms:W3CDTF">2026-07-20T01:27:36Z</dcterms:modified>
</cp:coreProperties>
</file>