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01" r:id="rId2"/>
    <p:sldId id="284" r:id="rId3"/>
    <p:sldId id="358" r:id="rId4"/>
    <p:sldId id="450" r:id="rId5"/>
    <p:sldId id="441" r:id="rId6"/>
    <p:sldId id="494" r:id="rId7"/>
    <p:sldId id="481" r:id="rId8"/>
    <p:sldId id="500" r:id="rId9"/>
    <p:sldId id="35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14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3C0A5-D19A-433A-B544-FCF95BC3FD01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403D0-D31A-4C75-9369-F3F658CE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200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C3B1-FCB2-5082-2614-15D829EB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19A63A-489F-DEA1-36FF-AD7197051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9738" y="1252538"/>
            <a:ext cx="6008687" cy="33813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9BC2C0-EB24-0990-16E9-346B49681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CA4DEF-7CAA-0129-5078-ACD1353E5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A6E84-D9E0-4A19-9985-F3FD80E31C3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532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9738" y="1252538"/>
            <a:ext cx="6008687" cy="33813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A6E84-D9E0-4A19-9985-F3FD80E31C3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6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80F55-BE32-2C32-A9EC-072DC764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AE0695-8B54-181D-DFB1-2ACE5CD6A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9738" y="1252538"/>
            <a:ext cx="6008687" cy="33813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C9048C-EF99-5833-5E06-B2AA57635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1133B-8E4C-B5C9-FFF6-0411C178F0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A6E84-D9E0-4A19-9985-F3FD80E31C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061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FEDF-F4F8-83BF-0686-684E40608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3DCE82-CFAE-070F-1651-A1944594F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9738" y="1252538"/>
            <a:ext cx="6008687" cy="33813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352424-8A56-8263-0CEC-34F130262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81D1B5-504A-CD3F-FC91-B83ED845F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A6E84-D9E0-4A19-9985-F3FD80E31C3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948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ADFF-E421-546F-F51A-897F0787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5EE47F-B8A7-7E4E-118F-D460A39EE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9738" y="1252538"/>
            <a:ext cx="6008687" cy="33813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980BDD-95A4-C795-A8DD-5E6BCA3DA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描述柱排的运用模式。</a:t>
            </a:r>
            <a:endParaRPr lang="en-US" altLang="zh-CN" sz="9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原有柱排的运动模式为：上下运动、左右运动。虽然上下运动可以用来描述叠垒式柱排，但并不准确，应当弃用这种描述运动模式的方法。</a:t>
            </a: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区分叠垒式升排：叠垒式升排要求柱排重叠区域越小越好，可以包含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升连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跌孕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升吞，也可包括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跌吞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跌连后的修复。但需要剔除由十字星、矮阳柱组成的叠垒式升排。</a:t>
            </a: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最有价值的机会：首个连阳柱。</a:t>
            </a: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待完成：计算持续时间作为指标：连阳、叠垒升排。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待完成：遍历验证，是否在（光头大阳柱，但下柱未冲高就跳空下跌）</a:t>
            </a:r>
            <a:endParaRPr lang="en-US" altLang="zh-CN" sz="9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712591-38BC-C284-817E-DF03A674A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A6E84-D9E0-4A19-9985-F3FD80E31C3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492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59DD0-7BD1-08C3-AE85-1DB83396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379626-907F-AAAD-5B09-5FA97A1B4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9738" y="1252538"/>
            <a:ext cx="6008687" cy="33813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20A05D-112D-5B02-96D5-DF0F2BC08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5CBDBE-484D-266B-EE0D-EDF693DCA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A6E84-D9E0-4A19-9985-F3FD80E31C3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317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DD0A-25B5-807E-CF4C-4574BB41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609135-6B6B-8DB3-1091-EA8C62366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9738" y="1252538"/>
            <a:ext cx="6008687" cy="33813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2632B8-B5CA-5C38-91AD-C8768E80C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C0D2EB-4DF0-7277-4C0A-E3D3DA27A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A6E84-D9E0-4A19-9985-F3FD80E31C3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472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BE00E-2CF5-AF43-C791-3A29E6321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6725CE-BD3F-6BE2-35AB-CB1486825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9738" y="1252538"/>
            <a:ext cx="6008687" cy="33813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B3B6EA-2BB4-F30A-82B7-A0B43A066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AF1531-8FBF-6433-37E1-522F0BA09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A6E84-D9E0-4A19-9985-F3FD80E31C3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00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6EFD-E632-83BD-0F4D-432DC2309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C5A9E1-1BCE-CF16-7978-0DB2F03FD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9738" y="1252538"/>
            <a:ext cx="6008687" cy="33813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6C1E69-2EFF-A04A-55DA-992384FD4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周级别风险提示点：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WJA</a:t>
            </a:r>
            <a:r>
              <a:rPr lang="zh-CN" altLang="en-US" dirty="0"/>
              <a:t>之上：</a:t>
            </a:r>
            <a:r>
              <a:rPr lang="en-US" altLang="zh-CN" dirty="0"/>
              <a:t>w2c</a:t>
            </a:r>
            <a:r>
              <a:rPr lang="zh-CN" altLang="en-US" dirty="0"/>
              <a:t>首上破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WJA</a:t>
            </a:r>
            <a:r>
              <a:rPr lang="zh-CN" altLang="en-US" dirty="0"/>
              <a:t>之上：</a:t>
            </a:r>
            <a:r>
              <a:rPr lang="en-US" altLang="zh-CN" dirty="0"/>
              <a:t>w2d</a:t>
            </a:r>
            <a:r>
              <a:rPr lang="zh-CN" altLang="en-US" dirty="0"/>
              <a:t>阴柱价下破</a:t>
            </a:r>
            <a:r>
              <a:rPr lang="en-US" altLang="zh-CN" dirty="0"/>
              <a:t>WJA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WJA</a:t>
            </a:r>
            <a:r>
              <a:rPr lang="zh-CN" altLang="en-US" dirty="0"/>
              <a:t>之下：</a:t>
            </a:r>
            <a:r>
              <a:rPr lang="en-US" altLang="zh-CN" dirty="0"/>
              <a:t>w2e</a:t>
            </a:r>
            <a:r>
              <a:rPr lang="zh-CN" altLang="en-US" dirty="0"/>
              <a:t>首下破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WJA</a:t>
            </a:r>
            <a:r>
              <a:rPr lang="zh-CN" altLang="en-US" dirty="0"/>
              <a:t>之下：</a:t>
            </a:r>
            <a:r>
              <a:rPr lang="en-US" altLang="zh-CN" dirty="0"/>
              <a:t>w2e</a:t>
            </a:r>
            <a:r>
              <a:rPr lang="zh-CN" altLang="en-US" dirty="0"/>
              <a:t>多柱下破（不要关注柱排非跌排，要等待站上</a:t>
            </a:r>
            <a:r>
              <a:rPr lang="en-US" altLang="zh-CN" dirty="0"/>
              <a:t>WJA</a:t>
            </a:r>
            <a:r>
              <a:rPr lang="zh-CN" altLang="en-US" dirty="0"/>
              <a:t>后再介入）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WJB</a:t>
            </a:r>
            <a:r>
              <a:rPr lang="zh-CN" altLang="en-US" dirty="0"/>
              <a:t>之下：下破</a:t>
            </a:r>
            <a:r>
              <a:rPr lang="en-US" altLang="zh-CN" dirty="0"/>
              <a:t>WJB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WJC</a:t>
            </a:r>
            <a:r>
              <a:rPr lang="zh-CN" altLang="en-US" dirty="0"/>
              <a:t>之下：强制清仓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844684-9536-244E-84A6-8D6B351E09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A6E84-D9E0-4A19-9985-F3FD80E31C3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573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FD7C0-B11A-3FC3-9E8B-411B1B724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C0E3D8-6078-23EC-DD51-058BD33DC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7E266E-E770-4131-62BA-A5CDD5B2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5177B-1B7F-3FAE-C343-1076B227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886AD2-5608-D310-1C3F-F8A7CC1D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98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F77A5-11C1-C535-B720-BBA37557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E0A931-2644-158B-8F40-2F8984E8A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271BF9-17C3-40FD-6CBD-9F6EBC913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A721E-B706-72CC-D9E8-4F107B80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0CE7CE-81C6-781C-3854-93E958D8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0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563D4-0B53-0D71-B5AA-8A0CD49D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CC0A78-9ED0-3CC7-B56E-61B0D02E9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955DFC-FEFC-C72A-DD6F-7D2CC2AA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93BD9-3D24-D694-76FD-C22B2286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4F5AFB-CDDD-52C9-883E-ED34B2C6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98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54205-1EB8-F263-622F-9178BA75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09C841-F519-4308-888D-3B9F6BD99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A23B6B-0401-DEA4-D876-8D2B92AC8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CF075F-70AB-E332-AD31-A4702BAF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74EF3E-D094-2EEA-C4FD-DF2E03D82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78EEB4-D737-E247-C1E7-B9CE7DF77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0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8B331-5A86-AFEE-F37B-A35641A81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8B1323-3E45-6397-9AEC-6C6CCB34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BEFD4C-45A2-1FD2-9979-AB63BCB22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CDAFEF-0733-B389-7ED4-20462A7AF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4C4040-DB26-F48B-9C0A-10236381B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383631-DFB8-D7E0-861A-47E82E81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D58753-A0EF-D8C4-27E4-1A13D9CE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C98EE9-E4BB-B1D5-E90E-A4EEF23A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25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1B408-8CC1-9FA7-BD81-6DEA226A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326E0F-1E74-E4EF-B7FD-31E94EC1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E8DC95-608D-BB02-5F3E-C1DABE80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337FAA-6BF9-104F-35CD-2039AA3D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617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D512CA-8A24-D70E-CC44-30B7B204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39D6A8-7CCB-632A-1641-8B1F9406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39CBF6-998C-4A45-9266-1C5439C7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89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1DC8A-2810-ECA5-20DA-C4F856D69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1A9C42-BA6C-7C0D-EC27-7921DDA83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D07D88-F3E1-29C9-5898-14CD2993F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93A403-3D83-EEEC-FD78-56C1AD23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A28C5E-68C2-104F-363B-638C8BE2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5F29EB-FEFD-5AD5-884E-A60CB229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38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0F2EF-EA0D-C4BA-FB41-1332666E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64E77F-145B-7AF8-D5AC-EC37576F2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3C70D5-09BE-07C6-9CA5-C52C54E05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D3CAB0-A5E2-344A-9768-D46BA2CF2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C17BF3-F327-3969-8350-3EDED85A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F611C1-7CDE-67FF-6449-D71D08AA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83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6A663-0592-DFB6-7D2D-F0912B9E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4EF3C1-286F-CB24-39F2-DD08F460A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629BBB-BE40-0165-E1E4-A745E12A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CB99D1-3A1A-F70E-CE50-6C87AA3A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4D3064-880D-4345-B2B9-9AF3693E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35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71E70C-03CA-B2A7-020E-8E2E21AC03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93A52C-F78C-B1F0-6BDD-D14F6CB27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3BBB9-44EF-2B16-2C7B-C2A7712D7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F8842B-8C3E-6CF2-45EF-0833BA3E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EFA904-F448-445B-6F80-46A3F6BC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21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D90DF5-A801-CAED-117C-D5382EEC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2EFB2F-2810-25F7-4AA2-6C72531BD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96D801-A334-63F6-B84E-2A959D073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243EE-726B-4888-AD45-80210AC8D30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5E831-325C-585B-DB5D-7C122D1B1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1A8469-CD7E-7050-6D6B-34D1FFA84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468EB-6103-42CD-AF1B-783C1DFC6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39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2331-440B-EDDD-E2B6-8F20C54C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51CED-7965-7884-BD44-EDB1E38AE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0000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基础理论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思维法宝</a:t>
            </a:r>
            <a:b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优化本质：在遵守基本数学规律的基础上，进行变通，提高收益。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5810AB2-C1AC-64E9-0CF2-B0626CB3736E}"/>
              </a:ext>
            </a:extLst>
          </p:cNvPr>
          <p:cNvGraphicFramePr>
            <a:graphicFrameLocks noGrp="1"/>
          </p:cNvGraphicFramePr>
          <p:nvPr/>
        </p:nvGraphicFramePr>
        <p:xfrm>
          <a:off x="0" y="720001"/>
          <a:ext cx="12192000" cy="470916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064029">
                  <a:extLst>
                    <a:ext uri="{9D8B030D-6E8A-4147-A177-3AD203B41FA5}">
                      <a16:colId xmlns:a16="http://schemas.microsoft.com/office/drawing/2014/main" val="1239727620"/>
                    </a:ext>
                  </a:extLst>
                </a:gridCol>
                <a:gridCol w="11127971">
                  <a:extLst>
                    <a:ext uri="{9D8B030D-6E8A-4147-A177-3AD203B41FA5}">
                      <a16:colId xmlns:a16="http://schemas.microsoft.com/office/drawing/2014/main" val="1170060104"/>
                    </a:ext>
                  </a:extLst>
                </a:gridCol>
              </a:tblGrid>
              <a:tr h="125891"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思维法宝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96981"/>
                  </a:ext>
                </a:extLst>
              </a:tr>
              <a:tr h="386065">
                <a:tc rowSpan="2">
                  <a:txBody>
                    <a:bodyPr/>
                    <a:lstStyle/>
                    <a:p>
                      <a:r>
                        <a:rPr lang="zh-CN" altLang="en-US" sz="9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思维法宝：</a:t>
                      </a:r>
                      <a:endParaRPr lang="en-US" altLang="zh-CN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坐公交理论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原旨：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只要路线正确，中途即使存在与目标方向不同的路径（逆向、停顿、平行等），只要保证该路径经过目的地，就可以安心乘坐，并在目的地附近下车。</a:t>
                      </a:r>
                      <a:endParaRPr lang="en-US" altLang="zh-CN" sz="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理念：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要顺从大势（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决定），有容乃大（容忍适当级别的劫）。</a:t>
                      </a:r>
                      <a:endParaRPr lang="en-US" altLang="zh-CN" sz="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知天命</a:t>
                      </a:r>
                      <a:r>
                        <a:rPr lang="en-US" altLang="zh-CN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  <a:r>
                        <a:rPr lang="zh-CN" altLang="en-US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要保证一定经过最高点：</a:t>
                      </a:r>
                      <a:r>
                        <a:rPr lang="zh-CN" altLang="en-US" sz="8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纵观单个股票的全时间段，所有主要上升都被包含在</a:t>
                      </a:r>
                      <a:r>
                        <a:rPr lang="en-US" altLang="zh-CN" sz="8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WJC&amp;WJB</a:t>
                      </a:r>
                      <a:r>
                        <a:rPr lang="zh-CN" altLang="en-US" sz="8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之上。保守稳赢做法是，在其上不放弃任何仓位，任由其波动。</a:t>
                      </a:r>
                      <a:endParaRPr lang="en-US" altLang="zh-CN" sz="8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 defTabSz="91440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一定要保证经过最高点：要保证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之上持有（不代表下破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后须退出）；要保证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之上持有（不代表下破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后须退出）；要保证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之上持有（不代表下破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后须退出）。</a:t>
                      </a:r>
                      <a:endParaRPr lang="en-US" altLang="zh-CN" sz="8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尽人事</a:t>
                      </a:r>
                      <a:r>
                        <a:rPr lang="en-US" altLang="zh-CN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  <a:r>
                        <a:rPr lang="zh-CN" altLang="en-US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应争取在最高点附近下车：</a:t>
                      </a:r>
                      <a:r>
                        <a:rPr lang="zh-CN" altLang="en-US" sz="8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当处于上升趋势中，不是单边快速上冲，而是沿东北方向某角度反复波动上升。所以，原则上以</a:t>
                      </a:r>
                      <a:r>
                        <a:rPr lang="en-US" altLang="zh-CN" sz="8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作为止损线，要包容低级别均线。</a:t>
                      </a:r>
                      <a:endParaRPr lang="zh-CN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982296"/>
                  </a:ext>
                </a:extLst>
              </a:tr>
              <a:tr h="453207">
                <a:tc vMerge="1">
                  <a:txBody>
                    <a:bodyPr/>
                    <a:lstStyle/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应用坐公交理论，将持股作为乘坐公交车：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要确定入点：作为可上车的站点，而不应总在中途强行介入。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要确定出点：不应总是跳车而出。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类比理论：将以均线为丘，作为进出口。类比于，将持股作为进出一个房间：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若在突破均线后的中途介入，相当于破墙而入。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若在均线之上因为其他条件退出，相当于破墙而出。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02709"/>
                  </a:ext>
                </a:extLst>
              </a:tr>
              <a:tr h="654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思维法宝：</a:t>
                      </a:r>
                      <a:endParaRPr lang="en-US" altLang="zh-CN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舍的功效</a:t>
                      </a: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①舍我：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应对持仓成本陷阱。不要以自身仓位为准，而要以市场均线为准。无我，要放弃自我，以市场操盘方式运作。</a:t>
                      </a:r>
                    </a:p>
                    <a:p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②应对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A5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管止损陷阱执念：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为何在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A5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管总是要等待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(WTZA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久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五柱三阴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破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WJA)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再卖出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 ⇒ 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因为总想要卖在最高点且在最高点不止盈⇒要通过</a:t>
                      </a:r>
                      <a:r>
                        <a:rPr lang="zh-CN" altLang="en-US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舍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最高来</a:t>
                      </a:r>
                      <a:r>
                        <a:rPr lang="zh-CN" altLang="en-US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收益⇒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遇顶型（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龙）要卖（触顶时或触顶后）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：遇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升连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巨宽龙要卖</a:t>
                      </a:r>
                    </a:p>
                    <a:p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③为何叭宽太大可以减仓一部分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因为如果仅按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减仓，那么当叭宽太大时，须回吐整个叭宽的收益，导致回撤太多。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另一方面，走势可能不会回调，而是继续暴涨，所以可以保留一部分仓位。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结论：对冲高情况，仓位必一分为二，左侧触顶退出一部分，破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清仓了结。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1892"/>
                  </a:ext>
                </a:extLst>
              </a:tr>
              <a:tr h="721774"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思维法宝：</a:t>
                      </a:r>
                      <a:endParaRPr lang="en-US" altLang="zh-CN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低吸高抛的功效</a:t>
                      </a: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应对思维陷阱：对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A5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总是进入的太迟，但要等到下破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甚至更低才退出。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错误在于：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为丘，如果能精确进出是必胜策略，而错误在于，在实际操作中单柱会贯穿均线，无法精确退出。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正确作法：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不以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为权重线，放弃失败战法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强制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A5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Ae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，而是根据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精确下入上出。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将出点提高：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出⇒触顶后根据回撤退出⇒触顶时在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升连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巨宽龙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退出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将入点降低：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入⇒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W2e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入⇒根据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进入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正确买入方式：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入，冲高卖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之上阴买高卖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要确定买入后会远离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WJC)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A5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中途买，冲高卖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注意成本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148214"/>
                  </a:ext>
                </a:extLst>
              </a:tr>
              <a:tr h="367428"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思维法宝：</a:t>
                      </a:r>
                      <a:endParaRPr lang="en-US" altLang="zh-CN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单向二戒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在一个位置只能选择做多或做空一个方向，不能盈利实现后就立刻反向操作，这样将铸成大祸。需要贯彻二戒：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一戒（基础版）：在方向判断正确，且盈利退出后，不要因偏离过大或参考低阶波动，而立刻反向操作。必须戒断。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二戒（进阶版）：单向判断正确后，过早退出。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53253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541BB1B-B0E5-FC57-B943-CB5675616FEE}"/>
              </a:ext>
            </a:extLst>
          </p:cNvPr>
          <p:cNvSpPr/>
          <p:nvPr/>
        </p:nvSpPr>
        <p:spPr>
          <a:xfrm>
            <a:off x="0" y="5678905"/>
            <a:ext cx="6096000" cy="117909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持股三要素：</a:t>
            </a:r>
            <a:r>
              <a:rPr lang="en-US" altLang="zh-CN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邻居大爷</a:t>
            </a:r>
            <a:endParaRPr lang="en-US" altLang="zh-CN" sz="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看逻辑有没有结束？</a:t>
            </a:r>
            <a:endParaRPr lang="en-US" altLang="zh-CN" sz="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是否有持续的政策与市场关注度？是否有反复的刺激？</a:t>
            </a:r>
            <a:endParaRPr lang="en-US" altLang="zh-CN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是否缩量下跌？</a:t>
            </a:r>
            <a:endParaRPr lang="en-US" altLang="zh-CN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看趋势线有没有结束？</a:t>
            </a:r>
            <a:endParaRPr lang="en-US" altLang="zh-CN" sz="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单一趋势用</a:t>
            </a:r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DJB</a:t>
            </a: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做风控。放量下破就离场；缩量下破看三天内能够收回来。</a:t>
            </a:r>
            <a:endParaRPr lang="en-US" altLang="zh-CN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看主力有没有出货？</a:t>
            </a:r>
            <a:endParaRPr lang="en-US" altLang="zh-CN" sz="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股价在高位，是否出现放量的阳柱或阴柱？</a:t>
            </a:r>
            <a:endParaRPr lang="en-US" altLang="zh-CN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如果之前是缩量上涨或温和量上涨，突然大放量，代表集中筹码交换。如果后续出现下跌，则可以考虑离场。</a:t>
            </a:r>
            <a:endParaRPr lang="en-US" altLang="zh-CN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1651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0000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90000"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原旨思考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亏损来源与应对策略</a:t>
            </a:r>
            <a:b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本页主题：以 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丘为根本，分析亏损来源与应对策略的得失。在真正操盘过程中，开始不知丘大小，只能摸着石头过河。要按照持有标准进行判定，被动演化为大丘或止损退出。</a:t>
            </a:r>
            <a:b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分析思路是：亏损来源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⇒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应对策略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⇒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操盘方法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20000"/>
            <a:ext cx="12192000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丘分析收益来源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根据精确进出必赢，收益来源分为两部分：一部分是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增幅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通过精准进出保证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；一部分是偏增幅。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充分利用偏增幅提高收益，优化步骤包括：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①保证遍历从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到丘最高点的整个过程；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②绝对优化：取上升段，舍下降段。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③效率优化：从上升段中，舍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缓慢上升段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震荡上升段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](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多出现在顶部确认阶段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错误操作导致亏损：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应对措施是在中途只出不入。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错误判断是机会导致错误操作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：应卖出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止盈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⇒ 持有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不知足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⇒ 加仓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追高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		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/3h/2I/2e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触顶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错误判断是风险导致错误操作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：应买入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捡漏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⇒ 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观望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不勇敢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⇒ 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卖出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杀跌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		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破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JDC/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破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DJB/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跌连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跌吞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DD0232D-084C-980D-63C4-EAD65548AA6A}"/>
              </a:ext>
            </a:extLst>
          </p:cNvPr>
          <p:cNvGrpSpPr/>
          <p:nvPr/>
        </p:nvGrpSpPr>
        <p:grpSpPr>
          <a:xfrm>
            <a:off x="9653784" y="4125316"/>
            <a:ext cx="1757166" cy="746841"/>
            <a:chOff x="9653784" y="4039591"/>
            <a:chExt cx="1757166" cy="74684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DD1A2A0-7601-F8D9-AE49-05BEABEA10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3784" y="4072307"/>
              <a:ext cx="1757166" cy="3568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021519A1-5199-4AAD-4E54-BB7AE5B1DA47}"/>
                </a:ext>
              </a:extLst>
            </p:cNvPr>
            <p:cNvSpPr/>
            <p:nvPr/>
          </p:nvSpPr>
          <p:spPr>
            <a:xfrm>
              <a:off x="9795192" y="4321956"/>
              <a:ext cx="1494971" cy="464476"/>
            </a:xfrm>
            <a:custGeom>
              <a:avLst/>
              <a:gdLst>
                <a:gd name="connsiteX0" fmla="*/ 0 w 1494971"/>
                <a:gd name="connsiteY0" fmla="*/ 449962 h 464476"/>
                <a:gd name="connsiteX1" fmla="*/ 595086 w 1494971"/>
                <a:gd name="connsiteY1" fmla="*/ 19 h 464476"/>
                <a:gd name="connsiteX2" fmla="*/ 1494971 w 1494971"/>
                <a:gd name="connsiteY2" fmla="*/ 464476 h 464476"/>
                <a:gd name="connsiteX3" fmla="*/ 1494971 w 1494971"/>
                <a:gd name="connsiteY3" fmla="*/ 464476 h 46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4971" h="464476">
                  <a:moveTo>
                    <a:pt x="0" y="449962"/>
                  </a:moveTo>
                  <a:cubicBezTo>
                    <a:pt x="172962" y="223781"/>
                    <a:pt x="345924" y="-2400"/>
                    <a:pt x="595086" y="19"/>
                  </a:cubicBezTo>
                  <a:cubicBezTo>
                    <a:pt x="844248" y="2438"/>
                    <a:pt x="1494971" y="464476"/>
                    <a:pt x="1494971" y="464476"/>
                  </a:cubicBezTo>
                  <a:lnTo>
                    <a:pt x="1494971" y="464476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1AC0BC9E-6B18-69E5-9370-5CAF95C6E39F}"/>
                </a:ext>
              </a:extLst>
            </p:cNvPr>
            <p:cNvSpPr/>
            <p:nvPr/>
          </p:nvSpPr>
          <p:spPr>
            <a:xfrm>
              <a:off x="9795191" y="4039591"/>
              <a:ext cx="1494971" cy="464476"/>
            </a:xfrm>
            <a:custGeom>
              <a:avLst/>
              <a:gdLst>
                <a:gd name="connsiteX0" fmla="*/ 0 w 1494971"/>
                <a:gd name="connsiteY0" fmla="*/ 449962 h 464476"/>
                <a:gd name="connsiteX1" fmla="*/ 595086 w 1494971"/>
                <a:gd name="connsiteY1" fmla="*/ 19 h 464476"/>
                <a:gd name="connsiteX2" fmla="*/ 1494971 w 1494971"/>
                <a:gd name="connsiteY2" fmla="*/ 464476 h 464476"/>
                <a:gd name="connsiteX3" fmla="*/ 1494971 w 1494971"/>
                <a:gd name="connsiteY3" fmla="*/ 464476 h 46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4971" h="464476">
                  <a:moveTo>
                    <a:pt x="0" y="449962"/>
                  </a:moveTo>
                  <a:cubicBezTo>
                    <a:pt x="172962" y="223781"/>
                    <a:pt x="345924" y="-2400"/>
                    <a:pt x="595086" y="19"/>
                  </a:cubicBezTo>
                  <a:cubicBezTo>
                    <a:pt x="844248" y="2438"/>
                    <a:pt x="1494971" y="464476"/>
                    <a:pt x="1494971" y="464476"/>
                  </a:cubicBezTo>
                  <a:lnTo>
                    <a:pt x="1494971" y="464476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7728F66-FF44-0A27-1B19-6FBB9B2AC784}"/>
              </a:ext>
            </a:extLst>
          </p:cNvPr>
          <p:cNvGrpSpPr/>
          <p:nvPr/>
        </p:nvGrpSpPr>
        <p:grpSpPr>
          <a:xfrm>
            <a:off x="8705006" y="5374241"/>
            <a:ext cx="3424891" cy="1355776"/>
            <a:chOff x="8819306" y="3837783"/>
            <a:chExt cx="3424891" cy="1355776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ACE5448-FC7A-BCB0-DB28-303766C6D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1191" y="4816187"/>
              <a:ext cx="2902857" cy="1596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5ADB4A3A-E1F3-9954-E71D-E713773700DB}"/>
                </a:ext>
              </a:extLst>
            </p:cNvPr>
            <p:cNvSpPr/>
            <p:nvPr/>
          </p:nvSpPr>
          <p:spPr>
            <a:xfrm>
              <a:off x="9121191" y="4066087"/>
              <a:ext cx="3007250" cy="1127472"/>
            </a:xfrm>
            <a:custGeom>
              <a:avLst/>
              <a:gdLst>
                <a:gd name="connsiteX0" fmla="*/ 0 w 3007250"/>
                <a:gd name="connsiteY0" fmla="*/ 1127472 h 1127472"/>
                <a:gd name="connsiteX1" fmla="*/ 856343 w 3007250"/>
                <a:gd name="connsiteY1" fmla="*/ 9872 h 1127472"/>
                <a:gd name="connsiteX2" fmla="*/ 1611086 w 3007250"/>
                <a:gd name="connsiteY2" fmla="*/ 561415 h 1127472"/>
                <a:gd name="connsiteX3" fmla="*/ 2177143 w 3007250"/>
                <a:gd name="connsiteY3" fmla="*/ 213072 h 1127472"/>
                <a:gd name="connsiteX4" fmla="*/ 2496457 w 3007250"/>
                <a:gd name="connsiteY4" fmla="*/ 503357 h 1127472"/>
                <a:gd name="connsiteX5" fmla="*/ 2699657 w 3007250"/>
                <a:gd name="connsiteY5" fmla="*/ 358215 h 1127472"/>
                <a:gd name="connsiteX6" fmla="*/ 2975429 w 3007250"/>
                <a:gd name="connsiteY6" fmla="*/ 982329 h 1127472"/>
                <a:gd name="connsiteX7" fmla="*/ 3004457 w 3007250"/>
                <a:gd name="connsiteY7" fmla="*/ 1054900 h 1127472"/>
                <a:gd name="connsiteX8" fmla="*/ 3004457 w 3007250"/>
                <a:gd name="connsiteY8" fmla="*/ 1011357 h 1127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07250" h="1127472">
                  <a:moveTo>
                    <a:pt x="0" y="1127472"/>
                  </a:moveTo>
                  <a:cubicBezTo>
                    <a:pt x="293914" y="615843"/>
                    <a:pt x="587829" y="104215"/>
                    <a:pt x="856343" y="9872"/>
                  </a:cubicBezTo>
                  <a:cubicBezTo>
                    <a:pt x="1124857" y="-84471"/>
                    <a:pt x="1390953" y="527548"/>
                    <a:pt x="1611086" y="561415"/>
                  </a:cubicBezTo>
                  <a:cubicBezTo>
                    <a:pt x="1831219" y="595282"/>
                    <a:pt x="2029581" y="222748"/>
                    <a:pt x="2177143" y="213072"/>
                  </a:cubicBezTo>
                  <a:cubicBezTo>
                    <a:pt x="2324705" y="203396"/>
                    <a:pt x="2409371" y="479166"/>
                    <a:pt x="2496457" y="503357"/>
                  </a:cubicBezTo>
                  <a:cubicBezTo>
                    <a:pt x="2583543" y="527547"/>
                    <a:pt x="2619828" y="278386"/>
                    <a:pt x="2699657" y="358215"/>
                  </a:cubicBezTo>
                  <a:cubicBezTo>
                    <a:pt x="2779486" y="438044"/>
                    <a:pt x="2924629" y="866215"/>
                    <a:pt x="2975429" y="982329"/>
                  </a:cubicBezTo>
                  <a:cubicBezTo>
                    <a:pt x="3026229" y="1098443"/>
                    <a:pt x="2999619" y="1050062"/>
                    <a:pt x="3004457" y="1054900"/>
                  </a:cubicBezTo>
                  <a:cubicBezTo>
                    <a:pt x="3009295" y="1059738"/>
                    <a:pt x="3006876" y="1035547"/>
                    <a:pt x="3004457" y="1011357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2B345D1-E529-CB59-7A55-8E98A3CB558F}"/>
                </a:ext>
              </a:extLst>
            </p:cNvPr>
            <p:cNvSpPr txBox="1"/>
            <p:nvPr/>
          </p:nvSpPr>
          <p:spPr>
            <a:xfrm>
              <a:off x="8819306" y="4616627"/>
              <a:ext cx="61912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进入太迟</a:t>
              </a:r>
              <a:endParaRPr lang="zh-CN" altLang="en-US" sz="800" dirty="0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9A99E1C-EADE-95F3-345E-847C25A3AF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48432" y="4675878"/>
              <a:ext cx="90000" cy="9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6830082-5A95-F3DC-7F23-C726BFAC63B1}"/>
                </a:ext>
              </a:extLst>
            </p:cNvPr>
            <p:cNvSpPr txBox="1"/>
            <p:nvPr/>
          </p:nvSpPr>
          <p:spPr>
            <a:xfrm>
              <a:off x="9124692" y="4168962"/>
              <a:ext cx="64339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退出太早</a:t>
              </a:r>
              <a:endParaRPr lang="zh-CN" altLang="en-US" sz="800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4921BD9-1179-BF67-0976-24A221C619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56341" y="4235432"/>
              <a:ext cx="90000" cy="9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07B3398-0047-2AC5-3B02-D7A475DD05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81017" y="4294406"/>
              <a:ext cx="90000" cy="9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4CFB907-A34E-2F10-F046-6999C7D70A59}"/>
                </a:ext>
              </a:extLst>
            </p:cNvPr>
            <p:cNvSpPr txBox="1"/>
            <p:nvPr/>
          </p:nvSpPr>
          <p:spPr>
            <a:xfrm>
              <a:off x="10393684" y="4225693"/>
              <a:ext cx="61912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退出太迟</a:t>
              </a:r>
              <a:endParaRPr lang="zh-CN" altLang="en-US" sz="800" dirty="0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488E96F-B4A2-D9DF-75CB-4C007153B9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55761" y="4021087"/>
              <a:ext cx="90000" cy="9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6D74273F-680B-E79F-B840-CC875B985E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03247" y="4581407"/>
              <a:ext cx="90000" cy="9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53D00BA-0420-B277-741A-598D1DD29FCD}"/>
                </a:ext>
              </a:extLst>
            </p:cNvPr>
            <p:cNvSpPr txBox="1"/>
            <p:nvPr/>
          </p:nvSpPr>
          <p:spPr>
            <a:xfrm>
              <a:off x="9746341" y="3837783"/>
              <a:ext cx="64339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未止盈</a:t>
              </a:r>
              <a:endParaRPr lang="zh-CN" altLang="en-US" sz="80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BEC3F25-7543-A77D-E75A-76165CAE810D}"/>
                </a:ext>
              </a:extLst>
            </p:cNvPr>
            <p:cNvSpPr txBox="1"/>
            <p:nvPr/>
          </p:nvSpPr>
          <p:spPr>
            <a:xfrm>
              <a:off x="10520781" y="4655523"/>
              <a:ext cx="64339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未再入</a:t>
              </a:r>
              <a:endParaRPr lang="zh-CN" altLang="en-US" sz="800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D44CAD9C-825F-06EF-9CBA-DC8E47E50B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52708" y="4771187"/>
              <a:ext cx="90000" cy="9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ED24962-E20F-2651-FC79-145C59844C90}"/>
                </a:ext>
              </a:extLst>
            </p:cNvPr>
            <p:cNvSpPr txBox="1"/>
            <p:nvPr/>
          </p:nvSpPr>
          <p:spPr>
            <a:xfrm>
              <a:off x="11600805" y="4908649"/>
              <a:ext cx="64339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未止损</a:t>
              </a:r>
              <a:endParaRPr lang="zh-CN" altLang="en-US" sz="800" dirty="0"/>
            </a:p>
          </p:txBody>
        </p:sp>
      </p:grp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E942943-F969-B066-87E5-A075D5521F15}"/>
              </a:ext>
            </a:extLst>
          </p:cNvPr>
          <p:cNvGraphicFramePr>
            <a:graphicFrameLocks noGrp="1"/>
          </p:cNvGraphicFramePr>
          <p:nvPr/>
        </p:nvGraphicFramePr>
        <p:xfrm>
          <a:off x="-602" y="3962382"/>
          <a:ext cx="8270466" cy="289560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259907">
                  <a:extLst>
                    <a:ext uri="{9D8B030D-6E8A-4147-A177-3AD203B41FA5}">
                      <a16:colId xmlns:a16="http://schemas.microsoft.com/office/drawing/2014/main" val="4210394109"/>
                    </a:ext>
                  </a:extLst>
                </a:gridCol>
                <a:gridCol w="7010559">
                  <a:extLst>
                    <a:ext uri="{9D8B030D-6E8A-4147-A177-3AD203B41FA5}">
                      <a16:colId xmlns:a16="http://schemas.microsoft.com/office/drawing/2014/main" val="2797605165"/>
                    </a:ext>
                  </a:extLst>
                </a:gridCol>
              </a:tblGrid>
              <a:tr h="214584">
                <a:tc gridSpan="2"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亏损来源分类与应对策略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412593"/>
                  </a:ext>
                </a:extLst>
              </a:tr>
              <a:tr h="2145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</a:t>
                      </a:r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未止损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严格按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935653"/>
                  </a:ext>
                </a:extLst>
              </a:tr>
              <a:tr h="472085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误困</a:t>
                      </a:r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亏损原因是迷恋低阶均线，后果是困于下跌趋势，应对措施是以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作为基准线，舍弃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之下微小增幅。</a:t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附近反复震荡，寄希望于大趋势机会，而不舍得按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止损。</a:t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之下被诱多于：低阶均线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/WJB/WJA/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日级别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DJCBA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形态。应对措施是未站上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要止损。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594395"/>
                  </a:ext>
                </a:extLst>
              </a:tr>
              <a:tr h="600835"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进入太迟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亏损原因是没在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精确进入，后果是错过部分涨幅，应对措施是：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精准进入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等待回踩确认趋势再进入。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未在上破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时及时进入：特别针对小丘错失涨幅。应对措施是在初始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/w1w/w1v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按并符持仓。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丘中途进入：迷恋于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以外各次级入口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(/WXAB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/WXZB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/WXZA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。应快进快出单柱止盈。</a:t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追涨：迷恋于各持殊形态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(/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鼎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跌孕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跌连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，受消息、板块异动影响。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463854"/>
                  </a:ext>
                </a:extLst>
              </a:tr>
              <a:tr h="600835"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退出太早</a:t>
                      </a:r>
                      <a:endParaRPr lang="en-US" altLang="zh-CN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（机会成本）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保证了收益为正，但未覆盖完整增幅。应对策略是留底仓。</a:t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在大丘的调整处，根据并符、警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、警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等次级信号，认亏退出。应对措施，保留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底仓防止踏空。</a:t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担心调整浪费时间。</a:t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担心进入下跌趋势，只要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未破或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未破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且沿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形成柱排列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，都不需要止损，但不要主动介入。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203099"/>
                  </a:ext>
                </a:extLst>
              </a:tr>
              <a:tr h="600835"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退出太迟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不知止盈：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错误区分主升区与震荡区：主升区可长期持有；震荡区围绕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/WJA/WJB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，要快进快出，且战且退，仅保证下柱为阳柱。</a:t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杀跌：错误解读信号，不知足，未止盈，一旦转跌就迫不及待卖出。</a:t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被动等待破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退出：未卖出的心态为存在对政策、消息、国家队的幻想，不甘心认亏的侥幸心理。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254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0EA6FAE-D59B-3644-8E6F-2BCA394DCFA2}"/>
              </a:ext>
            </a:extLst>
          </p:cNvPr>
          <p:cNvGraphicFramePr>
            <a:graphicFrameLocks noGrp="1"/>
          </p:cNvGraphicFramePr>
          <p:nvPr/>
        </p:nvGraphicFramePr>
        <p:xfrm>
          <a:off x="0" y="2192107"/>
          <a:ext cx="12192000" cy="1325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31150">
                  <a:extLst>
                    <a:ext uri="{9D8B030D-6E8A-4147-A177-3AD203B41FA5}">
                      <a16:colId xmlns:a16="http://schemas.microsoft.com/office/drawing/2014/main" val="4154883505"/>
                    </a:ext>
                  </a:extLst>
                </a:gridCol>
                <a:gridCol w="10760850">
                  <a:extLst>
                    <a:ext uri="{9D8B030D-6E8A-4147-A177-3AD203B41FA5}">
                      <a16:colId xmlns:a16="http://schemas.microsoft.com/office/drawing/2014/main" val="31319556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心态分析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233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现状：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根据周线，特别是日线特殊形态进入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(/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鼎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孕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/3h/2I)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，第二天没有如预期上涨或未止盈，或经过一段时间下破均线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/DJB/DJC/DJE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就认亏止损卖出。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851125"/>
                  </a:ext>
                </a:extLst>
              </a:tr>
              <a:tr h="1521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卖出时的心态：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怕陷入长期下降趋势：如果周线正确，纯粹是自己吓自己；如果周线错误，进入空头排列，其实是操作区域错误（被诱多：在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之下进入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破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未止损）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怕进入短期调整过程：浪费时间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未在触顶时上盈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综上，以上是标准的做空手法，专门为他人送钱。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择高而入，逢低而出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，应反其道而行。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557672"/>
                  </a:ext>
                </a:extLst>
              </a:tr>
              <a:tr h="1521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处于高点的心态：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绝对高点不舍得卖出：希望继续大升 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		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⇒教训：一定不要重仓，即使保留仓位也要小仓。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相对高点认为即将开启大升：认为是从前劫恢复，而不知其实为诱多 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⇒教训： 分仓分步介入，等回调站稳。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805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85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75F3-8FDF-B676-3FCF-558B5661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E1FFD-DAF0-2BE3-39B6-6BC673E71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0000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日类操盘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反思：为何会亏损</a:t>
            </a:r>
            <a:b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操盘方法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：要解决现有操盘中亏损问题，解决不同操盘方法的冲突。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E867C4-2C72-8734-7A45-381D09EC6D91}"/>
              </a:ext>
            </a:extLst>
          </p:cNvPr>
          <p:cNvSpPr txBox="1"/>
          <p:nvPr/>
        </p:nvSpPr>
        <p:spPr>
          <a:xfrm>
            <a:off x="0" y="720000"/>
            <a:ext cx="12192000" cy="3554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）现有问题：买入点符合周类与日类支持条件，期待后续继续上涨（起码下柱会冲高），但实际出现下跌，且下跌后无法明确止损时点导致亏损扩大。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买入时符合周类支持条件：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WXZC&gt;0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WXZB&gt;0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买入时符合日类支持条件：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DXZC&gt;0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DXZB&gt;0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。附加：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触顶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升排。特殊形态：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鼎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四柱栅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阳柱</a:t>
            </a: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操作失败的实例：在中途进入，看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是否在均线之上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是否升排均无问题，但随后可能快速转跌。阳柱买入后下柱走势：</a:t>
            </a:r>
          </a:p>
          <a:p>
            <a:pPr lvl="2"/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①如果下柱为上升：如为中阳柱则与买入点情况相同；如为巨阳或上影则应止盈；如冲高后收阴柱则可参考下列情况。</a:t>
            </a:r>
          </a:p>
          <a:p>
            <a:pPr lvl="2"/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②如果下柱未按期待上升：可能为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跌孕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跌吞。无论何种下跌都会亏损，此时卖出理由是担心继续下跌，而非基于技术指标的支持。下跌后卖出的实际效果：实际是高买低卖，捕捉了升势的一个阴柱。</a:t>
            </a:r>
          </a:p>
          <a:p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）考察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引起担心继续下跌的现象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真正会推动后续下跌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均线因素：趋势性均线均不支持下跌（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/WJC/WJB/DJC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）；仅仅日类均线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DJB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可能出现压制均线情况，不足以形成趋势。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柱排因素：可能出现跌排，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之上任何柱排都是可取情况；即使出现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之下跌排也是弱于均线的因素，不应过分担忧，但不是主攻势头。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前期走势：如果出现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管宽过大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连阳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连续处于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DTZA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之上过久，一旦下破日类均线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也代表逆转趋势。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环境因素：大盘下跌带动个股继续下跌。对策：上证下破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不持仓；上证下破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¼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仓。</a:t>
            </a:r>
          </a:p>
          <a:p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）应对买入后下跌的对策：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信念</a:t>
            </a:r>
            <a:r>
              <a:rPr lang="en-US" altLang="zh-CN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不要关注低级均线与柱级别波动：所有看似简单的必赢策略，包括</a:t>
            </a:r>
            <a:r>
              <a:rPr lang="en-US" altLang="zh-CN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丘、</a:t>
            </a:r>
            <a:r>
              <a:rPr lang="en-US" altLang="zh-CN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DJE</a:t>
            </a:r>
            <a:r>
              <a:rPr lang="zh-CN" altLang="en-US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丘、</a:t>
            </a:r>
            <a:r>
              <a:rPr lang="en-US" altLang="zh-CN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DJE&amp;DJC</a:t>
            </a:r>
            <a:r>
              <a:rPr lang="zh-CN" altLang="en-US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丘，核心要素都是在趋势性均线之上不操作，即不止盈。（也是</a:t>
            </a:r>
            <a:r>
              <a:rPr lang="en-US" altLang="zh-CN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Livermore</a:t>
            </a:r>
            <a:r>
              <a:rPr lang="zh-CN" altLang="en-US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操盘法精髓）</a:t>
            </a:r>
            <a:endParaRPr lang="en-US" altLang="zh-CN" sz="900" b="1" u="sng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信念</a:t>
            </a:r>
            <a:r>
              <a:rPr lang="en-US" altLang="zh-CN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重视大盘走势：根据多位操盘手的经验，在牛市中，应选定股票，但不是按照个股走势，而是按照大盘走势进行增减仓位。一定要重视大盘的走势。</a:t>
            </a:r>
            <a:endParaRPr lang="en-US" altLang="zh-CN" sz="900" b="1" u="sng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9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信念</a:t>
            </a:r>
            <a:r>
              <a:rPr lang="en-US" altLang="zh-CN" sz="9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明确上升过程的一般情况</a:t>
            </a:r>
            <a:r>
              <a:rPr lang="zh-CN" altLang="en-US" sz="9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：不要期待连续涨停；不要期待阳柱后也是阳柱。飞天连续涨停只可偶遇（按底仓）不可强求（重仓）。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9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信念</a:t>
            </a:r>
            <a:r>
              <a:rPr lang="en-US" altLang="zh-CN" sz="9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存在神秘力量</a:t>
            </a:r>
            <a:r>
              <a:rPr lang="zh-CN" altLang="en-US" sz="9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：按</a:t>
            </a:r>
            <a:r>
              <a:rPr lang="en-US" altLang="zh-CN" sz="9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9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吃开口饭必赢就是依赖神秘力量。神秘力量出现区域为</a:t>
            </a:r>
            <a:r>
              <a:rPr lang="en-US" altLang="zh-CN" sz="9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9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，特别是</a:t>
            </a:r>
            <a:r>
              <a:rPr lang="en-US" altLang="zh-CN" sz="9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之上（神秘力量使得重返</a:t>
            </a:r>
            <a:r>
              <a:rPr lang="en-US" altLang="zh-CN" sz="9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）。要依赖神秘力量，高抛于阳柱，低吸于阴柱。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入点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不要在阳柱买入重仓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：一旦出现阳柱应卖不应买，应收缩仓位至底仓（底仓受限于总资金，不要妄念）。从而可以按照周级别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进行止损，既可以经历最高点，也可以抵抗依赖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之上的神秘力量挺过可能出现的波动。不要以日线为由加仓，只能轻仓。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入点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选取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DJB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之上阴柱买入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DJB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之上出现阴柱，剔除已冲高或已久升情况，剩余情况不存在均线空头排列，只能按照柱排进行判断。</a:t>
            </a: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当柱排出现（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升排后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跌孕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跌吞）（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D2e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跌排减缓）（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D2e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跌排转人排）情况，都可以试仓。</a:t>
            </a: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在下破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DJB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后，不能仅在站上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后再次介入，要等待同时站上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DJB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后出现升排再介入。</a:t>
            </a: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出点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警惕周级别巨阳与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WTZA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久。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即使偏离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不大，但在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运行较长后仍有可能走坏，特别是在走平阴阳交错之后。</a:t>
            </a: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出点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遵循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EMA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：严格遵守匹配原则，从哪里入从哪里出：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丘在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出；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丘在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出；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丘在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出。对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尽量在初始突破进入，不要在中途进入。</a:t>
            </a: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出点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破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再卖出止损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：利用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趋势性特征，以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作为止损线或提前卖出线。在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之上可止盈则止盈，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DJB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之上阴柱买入后如继续下跌则等待破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再止损，不要中途过分恐惧。</a:t>
            </a:r>
            <a:endParaRPr lang="en-US" altLang="zh-CN" sz="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出点</a:t>
            </a:r>
            <a:r>
              <a:rPr lang="en-US" altLang="zh-CN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不要依赖低阶均线：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DJE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是根本，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是中枢，只能给与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DJE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权重。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DJB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无趋势效应，只能按照单柱进行逆踢，不要臆想下破低阶均线就作为止损条件。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A1B5DF9-CA67-AA65-E125-4230EB3598E7}"/>
              </a:ext>
            </a:extLst>
          </p:cNvPr>
          <p:cNvGrpSpPr/>
          <p:nvPr/>
        </p:nvGrpSpPr>
        <p:grpSpPr>
          <a:xfrm>
            <a:off x="10982325" y="748971"/>
            <a:ext cx="847725" cy="691029"/>
            <a:chOff x="8334375" y="4999034"/>
            <a:chExt cx="847725" cy="69102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6CB6BD5-3458-E35E-94DD-7A882121006C}"/>
                </a:ext>
              </a:extLst>
            </p:cNvPr>
            <p:cNvSpPr/>
            <p:nvPr/>
          </p:nvSpPr>
          <p:spPr>
            <a:xfrm>
              <a:off x="8980815" y="5013905"/>
              <a:ext cx="72000" cy="3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E97E5A5-480A-7D67-3E5D-7A8A614AE477}"/>
                </a:ext>
              </a:extLst>
            </p:cNvPr>
            <p:cNvSpPr/>
            <p:nvPr/>
          </p:nvSpPr>
          <p:spPr>
            <a:xfrm>
              <a:off x="9110100" y="5031181"/>
              <a:ext cx="72000" cy="288000"/>
            </a:xfrm>
            <a:prstGeom prst="rect">
              <a:avLst/>
            </a:prstGeom>
            <a:solidFill>
              <a:srgbClr val="5482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45CF109-5480-83CA-6ED2-427B2D815680}"/>
                </a:ext>
              </a:extLst>
            </p:cNvPr>
            <p:cNvSpPr/>
            <p:nvPr/>
          </p:nvSpPr>
          <p:spPr>
            <a:xfrm>
              <a:off x="8334375" y="5466947"/>
              <a:ext cx="72000" cy="1440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4ADB8E7-C523-9283-8670-326CB15CEA1D}"/>
                </a:ext>
              </a:extLst>
            </p:cNvPr>
            <p:cNvSpPr/>
            <p:nvPr/>
          </p:nvSpPr>
          <p:spPr>
            <a:xfrm>
              <a:off x="8851527" y="4999034"/>
              <a:ext cx="72000" cy="2160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D13932FA-3566-C0F3-5928-819D2B28D2D5}"/>
                </a:ext>
              </a:extLst>
            </p:cNvPr>
            <p:cNvSpPr/>
            <p:nvPr/>
          </p:nvSpPr>
          <p:spPr>
            <a:xfrm>
              <a:off x="8334375" y="5286375"/>
              <a:ext cx="847725" cy="371475"/>
            </a:xfrm>
            <a:custGeom>
              <a:avLst/>
              <a:gdLst>
                <a:gd name="connsiteX0" fmla="*/ 0 w 847725"/>
                <a:gd name="connsiteY0" fmla="*/ 371475 h 371475"/>
                <a:gd name="connsiteX1" fmla="*/ 390525 w 847725"/>
                <a:gd name="connsiteY1" fmla="*/ 66675 h 371475"/>
                <a:gd name="connsiteX2" fmla="*/ 847725 w 847725"/>
                <a:gd name="connsiteY2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7725" h="371475">
                  <a:moveTo>
                    <a:pt x="0" y="371475"/>
                  </a:moveTo>
                  <a:cubicBezTo>
                    <a:pt x="124618" y="250031"/>
                    <a:pt x="249237" y="128588"/>
                    <a:pt x="390525" y="66675"/>
                  </a:cubicBezTo>
                  <a:cubicBezTo>
                    <a:pt x="531813" y="4762"/>
                    <a:pt x="689769" y="2381"/>
                    <a:pt x="847725" y="0"/>
                  </a:cubicBezTo>
                </a:path>
              </a:pathLst>
            </a:cu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BB71ED6-F35F-BEFF-C1CB-2C2D1E4E7ADA}"/>
                </a:ext>
              </a:extLst>
            </p:cNvPr>
            <p:cNvSpPr/>
            <p:nvPr/>
          </p:nvSpPr>
          <p:spPr>
            <a:xfrm>
              <a:off x="8592951" y="5215034"/>
              <a:ext cx="72000" cy="1440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71FAC39-44E7-4A1F-3295-0CE3E458FA0E}"/>
                </a:ext>
              </a:extLst>
            </p:cNvPr>
            <p:cNvSpPr/>
            <p:nvPr/>
          </p:nvSpPr>
          <p:spPr>
            <a:xfrm>
              <a:off x="8722239" y="5112474"/>
              <a:ext cx="72000" cy="1440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107F6C9-96A2-F8FE-9391-CD42D50B2294}"/>
                </a:ext>
              </a:extLst>
            </p:cNvPr>
            <p:cNvSpPr/>
            <p:nvPr/>
          </p:nvSpPr>
          <p:spPr>
            <a:xfrm>
              <a:off x="8463663" y="5322947"/>
              <a:ext cx="72000" cy="1440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C10A1AE-B7E4-4804-9F6B-DFAA2BBB6B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18890" y="5280647"/>
              <a:ext cx="201285" cy="40941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20E23C59-09F4-139A-BB27-E03E33A22D96}"/>
              </a:ext>
            </a:extLst>
          </p:cNvPr>
          <p:cNvSpPr/>
          <p:nvPr/>
        </p:nvSpPr>
        <p:spPr>
          <a:xfrm>
            <a:off x="0" y="5893029"/>
            <a:ext cx="12192000" cy="94726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结论：为何会买入后亏损？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⇒应专注于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可获利升势区域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】&amp;【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下破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必须退出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亏损原因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：固执于长期趋势，轻视了短期波动：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代表长期趋势的指标未走坏；但即使在符合长期趋势的范围内短期波动已经造成亏损。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亏损原因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：未在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可获利升势区域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反复操作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：冲高后未止盈减仓；回调时未再次进入；跌破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未及时退出。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20251025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：正常上升过程中贯穿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情况很多，要把止损线下移至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WJCBA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抓主升，有容乃大，容纳下探）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71418141-93B6-28B6-9A1A-72D5E4CAAA9F}"/>
              </a:ext>
            </a:extLst>
          </p:cNvPr>
          <p:cNvSpPr/>
          <p:nvPr/>
        </p:nvSpPr>
        <p:spPr>
          <a:xfrm>
            <a:off x="4029045" y="4813428"/>
            <a:ext cx="3823063" cy="101860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由上可得</a:t>
            </a:r>
            <a:endParaRPr lang="en-US" altLang="zh-CN" sz="1000" dirty="0">
              <a:solidFill>
                <a:schemeClr val="tx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防止买入后亏损的对策</a:t>
            </a:r>
            <a:endParaRPr lang="en-US" altLang="zh-CN" sz="1000" dirty="0">
              <a:solidFill>
                <a:schemeClr val="tx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176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44B6-4E51-374B-0556-FB831975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C2EEBC02-EAFE-A5E8-661F-9FFC784D3574}"/>
              </a:ext>
            </a:extLst>
          </p:cNvPr>
          <p:cNvSpPr txBox="1">
            <a:spLocks/>
          </p:cNvSpPr>
          <p:nvPr/>
        </p:nvSpPr>
        <p:spPr>
          <a:xfrm>
            <a:off x="0" y="2746"/>
            <a:ext cx="12192000" cy="72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大局观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思考框架与待解决问题</a:t>
            </a:r>
            <a:b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主题：以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EMA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为基石，理顺统领整个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的思考框架，串联所涉及问题，理清问题之间的关系与重要性。以此思路为纲，制作此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，并制定筛选与操作规则。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4C60F62-F027-2E89-770C-26939D8D4A9F}"/>
              </a:ext>
            </a:extLst>
          </p:cNvPr>
          <p:cNvGraphicFramePr>
            <a:graphicFrameLocks noGrp="1"/>
          </p:cNvGraphicFramePr>
          <p:nvPr/>
        </p:nvGraphicFramePr>
        <p:xfrm>
          <a:off x="-5541" y="2468109"/>
          <a:ext cx="12192000" cy="4387143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397475">
                  <a:extLst>
                    <a:ext uri="{9D8B030D-6E8A-4147-A177-3AD203B41FA5}">
                      <a16:colId xmlns:a16="http://schemas.microsoft.com/office/drawing/2014/main" val="1633936583"/>
                    </a:ext>
                  </a:extLst>
                </a:gridCol>
                <a:gridCol w="6146325">
                  <a:extLst>
                    <a:ext uri="{9D8B030D-6E8A-4147-A177-3AD203B41FA5}">
                      <a16:colId xmlns:a16="http://schemas.microsoft.com/office/drawing/2014/main" val="1184539394"/>
                    </a:ext>
                  </a:extLst>
                </a:gridCol>
                <a:gridCol w="2924001">
                  <a:extLst>
                    <a:ext uri="{9D8B030D-6E8A-4147-A177-3AD203B41FA5}">
                      <a16:colId xmlns:a16="http://schemas.microsoft.com/office/drawing/2014/main" val="2057521625"/>
                    </a:ext>
                  </a:extLst>
                </a:gridCol>
                <a:gridCol w="1724199">
                  <a:extLst>
                    <a:ext uri="{9D8B030D-6E8A-4147-A177-3AD203B41FA5}">
                      <a16:colId xmlns:a16="http://schemas.microsoft.com/office/drawing/2014/main" val="3743011458"/>
                    </a:ext>
                  </a:extLst>
                </a:gridCol>
              </a:tblGrid>
              <a:tr h="238015">
                <a:tc>
                  <a:txBody>
                    <a:bodyPr/>
                    <a:lstStyle/>
                    <a:p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大局观具体分析路径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主要分析内容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产出物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待解决问题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692066"/>
                  </a:ext>
                </a:extLst>
              </a:tr>
              <a:tr h="646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(S1)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要保证经过最高点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明确在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WJC&amp;WJB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之上是抓主升的必要条件。</a:t>
                      </a:r>
                      <a:endParaRPr lang="en-US" altLang="zh-CN" sz="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通过横观单票的全时间段走势  ⇒  最高点必在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之上⇒保证持有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之上必能经过最高点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通过纵观各票的全时间段走势  ⇒  在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的时间比例很小⇒要珍惜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的上升趋势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要利用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作为第一操盘工具：眼中始终要有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护型。 ⇒  以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作为操盘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的辅助工具。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趋势判定原则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1-5》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怎样才能守住仓位：“珍惜”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endParaRPr lang="zh-CN" altLang="en-US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693526"/>
                  </a:ext>
                </a:extLst>
              </a:tr>
              <a:tr h="5100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(S2.1)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如何预判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丘最高点规模？选择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大丘</a:t>
                      </a:r>
                      <a:endParaRPr lang="en-US" altLang="zh-CN" sz="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 typeface="+mj-ea"/>
                        <a:buNone/>
                      </a:pP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大丘。</a:t>
                      </a:r>
                      <a:endParaRPr lang="en-US" altLang="zh-CN" sz="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lvl="0" indent="0">
                        <a:buFont typeface="+mj-ea"/>
                        <a:buNone/>
                      </a:pP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月势：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WJCDE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划分全时间段的月级别走势⇒参考专页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月势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WJCDE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丘幅度的影响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剔除诱多与震荡：要剔除（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下降趋势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底部震荡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顶部震荡）。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衍生主题（谱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）：利用月势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WXCDE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确定准入范围。</a:t>
                      </a:r>
                      <a:endParaRPr lang="en-US" altLang="zh-CN" sz="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衍生主题（谱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大丘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88584"/>
                  </a:ext>
                </a:extLst>
              </a:tr>
              <a:tr h="51003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(S2.2)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如何选取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&lt;WJC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大丘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中的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&lt;WJB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大丘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？</a:t>
                      </a:r>
                      <a:endParaRPr lang="en-US" altLang="zh-CN" sz="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要排除最高点规模很小的情况</a:t>
                      </a:r>
                    </a:p>
                    <a:p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 typeface="+mj-ea"/>
                        <a:buNone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周奏：根据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WJCBA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划分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丘的不同阶段⇒参考专页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丘弧型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根据（周奏），将（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丘）根据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划分为不同的奏。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对于前期存在大幅拉升的情况，即使后期在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之上，也要谨慎参与。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基础模型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】WJCBA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周层模型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反例：神秘力量。汇总由庄家控制的走势，以及如何再次介入。周层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再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基础模型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周奏：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丘弧型（左缓右急、左急右缓、左缓右缓、左急右急）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98319"/>
                  </a:ext>
                </a:extLst>
              </a:tr>
              <a:tr h="374884">
                <a:tc vMerge="1">
                  <a:txBody>
                    <a:bodyPr/>
                    <a:lstStyle/>
                    <a:p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周波：将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丘划分为（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主升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震荡），其中（震荡）包含（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回归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WJA(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栅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贯穿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WJA(WTZA=1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-1)/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两柱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两柱）。在能明显识别前期主升的情况下，应避免主动介入震荡（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WTZA=1/WTZA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≤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），但可被动持有。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衍生主题（管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）：区分周波（主升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震荡）。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基础模型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】WJCBA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坐标的主升启动位置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78230"/>
                  </a:ext>
                </a:extLst>
              </a:tr>
              <a:tr h="1054068">
                <a:tc>
                  <a:txBody>
                    <a:bodyPr/>
                    <a:lstStyle/>
                    <a:p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(S3)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如何在最高点附近逃离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提前退出条件：根据不同环境，将止损线由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优化为各种提前退出条件。</a:t>
                      </a:r>
                      <a:endParaRPr lang="en-US" altLang="zh-CN" sz="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：通用止损线。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：适用于当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呈扩散分布时，作为提前退出条件。（当处于震荡时应以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止损）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：适用于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已冲高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&gt;&lt;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已整弧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，以下破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作为提前退出条件。</a:t>
                      </a:r>
                      <a:endParaRPr lang="en-US" altLang="zh-CN" sz="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之上：针对管模式，坚定持有，不需退出。</a:t>
                      </a:r>
                      <a:endParaRPr lang="en-US" altLang="zh-CN" sz="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最后一柱：只当满足“最后一柱”特征时，止盈或提前退出。</a:t>
                      </a:r>
                      <a:endParaRPr lang="en-US" altLang="zh-CN" sz="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以偏离作为左侧提前退出条件：以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作为衡量偏离的基线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衍生主题（谱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）：穿越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的典型方式。</a:t>
                      </a:r>
                      <a:endParaRPr lang="en-US" altLang="zh-CN" sz="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衍生主题（谱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WXZA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劫的典型恢复模式。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反例：下周失败特例汇总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16283"/>
                  </a:ext>
                </a:extLst>
              </a:tr>
              <a:tr h="1054068">
                <a:tc>
                  <a:txBody>
                    <a:bodyPr/>
                    <a:lstStyle/>
                    <a:p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(S4)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算法：龙战法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龙战法：所有操盘方法只针对“主升”波型进行操作。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龙丘周战法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：按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操作主升趋势。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⇒参考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坐公交理论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按原旨规则，在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之上必有高点。如果从头到尾精确进出，最后的累计收益为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均线的增幅。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龙冲周战法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：下周冲高战法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周版。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在主升区域，必然有回撤但未破趋势的阴柱，如果能只聚焦其中的阳柱，则可只赢不输。利用复利理论，将极大增加收益。⇒参考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下周冲高战法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龙展日战法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：下周冲高战法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日版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龙丘周战法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龙冲周战法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衍生主题（管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入轨图谱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衍生主题（管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在轨图谱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衍生主题（管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离轨图谱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衍生主题（管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）：关注何时在管中变为垒升。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龙展日战法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基础模型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叠垒连阳启动结构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65425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8774BEF1-8256-C14D-13EC-507027841F55}"/>
              </a:ext>
            </a:extLst>
          </p:cNvPr>
          <p:cNvSpPr/>
          <p:nvPr/>
        </p:nvSpPr>
        <p:spPr>
          <a:xfrm>
            <a:off x="6095999" y="722746"/>
            <a:ext cx="6096001" cy="168634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工具框架：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着眼全局，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护线是最核心工具，管（顶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,WJA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）是最主要战场。</a:t>
            </a:r>
            <a:endParaRPr lang="en-US" altLang="zh-CN" sz="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为准入。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【WJCDE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决定大势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WJCDE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确定月级别大升位置。过滤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底震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顶震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降势。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为唯一权重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作为设定权重的唯一变量，但可参考低阶均线确定介入点。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为丘，划分主升与震荡。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所有可获利上升都在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已得到验证。但要以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为准入。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以梳代堵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能够快速反应趋势的特性，通过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观察阴阳大势的转换。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区分波型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基于顶型、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、柱排，区分主升与震荡。（主升以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止损，震荡逢高退出）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为管，抓住主升。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区分管内运动方向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在管内区分（龙猪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龙落），下破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后等待震荡时逢高退出。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区分垒升与阴阳相间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终极目标是“垒升”。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先周后日，以日类信息为参考，仅用于确定介入点以及观察对应周柱排列类型。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日触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时要考虑卖出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当日触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时，一定要考虑是否卖出。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A6E80C-094F-FA38-603C-A55AC861FA9F}"/>
              </a:ext>
            </a:extLst>
          </p:cNvPr>
          <p:cNvSpPr/>
          <p:nvPr/>
        </p:nvSpPr>
        <p:spPr>
          <a:xfrm>
            <a:off x="-5541" y="726024"/>
            <a:ext cx="6101541" cy="10763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大局思想</a:t>
            </a:r>
            <a:r>
              <a:rPr lang="en-US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20251115】</a:t>
            </a:r>
            <a:r>
              <a:rPr lang="zh-CN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总体思路：</a:t>
            </a:r>
            <a:endParaRPr lang="en-US" altLang="zh-CN" sz="1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删必然不会上升的区域（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之下）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弃可能不会大升的区域（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月顶震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月底震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月降势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周震荡）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盯可能主升的区域（依赖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均线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顶型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柱排）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周范围确定原则：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把原规则（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单独按“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丘必赢”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）扩展为（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为准入；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WXCDE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确定大势，过滤诱多；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WJCBA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周局决定趋势；以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止损，下破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考虑提前退出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5F769E-1957-F6F7-C743-01744607CBCA}"/>
              </a:ext>
            </a:extLst>
          </p:cNvPr>
          <p:cNvSpPr txBox="1"/>
          <p:nvPr/>
        </p:nvSpPr>
        <p:spPr>
          <a:xfrm>
            <a:off x="4227095" y="2557269"/>
            <a:ext cx="459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改为“明确在</a:t>
            </a:r>
            <a:r>
              <a:rPr lang="en-US" altLang="zh-CN" dirty="0">
                <a:solidFill>
                  <a:srgbClr val="FF0000"/>
                </a:solidFill>
              </a:rPr>
              <a:t>WJC</a:t>
            </a:r>
            <a:r>
              <a:rPr lang="zh-CN" altLang="en-US" dirty="0">
                <a:solidFill>
                  <a:srgbClr val="FF0000"/>
                </a:solidFill>
              </a:rPr>
              <a:t>之上是抓主升的必要条件”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8A044D-AD13-B73E-AF9C-F4B6161C1380}"/>
              </a:ext>
            </a:extLst>
          </p:cNvPr>
          <p:cNvSpPr txBox="1"/>
          <p:nvPr/>
        </p:nvSpPr>
        <p:spPr>
          <a:xfrm>
            <a:off x="4170948" y="3819419"/>
            <a:ext cx="5708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改为“如何选取</a:t>
            </a:r>
            <a:r>
              <a:rPr lang="en-US" altLang="zh-CN" dirty="0">
                <a:solidFill>
                  <a:srgbClr val="FF0000"/>
                </a:solidFill>
              </a:rPr>
              <a:t>WJC</a:t>
            </a:r>
            <a:r>
              <a:rPr lang="zh-CN" altLang="en-US" dirty="0">
                <a:solidFill>
                  <a:srgbClr val="FF0000"/>
                </a:solidFill>
              </a:rPr>
              <a:t>大丘中的</a:t>
            </a:r>
            <a:r>
              <a:rPr lang="en-US" altLang="zh-CN" dirty="0">
                <a:solidFill>
                  <a:srgbClr val="FF0000"/>
                </a:solidFill>
              </a:rPr>
              <a:t>WXAB</a:t>
            </a:r>
            <a:r>
              <a:rPr lang="zh-CN" altLang="en-US" dirty="0">
                <a:solidFill>
                  <a:srgbClr val="FF0000"/>
                </a:solidFill>
              </a:rPr>
              <a:t>正交”，靠波型主升。</a:t>
            </a:r>
          </a:p>
        </p:txBody>
      </p:sp>
    </p:spTree>
    <p:extLst>
      <p:ext uri="{BB962C8B-B14F-4D97-AF65-F5344CB8AC3E}">
        <p14:creationId xmlns:p14="http://schemas.microsoft.com/office/powerpoint/2010/main" val="267702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FCCD3-3CD7-7E19-C634-970CAAB2B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C2484920-DF58-ED6A-96EA-05BF528D5F4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基础工具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公理：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至尊公理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&amp;WJA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至尊公理</a:t>
            </a:r>
            <a:b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主题：最重要公理，将操作标的聚焦于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之上，紧跟热点。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147432B-EE4B-CEA0-C300-F31C063710BF}"/>
              </a:ext>
            </a:extLst>
          </p:cNvPr>
          <p:cNvGraphicFramePr>
            <a:graphicFrameLocks noGrp="1"/>
          </p:cNvGraphicFramePr>
          <p:nvPr/>
        </p:nvGraphicFramePr>
        <p:xfrm>
          <a:off x="0" y="710093"/>
          <a:ext cx="6094234" cy="24384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6094234">
                  <a:extLst>
                    <a:ext uri="{9D8B030D-6E8A-4147-A177-3AD203B41FA5}">
                      <a16:colId xmlns:a16="http://schemas.microsoft.com/office/drawing/2014/main" val="1299384028"/>
                    </a:ext>
                  </a:extLst>
                </a:gridCol>
              </a:tblGrid>
              <a:tr h="203015"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0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10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至尊公理</a:t>
                      </a:r>
                      <a:endParaRPr lang="en-US" altLang="zh-CN" sz="10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20260604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最重要且应铭记于心的公理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勿改勿删）</a:t>
                      </a:r>
                      <a:endParaRPr lang="en-US" altLang="zh-CN" sz="7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地位：以此为基础设置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周护型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，向上衔接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&lt;WXCD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月护型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，向下衔接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周地型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7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224372"/>
                  </a:ext>
                </a:extLst>
              </a:tr>
              <a:tr h="32049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【WXAB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至尊公理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】WXAB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正交是上升的必要条件。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，层段可分为六类：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乙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可主动持有，因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正交且不会导致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负交。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(r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己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仅提示，试仓或等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正交再介入。有可能是诱多。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(c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丙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被动持有。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(z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丁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戊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被动持有或清仓，勿主动介入。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198258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铭记此句原意，不要修改不要删除，这是驾驭主升浪的必赢心法。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基于此公理，周级别持有条件为（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基于此公理，日级别持有条件为（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DXZC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基于此公理，日级别退出条件为（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DXZC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）。相当于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，可退出，或等下破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DJD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退出。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基于此公理，最佳介入条件为：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marR="0" lvl="2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周级别：（甲乙）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刚正交。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543050" marR="0" lvl="3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替代条件：（己）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将正交。应站上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两柱以上，排除诱多情况。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marR="0" lvl="2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日级别：须先满足周级别持有条件，再满足日级别持有条件。要以周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先正交为准。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543050" marR="0" lvl="3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时，按日级别持有条件（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DXZC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）介入。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543050" marR="0" lvl="3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时，即使满足日级别持有条件也不介入。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168341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F819886-4755-665A-F2B5-301A5469736A}"/>
              </a:ext>
            </a:extLst>
          </p:cNvPr>
          <p:cNvSpPr/>
          <p:nvPr/>
        </p:nvSpPr>
        <p:spPr>
          <a:xfrm>
            <a:off x="6922389" y="5246533"/>
            <a:ext cx="4437924" cy="18648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《WJA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至尊公理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之上都应上升或冲高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不应要求触顶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应要求得到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支持，应要求周前柱在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之上，应要求柱排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之上出现阴柱，分两种情况：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错杀情况：随后会恢复上升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上破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后回踩→随后上冲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（顶，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）管内回落→随后形成“帐篷”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下破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→随后暂上破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确杀情况：开启真正下跌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上破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后下跌→实际是诱多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（顶，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）管内回落→已冲高后转跌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下破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→随后开启跌势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之上，少数会下破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然后由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兜底。根据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至尊公理，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之上大部分会冲高，少部分会下破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然后由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兜底。下破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时止损。</a:t>
            </a:r>
            <a:endParaRPr lang="en-US" altLang="zh-CN" sz="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B6E91AD-831B-992F-4314-588F64F112C0}"/>
              </a:ext>
            </a:extLst>
          </p:cNvPr>
          <p:cNvGraphicFramePr>
            <a:graphicFrameLocks noGrp="1"/>
          </p:cNvGraphicFramePr>
          <p:nvPr/>
        </p:nvGraphicFramePr>
        <p:xfrm>
          <a:off x="6094234" y="710093"/>
          <a:ext cx="6094235" cy="4617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916166">
                  <a:extLst>
                    <a:ext uri="{9D8B030D-6E8A-4147-A177-3AD203B41FA5}">
                      <a16:colId xmlns:a16="http://schemas.microsoft.com/office/drawing/2014/main" val="1299384028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174462236"/>
                    </a:ext>
                  </a:extLst>
                </a:gridCol>
                <a:gridCol w="4308119">
                  <a:extLst>
                    <a:ext uri="{9D8B030D-6E8A-4147-A177-3AD203B41FA5}">
                      <a16:colId xmlns:a16="http://schemas.microsoft.com/office/drawing/2014/main" val="2230545645"/>
                    </a:ext>
                  </a:extLst>
                </a:gridCol>
              </a:tblGrid>
              <a:tr h="189063">
                <a:tc gridSpan="3"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0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10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至尊公理</a:t>
                      </a:r>
                      <a:endParaRPr lang="en-US" altLang="zh-CN" sz="10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20260520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最重要且应铭记于心的公理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勿改勿删）</a:t>
                      </a:r>
                      <a:endParaRPr lang="en-US" altLang="zh-CN" sz="7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地位：以此为基础设置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周地型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，向上衔接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&lt;WXAB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周护型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，向下衔接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周柱型</a:t>
                      </a:r>
                      <a:r>
                        <a:rPr lang="en-US" altLang="zh-CN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700" b="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7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224372"/>
                  </a:ext>
                </a:extLst>
              </a:tr>
              <a:tr h="443887">
                <a:tc gridSpan="3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【WJA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至尊公理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之上是上升的充分必要条件。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当在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之上时，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出现阳柱或下柱冲高是常态；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出现阴柱是异常，是少数现象。要将其视为异类导致的方向选择点，初期是机，顶部是阱。不要因为想躲避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之上的波动或下跌而失去仓位。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endParaRPr lang="zh-CN" altLang="en-US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198258"/>
                  </a:ext>
                </a:extLst>
              </a:tr>
              <a:tr h="452107">
                <a:tc gridSpan="3">
                  <a:txBody>
                    <a:bodyPr/>
                    <a:lstStyle/>
                    <a:p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铭记此句原意，不要修改不要删除，这是驾驭主升浪的必赢心法。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基于此公理，可得，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之上（特别是满足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WXCD&amp;WXAB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条件），都有下周冲高的可能。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基于此公理，可在阳柱之后介入，博下柱冲高。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基于此公理，可在（初期）上破回踩后阴柱介入，博下柱冲高。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基于此公理，可在（初期）阴柱后出现阳柱后介入，特别是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梯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栏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栅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暂等恢复结构，博下柱冲高。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基于此公理，可进行日类捡漏（前周在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上，本周临时下跌）。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基于此公理，“上升都发生在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附近“，要么在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之上，要么刚下破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又站上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168341"/>
                  </a:ext>
                </a:extLst>
              </a:tr>
              <a:tr h="682270">
                <a:tc rowSpan="4">
                  <a:txBody>
                    <a:bodyPr/>
                    <a:lstStyle/>
                    <a:p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至尊公理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</a:p>
                    <a:p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修正案：需要审慎判定的特别情况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针对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WTZA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≥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之上是上涨的充要条件。但可对以下情况保持谨慎。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龙猪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排除冲高情况：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最后一柱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冲高后开启下跌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震正〇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排除主升后的在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之上震荡情况：面临方向选择。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：“帐篷”，方向向上。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2[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升排失势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：失去上升动力后蓄势下破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，可能转为震荡或转跌。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之上排列，预示转跌，如阴阳阴（回踩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未得到支撑）。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震正芽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排除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劫后的诱多典型形态：面临方向选择。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：“帐篷”。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：站上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之上多柱，仍属于诱多。→汇总诱多的典型形态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374142"/>
                  </a:ext>
                </a:extLst>
              </a:tr>
              <a:tr h="164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（首上破）针对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WTZA=1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要小碎步，不要单柱。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面临方向选择：是否确认站稳？是否诱多？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624289"/>
                  </a:ext>
                </a:extLst>
              </a:tr>
              <a:tr h="164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（首下破）针对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WTZA=-1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可以单柱急跌，不要小碎步下跌。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面临方向选择：是否确认跌破？是否诱空？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95549"/>
                  </a:ext>
                </a:extLst>
              </a:tr>
              <a:tr h="3370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针对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WTZA≤-2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有价值的特殊情况：（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且在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之下，价上破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不利情况：</a:t>
                      </a:r>
                      <a:endParaRPr lang="en-US" altLang="zh-CN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后，形成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阴阳阴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跌排。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，开始考虑沿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下跌柱排。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</a:t>
                      </a:r>
                      <a:r>
                        <a:rPr lang="en-US" altLang="zh-CN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：强制退出。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27432"/>
                  </a:ext>
                </a:extLst>
              </a:tr>
            </a:tbl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665815F-857D-C238-D718-FC45CB4CAF1B}"/>
              </a:ext>
            </a:extLst>
          </p:cNvPr>
          <p:cNvCxnSpPr>
            <a:cxnSpLocks/>
          </p:cNvCxnSpPr>
          <p:nvPr/>
        </p:nvCxnSpPr>
        <p:spPr>
          <a:xfrm>
            <a:off x="6087464" y="681496"/>
            <a:ext cx="0" cy="616573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13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EEB7-773D-E5B2-866C-63BB1E4B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F9449F3F-18F6-24BD-7113-E81D08E8A7E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主升图谱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最重要页：思维原则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终极操作原则</a:t>
            </a:r>
            <a:b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本页内容：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操盘方法的总体论述，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是核心，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是止损，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定位大势。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AA0DB06-F124-D685-32DF-1DEAC47B9EB2}"/>
              </a:ext>
            </a:extLst>
          </p:cNvPr>
          <p:cNvGraphicFramePr>
            <a:graphicFrameLocks noGrp="1"/>
          </p:cNvGraphicFramePr>
          <p:nvPr/>
        </p:nvGraphicFramePr>
        <p:xfrm>
          <a:off x="6102603" y="720000"/>
          <a:ext cx="6089399" cy="613799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52475">
                  <a:extLst>
                    <a:ext uri="{9D8B030D-6E8A-4147-A177-3AD203B41FA5}">
                      <a16:colId xmlns:a16="http://schemas.microsoft.com/office/drawing/2014/main" val="1626643334"/>
                    </a:ext>
                  </a:extLst>
                </a:gridCol>
                <a:gridCol w="5336924">
                  <a:extLst>
                    <a:ext uri="{9D8B030D-6E8A-4147-A177-3AD203B41FA5}">
                      <a16:colId xmlns:a16="http://schemas.microsoft.com/office/drawing/2014/main" val="3679658914"/>
                    </a:ext>
                  </a:extLst>
                </a:gridCol>
              </a:tblGrid>
              <a:tr h="344480">
                <a:tc>
                  <a:txBody>
                    <a:bodyPr/>
                    <a:lstStyle/>
                    <a:p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操作原则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终极忠告：操盘方法的作用，第一是扩大收益，第二是控制回撤。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不要因小失大，为了控制回撤而失去仓位（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Livermore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忠告）。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861733"/>
                  </a:ext>
                </a:extLst>
              </a:tr>
              <a:tr h="595010">
                <a:tc>
                  <a:txBody>
                    <a:bodyPr/>
                    <a:lstStyle/>
                    <a:p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原则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限制大范围。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观察可得确定性结论，所有全局上升都在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MJA&amp;MJB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之上。可得结论，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：包含了主升区域，是主战场。在此区域寻找与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的共振。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之上：可持。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月阶过滤：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/C7/C6/C4/C0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。对于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，存在较多诱多震荡情况，仅可试仓。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107428"/>
                  </a:ext>
                </a:extLst>
              </a:tr>
              <a:tr h="1096071">
                <a:tc>
                  <a:txBody>
                    <a:bodyPr/>
                    <a:lstStyle/>
                    <a:p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原则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之上应持。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阐释如下：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之上无止损点。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保证经过最高点：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为不坏金身，只在下破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后再考虑退出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（但不是下破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后一定要退出）。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承担确保经过最高点的代价：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针对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之上的回撤，将认知从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承受的亏损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转变为</a:t>
                      </a:r>
                      <a:r>
                        <a:rPr lang="en-US" altLang="zh-CN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保持仓位必须承受的代价</a:t>
                      </a:r>
                      <a:r>
                        <a:rPr lang="en-US" altLang="zh-CN" sz="8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，必须忍受从顶到下破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的认输过程。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利用周中符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。关注与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的交叉点；着重寻找触顶的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十字星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小阳柱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日级别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的参考级别。只有前周柱站上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，才考虑依赖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判断日线机会（不能仅参考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灵活仓位管理：不论周仓位或日仓位，若偏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BSPA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，限仓权重为总资金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1%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；其余，限仓权重为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11199"/>
                  </a:ext>
                </a:extLst>
              </a:tr>
              <a:tr h="595010">
                <a:tc rowSpan="2">
                  <a:txBody>
                    <a:bodyPr/>
                    <a:lstStyle/>
                    <a:p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原则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要顺大势，有容乃大。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要顺大势。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月周共振，寻找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共振。先考虑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，再寻找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marR="0" lvl="2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益盟指标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在周级别使用指标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&lt;ZQQQM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大势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，优选月大势，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正交时以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利用波型，抓牢主升（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且触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）；以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771576"/>
                  </a:ext>
                </a:extLst>
              </a:tr>
              <a:tr h="595010">
                <a:tc vMerge="1">
                  <a:txBody>
                    <a:bodyPr/>
                    <a:lstStyle/>
                    <a:p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要有容乃大。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等待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负交或下破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退出，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负交很少（无需在意）；只要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未负交，即使下破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也属于可持状态。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当在主升介入后，不要强求处于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主升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状态。若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已冲高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已整弧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，可在下破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提前退出。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989387"/>
                  </a:ext>
                </a:extLst>
              </a:tr>
              <a:tr h="845541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原则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增加持有时长。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要吸取阴跌被套的经验，按镜面原则反向完美复制持股原则。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不要因小失大，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lose position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已明确知道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必赢，不要因小劫而失去仓位。小劫包括：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心魔。处于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之上的完美上攻过程中，但因担心回调而失去仓位。详见“遏制心魔，拒绝妄想”。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之上升势的小回调。如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跌孕。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之上未下破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的大回撤。如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跌吞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跌连。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下破次级均线。下破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负交。可等待下破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再退出。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151920"/>
                  </a:ext>
                </a:extLst>
              </a:tr>
              <a:tr h="97080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遏制心魔，拒绝妄想。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对抗错误思想，守住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之上（不需特别关注日级别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WJA&amp;DJA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之上）。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u="sng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ighlight>
                            <a:srgbClr val="FF99CC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牢记公理：在</a:t>
                      </a:r>
                      <a:r>
                        <a:rPr lang="en-US" altLang="zh-CN" sz="800" b="1" u="sng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ighlight>
                            <a:srgbClr val="FF99CC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1" u="sng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ighlight>
                            <a:srgbClr val="FF99CC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之上时，下柱冲高是常态；阴柱或不冲高是异常，是少数。</a:t>
                      </a:r>
                      <a:r>
                        <a:rPr lang="zh-CN" altLang="en-US" sz="800" u="sng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ighlight>
                            <a:srgbClr val="FF99CC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要乐观勿悲观。</a:t>
                      </a:r>
                      <a:endParaRPr lang="en-US" altLang="zh-CN" sz="800" u="sng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highlight>
                          <a:srgbClr val="FF99CC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觉得不会再涨。觉得已经涨了很多，对日线暴涨持续性失去信心。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对盘中波动恐惧。“先躲一下，等收盘再买回来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等回踩再买回来。”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对于真正出现的回撤。害怕下跌会延续，希望守住利润。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妄想。因害怕连续上涨的板块出现回调，从而错过个股主升浪。包括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&lt;2025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商业航天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&gt;&lt;2026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电池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妄想。受大盘波动影响。结论， “交易谁就看谁的走势”，不要受大盘或指数影响。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569381"/>
                  </a:ext>
                </a:extLst>
              </a:tr>
              <a:tr h="109607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遵守逆向被套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SOP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根据镜面对称原则，从阴跌深套的错误操作中，汲取，正向操作的正确方法。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不要中途交易。当周期未结束时，所有中间走势都可能改变，不要中途交易。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之上，当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无离场必要。→镜面对称→在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之下，当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无介入许可。这是守住趋势的秘诀。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marR="0" lvl="2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WJCBA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多头排列时，下破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多柱，再考虑退出。→镜面对称→在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WJCBA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空头排列时，上破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多柱，才有可能转升（仅适用于观察）。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之上，不要见好就收。→镜面对称→在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WJC&amp;WJD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之下，不会因小涨就退出（所以才会导致被深套）。这是赚大钱的秘诀。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91408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58FA87D-040A-9FDA-277A-86D7862572AD}"/>
              </a:ext>
            </a:extLst>
          </p:cNvPr>
          <p:cNvGraphicFramePr>
            <a:graphicFrameLocks noGrp="1"/>
          </p:cNvGraphicFramePr>
          <p:nvPr/>
        </p:nvGraphicFramePr>
        <p:xfrm>
          <a:off x="4333" y="720000"/>
          <a:ext cx="6097766" cy="501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042">
                  <a:extLst>
                    <a:ext uri="{9D8B030D-6E8A-4147-A177-3AD203B41FA5}">
                      <a16:colId xmlns:a16="http://schemas.microsoft.com/office/drawing/2014/main" val="976724529"/>
                    </a:ext>
                  </a:extLst>
                </a:gridCol>
                <a:gridCol w="4606724">
                  <a:extLst>
                    <a:ext uri="{9D8B030D-6E8A-4147-A177-3AD203B41FA5}">
                      <a16:colId xmlns:a16="http://schemas.microsoft.com/office/drawing/2014/main" val="44416564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在设计操盘过程中收获的思维原则：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00611"/>
                  </a:ext>
                </a:extLst>
              </a:tr>
              <a:tr h="2601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视角转变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重塑上升过程中的退出步骤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zh-CN" altLang="en-US" sz="800" u="sng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核心思想是按（下降过程的介入步骤）经镜面映射重塑（上升过程的退出步骤）</a:t>
                      </a:r>
                      <a:endParaRPr lang="en-US" altLang="zh-CN" sz="800" u="sng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原思维：总是忽视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DJCBA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多头排列的意义，总是夸大（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/DJA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之上阴柱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DJA/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）的危险性。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唯有借助镜面对称视角才能改变原思维，形成在上升过程中正确思维：简要讲，在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之上都是机会。具体讲如下：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DJA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之上，阳柱不要轻易止盈，阴柱禁止止损。→镜面对应于，下跌过程不要在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DJCBA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空头排列时在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DJA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之下介入</a:t>
                      </a:r>
                      <a:endParaRPr lang="en-US" altLang="zh-CN" sz="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DJA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，不构成止损，不要随意退出。→镜面对应于，下跌过程中仅上破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DJA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，不要介入。</a:t>
                      </a:r>
                      <a:endParaRPr lang="en-US" altLang="zh-CN" sz="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DJB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，不构成止损，不要随意退出。 →镜面对应于，与基本介入条件（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DXZC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）还有距离，不要介入。</a:t>
                      </a:r>
                      <a:endParaRPr lang="en-US" altLang="zh-CN" sz="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满足日类退出条件（ 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DXZC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），可暂时退，也可不退。 →镜面对应于，在下跌过程中，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之下会有多波反复，一定要等周级别满足（ 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r>
                        <a:rPr lang="zh-CN" alt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）后才可介入。</a:t>
                      </a:r>
                      <a:endParaRPr lang="zh-CN" altLang="en-US"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11809"/>
                  </a:ext>
                </a:extLst>
              </a:tr>
              <a:tr h="2601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先周后日：先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再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DXAB】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要先确定周级别方向（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正交，且配合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），再利用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确定操作细节。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明确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在以（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正交作为判定主升浪）中的辅助作用：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先周后日：虽然在向上升过程的转变过程中，虽然（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正交）快于（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正交）。</a:t>
                      </a:r>
                      <a:r>
                        <a:rPr lang="zh-CN" altLang="en-US" sz="800" b="1" u="sng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但务必牢记以下重要原则：必须等待（</a:t>
                      </a:r>
                      <a:r>
                        <a:rPr lang="en-US" altLang="zh-CN" sz="800" b="1" u="sng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1" u="sng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正交）后，再观察</a:t>
                      </a:r>
                      <a:r>
                        <a:rPr lang="en-US" altLang="zh-CN" sz="800" b="1" u="sng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b="1" u="sng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的变化。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不要乱了位次。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正交）基本与（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正交）同步，所以可以按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进行先兆判定。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正交）时，（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负交）不经常出现，有些可作为判定（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即将负交）信号，有些是中途调整。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必须严格要求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满足正交条件：不要过度放宽（将正交）作为（已正交）的替代条件，要选取蓄势已久且持续的正交情况。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以日类退出条件提前退出：日类退出条件为（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DXZC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）；需明确仅仅限于日类退出，在周级别仍处于上升趋势，后续当满足日类介入条件可再介入。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退出情况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：可在下破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退出，特别针对已冲高情况。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退出情况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：可在下破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退出，提高偶然下破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的容错。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53921"/>
                  </a:ext>
                </a:extLst>
              </a:tr>
              <a:tr h="21226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防诱多策略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正交）作为核心条件的基础上，配合其他条件过滤（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非主升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诱多）等情况。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防诱多策略包括：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为阈值配合（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已正交）判定上升趋势：此举过滤了，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之下多次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正交的反复蓄力过程。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的防诱多策略：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将介于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之间定义为“鳄鱼嘴”，处于其中不选择方向，等待突破双线再决定方向。以此，将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护型戊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，刚突破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定义为“潜在诱多”。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负交或刚正交，一旦出现下破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，要立刻退出。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正交判定主升浪：此举过滤了，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由负交向正交转变过程中，各种诱多波动。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以严格（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已正交）防诱多：应严格要求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已正交，且可能开启较长的正交历程。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对于（将正交：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但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），不是一概作为介入条件，而是严选其中必然会转变为（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已正交）的情况，例如在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之上多柱；由于（将正交）存续时间短，所以不影响后续（已正交）的整个过程。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以严格（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已正交）防诱多：同上。</a:t>
                      </a:r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454523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156EAC2-1566-6148-D69D-1A7CF099BA26}"/>
              </a:ext>
            </a:extLst>
          </p:cNvPr>
          <p:cNvSpPr txBox="1"/>
          <p:nvPr/>
        </p:nvSpPr>
        <p:spPr>
          <a:xfrm>
            <a:off x="295487" y="5695815"/>
            <a:ext cx="5179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走势分析框架：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应只做</a:t>
            </a:r>
            <a:r>
              <a:rPr lang="en-US" altLang="zh-CN" dirty="0"/>
              <a:t>WXCD</a:t>
            </a:r>
            <a:r>
              <a:rPr lang="zh-CN" altLang="en-US" dirty="0"/>
              <a:t>金银。祖训：绝不介入</a:t>
            </a:r>
            <a:r>
              <a:rPr lang="en-US" altLang="zh-CN" dirty="0"/>
              <a:t>WJD</a:t>
            </a:r>
            <a:r>
              <a:rPr lang="zh-CN" altLang="en-US" dirty="0"/>
              <a:t>之下。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应只做</a:t>
            </a:r>
            <a:r>
              <a:rPr lang="en-US" altLang="zh-CN" dirty="0"/>
              <a:t>WXAB</a:t>
            </a:r>
            <a:r>
              <a:rPr lang="zh-CN" altLang="en-US" dirty="0"/>
              <a:t>甲乙己。介入后按</a:t>
            </a:r>
            <a:r>
              <a:rPr lang="en-US" altLang="zh-CN" dirty="0"/>
              <a:t>WJC</a:t>
            </a:r>
            <a:r>
              <a:rPr lang="zh-CN" altLang="en-US" dirty="0"/>
              <a:t>止损。</a:t>
            </a:r>
          </a:p>
          <a:p>
            <a:r>
              <a:rPr lang="zh-CN" altLang="en-US" dirty="0"/>
              <a:t>月护型</a:t>
            </a:r>
            <a:r>
              <a:rPr lang="en-US" altLang="zh-CN" dirty="0"/>
              <a:t>WXCD</a:t>
            </a:r>
            <a:r>
              <a:rPr lang="zh-CN" altLang="en-US" dirty="0"/>
              <a:t>➡️周护型</a:t>
            </a:r>
            <a:r>
              <a:rPr lang="en-US" altLang="zh-CN" dirty="0"/>
              <a:t>WXAB</a:t>
            </a:r>
            <a:r>
              <a:rPr lang="zh-CN" altLang="en-US" dirty="0"/>
              <a:t>➡️周地型➡️周柱型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56725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A9E84-6778-7349-5E5B-CCAB385C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3659C3E5-C75E-92B5-47E6-FCC3A14BE14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主升图谱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最重要页：必赢战法</a:t>
            </a:r>
            <a:b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本页内容：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操盘方法的总体论述，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是核心，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是止损，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定位大势。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61633A-23C0-6FC2-912E-65EBDC73FA37}"/>
              </a:ext>
            </a:extLst>
          </p:cNvPr>
          <p:cNvSpPr/>
          <p:nvPr/>
        </p:nvSpPr>
        <p:spPr>
          <a:xfrm>
            <a:off x="16626" y="4039985"/>
            <a:ext cx="6076194" cy="2818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核心步骤：寻找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的正交共振。在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已正交或将正交区域，以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为手段（正一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正二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负三），选取持续持续时长最大的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丘。</a:t>
            </a:r>
            <a:endParaRPr lang="en-US" altLang="zh-CN" sz="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（步骤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）先通过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大丘（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MJA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柱）。</a:t>
            </a:r>
            <a:endParaRPr lang="en-US" altLang="zh-CN" sz="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明确常识。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正常主升浪必为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；当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时只有少数形成主升。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抓主升浪绝招。当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止损。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借助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WJD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辅助确定大势。当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时要求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WXZD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；当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时要求不与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WJD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交叉。</a:t>
            </a:r>
            <a:endParaRPr lang="en-US" altLang="zh-CN" sz="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要研究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月势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的关系。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只依赖周线无法确定大丘，要观察月线图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之上柱排列。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大丘两条件：月势有希望（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/A7/A3/B1/B0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）；周不反对（在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之上）。勿限制其他条件。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确定大势时不要参考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不要被穿越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所迷惑；更不要被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之上正常波动所恐吓。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限制周局。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可接受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/WXZB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劫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/WXAB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劫；对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/WXAC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劫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/WXBC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劫，要小心诱多震荡。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（步骤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大丘，按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之上动态行进的思维反复做。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这是此战法必赢的精髓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基本思维是：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已正交或将正交；若升势必能站上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，所有工具聚焦于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之上；以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止盈，不破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不出；以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作为唯一止损。 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为准。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广义主升（已正交或将正交）。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才能决定多空：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之上都属于可持范围，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之上只做多；下破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才考虑做空。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之下不参与，只针对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之下站上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的情况进行参考。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（步骤</a:t>
            </a:r>
            <a:r>
              <a:rPr lang="en-US" altLang="zh-CN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冗余）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其余条件仅作参考。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周管。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正交。要形成稳定向东北运行的（顶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,WJA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）周管。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龙猪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最好，其余看柱排。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周地型。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区分：讨厌区（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之上跌排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下破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）上破区（上破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/WJA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之上区。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周垒升。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周垒升的形成条件（另页总结）。注意，仅限于周管之内。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周中符。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与柱的贯穿关系。等待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下破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再检查是否形成跌排。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其余条件。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周触顶（首触）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DXAB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正交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之上，都只是顺大势中的好运气，不要用作筛选条件。</a:t>
            </a:r>
            <a:endParaRPr lang="en-US" altLang="zh-CN" sz="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C8E91C-957D-BA98-F804-7F7CC4BA45E7}"/>
              </a:ext>
            </a:extLst>
          </p:cNvPr>
          <p:cNvGraphicFramePr>
            <a:graphicFrameLocks noGrp="1"/>
          </p:cNvGraphicFramePr>
          <p:nvPr/>
        </p:nvGraphicFramePr>
        <p:xfrm>
          <a:off x="19806" y="719999"/>
          <a:ext cx="6076194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6194">
                  <a:extLst>
                    <a:ext uri="{9D8B030D-6E8A-4147-A177-3AD203B41FA5}">
                      <a16:colId xmlns:a16="http://schemas.microsoft.com/office/drawing/2014/main" val="4099577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20260228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勿删勿改）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必赢战法：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【WXCD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必赢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+WJC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+WXAB】</a:t>
                      </a: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62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牢牢抓住以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由负转正所识别的月级别大趋势。在其中寻找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正交过程。要选择</a:t>
                      </a:r>
                      <a:r>
                        <a:rPr lang="en-US" altLang="zh-CN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初相交，确定性最大。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当出现（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劫或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劫）重新计算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广义正交时（最好预测将垒升）介入，以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止损，可在冲高时止盈。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要吃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正交的全链条，只在下破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时止损。权重为（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WJC=1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仓）。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要观察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丘的变化规律，要选择逐步完整的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若出现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/WXAC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/WXBC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劫，特别是在高位，可能是诱多，勿重仓。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正交时（最好预测将垒升）介入，以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尽量不介入。此区域的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丘很小，没有必要参与，应等待多次震荡或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正交之后再参与。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696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止损线的选择。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作为止损线；不要被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等潜在替代所迷惑，不要纠结。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不要将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替代为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是升势的重要特征，但在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之上只有很小概率出现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负交。且若已转跌，下破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负交的止损差别并不大。更应该思考如何在冲高时止盈。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不要将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替代为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单柱与双柱都不须走；可等待下破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后再判断是否已转跌。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可在主升阶段暂时下破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是否参考沿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向下排列？下破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时应参考；下破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时可参考。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介入点的条件。不要在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/WJB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之下，主动介入。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206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分析工具的层次。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①择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广义正交→②择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之上（严格）→③择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层段→④择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之上地型→⑤择垒升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①要点：应严格选择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正交；对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负交必须要求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WXZD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且经过多次底部震荡。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②要点：必须严格要求在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之上。对顶部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(/WXBC/WXAC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要谨慎；对底部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/WXBC/WXAC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要谨慎。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③要点：针对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层段，对（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正一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正二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负三）主动持有，对（正三）被动持有；弃（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负一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负二）。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灵魂拷问：迷茫时，扪心自问，只有六种状态，为何偏偏选不好的三种，而不守住好的三种。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④要点：针对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各地型，明确各自的理想恢复模式，选取较大的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丘。地型只细化到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WXZA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⑤要点：针对垒升，要保证底仓，使用浮仓按周做</a:t>
                      </a:r>
                      <a:r>
                        <a:rPr lang="en-US" altLang="zh-CN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zh-CN" alt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649162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6DDE3024-F3E2-2760-A122-63DE3A32D9B1}"/>
              </a:ext>
            </a:extLst>
          </p:cNvPr>
          <p:cNvGraphicFramePr>
            <a:graphicFrameLocks noGrp="1"/>
          </p:cNvGraphicFramePr>
          <p:nvPr/>
        </p:nvGraphicFramePr>
        <p:xfrm>
          <a:off x="6117573" y="719999"/>
          <a:ext cx="609423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949">
                  <a:extLst>
                    <a:ext uri="{9D8B030D-6E8A-4147-A177-3AD203B41FA5}">
                      <a16:colId xmlns:a16="http://schemas.microsoft.com/office/drawing/2014/main" val="1112553138"/>
                    </a:ext>
                  </a:extLst>
                </a:gridCol>
                <a:gridCol w="3384284">
                  <a:extLst>
                    <a:ext uri="{9D8B030D-6E8A-4147-A177-3AD203B41FA5}">
                      <a16:colId xmlns:a16="http://schemas.microsoft.com/office/drawing/2014/main" val="4019145744"/>
                    </a:ext>
                  </a:extLst>
                </a:gridCol>
              </a:tblGrid>
              <a:tr h="7130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20260610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持仓规则算法的简单版：</a:t>
                      </a:r>
                      <a:endParaRPr lang="en-US" altLang="zh-CN" sz="8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严格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甲乙己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endParaRPr lang="en-US" altLang="zh-CN" sz="8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确定周入口，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DXZC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用于确定日入口；</a:t>
                      </a:r>
                      <a:endParaRPr lang="en-US" altLang="zh-CN" sz="8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WXZC&lt;0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WXAB&lt;0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用于保守止损，下破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用于激进止损。</a:t>
                      </a:r>
                      <a:endParaRPr lang="en-US" altLang="zh-CN" sz="8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三条鳄鱼：寓意为要在鳄鱼之外，不要在嘴巴之内。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实质是以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为根本；利用（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配合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）定位大级别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；日类仅用于确定介入点。</a:t>
                      </a:r>
                      <a:endParaRPr lang="en-US" altLang="zh-CN" sz="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：严格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甲乙己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且在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之上。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：都可接受，优选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甲乙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：都可接受，利用（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DXZC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）确定介入点，止损用（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605588"/>
                  </a:ext>
                </a:extLst>
              </a:tr>
              <a:tr h="1772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持仓规则：寻找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正交时的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大丘。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要求：严格要求护型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甲乙己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/A7/A3/B1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：可取。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/C7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：需鉴别诱多，未大升。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确定周入口：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。勿周中介入。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乙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可主动持有；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(r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己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试仓或等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正交再介入；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(c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丙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可被动持有；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(z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丁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戊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可被动持有或清仓。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（持有过程）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护型要求：优选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甲乙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关注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时长：可在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正交较长时退出；不要在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负交较长时试探介入。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（止损）当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时保守止损。当下破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时激进止损（可保证已经过最高点）。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附加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日介入条件：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DXZC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相当于要求在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之上。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只用于确认介入点，不用于止损。</a:t>
                      </a:r>
                      <a:endParaRPr lang="zh-CN" altLang="en-US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持仓规则的推理过程：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步骤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：由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必赢为基础，得到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&lt;WXCD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甲乙己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必赢。（核心依据是，不要选择鳄鱼口中，而要选定两线之外）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步骤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：在以上范围内。当向上突破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时，根据（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）介入，将关注点引导至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。根据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护型，选择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情况。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步骤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：以经过最高点为目标。只要未冲高且未下破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就可认为有机会经历后续最高点。退出点包括两种：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1️⃣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已冲高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2️⃣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破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止损（可认为是在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护型中，下破两线已选择向下方向）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潜在错误理解：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错误理解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（月级别护型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的作用）：当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。上破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时，基本必然会形成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，但此时不应作为介入点。因为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之间，属于鳄鱼嘴，是多空转换的无方向区域。一定要放弃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/X0/X4/X6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，当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时一旦下破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就会立刻转空，应在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止损。一定要选择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&lt;WXCD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己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&lt;WXCD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甲乙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错误理解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（日级别护型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的作用）：当下破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时，基本必然形成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。此时，根据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（即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DXCD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），只是进入鳄鱼嘴，多空转换尚无定论，不要在下破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时退出。结论：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1️⃣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日级别只能作为介入点参考，不应作为止损依据。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2️⃣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可等待下破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时止损，此时已可保证经过了最高点。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566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11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90089-6227-5C92-6FDE-401EB992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6C88A788-0575-99A3-9BCD-997E5CADBF2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主升图谱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大局观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视角</a:t>
            </a:r>
            <a:b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本页内容：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操盘方法的总体论述，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是核心，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是止损，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定位大势。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334C823-E35E-8915-1E98-AB499D1DB9A6}"/>
              </a:ext>
            </a:extLst>
          </p:cNvPr>
          <p:cNvGraphicFramePr>
            <a:graphicFrameLocks noGrp="1"/>
          </p:cNvGraphicFramePr>
          <p:nvPr/>
        </p:nvGraphicFramePr>
        <p:xfrm>
          <a:off x="0" y="720000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582">
                  <a:extLst>
                    <a:ext uri="{9D8B030D-6E8A-4147-A177-3AD203B41FA5}">
                      <a16:colId xmlns:a16="http://schemas.microsoft.com/office/drawing/2014/main" val="1786681279"/>
                    </a:ext>
                  </a:extLst>
                </a:gridCol>
                <a:gridCol w="5389418">
                  <a:extLst>
                    <a:ext uri="{9D8B030D-6E8A-4147-A177-3AD203B41FA5}">
                      <a16:colId xmlns:a16="http://schemas.microsoft.com/office/drawing/2014/main" val="414001609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走势分析框架：月护型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➡️周护型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➡️周地型➡️周柱型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下注冲高机会：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金银，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甲乙，前柱在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之上。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41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三视角：</a:t>
                      </a:r>
                      <a:endParaRPr lang="en-US" altLang="zh-CN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每当迷茫时复习观察视角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视角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：以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护段，为大势视角。应只做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&lt;WXCD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金银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。祖训：绝不介入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WJD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之下。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视角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：以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单线，为阴阳分界视角。介入后按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止损。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视角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：以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正交，为持仓视角。优选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&lt;WXAB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甲乙己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，余也可持。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视角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：不存在日线视角，千万不要被日线带偏误导。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8318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87993E9-FDB4-8E4E-A269-A320D8C73FA2}"/>
              </a:ext>
            </a:extLst>
          </p:cNvPr>
          <p:cNvGraphicFramePr>
            <a:graphicFrameLocks noGrp="1"/>
          </p:cNvGraphicFramePr>
          <p:nvPr/>
        </p:nvGraphicFramePr>
        <p:xfrm>
          <a:off x="1" y="2689680"/>
          <a:ext cx="60960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584">
                  <a:extLst>
                    <a:ext uri="{9D8B030D-6E8A-4147-A177-3AD203B41FA5}">
                      <a16:colId xmlns:a16="http://schemas.microsoft.com/office/drawing/2014/main" val="1180795566"/>
                    </a:ext>
                  </a:extLst>
                </a:gridCol>
                <a:gridCol w="5256416">
                  <a:extLst>
                    <a:ext uri="{9D8B030D-6E8A-4147-A177-3AD203B41FA5}">
                      <a16:colId xmlns:a16="http://schemas.microsoft.com/office/drawing/2014/main" val="125495890"/>
                    </a:ext>
                  </a:extLst>
                </a:gridCol>
              </a:tblGrid>
              <a:tr h="16362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视角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：以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正交，为持仓视角。</a:t>
                      </a:r>
                      <a:endParaRPr lang="en-US" altLang="zh-CN" sz="80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简要操作方法，当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正交后介入，以</a:t>
                      </a:r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止损。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31864"/>
                  </a:ext>
                </a:extLst>
              </a:tr>
              <a:tr h="282632">
                <a:tc rowSpan="3">
                  <a:txBody>
                    <a:bodyPr/>
                    <a:lstStyle/>
                    <a:p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关注</a:t>
                      </a: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变化的临界态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由负转正时的震荡：含围绕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震荡。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初始正交：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WTAB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≤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，作为长期介入点备选。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W2I/W2i/W1v/W6v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：若能保持在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之上，将导致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正交。重点关注是否形成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之上柱排。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W3h/W3u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：属于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戊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，应归为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之下震荡，面临方向选择。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615729"/>
                  </a:ext>
                </a:extLst>
              </a:tr>
              <a:tr h="3074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由正转负时的震荡：含围绕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震荡。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劫：下破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后，不要退出。主升后可能转为围绕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无序震荡。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劫：下破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后，不一定负交，可能再次站上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。不下破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不退出，可保证经过最高点。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666144"/>
                  </a:ext>
                </a:extLst>
              </a:tr>
              <a:tr h="1537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初始相交：把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初始相交单列，作为周机会入口，不要每次从周中介入。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077916"/>
                  </a:ext>
                </a:extLst>
              </a:tr>
              <a:tr h="6396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的正交位置</a:t>
                      </a:r>
                      <a:endParaRPr lang="en-US" altLang="zh-CN" sz="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20260611</a:t>
                      </a:r>
                      <a:r>
                        <a:rPr lang="zh-CN" altLang="en-US" sz="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极其重要的发现）</a:t>
                      </a:r>
                      <a:endParaRPr lang="en-US" altLang="zh-CN" sz="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配合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：确定大势的转变，牢记算法核心是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，确定大势的工具是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在远低于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的位置，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转为正交，此时可能是跌趋势的中间调整。不会逆转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在贴近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的位置（或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刚上破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位置），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转为正交，此时代表开启升趋势。可能出现由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正交导致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所以，升趋势条件为（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WXCD&gt;0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在远高于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的位置，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转为负交，此时可能是升趋势的调整。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在贴近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的位置（或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刚下破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位置），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转为负交，此时代表开启跌趋势。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所以，降趋势条件为（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WXZC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527798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C17842F-61A4-420F-E2E5-2106B13E62AD}"/>
              </a:ext>
            </a:extLst>
          </p:cNvPr>
          <p:cNvGraphicFramePr>
            <a:graphicFrameLocks noGrp="1"/>
          </p:cNvGraphicFramePr>
          <p:nvPr/>
        </p:nvGraphicFramePr>
        <p:xfrm>
          <a:off x="6096001" y="2689680"/>
          <a:ext cx="6095999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5999">
                  <a:extLst>
                    <a:ext uri="{9D8B030D-6E8A-4147-A177-3AD203B41FA5}">
                      <a16:colId xmlns:a16="http://schemas.microsoft.com/office/drawing/2014/main" val="3896306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视角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：日类视角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004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日仓类：基于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DJCDE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的模型，辅助判定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，要等待上破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，从而出现导致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正交的基本条件。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37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领先于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变化：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后，最好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保持正交。一旦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改变状态，可能是中途震荡，也可能改变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DXCD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WJA&gt;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后，最好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保持负交。一旦出现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正交，代表出现转升的最基本条件，但要等待上破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，即凑齐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上破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DJC+DXAB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正交</a:t>
                      </a:r>
                      <a:r>
                        <a:rPr lang="en-US" altLang="zh-CN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的基本条件。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321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89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B0933-5B8A-384B-22AC-2634BE0B8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E0E750-941F-3AE6-3B8D-6CEAC5AD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5634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周类操盘算法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周类以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作为卖线，不可早卖只能晚卖。</a:t>
            </a:r>
            <a:b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算法基石思想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自由度创造盈利 精确度扼杀牛股</a:t>
            </a:r>
            <a:b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拆解必赢抓牛股算法，找出其中的可取之处，优化日常算法。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BABD3B-DB08-F3F9-0BBE-72F60A466FDD}"/>
              </a:ext>
            </a:extLst>
          </p:cNvPr>
          <p:cNvSpPr txBox="1"/>
          <p:nvPr/>
        </p:nvSpPr>
        <p:spPr>
          <a:xfrm>
            <a:off x="0" y="1025634"/>
            <a:ext cx="12193200" cy="36779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原旨必赢算法</a:t>
            </a: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：以</a:t>
            </a: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为丘上入下出。</a:t>
            </a:r>
          </a:p>
          <a:p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通过观察得来的必赢周类操盘算法</a:t>
            </a: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周类以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作为卖线，不可早卖只能晚卖。</a:t>
            </a: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WXZC&gt;0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WXZB&gt;0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必持（类比亏损时被套）。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注意，与以往算法不同之处，以往是以此区域为可操作区域；现在是只要持有该股票，则在此区域内除非冲高止盈，否则不得退出。可理解为（吃开口饭）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底仓算法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问题：该算法在不同情况的表现：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当在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之上，当柱排为升排，以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为卖线，不破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不要卖，可以抓住暴涨情况，虽然偏离较大仍可持有。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当在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之上，出现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跌连，可以减仓，代表已经转向。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升孕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代表下跌，不是升排列。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当在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之下，出现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价上均，可以再次进入，以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为卖线。 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跌孕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代表上升；一定要出现升排再进入，或最好等待触顶。</a:t>
            </a:r>
          </a:p>
          <a:p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问题：该算法为何要等待下破</a:t>
            </a:r>
            <a:r>
              <a:rPr lang="en-US" altLang="zh-CN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才能卖出？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核心是怕踏空高点。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针对暴升行情，会偏离过大，如果按照管宽、周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BSHA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等方法止盈，则会错过后续高点。			⇒此种情况可归结为，怕错过连续上升情况的后续高点。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针对缓升行情，遇到小级别劫（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破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破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DJB/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破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DJC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），如退出后可能快速回复并创新高。	⇒此种情况可归结为，怕错过震荡情况的后续高点。</a:t>
            </a:r>
          </a:p>
          <a:p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问题：该算法的致胜优点：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不失去仓位：卖出后一般会寻找其他机会占用资金，而此方法困于一股，保证资金始终被该股占用，从而方得始终。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不会错过不明确走势：即使走势不是明确的升排，也可获得对应的收益。如果能够看出明确的下跌，则要先卖后买做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；否则按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止损被动持有。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相当于在操作范围内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高卖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：不会因为止盈而错过暴升情况的高点。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相当于在操作范围内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低买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：不会在小劫止损，账面浮动损失会在后续上升过程中收复。</a:t>
            </a:r>
          </a:p>
          <a:p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问题：该算法的后续优化：核心问题不是将退出点提前至低阶均线，而是在趋势维持情况下（在</a:t>
            </a:r>
            <a:r>
              <a:rPr lang="en-US" altLang="zh-CN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之上），在必然下跌情况逆踢，如未跌破</a:t>
            </a:r>
            <a:r>
              <a:rPr lang="en-US" altLang="zh-CN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且恢复升势时再次介入。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为何选择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作为退出点？是因为下破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后不会立刻再创新高，从而下破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后不具有任何持有价值，需要等待站上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再考虑。从而问题转变为：在何处会创新高？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是否可将保证经过最高点的条件，由（不下破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不卖），变为，（只有当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DXZC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DXAB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才可卖出）？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答案是否定。问题在于（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DXZC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DXAB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）的级别太小，可能两个周柱展开就会出现此条件。而即使满足（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DXZC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DXAB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），在周级别视图中，只是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之上的阴柱，或进入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两线之间（属于鳄鱼口，多空转换区域，无方向区，在此区域内不要判断方向，等向上或向下突破两线后再选择方向）。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特殊情况。只有当已冲高情况，若下破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可以保证已经过最高点。即，在主升过程中，远离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时，要等（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DXZC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DXAB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）再退出。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需要完成两个判断？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1️⃣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判定是否为主升？看触顶与柱排。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2️⃣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若是主升，在（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DXZC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DXAB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）退出，可保证已经过最高点。若不是主升，应以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作为保证经过最高点的条件。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镜面映射。当在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WJC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之下，若只满足（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DXZC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DXAB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），则不能保证后续不会再出现更低点，所以一定要（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WXZC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WXAB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WXCD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甲乙己）作为介入区域。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新问题：在何处会创新高？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DXZE&gt;0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DXZC&gt;0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DXZB&gt;0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，顶合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触哼。如果能找到确保不会创新高区域，则可替代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。从而问题转变为，在何处不会创新高？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新问题：在何处不会创新高？替代候选项包括：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WJA(DJC)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DJA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、日顶离等。但关键是这些替代候选项只能看作逆踢，不能认为是趋势逆转点，逆转点只能是下破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WJB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2590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11198</Words>
  <Application>Microsoft Office PowerPoint</Application>
  <PresentationFormat>宽屏</PresentationFormat>
  <Paragraphs>522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微软雅黑</vt:lpstr>
      <vt:lpstr>Microsoft YaHei Light</vt:lpstr>
      <vt:lpstr>Arial</vt:lpstr>
      <vt:lpstr>Office 主题​​</vt:lpstr>
      <vt:lpstr>【基础理论】思维法宝 优化本质：在遵守基本数学规律的基础上，进行变通，提高收益。</vt:lpstr>
      <vt:lpstr>【原旨思考】亏损来源与应对策略 本页主题：以 WJC丘为根本，分析亏损来源与应对策略的得失。在真正操盘过程中，开始不知丘大小，只能摸着石头过河。要按照持有标准进行判定，被动演化为大丘或止损退出。 分析思路是：亏损来源 ⇒应对策略 ⇒操盘方法</vt:lpstr>
      <vt:lpstr>【日类操盘】反思：为何会亏损 操盘方法：要解决现有操盘中亏损问题，解决不同操盘方法的冲突。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【周类操盘算法】周类以WJB作为卖线，不可早卖只能晚卖。 【算法基石思想】自由度创造盈利 精确度扼杀牛股 拆解必赢抓牛股算法，找出其中的可取之处，优化日常算法。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Shark Yang</dc:creator>
  <cp:lastModifiedBy>Shark Yang</cp:lastModifiedBy>
  <cp:revision>2</cp:revision>
  <dcterms:created xsi:type="dcterms:W3CDTF">2026-06-28T06:33:20Z</dcterms:created>
  <dcterms:modified xsi:type="dcterms:W3CDTF">2026-06-28T07:56:35Z</dcterms:modified>
</cp:coreProperties>
</file>